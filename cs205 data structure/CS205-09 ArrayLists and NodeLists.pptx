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312" r:id="rId3"/>
    <p:sldId id="313" r:id="rId4"/>
    <p:sldId id="257" r:id="rId5"/>
    <p:sldId id="258" r:id="rId6"/>
    <p:sldId id="259" r:id="rId7"/>
    <p:sldId id="314" r:id="rId8"/>
    <p:sldId id="300" r:id="rId9"/>
    <p:sldId id="302" r:id="rId10"/>
    <p:sldId id="303" r:id="rId11"/>
    <p:sldId id="315" r:id="rId12"/>
    <p:sldId id="316" r:id="rId13"/>
    <p:sldId id="304" r:id="rId14"/>
    <p:sldId id="305" r:id="rId15"/>
    <p:sldId id="306" r:id="rId16"/>
    <p:sldId id="307" r:id="rId17"/>
    <p:sldId id="264" r:id="rId18"/>
    <p:sldId id="266" r:id="rId19"/>
    <p:sldId id="281" r:id="rId20"/>
    <p:sldId id="291" r:id="rId21"/>
    <p:sldId id="292" r:id="rId22"/>
    <p:sldId id="294" r:id="rId23"/>
    <p:sldId id="323" r:id="rId24"/>
    <p:sldId id="324" r:id="rId25"/>
    <p:sldId id="325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45"/>
    <p:restoredTop sz="93217"/>
  </p:normalViewPr>
  <p:slideViewPr>
    <p:cSldViewPr>
      <p:cViewPr varScale="1">
        <p:scale>
          <a:sx n="126" d="100"/>
          <a:sy n="126" d="100"/>
        </p:scale>
        <p:origin x="520" y="1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990601"/>
            <a:ext cx="8915400" cy="2609850"/>
          </a:xfrm>
        </p:spPr>
        <p:txBody>
          <a:bodyPr>
            <a:normAutofit fontScale="90000"/>
          </a:bodyPr>
          <a:lstStyle/>
          <a:p>
            <a:r>
              <a:rPr lang="en-US" dirty="0"/>
              <a:t>CS-205/503 Data Structure and Algorithms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9. Array Lists and Node Lists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Weihao</a:t>
            </a:r>
            <a:r>
              <a:rPr lang="en-US" dirty="0"/>
              <a:t> Qu</a:t>
            </a:r>
          </a:p>
          <a:p>
            <a:r>
              <a:rPr lang="en-US" dirty="0"/>
              <a:t>Monmouth University</a:t>
            </a:r>
          </a:p>
        </p:txBody>
      </p:sp>
    </p:spTree>
    <p:extLst>
      <p:ext uri="{BB962C8B-B14F-4D97-AF65-F5344CB8AC3E}">
        <p14:creationId xmlns:p14="http://schemas.microsoft.com/office/powerpoint/2010/main" val="1756496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6906" y="2057400"/>
            <a:ext cx="8041495" cy="43434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java.util.List</a:t>
            </a:r>
            <a:r>
              <a:rPr lang="en-US" dirty="0"/>
              <a:t> ADT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00200"/>
            <a:ext cx="7924800" cy="3810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The </a:t>
            </a:r>
            <a:r>
              <a:rPr lang="en-US" dirty="0" err="1"/>
              <a:t>java.util.List</a:t>
            </a:r>
            <a:r>
              <a:rPr lang="en-US" dirty="0"/>
              <a:t> interface includes the following methods: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 Goodrich, Tamassia, Goldwasser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Lists and Iterators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D379D5-F0BC-F149-937C-E0DCC3E9663D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40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sequence of List operations: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 Goodrich, Tamassia, Goldwasser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Lists and Iterators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D379D5-F0BC-F149-937C-E0DCC3E9663D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2133600"/>
            <a:ext cx="4724400" cy="4214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491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A collection S</a:t>
            </a:r>
            <a:r>
              <a:rPr lang="en-US" sz="2000" i="1" dirty="0"/>
              <a:t> </a:t>
            </a:r>
            <a:r>
              <a:rPr lang="en-US" sz="2000" dirty="0"/>
              <a:t>of n elements in a certain linear order is a </a:t>
            </a:r>
            <a:r>
              <a:rPr lang="en-US" sz="2000" b="1" dirty="0"/>
              <a:t>list</a:t>
            </a:r>
            <a:r>
              <a:rPr lang="en-US" sz="2000" dirty="0"/>
              <a:t>, or </a:t>
            </a:r>
            <a:r>
              <a:rPr lang="en-US" sz="2000" b="1" dirty="0"/>
              <a:t>sequence</a:t>
            </a:r>
          </a:p>
          <a:p>
            <a:pPr lvl="1"/>
            <a:r>
              <a:rPr lang="en-US" sz="2000" dirty="0"/>
              <a:t>can refer to the elements as first, second, third and so on.</a:t>
            </a:r>
          </a:p>
          <a:p>
            <a:r>
              <a:rPr lang="en-US" sz="2000" dirty="0"/>
              <a:t>The index of an element e in S is the number of elements preceding e in S</a:t>
            </a:r>
          </a:p>
          <a:p>
            <a:r>
              <a:rPr lang="en-US" sz="2000" dirty="0"/>
              <a:t>First element in S has index 0, the last element has index n-1.</a:t>
            </a:r>
          </a:p>
          <a:p>
            <a:r>
              <a:rPr lang="en-US" sz="2000" dirty="0"/>
              <a:t>A sequence that supports access to its elements by their indices is called an </a:t>
            </a:r>
            <a:r>
              <a:rPr lang="en-US" sz="2000" b="1" dirty="0"/>
              <a:t>array list</a:t>
            </a:r>
            <a:r>
              <a:rPr lang="en-US" sz="2000" dirty="0"/>
              <a:t> or </a:t>
            </a:r>
            <a:r>
              <a:rPr lang="en-US" sz="2000" b="1" dirty="0"/>
              <a:t>vector</a:t>
            </a:r>
            <a:r>
              <a:rPr lang="en-US" sz="2000" dirty="0"/>
              <a:t> (old term).</a:t>
            </a:r>
          </a:p>
        </p:txBody>
      </p:sp>
    </p:spTree>
    <p:extLst>
      <p:ext uri="{BB962C8B-B14F-4D97-AF65-F5344CB8AC3E}">
        <p14:creationId xmlns:p14="http://schemas.microsoft.com/office/powerpoint/2010/main" val="1852340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ADT of array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size()</a:t>
            </a:r>
          </a:p>
          <a:p>
            <a:r>
              <a:rPr lang="en-US" sz="2000" dirty="0" err="1"/>
              <a:t>isEmpty</a:t>
            </a:r>
            <a:r>
              <a:rPr lang="en-US" sz="2000" dirty="0"/>
              <a:t>()</a:t>
            </a:r>
          </a:p>
          <a:p>
            <a:r>
              <a:rPr lang="en-US" sz="2000" dirty="0"/>
              <a:t>get(i)</a:t>
            </a:r>
          </a:p>
          <a:p>
            <a:pPr lvl="1"/>
            <a:r>
              <a:rPr lang="en-US" sz="2000" dirty="0"/>
              <a:t>Return the element of S with index i</a:t>
            </a:r>
          </a:p>
          <a:p>
            <a:r>
              <a:rPr lang="en-US" sz="2000" dirty="0"/>
              <a:t>set(i, e)</a:t>
            </a:r>
          </a:p>
          <a:p>
            <a:pPr lvl="1"/>
            <a:r>
              <a:rPr lang="en-US" sz="2000" dirty="0"/>
              <a:t>Replace with e and return the element at index i, an error condition occurs if i&lt;0 or i&gt;size()-1</a:t>
            </a:r>
          </a:p>
          <a:p>
            <a:r>
              <a:rPr lang="en-US" sz="2000" dirty="0"/>
              <a:t>add(i, e)</a:t>
            </a:r>
          </a:p>
          <a:p>
            <a:pPr lvl="1"/>
            <a:r>
              <a:rPr lang="en-US" sz="2000" dirty="0"/>
              <a:t>Insert a new element e into S to have index i; an error condition occurs if i&lt;0 or i&gt;size()</a:t>
            </a:r>
          </a:p>
          <a:p>
            <a:r>
              <a:rPr lang="en-US" sz="2000" dirty="0"/>
              <a:t>remove(i)</a:t>
            </a:r>
          </a:p>
          <a:p>
            <a:pPr lvl="1"/>
            <a:r>
              <a:rPr lang="en-US" sz="2000" dirty="0"/>
              <a:t>Remove and return from S the element at index i; an error condition occurs if i&lt;0 or i&gt;size()-1.</a:t>
            </a:r>
          </a:p>
        </p:txBody>
      </p:sp>
    </p:spTree>
    <p:extLst>
      <p:ext uri="{BB962C8B-B14F-4D97-AF65-F5344CB8AC3E}">
        <p14:creationId xmlns:p14="http://schemas.microsoft.com/office/powerpoint/2010/main" val="315062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Operations		Output			S</a:t>
            </a:r>
          </a:p>
          <a:p>
            <a:pPr marL="0" indent="0">
              <a:buNone/>
            </a:pPr>
            <a:r>
              <a:rPr lang="en-US" sz="2000" dirty="0"/>
              <a:t>add(0, 7)		-			(7)</a:t>
            </a:r>
          </a:p>
          <a:p>
            <a:pPr marL="0" indent="0">
              <a:buNone/>
            </a:pPr>
            <a:r>
              <a:rPr lang="en-US" sz="2000" dirty="0"/>
              <a:t>add(0, 4)		-			(4, 7)</a:t>
            </a:r>
          </a:p>
          <a:p>
            <a:pPr marL="0" indent="0">
              <a:buNone/>
            </a:pPr>
            <a:r>
              <a:rPr lang="en-US" sz="2000" dirty="0"/>
              <a:t>get(1)			7			(4, 7)</a:t>
            </a:r>
          </a:p>
          <a:p>
            <a:pPr marL="0" indent="0">
              <a:buNone/>
            </a:pPr>
            <a:r>
              <a:rPr lang="en-US" sz="2000" dirty="0"/>
              <a:t>add(2, 2)		-			(4, 7, 2)</a:t>
            </a:r>
          </a:p>
          <a:p>
            <a:pPr marL="0" indent="0">
              <a:buNone/>
            </a:pPr>
            <a:r>
              <a:rPr lang="en-US" sz="2000" dirty="0"/>
              <a:t>get(3)			“error”			(4, 7, 2)</a:t>
            </a:r>
          </a:p>
          <a:p>
            <a:pPr marL="0" indent="0">
              <a:buNone/>
            </a:pPr>
            <a:r>
              <a:rPr lang="en-US" sz="2000" dirty="0"/>
              <a:t>remove(1)		7			(4, 2)</a:t>
            </a:r>
          </a:p>
          <a:p>
            <a:pPr marL="0" indent="0">
              <a:buNone/>
            </a:pPr>
            <a:r>
              <a:rPr lang="en-US" sz="2000" dirty="0"/>
              <a:t>add(1, 5)		-			(4, 5, 2)</a:t>
            </a:r>
          </a:p>
          <a:p>
            <a:pPr marL="0" indent="0">
              <a:buNone/>
            </a:pPr>
            <a:r>
              <a:rPr lang="en-US" sz="2000" dirty="0"/>
              <a:t>add(1, 3)		-			(4, 3, 5, 2)</a:t>
            </a:r>
          </a:p>
          <a:p>
            <a:pPr marL="0" indent="0">
              <a:buNone/>
            </a:pPr>
            <a:r>
              <a:rPr lang="en-US" sz="2000" dirty="0"/>
              <a:t>set(3, 8)		</a:t>
            </a:r>
            <a:r>
              <a:rPr lang="en-US" sz="2000"/>
              <a:t>	2</a:t>
            </a:r>
            <a:r>
              <a:rPr lang="en-US" sz="2000" dirty="0"/>
              <a:t>			(4, 3, 5, 8)</a:t>
            </a:r>
          </a:p>
        </p:txBody>
      </p:sp>
    </p:spTree>
    <p:extLst>
      <p:ext uri="{BB962C8B-B14F-4D97-AF65-F5344CB8AC3E}">
        <p14:creationId xmlns:p14="http://schemas.microsoft.com/office/powerpoint/2010/main" val="4158069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Lists and Iterators</a:t>
            </a:r>
          </a:p>
        </p:txBody>
      </p:sp>
      <p:sp>
        <p:nvSpPr>
          <p:cNvPr id="921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DD930D53-ECF3-1E45-A406-CB3D2DC5C8C1}" type="slidenum">
              <a:rPr lang="en-US" sz="1400"/>
              <a:pPr eaLnBrk="1" hangingPunct="1"/>
              <a:t>7</a:t>
            </a:fld>
            <a:endParaRPr lang="en-US" sz="1400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Tahoma" charset="0"/>
              </a:rPr>
              <a:t>Array Lists</a:t>
            </a:r>
          </a:p>
        </p:txBody>
      </p:sp>
      <p:sp>
        <p:nvSpPr>
          <p:cNvPr id="922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2362200" y="1752600"/>
            <a:ext cx="7543800" cy="3352800"/>
          </a:xfrm>
        </p:spPr>
        <p:txBody>
          <a:bodyPr/>
          <a:lstStyle/>
          <a:p>
            <a:r>
              <a:rPr lang="en-US" sz="2400" dirty="0"/>
              <a:t>An obvious choice for implementing the list ADT is to use an array, </a:t>
            </a:r>
            <a:r>
              <a:rPr lang="en-US" sz="2400" b="1" dirty="0"/>
              <a:t>A</a:t>
            </a:r>
            <a:r>
              <a:rPr lang="en-US" sz="2400" dirty="0"/>
              <a:t>, where </a:t>
            </a:r>
            <a:r>
              <a:rPr lang="en-US" sz="2400" b="1" dirty="0"/>
              <a:t>A[</a:t>
            </a:r>
            <a:r>
              <a:rPr lang="en-US" sz="2400" b="1" dirty="0" err="1"/>
              <a:t>i</a:t>
            </a:r>
            <a:r>
              <a:rPr lang="en-US" sz="2400" b="1" dirty="0"/>
              <a:t>] </a:t>
            </a:r>
            <a:r>
              <a:rPr lang="en-US" sz="2400" dirty="0"/>
              <a:t>stores (a reference to) the element with index </a:t>
            </a:r>
            <a:r>
              <a:rPr lang="en-US" sz="2400" b="1" dirty="0" err="1"/>
              <a:t>i</a:t>
            </a:r>
            <a:r>
              <a:rPr lang="en-US" sz="2400" dirty="0"/>
              <a:t>.</a:t>
            </a:r>
          </a:p>
          <a:p>
            <a:r>
              <a:rPr lang="en-US" sz="2400" dirty="0"/>
              <a:t>With a representation based on an array </a:t>
            </a:r>
            <a:r>
              <a:rPr lang="en-US" sz="2400" b="1" dirty="0"/>
              <a:t>A</a:t>
            </a:r>
            <a:r>
              <a:rPr lang="en-US" sz="2400" dirty="0"/>
              <a:t>, the get(</a:t>
            </a:r>
            <a:r>
              <a:rPr lang="en-US" sz="2400" b="1" dirty="0" err="1"/>
              <a:t>i</a:t>
            </a:r>
            <a:r>
              <a:rPr lang="en-US" sz="2400" dirty="0"/>
              <a:t>) and set(</a:t>
            </a:r>
            <a:r>
              <a:rPr lang="en-US" sz="2400" b="1" dirty="0" err="1"/>
              <a:t>i</a:t>
            </a:r>
            <a:r>
              <a:rPr lang="en-US" sz="2400" dirty="0"/>
              <a:t>, </a:t>
            </a:r>
            <a:r>
              <a:rPr lang="en-US" sz="2400" b="1" dirty="0"/>
              <a:t>e</a:t>
            </a:r>
            <a:r>
              <a:rPr lang="en-US" sz="2400" dirty="0"/>
              <a:t>) methods are easy to implement by accessing </a:t>
            </a:r>
            <a:r>
              <a:rPr lang="en-US" sz="2400" b="1" dirty="0"/>
              <a:t>A[</a:t>
            </a:r>
            <a:r>
              <a:rPr lang="en-US" sz="2400" b="1" dirty="0" err="1"/>
              <a:t>i</a:t>
            </a:r>
            <a:r>
              <a:rPr lang="en-US" sz="2400" b="1" dirty="0"/>
              <a:t>] </a:t>
            </a:r>
            <a:r>
              <a:rPr lang="en-US" sz="2400" dirty="0"/>
              <a:t>(assuming </a:t>
            </a:r>
            <a:r>
              <a:rPr lang="en-US" sz="2400" b="1" dirty="0" err="1"/>
              <a:t>i</a:t>
            </a:r>
            <a:r>
              <a:rPr lang="en-US" sz="2400" b="1" dirty="0"/>
              <a:t> </a:t>
            </a:r>
            <a:r>
              <a:rPr lang="en-US" sz="2400" dirty="0"/>
              <a:t>is a legitimate index).</a:t>
            </a:r>
            <a:endParaRPr lang="en-US" sz="2400" dirty="0">
              <a:latin typeface="Times New Roman" charset="0"/>
            </a:endParaRPr>
          </a:p>
        </p:txBody>
      </p:sp>
      <p:sp>
        <p:nvSpPr>
          <p:cNvPr id="9221" name="Rectangle 58"/>
          <p:cNvSpPr>
            <a:spLocks noChangeArrowheads="1"/>
          </p:cNvSpPr>
          <p:nvPr/>
        </p:nvSpPr>
        <p:spPr bwMode="auto">
          <a:xfrm>
            <a:off x="3048001" y="5334001"/>
            <a:ext cx="29686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b="1" i="1">
                <a:solidFill>
                  <a:schemeClr val="accent2"/>
                </a:solidFill>
                <a:latin typeface="Times New Roman" charset="0"/>
              </a:rPr>
              <a:t>A</a:t>
            </a:r>
            <a:endParaRPr lang="en-US" b="1">
              <a:solidFill>
                <a:schemeClr val="accent2"/>
              </a:solidFill>
            </a:endParaRPr>
          </a:p>
        </p:txBody>
      </p:sp>
      <p:sp>
        <p:nvSpPr>
          <p:cNvPr id="9222" name="Rectangle 59"/>
          <p:cNvSpPr>
            <a:spLocks noChangeArrowheads="1"/>
          </p:cNvSpPr>
          <p:nvPr/>
        </p:nvSpPr>
        <p:spPr bwMode="auto">
          <a:xfrm>
            <a:off x="3581400" y="5722939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Times New Roman" charset="0"/>
              </a:rPr>
              <a:t>0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9223" name="Rectangle 60"/>
          <p:cNvSpPr>
            <a:spLocks noChangeArrowheads="1"/>
          </p:cNvSpPr>
          <p:nvPr/>
        </p:nvSpPr>
        <p:spPr bwMode="auto">
          <a:xfrm>
            <a:off x="3886200" y="5722939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Times New Roman" charset="0"/>
              </a:rPr>
              <a:t>1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9224" name="Rectangle 61"/>
          <p:cNvSpPr>
            <a:spLocks noChangeArrowheads="1"/>
          </p:cNvSpPr>
          <p:nvPr/>
        </p:nvSpPr>
        <p:spPr bwMode="auto">
          <a:xfrm>
            <a:off x="4191000" y="5722939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Times New Roman" charset="0"/>
              </a:rPr>
              <a:t>2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9225" name="Rectangle 65"/>
          <p:cNvSpPr>
            <a:spLocks noChangeArrowheads="1"/>
          </p:cNvSpPr>
          <p:nvPr/>
        </p:nvSpPr>
        <p:spPr bwMode="auto">
          <a:xfrm>
            <a:off x="6858001" y="5722939"/>
            <a:ext cx="28257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b="1" i="1">
                <a:solidFill>
                  <a:schemeClr val="accent2"/>
                </a:solidFill>
                <a:latin typeface="Times New Roman" charset="0"/>
              </a:rPr>
              <a:t>n</a:t>
            </a:r>
            <a:endParaRPr lang="en-US" b="1">
              <a:solidFill>
                <a:schemeClr val="accent2"/>
              </a:solidFill>
            </a:endParaRPr>
          </a:p>
        </p:txBody>
      </p:sp>
      <p:sp>
        <p:nvSpPr>
          <p:cNvPr id="9226" name="Rectangle 82"/>
          <p:cNvSpPr>
            <a:spLocks noChangeArrowheads="1"/>
          </p:cNvSpPr>
          <p:nvPr/>
        </p:nvSpPr>
        <p:spPr bwMode="auto">
          <a:xfrm>
            <a:off x="3505200" y="54102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9227" name="Rectangle 83"/>
          <p:cNvSpPr>
            <a:spLocks noChangeArrowheads="1"/>
          </p:cNvSpPr>
          <p:nvPr/>
        </p:nvSpPr>
        <p:spPr bwMode="auto">
          <a:xfrm>
            <a:off x="3810000" y="54102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28" name="Rectangle 84"/>
          <p:cNvSpPr>
            <a:spLocks noChangeArrowheads="1"/>
          </p:cNvSpPr>
          <p:nvPr/>
        </p:nvSpPr>
        <p:spPr bwMode="auto">
          <a:xfrm>
            <a:off x="4114800" y="54102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29" name="Rectangle 85"/>
          <p:cNvSpPr>
            <a:spLocks noChangeArrowheads="1"/>
          </p:cNvSpPr>
          <p:nvPr/>
        </p:nvSpPr>
        <p:spPr bwMode="auto">
          <a:xfrm>
            <a:off x="4419600" y="54102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30" name="Rectangle 86"/>
          <p:cNvSpPr>
            <a:spLocks noChangeArrowheads="1"/>
          </p:cNvSpPr>
          <p:nvPr/>
        </p:nvSpPr>
        <p:spPr bwMode="auto">
          <a:xfrm>
            <a:off x="4724400" y="54102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31" name="Rectangle 87"/>
          <p:cNvSpPr>
            <a:spLocks noChangeArrowheads="1"/>
          </p:cNvSpPr>
          <p:nvPr/>
        </p:nvSpPr>
        <p:spPr bwMode="auto">
          <a:xfrm>
            <a:off x="5029200" y="54102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32" name="Rectangle 88"/>
          <p:cNvSpPr>
            <a:spLocks noChangeArrowheads="1"/>
          </p:cNvSpPr>
          <p:nvPr/>
        </p:nvSpPr>
        <p:spPr bwMode="auto">
          <a:xfrm>
            <a:off x="5334000" y="5410200"/>
            <a:ext cx="304800" cy="304800"/>
          </a:xfrm>
          <a:prstGeom prst="rect">
            <a:avLst/>
          </a:prstGeom>
          <a:solidFill>
            <a:schemeClr val="bg2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9233" name="Rectangle 89"/>
          <p:cNvSpPr>
            <a:spLocks noChangeArrowheads="1"/>
          </p:cNvSpPr>
          <p:nvPr/>
        </p:nvSpPr>
        <p:spPr bwMode="auto">
          <a:xfrm>
            <a:off x="5638800" y="54102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34" name="Rectangle 90"/>
          <p:cNvSpPr>
            <a:spLocks noChangeArrowheads="1"/>
          </p:cNvSpPr>
          <p:nvPr/>
        </p:nvSpPr>
        <p:spPr bwMode="auto">
          <a:xfrm>
            <a:off x="5943600" y="54102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35" name="Rectangle 91"/>
          <p:cNvSpPr>
            <a:spLocks noChangeArrowheads="1"/>
          </p:cNvSpPr>
          <p:nvPr/>
        </p:nvSpPr>
        <p:spPr bwMode="auto">
          <a:xfrm>
            <a:off x="6248400" y="54102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36" name="Rectangle 92"/>
          <p:cNvSpPr>
            <a:spLocks noChangeArrowheads="1"/>
          </p:cNvSpPr>
          <p:nvPr/>
        </p:nvSpPr>
        <p:spPr bwMode="auto">
          <a:xfrm>
            <a:off x="6553200" y="54102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37" name="Rectangle 93"/>
          <p:cNvSpPr>
            <a:spLocks noChangeArrowheads="1"/>
          </p:cNvSpPr>
          <p:nvPr/>
        </p:nvSpPr>
        <p:spPr bwMode="auto">
          <a:xfrm>
            <a:off x="6858000" y="54102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38" name="Rectangle 94"/>
          <p:cNvSpPr>
            <a:spLocks noChangeArrowheads="1"/>
          </p:cNvSpPr>
          <p:nvPr/>
        </p:nvSpPr>
        <p:spPr bwMode="auto">
          <a:xfrm>
            <a:off x="7162800" y="54102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39" name="Rectangle 95"/>
          <p:cNvSpPr>
            <a:spLocks noChangeArrowheads="1"/>
          </p:cNvSpPr>
          <p:nvPr/>
        </p:nvSpPr>
        <p:spPr bwMode="auto">
          <a:xfrm>
            <a:off x="7467600" y="54102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40" name="Rectangle 96"/>
          <p:cNvSpPr>
            <a:spLocks noChangeArrowheads="1"/>
          </p:cNvSpPr>
          <p:nvPr/>
        </p:nvSpPr>
        <p:spPr bwMode="auto">
          <a:xfrm>
            <a:off x="7772400" y="54102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41" name="Rectangle 97"/>
          <p:cNvSpPr>
            <a:spLocks noChangeArrowheads="1"/>
          </p:cNvSpPr>
          <p:nvPr/>
        </p:nvSpPr>
        <p:spPr bwMode="auto">
          <a:xfrm>
            <a:off x="8077200" y="54102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42" name="Rectangle 98"/>
          <p:cNvSpPr>
            <a:spLocks noChangeArrowheads="1"/>
          </p:cNvSpPr>
          <p:nvPr/>
        </p:nvSpPr>
        <p:spPr bwMode="auto">
          <a:xfrm>
            <a:off x="8382000" y="54102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43" name="Rectangle 130"/>
          <p:cNvSpPr>
            <a:spLocks noChangeArrowheads="1"/>
          </p:cNvSpPr>
          <p:nvPr/>
        </p:nvSpPr>
        <p:spPr bwMode="auto">
          <a:xfrm>
            <a:off x="5334001" y="5730876"/>
            <a:ext cx="28257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b="1" i="1">
                <a:solidFill>
                  <a:schemeClr val="accent2"/>
                </a:solidFill>
                <a:latin typeface="Times New Roman" charset="0"/>
              </a:rPr>
              <a:t>i</a:t>
            </a:r>
            <a:endParaRPr lang="en-US" b="1">
              <a:solidFill>
                <a:schemeClr val="accent2"/>
              </a:solidFill>
            </a:endParaRPr>
          </a:p>
        </p:txBody>
      </p:sp>
      <p:sp>
        <p:nvSpPr>
          <p:cNvPr id="9244" name="Date Placeholder 28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© 2014 Goodrich, Tamassia, Goldwasser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Lists and Iterators</a:t>
            </a:r>
          </a:p>
        </p:txBody>
      </p:sp>
      <p:sp>
        <p:nvSpPr>
          <p:cNvPr id="102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FAA93887-935F-F847-B5CE-3D06A8FB1A17}" type="slidenum">
              <a:rPr lang="en-US" sz="1400"/>
              <a:pPr eaLnBrk="1" hangingPunct="1"/>
              <a:t>8</a:t>
            </a:fld>
            <a:endParaRPr lang="en-US" sz="1400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Insertion</a:t>
            </a:r>
          </a:p>
        </p:txBody>
      </p:sp>
      <p:sp>
        <p:nvSpPr>
          <p:cNvPr id="1024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438400" y="1676400"/>
            <a:ext cx="7239000" cy="1524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ahoma" charset="0"/>
              </a:rPr>
              <a:t>In an operation </a:t>
            </a:r>
            <a:r>
              <a:rPr lang="en-US" sz="2400" b="1" i="1" dirty="0">
                <a:solidFill>
                  <a:schemeClr val="tx2"/>
                </a:solidFill>
                <a:latin typeface="Times New Roman" charset="0"/>
              </a:rPr>
              <a:t>add</a:t>
            </a:r>
            <a:r>
              <a:rPr lang="en-US" sz="2400" dirty="0">
                <a:latin typeface="Tahoma" charset="0"/>
              </a:rPr>
              <a:t>(</a:t>
            </a:r>
            <a:r>
              <a:rPr lang="en-US" sz="2400" b="1" i="1" dirty="0" err="1">
                <a:latin typeface="Times New Roman" charset="0"/>
              </a:rPr>
              <a:t>i</a:t>
            </a:r>
            <a:r>
              <a:rPr lang="en-US" sz="2400" b="1" dirty="0">
                <a:latin typeface="Times New Roman" charset="0"/>
              </a:rPr>
              <a:t>,</a:t>
            </a:r>
            <a:r>
              <a:rPr lang="en-US" sz="2400" b="1" i="1" dirty="0">
                <a:latin typeface="Times New Roman" charset="0"/>
              </a:rPr>
              <a:t> o</a:t>
            </a:r>
            <a:r>
              <a:rPr lang="en-US" sz="2400" dirty="0">
                <a:latin typeface="Tahoma" charset="0"/>
              </a:rPr>
              <a:t>), we need to make room for the new element by shifting forward the </a:t>
            </a:r>
            <a:r>
              <a:rPr lang="en-US" sz="2400" b="1" i="1" dirty="0">
                <a:latin typeface="Times New Roman" charset="0"/>
              </a:rPr>
              <a:t>n </a:t>
            </a:r>
            <a:r>
              <a:rPr lang="en-US" sz="2400" dirty="0">
                <a:latin typeface="Symbol" charset="0"/>
              </a:rPr>
              <a:t>-</a:t>
            </a:r>
            <a:r>
              <a:rPr lang="en-US" sz="2400" b="1" i="1" dirty="0">
                <a:latin typeface="Times New Roman" charset="0"/>
              </a:rPr>
              <a:t> </a:t>
            </a:r>
            <a:r>
              <a:rPr lang="en-US" sz="2400" b="1" i="1" dirty="0" err="1">
                <a:latin typeface="Times New Roman" charset="0"/>
              </a:rPr>
              <a:t>i</a:t>
            </a:r>
            <a:r>
              <a:rPr lang="en-US" sz="2400" dirty="0">
                <a:latin typeface="Tahoma" charset="0"/>
              </a:rPr>
              <a:t> elements </a:t>
            </a:r>
            <a:r>
              <a:rPr lang="en-US" sz="2400" b="1" i="1" dirty="0">
                <a:latin typeface="Times New Roman" charset="0"/>
              </a:rPr>
              <a:t>A</a:t>
            </a:r>
            <a:r>
              <a:rPr lang="en-US" sz="2400" dirty="0">
                <a:latin typeface="Times New Roman" charset="0"/>
              </a:rPr>
              <a:t>[</a:t>
            </a:r>
            <a:r>
              <a:rPr lang="en-US" sz="2400" b="1" i="1" dirty="0" err="1">
                <a:latin typeface="Times New Roman" charset="0"/>
              </a:rPr>
              <a:t>i</a:t>
            </a:r>
            <a:r>
              <a:rPr lang="en-US" sz="2400" dirty="0">
                <a:latin typeface="Times New Roman" charset="0"/>
              </a:rPr>
              <a:t>], …, </a:t>
            </a:r>
            <a:r>
              <a:rPr lang="en-US" sz="2400" b="1" i="1" dirty="0">
                <a:latin typeface="Times New Roman" charset="0"/>
              </a:rPr>
              <a:t>A</a:t>
            </a:r>
            <a:r>
              <a:rPr lang="en-US" sz="2400" dirty="0">
                <a:latin typeface="Times New Roman" charset="0"/>
              </a:rPr>
              <a:t>[</a:t>
            </a:r>
            <a:r>
              <a:rPr lang="en-US" sz="2400" b="1" i="1" dirty="0">
                <a:latin typeface="Times New Roman" charset="0"/>
              </a:rPr>
              <a:t>n </a:t>
            </a:r>
            <a:r>
              <a:rPr lang="en-US" sz="2400" dirty="0">
                <a:latin typeface="Symbol" charset="0"/>
              </a:rPr>
              <a:t>-</a:t>
            </a:r>
            <a:r>
              <a:rPr lang="en-US" sz="2400" b="1" i="1" dirty="0">
                <a:latin typeface="Times New Roman" charset="0"/>
              </a:rPr>
              <a:t> </a:t>
            </a:r>
            <a:r>
              <a:rPr lang="en-US" sz="2400" dirty="0">
                <a:latin typeface="Times New Roman" charset="0"/>
              </a:rPr>
              <a:t>1]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ahoma" charset="0"/>
              </a:rPr>
              <a:t>In the worst case (</a:t>
            </a:r>
            <a:r>
              <a:rPr lang="en-US" sz="2400" b="1" i="1" dirty="0" err="1">
                <a:latin typeface="Times New Roman" charset="0"/>
              </a:rPr>
              <a:t>i</a:t>
            </a:r>
            <a:r>
              <a:rPr lang="en-US" sz="2400" b="1" i="1" dirty="0">
                <a:latin typeface="Times New Roman" charset="0"/>
              </a:rPr>
              <a:t> </a:t>
            </a:r>
            <a:r>
              <a:rPr lang="en-US" sz="2400" dirty="0">
                <a:latin typeface="Symbol" charset="0"/>
              </a:rPr>
              <a:t>=</a:t>
            </a:r>
            <a:r>
              <a:rPr lang="en-US" sz="2400" b="1" i="1" dirty="0">
                <a:latin typeface="Times New Roman" charset="0"/>
              </a:rPr>
              <a:t> </a:t>
            </a:r>
            <a:r>
              <a:rPr lang="en-US" sz="2400" dirty="0">
                <a:latin typeface="Times New Roman" charset="0"/>
              </a:rPr>
              <a:t>0</a:t>
            </a:r>
            <a:r>
              <a:rPr lang="en-US" sz="2400" dirty="0">
                <a:latin typeface="Tahoma" charset="0"/>
              </a:rPr>
              <a:t>), this takes </a:t>
            </a:r>
            <a:r>
              <a:rPr lang="en-US" sz="2400" b="1" i="1" dirty="0">
                <a:latin typeface="Times New Roman" charset="0"/>
              </a:rPr>
              <a:t>O</a:t>
            </a:r>
            <a:r>
              <a:rPr lang="en-US" sz="2400" dirty="0">
                <a:latin typeface="Times New Roman" charset="0"/>
              </a:rPr>
              <a:t>(</a:t>
            </a:r>
            <a:r>
              <a:rPr lang="en-US" sz="2400" b="1" i="1" dirty="0">
                <a:latin typeface="Times New Roman" charset="0"/>
              </a:rPr>
              <a:t>n</a:t>
            </a:r>
            <a:r>
              <a:rPr lang="en-US" sz="2400" dirty="0">
                <a:latin typeface="Times New Roman" charset="0"/>
              </a:rPr>
              <a:t>)</a:t>
            </a:r>
            <a:r>
              <a:rPr lang="en-US" sz="2400" dirty="0">
                <a:latin typeface="Tahoma" charset="0"/>
              </a:rPr>
              <a:t> time</a:t>
            </a:r>
          </a:p>
        </p:txBody>
      </p:sp>
      <p:sp>
        <p:nvSpPr>
          <p:cNvPr id="10245" name="Rectangle 55"/>
          <p:cNvSpPr>
            <a:spLocks noChangeArrowheads="1"/>
          </p:cNvSpPr>
          <p:nvPr/>
        </p:nvSpPr>
        <p:spPr bwMode="auto">
          <a:xfrm>
            <a:off x="3505201" y="3581401"/>
            <a:ext cx="29686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b="1" i="1">
                <a:solidFill>
                  <a:schemeClr val="accent2"/>
                </a:solidFill>
                <a:latin typeface="Times New Roman" charset="0"/>
              </a:rPr>
              <a:t>A</a:t>
            </a:r>
            <a:endParaRPr lang="en-US" b="1">
              <a:solidFill>
                <a:schemeClr val="accent2"/>
              </a:solidFill>
            </a:endParaRPr>
          </a:p>
        </p:txBody>
      </p:sp>
      <p:sp>
        <p:nvSpPr>
          <p:cNvPr id="10246" name="Rectangle 56"/>
          <p:cNvSpPr>
            <a:spLocks noChangeArrowheads="1"/>
          </p:cNvSpPr>
          <p:nvPr/>
        </p:nvSpPr>
        <p:spPr bwMode="auto">
          <a:xfrm>
            <a:off x="4038600" y="3970339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Times New Roman" charset="0"/>
              </a:rPr>
              <a:t>0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247" name="Rectangle 57"/>
          <p:cNvSpPr>
            <a:spLocks noChangeArrowheads="1"/>
          </p:cNvSpPr>
          <p:nvPr/>
        </p:nvSpPr>
        <p:spPr bwMode="auto">
          <a:xfrm>
            <a:off x="4343400" y="3970339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Times New Roman" charset="0"/>
              </a:rPr>
              <a:t>1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248" name="Rectangle 58"/>
          <p:cNvSpPr>
            <a:spLocks noChangeArrowheads="1"/>
          </p:cNvSpPr>
          <p:nvPr/>
        </p:nvSpPr>
        <p:spPr bwMode="auto">
          <a:xfrm>
            <a:off x="4648200" y="3970339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Times New Roman" charset="0"/>
              </a:rPr>
              <a:t>2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249" name="Rectangle 59"/>
          <p:cNvSpPr>
            <a:spLocks noChangeArrowheads="1"/>
          </p:cNvSpPr>
          <p:nvPr/>
        </p:nvSpPr>
        <p:spPr bwMode="auto">
          <a:xfrm>
            <a:off x="7315201" y="3970339"/>
            <a:ext cx="28257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b="1" i="1">
                <a:solidFill>
                  <a:schemeClr val="accent2"/>
                </a:solidFill>
                <a:latin typeface="Times New Roman" charset="0"/>
              </a:rPr>
              <a:t>n</a:t>
            </a:r>
            <a:endParaRPr lang="en-US" b="1">
              <a:solidFill>
                <a:schemeClr val="accent2"/>
              </a:solidFill>
            </a:endParaRPr>
          </a:p>
        </p:txBody>
      </p:sp>
      <p:sp>
        <p:nvSpPr>
          <p:cNvPr id="10250" name="Rectangle 60"/>
          <p:cNvSpPr>
            <a:spLocks noChangeArrowheads="1"/>
          </p:cNvSpPr>
          <p:nvPr/>
        </p:nvSpPr>
        <p:spPr bwMode="auto">
          <a:xfrm>
            <a:off x="3962400" y="3657600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0251" name="Rectangle 61"/>
          <p:cNvSpPr>
            <a:spLocks noChangeArrowheads="1"/>
          </p:cNvSpPr>
          <p:nvPr/>
        </p:nvSpPr>
        <p:spPr bwMode="auto">
          <a:xfrm>
            <a:off x="4267200" y="3657600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2" name="Rectangle 62"/>
          <p:cNvSpPr>
            <a:spLocks noChangeArrowheads="1"/>
          </p:cNvSpPr>
          <p:nvPr/>
        </p:nvSpPr>
        <p:spPr bwMode="auto">
          <a:xfrm>
            <a:off x="4572000" y="3657600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3" name="Rectangle 63"/>
          <p:cNvSpPr>
            <a:spLocks noChangeArrowheads="1"/>
          </p:cNvSpPr>
          <p:nvPr/>
        </p:nvSpPr>
        <p:spPr bwMode="auto">
          <a:xfrm>
            <a:off x="4876800" y="3657600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4" name="Rectangle 64"/>
          <p:cNvSpPr>
            <a:spLocks noChangeArrowheads="1"/>
          </p:cNvSpPr>
          <p:nvPr/>
        </p:nvSpPr>
        <p:spPr bwMode="auto">
          <a:xfrm>
            <a:off x="5181600" y="3657600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5" name="Rectangle 65"/>
          <p:cNvSpPr>
            <a:spLocks noChangeArrowheads="1"/>
          </p:cNvSpPr>
          <p:nvPr/>
        </p:nvSpPr>
        <p:spPr bwMode="auto">
          <a:xfrm>
            <a:off x="5486400" y="3657600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6" name="Rectangle 66"/>
          <p:cNvSpPr>
            <a:spLocks noChangeArrowheads="1"/>
          </p:cNvSpPr>
          <p:nvPr/>
        </p:nvSpPr>
        <p:spPr bwMode="auto">
          <a:xfrm>
            <a:off x="5791200" y="36576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0257" name="Rectangle 67"/>
          <p:cNvSpPr>
            <a:spLocks noChangeArrowheads="1"/>
          </p:cNvSpPr>
          <p:nvPr/>
        </p:nvSpPr>
        <p:spPr bwMode="auto">
          <a:xfrm>
            <a:off x="6096000" y="36576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8" name="Rectangle 68"/>
          <p:cNvSpPr>
            <a:spLocks noChangeArrowheads="1"/>
          </p:cNvSpPr>
          <p:nvPr/>
        </p:nvSpPr>
        <p:spPr bwMode="auto">
          <a:xfrm>
            <a:off x="6400800" y="36576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9" name="Rectangle 69"/>
          <p:cNvSpPr>
            <a:spLocks noChangeArrowheads="1"/>
          </p:cNvSpPr>
          <p:nvPr/>
        </p:nvSpPr>
        <p:spPr bwMode="auto">
          <a:xfrm>
            <a:off x="6705600" y="36576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60" name="Rectangle 70"/>
          <p:cNvSpPr>
            <a:spLocks noChangeArrowheads="1"/>
          </p:cNvSpPr>
          <p:nvPr/>
        </p:nvSpPr>
        <p:spPr bwMode="auto">
          <a:xfrm>
            <a:off x="7010400" y="36576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61" name="Rectangle 71"/>
          <p:cNvSpPr>
            <a:spLocks noChangeArrowheads="1"/>
          </p:cNvSpPr>
          <p:nvPr/>
        </p:nvSpPr>
        <p:spPr bwMode="auto">
          <a:xfrm>
            <a:off x="7315200" y="36576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62" name="Rectangle 72"/>
          <p:cNvSpPr>
            <a:spLocks noChangeArrowheads="1"/>
          </p:cNvSpPr>
          <p:nvPr/>
        </p:nvSpPr>
        <p:spPr bwMode="auto">
          <a:xfrm>
            <a:off x="7620000" y="36576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63" name="Rectangle 73"/>
          <p:cNvSpPr>
            <a:spLocks noChangeArrowheads="1"/>
          </p:cNvSpPr>
          <p:nvPr/>
        </p:nvSpPr>
        <p:spPr bwMode="auto">
          <a:xfrm>
            <a:off x="7924800" y="36576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64" name="Rectangle 74"/>
          <p:cNvSpPr>
            <a:spLocks noChangeArrowheads="1"/>
          </p:cNvSpPr>
          <p:nvPr/>
        </p:nvSpPr>
        <p:spPr bwMode="auto">
          <a:xfrm>
            <a:off x="8229600" y="36576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65" name="Rectangle 75"/>
          <p:cNvSpPr>
            <a:spLocks noChangeArrowheads="1"/>
          </p:cNvSpPr>
          <p:nvPr/>
        </p:nvSpPr>
        <p:spPr bwMode="auto">
          <a:xfrm>
            <a:off x="8534400" y="36576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66" name="Rectangle 76"/>
          <p:cNvSpPr>
            <a:spLocks noChangeArrowheads="1"/>
          </p:cNvSpPr>
          <p:nvPr/>
        </p:nvSpPr>
        <p:spPr bwMode="auto">
          <a:xfrm>
            <a:off x="8839200" y="36576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67" name="Rectangle 77"/>
          <p:cNvSpPr>
            <a:spLocks noChangeArrowheads="1"/>
          </p:cNvSpPr>
          <p:nvPr/>
        </p:nvSpPr>
        <p:spPr bwMode="auto">
          <a:xfrm>
            <a:off x="5791201" y="3978276"/>
            <a:ext cx="28257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b="1" i="1">
                <a:solidFill>
                  <a:schemeClr val="accent2"/>
                </a:solidFill>
                <a:latin typeface="Times New Roman" charset="0"/>
              </a:rPr>
              <a:t>i</a:t>
            </a:r>
            <a:endParaRPr lang="en-US" b="1">
              <a:solidFill>
                <a:schemeClr val="accent2"/>
              </a:solidFill>
            </a:endParaRPr>
          </a:p>
        </p:txBody>
      </p:sp>
      <p:sp>
        <p:nvSpPr>
          <p:cNvPr id="10268" name="Rectangle 78"/>
          <p:cNvSpPr>
            <a:spLocks noChangeArrowheads="1"/>
          </p:cNvSpPr>
          <p:nvPr/>
        </p:nvSpPr>
        <p:spPr bwMode="auto">
          <a:xfrm>
            <a:off x="3505201" y="4495801"/>
            <a:ext cx="29686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b="1" i="1">
                <a:solidFill>
                  <a:schemeClr val="accent2"/>
                </a:solidFill>
                <a:latin typeface="Times New Roman" charset="0"/>
              </a:rPr>
              <a:t>A</a:t>
            </a:r>
            <a:endParaRPr lang="en-US" b="1">
              <a:solidFill>
                <a:schemeClr val="accent2"/>
              </a:solidFill>
            </a:endParaRPr>
          </a:p>
        </p:txBody>
      </p:sp>
      <p:sp>
        <p:nvSpPr>
          <p:cNvPr id="10269" name="Rectangle 79"/>
          <p:cNvSpPr>
            <a:spLocks noChangeArrowheads="1"/>
          </p:cNvSpPr>
          <p:nvPr/>
        </p:nvSpPr>
        <p:spPr bwMode="auto">
          <a:xfrm>
            <a:off x="4038600" y="4884739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Times New Roman" charset="0"/>
              </a:rPr>
              <a:t>0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270" name="Rectangle 80"/>
          <p:cNvSpPr>
            <a:spLocks noChangeArrowheads="1"/>
          </p:cNvSpPr>
          <p:nvPr/>
        </p:nvSpPr>
        <p:spPr bwMode="auto">
          <a:xfrm>
            <a:off x="4343400" y="4884739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Times New Roman" charset="0"/>
              </a:rPr>
              <a:t>1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271" name="Rectangle 81"/>
          <p:cNvSpPr>
            <a:spLocks noChangeArrowheads="1"/>
          </p:cNvSpPr>
          <p:nvPr/>
        </p:nvSpPr>
        <p:spPr bwMode="auto">
          <a:xfrm>
            <a:off x="4648200" y="4884739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Times New Roman" charset="0"/>
              </a:rPr>
              <a:t>2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272" name="Rectangle 82"/>
          <p:cNvSpPr>
            <a:spLocks noChangeArrowheads="1"/>
          </p:cNvSpPr>
          <p:nvPr/>
        </p:nvSpPr>
        <p:spPr bwMode="auto">
          <a:xfrm>
            <a:off x="7315201" y="4884739"/>
            <a:ext cx="28257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b="1" i="1">
                <a:solidFill>
                  <a:schemeClr val="accent2"/>
                </a:solidFill>
                <a:latin typeface="Times New Roman" charset="0"/>
              </a:rPr>
              <a:t>n</a:t>
            </a:r>
            <a:endParaRPr lang="en-US" b="1">
              <a:solidFill>
                <a:schemeClr val="accent2"/>
              </a:solidFill>
            </a:endParaRPr>
          </a:p>
        </p:txBody>
      </p:sp>
      <p:sp>
        <p:nvSpPr>
          <p:cNvPr id="10273" name="Rectangle 83"/>
          <p:cNvSpPr>
            <a:spLocks noChangeArrowheads="1"/>
          </p:cNvSpPr>
          <p:nvPr/>
        </p:nvSpPr>
        <p:spPr bwMode="auto">
          <a:xfrm>
            <a:off x="3962400" y="4572000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0274" name="Rectangle 84"/>
          <p:cNvSpPr>
            <a:spLocks noChangeArrowheads="1"/>
          </p:cNvSpPr>
          <p:nvPr/>
        </p:nvSpPr>
        <p:spPr bwMode="auto">
          <a:xfrm>
            <a:off x="4267200" y="4572000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75" name="Rectangle 85"/>
          <p:cNvSpPr>
            <a:spLocks noChangeArrowheads="1"/>
          </p:cNvSpPr>
          <p:nvPr/>
        </p:nvSpPr>
        <p:spPr bwMode="auto">
          <a:xfrm>
            <a:off x="4572000" y="4572000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76" name="Rectangle 86"/>
          <p:cNvSpPr>
            <a:spLocks noChangeArrowheads="1"/>
          </p:cNvSpPr>
          <p:nvPr/>
        </p:nvSpPr>
        <p:spPr bwMode="auto">
          <a:xfrm>
            <a:off x="4876800" y="4572000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77" name="Rectangle 87"/>
          <p:cNvSpPr>
            <a:spLocks noChangeArrowheads="1"/>
          </p:cNvSpPr>
          <p:nvPr/>
        </p:nvSpPr>
        <p:spPr bwMode="auto">
          <a:xfrm>
            <a:off x="5181600" y="4572000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78" name="Rectangle 88"/>
          <p:cNvSpPr>
            <a:spLocks noChangeArrowheads="1"/>
          </p:cNvSpPr>
          <p:nvPr/>
        </p:nvSpPr>
        <p:spPr bwMode="auto">
          <a:xfrm>
            <a:off x="5486400" y="4572000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79" name="Rectangle 89"/>
          <p:cNvSpPr>
            <a:spLocks noChangeArrowheads="1"/>
          </p:cNvSpPr>
          <p:nvPr/>
        </p:nvSpPr>
        <p:spPr bwMode="auto">
          <a:xfrm>
            <a:off x="5791200" y="45720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0280" name="Rectangle 90"/>
          <p:cNvSpPr>
            <a:spLocks noChangeArrowheads="1"/>
          </p:cNvSpPr>
          <p:nvPr/>
        </p:nvSpPr>
        <p:spPr bwMode="auto">
          <a:xfrm>
            <a:off x="6096000" y="45720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81" name="Rectangle 91"/>
          <p:cNvSpPr>
            <a:spLocks noChangeArrowheads="1"/>
          </p:cNvSpPr>
          <p:nvPr/>
        </p:nvSpPr>
        <p:spPr bwMode="auto">
          <a:xfrm>
            <a:off x="6400800" y="45720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82" name="Rectangle 92"/>
          <p:cNvSpPr>
            <a:spLocks noChangeArrowheads="1"/>
          </p:cNvSpPr>
          <p:nvPr/>
        </p:nvSpPr>
        <p:spPr bwMode="auto">
          <a:xfrm>
            <a:off x="6705600" y="45720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83" name="Rectangle 93"/>
          <p:cNvSpPr>
            <a:spLocks noChangeArrowheads="1"/>
          </p:cNvSpPr>
          <p:nvPr/>
        </p:nvSpPr>
        <p:spPr bwMode="auto">
          <a:xfrm>
            <a:off x="7010400" y="45720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84" name="Rectangle 94"/>
          <p:cNvSpPr>
            <a:spLocks noChangeArrowheads="1"/>
          </p:cNvSpPr>
          <p:nvPr/>
        </p:nvSpPr>
        <p:spPr bwMode="auto">
          <a:xfrm>
            <a:off x="7315200" y="45720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85" name="Rectangle 95"/>
          <p:cNvSpPr>
            <a:spLocks noChangeArrowheads="1"/>
          </p:cNvSpPr>
          <p:nvPr/>
        </p:nvSpPr>
        <p:spPr bwMode="auto">
          <a:xfrm>
            <a:off x="7620000" y="45720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86" name="Rectangle 96"/>
          <p:cNvSpPr>
            <a:spLocks noChangeArrowheads="1"/>
          </p:cNvSpPr>
          <p:nvPr/>
        </p:nvSpPr>
        <p:spPr bwMode="auto">
          <a:xfrm>
            <a:off x="7924800" y="45720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87" name="Rectangle 97"/>
          <p:cNvSpPr>
            <a:spLocks noChangeArrowheads="1"/>
          </p:cNvSpPr>
          <p:nvPr/>
        </p:nvSpPr>
        <p:spPr bwMode="auto">
          <a:xfrm>
            <a:off x="8229600" y="45720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88" name="Rectangle 98"/>
          <p:cNvSpPr>
            <a:spLocks noChangeArrowheads="1"/>
          </p:cNvSpPr>
          <p:nvPr/>
        </p:nvSpPr>
        <p:spPr bwMode="auto">
          <a:xfrm>
            <a:off x="8534400" y="45720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89" name="Rectangle 99"/>
          <p:cNvSpPr>
            <a:spLocks noChangeArrowheads="1"/>
          </p:cNvSpPr>
          <p:nvPr/>
        </p:nvSpPr>
        <p:spPr bwMode="auto">
          <a:xfrm>
            <a:off x="8839200" y="45720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90" name="Rectangle 100"/>
          <p:cNvSpPr>
            <a:spLocks noChangeArrowheads="1"/>
          </p:cNvSpPr>
          <p:nvPr/>
        </p:nvSpPr>
        <p:spPr bwMode="auto">
          <a:xfrm>
            <a:off x="5791201" y="4892676"/>
            <a:ext cx="28257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b="1" i="1">
                <a:solidFill>
                  <a:schemeClr val="accent2"/>
                </a:solidFill>
                <a:latin typeface="Times New Roman" charset="0"/>
              </a:rPr>
              <a:t>i</a:t>
            </a:r>
            <a:endParaRPr lang="en-US" b="1">
              <a:solidFill>
                <a:schemeClr val="accent2"/>
              </a:solidFill>
            </a:endParaRPr>
          </a:p>
        </p:txBody>
      </p:sp>
      <p:sp>
        <p:nvSpPr>
          <p:cNvPr id="10291" name="Rectangle 101"/>
          <p:cNvSpPr>
            <a:spLocks noChangeArrowheads="1"/>
          </p:cNvSpPr>
          <p:nvPr/>
        </p:nvSpPr>
        <p:spPr bwMode="auto">
          <a:xfrm>
            <a:off x="3505201" y="5410201"/>
            <a:ext cx="29686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b="1" i="1">
                <a:solidFill>
                  <a:schemeClr val="accent2"/>
                </a:solidFill>
                <a:latin typeface="Times New Roman" charset="0"/>
              </a:rPr>
              <a:t>A</a:t>
            </a:r>
            <a:endParaRPr lang="en-US" b="1">
              <a:solidFill>
                <a:schemeClr val="accent2"/>
              </a:solidFill>
            </a:endParaRPr>
          </a:p>
        </p:txBody>
      </p:sp>
      <p:sp>
        <p:nvSpPr>
          <p:cNvPr id="10292" name="Rectangle 102"/>
          <p:cNvSpPr>
            <a:spLocks noChangeArrowheads="1"/>
          </p:cNvSpPr>
          <p:nvPr/>
        </p:nvSpPr>
        <p:spPr bwMode="auto">
          <a:xfrm>
            <a:off x="4038600" y="5799139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Times New Roman" charset="0"/>
              </a:rPr>
              <a:t>0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293" name="Rectangle 103"/>
          <p:cNvSpPr>
            <a:spLocks noChangeArrowheads="1"/>
          </p:cNvSpPr>
          <p:nvPr/>
        </p:nvSpPr>
        <p:spPr bwMode="auto">
          <a:xfrm>
            <a:off x="4343400" y="5799139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Times New Roman" charset="0"/>
              </a:rPr>
              <a:t>1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294" name="Rectangle 104"/>
          <p:cNvSpPr>
            <a:spLocks noChangeArrowheads="1"/>
          </p:cNvSpPr>
          <p:nvPr/>
        </p:nvSpPr>
        <p:spPr bwMode="auto">
          <a:xfrm>
            <a:off x="4648200" y="5799139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Times New Roman" charset="0"/>
              </a:rPr>
              <a:t>2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295" name="Rectangle 105"/>
          <p:cNvSpPr>
            <a:spLocks noChangeArrowheads="1"/>
          </p:cNvSpPr>
          <p:nvPr/>
        </p:nvSpPr>
        <p:spPr bwMode="auto">
          <a:xfrm>
            <a:off x="7645401" y="5799139"/>
            <a:ext cx="28257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b="1" i="1">
                <a:solidFill>
                  <a:schemeClr val="accent2"/>
                </a:solidFill>
                <a:latin typeface="Times New Roman" charset="0"/>
              </a:rPr>
              <a:t>n</a:t>
            </a:r>
            <a:endParaRPr lang="en-US" b="1">
              <a:solidFill>
                <a:schemeClr val="accent2"/>
              </a:solidFill>
            </a:endParaRPr>
          </a:p>
        </p:txBody>
      </p:sp>
      <p:sp>
        <p:nvSpPr>
          <p:cNvPr id="10296" name="Rectangle 106"/>
          <p:cNvSpPr>
            <a:spLocks noChangeArrowheads="1"/>
          </p:cNvSpPr>
          <p:nvPr/>
        </p:nvSpPr>
        <p:spPr bwMode="auto">
          <a:xfrm>
            <a:off x="3962400" y="5486400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0297" name="Rectangle 107"/>
          <p:cNvSpPr>
            <a:spLocks noChangeArrowheads="1"/>
          </p:cNvSpPr>
          <p:nvPr/>
        </p:nvSpPr>
        <p:spPr bwMode="auto">
          <a:xfrm>
            <a:off x="4267200" y="5486400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98" name="Rectangle 108"/>
          <p:cNvSpPr>
            <a:spLocks noChangeArrowheads="1"/>
          </p:cNvSpPr>
          <p:nvPr/>
        </p:nvSpPr>
        <p:spPr bwMode="auto">
          <a:xfrm>
            <a:off x="4572000" y="5486400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99" name="Rectangle 109"/>
          <p:cNvSpPr>
            <a:spLocks noChangeArrowheads="1"/>
          </p:cNvSpPr>
          <p:nvPr/>
        </p:nvSpPr>
        <p:spPr bwMode="auto">
          <a:xfrm>
            <a:off x="4876800" y="5486400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00" name="Rectangle 110"/>
          <p:cNvSpPr>
            <a:spLocks noChangeArrowheads="1"/>
          </p:cNvSpPr>
          <p:nvPr/>
        </p:nvSpPr>
        <p:spPr bwMode="auto">
          <a:xfrm>
            <a:off x="5181600" y="5486400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01" name="Rectangle 111"/>
          <p:cNvSpPr>
            <a:spLocks noChangeArrowheads="1"/>
          </p:cNvSpPr>
          <p:nvPr/>
        </p:nvSpPr>
        <p:spPr bwMode="auto">
          <a:xfrm>
            <a:off x="5486400" y="5486400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02" name="Rectangle 112"/>
          <p:cNvSpPr>
            <a:spLocks noChangeArrowheads="1"/>
          </p:cNvSpPr>
          <p:nvPr/>
        </p:nvSpPr>
        <p:spPr bwMode="auto">
          <a:xfrm>
            <a:off x="5791200" y="5486400"/>
            <a:ext cx="304800" cy="304800"/>
          </a:xfrm>
          <a:prstGeom prst="rect">
            <a:avLst/>
          </a:prstGeom>
          <a:solidFill>
            <a:schemeClr val="bg2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i="1">
                <a:latin typeface="Times New Roman" charset="0"/>
              </a:rPr>
              <a:t>o</a:t>
            </a:r>
          </a:p>
        </p:txBody>
      </p:sp>
      <p:sp>
        <p:nvSpPr>
          <p:cNvPr id="10303" name="Rectangle 113"/>
          <p:cNvSpPr>
            <a:spLocks noChangeArrowheads="1"/>
          </p:cNvSpPr>
          <p:nvPr/>
        </p:nvSpPr>
        <p:spPr bwMode="auto">
          <a:xfrm>
            <a:off x="6096000" y="54864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04" name="Rectangle 114"/>
          <p:cNvSpPr>
            <a:spLocks noChangeArrowheads="1"/>
          </p:cNvSpPr>
          <p:nvPr/>
        </p:nvSpPr>
        <p:spPr bwMode="auto">
          <a:xfrm>
            <a:off x="6400800" y="54864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05" name="Rectangle 115"/>
          <p:cNvSpPr>
            <a:spLocks noChangeArrowheads="1"/>
          </p:cNvSpPr>
          <p:nvPr/>
        </p:nvSpPr>
        <p:spPr bwMode="auto">
          <a:xfrm>
            <a:off x="6705600" y="54864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06" name="Rectangle 116"/>
          <p:cNvSpPr>
            <a:spLocks noChangeArrowheads="1"/>
          </p:cNvSpPr>
          <p:nvPr/>
        </p:nvSpPr>
        <p:spPr bwMode="auto">
          <a:xfrm>
            <a:off x="7010400" y="54864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07" name="Rectangle 117"/>
          <p:cNvSpPr>
            <a:spLocks noChangeArrowheads="1"/>
          </p:cNvSpPr>
          <p:nvPr/>
        </p:nvSpPr>
        <p:spPr bwMode="auto">
          <a:xfrm>
            <a:off x="7315200" y="54864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08" name="Rectangle 118"/>
          <p:cNvSpPr>
            <a:spLocks noChangeArrowheads="1"/>
          </p:cNvSpPr>
          <p:nvPr/>
        </p:nvSpPr>
        <p:spPr bwMode="auto">
          <a:xfrm>
            <a:off x="7620000" y="54864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09" name="Rectangle 119"/>
          <p:cNvSpPr>
            <a:spLocks noChangeArrowheads="1"/>
          </p:cNvSpPr>
          <p:nvPr/>
        </p:nvSpPr>
        <p:spPr bwMode="auto">
          <a:xfrm>
            <a:off x="7924800" y="54864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10" name="Rectangle 120"/>
          <p:cNvSpPr>
            <a:spLocks noChangeArrowheads="1"/>
          </p:cNvSpPr>
          <p:nvPr/>
        </p:nvSpPr>
        <p:spPr bwMode="auto">
          <a:xfrm>
            <a:off x="8229600" y="54864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11" name="Rectangle 121"/>
          <p:cNvSpPr>
            <a:spLocks noChangeArrowheads="1"/>
          </p:cNvSpPr>
          <p:nvPr/>
        </p:nvSpPr>
        <p:spPr bwMode="auto">
          <a:xfrm>
            <a:off x="8534400" y="54864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12" name="Rectangle 122"/>
          <p:cNvSpPr>
            <a:spLocks noChangeArrowheads="1"/>
          </p:cNvSpPr>
          <p:nvPr/>
        </p:nvSpPr>
        <p:spPr bwMode="auto">
          <a:xfrm>
            <a:off x="8839200" y="54864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13" name="Rectangle 123"/>
          <p:cNvSpPr>
            <a:spLocks noChangeArrowheads="1"/>
          </p:cNvSpPr>
          <p:nvPr/>
        </p:nvSpPr>
        <p:spPr bwMode="auto">
          <a:xfrm>
            <a:off x="5791201" y="5807076"/>
            <a:ext cx="28257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b="1" i="1">
                <a:solidFill>
                  <a:schemeClr val="accent2"/>
                </a:solidFill>
                <a:latin typeface="Times New Roman" charset="0"/>
              </a:rPr>
              <a:t>i</a:t>
            </a:r>
            <a:endParaRPr lang="en-US" b="1">
              <a:solidFill>
                <a:schemeClr val="accent2"/>
              </a:solidFill>
            </a:endParaRPr>
          </a:p>
        </p:txBody>
      </p:sp>
      <p:cxnSp>
        <p:nvCxnSpPr>
          <p:cNvPr id="10314" name="AutoShape 124"/>
          <p:cNvCxnSpPr>
            <a:cxnSpLocks noChangeShapeType="1"/>
            <a:stCxn id="10279" idx="0"/>
            <a:endCxn id="10280" idx="0"/>
          </p:cNvCxnSpPr>
          <p:nvPr/>
        </p:nvCxnSpPr>
        <p:spPr bwMode="auto">
          <a:xfrm rot="5400000" flipV="1">
            <a:off x="6095206" y="4401344"/>
            <a:ext cx="1588" cy="304800"/>
          </a:xfrm>
          <a:prstGeom prst="curvedConnector3">
            <a:avLst>
              <a:gd name="adj1" fmla="val -13200005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0315" name="AutoShape 126"/>
          <p:cNvCxnSpPr>
            <a:cxnSpLocks noChangeShapeType="1"/>
          </p:cNvCxnSpPr>
          <p:nvPr/>
        </p:nvCxnSpPr>
        <p:spPr bwMode="auto">
          <a:xfrm rot="5400000" flipV="1">
            <a:off x="6400006" y="4420394"/>
            <a:ext cx="1588" cy="304800"/>
          </a:xfrm>
          <a:prstGeom prst="curvedConnector3">
            <a:avLst>
              <a:gd name="adj1" fmla="val -13200005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0316" name="AutoShape 127"/>
          <p:cNvCxnSpPr>
            <a:cxnSpLocks noChangeShapeType="1"/>
          </p:cNvCxnSpPr>
          <p:nvPr/>
        </p:nvCxnSpPr>
        <p:spPr bwMode="auto">
          <a:xfrm rot="5400000" flipV="1">
            <a:off x="6704806" y="4420394"/>
            <a:ext cx="1588" cy="304800"/>
          </a:xfrm>
          <a:prstGeom prst="curvedConnector3">
            <a:avLst>
              <a:gd name="adj1" fmla="val -13200005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0317" name="AutoShape 128"/>
          <p:cNvCxnSpPr>
            <a:cxnSpLocks noChangeShapeType="1"/>
          </p:cNvCxnSpPr>
          <p:nvPr/>
        </p:nvCxnSpPr>
        <p:spPr bwMode="auto">
          <a:xfrm rot="5400000" flipV="1">
            <a:off x="7009606" y="4420394"/>
            <a:ext cx="1588" cy="304800"/>
          </a:xfrm>
          <a:prstGeom prst="curvedConnector3">
            <a:avLst>
              <a:gd name="adj1" fmla="val -13200005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0318" name="AutoShape 129"/>
          <p:cNvCxnSpPr>
            <a:cxnSpLocks noChangeShapeType="1"/>
          </p:cNvCxnSpPr>
          <p:nvPr/>
        </p:nvCxnSpPr>
        <p:spPr bwMode="auto">
          <a:xfrm rot="5400000" flipV="1">
            <a:off x="7314406" y="4420394"/>
            <a:ext cx="1588" cy="304800"/>
          </a:xfrm>
          <a:prstGeom prst="curvedConnector3">
            <a:avLst>
              <a:gd name="adj1" fmla="val -13200005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0319" name="Date Placeholder 79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© 2014 Goodrich, Tamassia, Goldwasser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Lists and Iterators</a:t>
            </a:r>
          </a:p>
        </p:txBody>
      </p:sp>
      <p:sp>
        <p:nvSpPr>
          <p:cNvPr id="112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4291A514-4638-1542-A1FA-FE6CA015F88C}" type="slidenum">
              <a:rPr lang="en-US" sz="1400"/>
              <a:pPr eaLnBrk="1" hangingPunct="1"/>
              <a:t>9</a:t>
            </a:fld>
            <a:endParaRPr lang="en-US" sz="1400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Element Removal</a:t>
            </a:r>
          </a:p>
        </p:txBody>
      </p:sp>
      <p:sp>
        <p:nvSpPr>
          <p:cNvPr id="1126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209800" y="1676400"/>
            <a:ext cx="8229600" cy="1600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>
                <a:latin typeface="Tahoma" charset="0"/>
              </a:rPr>
              <a:t>In an operation </a:t>
            </a:r>
            <a:r>
              <a:rPr lang="en-US" sz="2400" b="1" i="1">
                <a:solidFill>
                  <a:schemeClr val="tx2"/>
                </a:solidFill>
                <a:latin typeface="Times New Roman" charset="0"/>
              </a:rPr>
              <a:t>remove</a:t>
            </a:r>
            <a:r>
              <a:rPr lang="en-US" sz="2400">
                <a:latin typeface="Tahoma" charset="0"/>
              </a:rPr>
              <a:t>(i), we need to fill the hole left by the removed element by shifting backward the </a:t>
            </a:r>
            <a:r>
              <a:rPr lang="en-US" sz="2400" b="1" i="1">
                <a:latin typeface="Times New Roman" charset="0"/>
              </a:rPr>
              <a:t>n </a:t>
            </a:r>
            <a:r>
              <a:rPr lang="en-US" sz="2400">
                <a:latin typeface="Symbol" charset="0"/>
              </a:rPr>
              <a:t>-</a:t>
            </a:r>
            <a:r>
              <a:rPr lang="en-US" sz="2400" b="1" i="1">
                <a:latin typeface="Times New Roman" charset="0"/>
              </a:rPr>
              <a:t> i </a:t>
            </a:r>
            <a:r>
              <a:rPr lang="en-US" sz="2400">
                <a:latin typeface="Symbol" charset="0"/>
              </a:rPr>
              <a:t>-</a:t>
            </a:r>
            <a:r>
              <a:rPr lang="en-US" sz="2400" b="1" i="1">
                <a:latin typeface="Times New Roman" charset="0"/>
              </a:rPr>
              <a:t> </a:t>
            </a:r>
            <a:r>
              <a:rPr lang="en-US" sz="2400">
                <a:latin typeface="Times New Roman" charset="0"/>
              </a:rPr>
              <a:t>1</a:t>
            </a:r>
            <a:r>
              <a:rPr lang="en-US" sz="2400">
                <a:latin typeface="Tahoma" charset="0"/>
              </a:rPr>
              <a:t> elements </a:t>
            </a:r>
            <a:r>
              <a:rPr lang="en-US" sz="2400" b="1" i="1">
                <a:latin typeface="Times New Roman" charset="0"/>
              </a:rPr>
              <a:t>A</a:t>
            </a:r>
            <a:r>
              <a:rPr lang="en-US" sz="2400">
                <a:latin typeface="Times New Roman" charset="0"/>
              </a:rPr>
              <a:t>[</a:t>
            </a:r>
            <a:r>
              <a:rPr lang="en-US" sz="2400" b="1" i="1">
                <a:latin typeface="Times New Roman" charset="0"/>
              </a:rPr>
              <a:t>i </a:t>
            </a:r>
            <a:r>
              <a:rPr lang="en-US" sz="2400">
                <a:latin typeface="Symbol" charset="0"/>
              </a:rPr>
              <a:t>+</a:t>
            </a:r>
            <a:r>
              <a:rPr lang="en-US" sz="2400" b="1" i="1">
                <a:latin typeface="Times New Roman" charset="0"/>
              </a:rPr>
              <a:t> </a:t>
            </a:r>
            <a:r>
              <a:rPr lang="en-US" sz="2400">
                <a:latin typeface="Times New Roman" charset="0"/>
              </a:rPr>
              <a:t>1], …, </a:t>
            </a:r>
            <a:r>
              <a:rPr lang="en-US" sz="2400" b="1" i="1">
                <a:latin typeface="Times New Roman" charset="0"/>
              </a:rPr>
              <a:t>A</a:t>
            </a:r>
            <a:r>
              <a:rPr lang="en-US" sz="2400">
                <a:latin typeface="Times New Roman" charset="0"/>
              </a:rPr>
              <a:t>[</a:t>
            </a:r>
            <a:r>
              <a:rPr lang="en-US" sz="2400" b="1" i="1">
                <a:latin typeface="Times New Roman" charset="0"/>
              </a:rPr>
              <a:t>n </a:t>
            </a:r>
            <a:r>
              <a:rPr lang="en-US" sz="2400">
                <a:latin typeface="Symbol" charset="0"/>
              </a:rPr>
              <a:t>-</a:t>
            </a:r>
            <a:r>
              <a:rPr lang="en-US" sz="2400" b="1" i="1">
                <a:latin typeface="Times New Roman" charset="0"/>
              </a:rPr>
              <a:t> </a:t>
            </a:r>
            <a:r>
              <a:rPr lang="en-US" sz="2400">
                <a:latin typeface="Times New Roman" charset="0"/>
              </a:rPr>
              <a:t>1]</a:t>
            </a:r>
          </a:p>
          <a:p>
            <a:pPr eaLnBrk="1" hangingPunct="1">
              <a:lnSpc>
                <a:spcPct val="90000"/>
              </a:lnSpc>
            </a:pPr>
            <a:r>
              <a:rPr lang="en-US" sz="2400">
                <a:latin typeface="Tahoma" charset="0"/>
              </a:rPr>
              <a:t>In the worst case (</a:t>
            </a:r>
            <a:r>
              <a:rPr lang="en-US" sz="2400" b="1" i="1">
                <a:latin typeface="Times New Roman" charset="0"/>
              </a:rPr>
              <a:t>i </a:t>
            </a:r>
            <a:r>
              <a:rPr lang="en-US" sz="2400">
                <a:latin typeface="Symbol" charset="0"/>
              </a:rPr>
              <a:t>=</a:t>
            </a:r>
            <a:r>
              <a:rPr lang="en-US" sz="2400" b="1" i="1">
                <a:latin typeface="Times New Roman" charset="0"/>
              </a:rPr>
              <a:t> </a:t>
            </a:r>
            <a:r>
              <a:rPr lang="en-US" sz="2400">
                <a:latin typeface="Times New Roman" charset="0"/>
              </a:rPr>
              <a:t>0</a:t>
            </a:r>
            <a:r>
              <a:rPr lang="en-US" sz="2400">
                <a:latin typeface="Tahoma" charset="0"/>
              </a:rPr>
              <a:t>), this takes </a:t>
            </a:r>
            <a:r>
              <a:rPr lang="en-US" sz="2400" b="1" i="1">
                <a:latin typeface="Times New Roman" charset="0"/>
              </a:rPr>
              <a:t>O</a:t>
            </a:r>
            <a:r>
              <a:rPr lang="en-US" sz="2400">
                <a:latin typeface="Times New Roman" charset="0"/>
              </a:rPr>
              <a:t>(</a:t>
            </a:r>
            <a:r>
              <a:rPr lang="en-US" sz="2400" b="1" i="1">
                <a:latin typeface="Times New Roman" charset="0"/>
              </a:rPr>
              <a:t>n</a:t>
            </a:r>
            <a:r>
              <a:rPr lang="en-US" sz="2400">
                <a:latin typeface="Times New Roman" charset="0"/>
              </a:rPr>
              <a:t>)</a:t>
            </a:r>
            <a:r>
              <a:rPr lang="en-US" sz="2400">
                <a:latin typeface="Tahoma" charset="0"/>
              </a:rPr>
              <a:t> time</a:t>
            </a:r>
          </a:p>
        </p:txBody>
      </p:sp>
      <p:grpSp>
        <p:nvGrpSpPr>
          <p:cNvPr id="11269" name="Group 80"/>
          <p:cNvGrpSpPr>
            <a:grpSpLocks/>
          </p:cNvGrpSpPr>
          <p:nvPr/>
        </p:nvGrpSpPr>
        <p:grpSpPr bwMode="auto">
          <a:xfrm>
            <a:off x="3505200" y="5410200"/>
            <a:ext cx="5638800" cy="673100"/>
            <a:chOff x="1248" y="2256"/>
            <a:chExt cx="3552" cy="424"/>
          </a:xfrm>
        </p:grpSpPr>
        <p:sp>
          <p:nvSpPr>
            <p:cNvPr id="11324" name="Rectangle 4"/>
            <p:cNvSpPr>
              <a:spLocks noChangeArrowheads="1"/>
            </p:cNvSpPr>
            <p:nvPr/>
          </p:nvSpPr>
          <p:spPr bwMode="auto">
            <a:xfrm>
              <a:off x="1248" y="2256"/>
              <a:ext cx="18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b="1" i="1">
                  <a:solidFill>
                    <a:schemeClr val="accent2"/>
                  </a:solidFill>
                  <a:latin typeface="Times New Roman" charset="0"/>
                </a:rPr>
                <a:t>A</a:t>
              </a:r>
              <a:endParaRPr lang="en-US" b="1">
                <a:solidFill>
                  <a:schemeClr val="accent2"/>
                </a:solidFill>
              </a:endParaRPr>
            </a:p>
          </p:txBody>
        </p:sp>
        <p:sp>
          <p:nvSpPr>
            <p:cNvPr id="11325" name="Rectangle 5"/>
            <p:cNvSpPr>
              <a:spLocks noChangeArrowheads="1"/>
            </p:cNvSpPr>
            <p:nvPr/>
          </p:nvSpPr>
          <p:spPr bwMode="auto">
            <a:xfrm>
              <a:off x="1584" y="2501"/>
              <a:ext cx="7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chemeClr val="accent2"/>
                  </a:solidFill>
                  <a:latin typeface="Times New Roman" charset="0"/>
                </a:rPr>
                <a:t>0</a:t>
              </a:r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1326" name="Rectangle 6"/>
            <p:cNvSpPr>
              <a:spLocks noChangeArrowheads="1"/>
            </p:cNvSpPr>
            <p:nvPr/>
          </p:nvSpPr>
          <p:spPr bwMode="auto">
            <a:xfrm>
              <a:off x="1776" y="2501"/>
              <a:ext cx="7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chemeClr val="accent2"/>
                  </a:solidFill>
                  <a:latin typeface="Times New Roman" charset="0"/>
                </a:rPr>
                <a:t>1</a:t>
              </a:r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1327" name="Rectangle 7"/>
            <p:cNvSpPr>
              <a:spLocks noChangeArrowheads="1"/>
            </p:cNvSpPr>
            <p:nvPr/>
          </p:nvSpPr>
          <p:spPr bwMode="auto">
            <a:xfrm>
              <a:off x="1968" y="2501"/>
              <a:ext cx="7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chemeClr val="accent2"/>
                  </a:solidFill>
                  <a:latin typeface="Times New Roman" charset="0"/>
                </a:rPr>
                <a:t>2</a:t>
              </a:r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1328" name="Rectangle 8"/>
            <p:cNvSpPr>
              <a:spLocks noChangeArrowheads="1"/>
            </p:cNvSpPr>
            <p:nvPr/>
          </p:nvSpPr>
          <p:spPr bwMode="auto">
            <a:xfrm>
              <a:off x="3648" y="2501"/>
              <a:ext cx="178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b="1" i="1">
                  <a:solidFill>
                    <a:schemeClr val="accent2"/>
                  </a:solidFill>
                  <a:latin typeface="Times New Roman" charset="0"/>
                </a:rPr>
                <a:t>n</a:t>
              </a:r>
              <a:endParaRPr lang="en-US" b="1">
                <a:solidFill>
                  <a:schemeClr val="accent2"/>
                </a:solidFill>
              </a:endParaRPr>
            </a:p>
          </p:txBody>
        </p:sp>
        <p:sp>
          <p:nvSpPr>
            <p:cNvPr id="11329" name="Rectangle 9"/>
            <p:cNvSpPr>
              <a:spLocks noChangeArrowheads="1"/>
            </p:cNvSpPr>
            <p:nvPr/>
          </p:nvSpPr>
          <p:spPr bwMode="auto">
            <a:xfrm>
              <a:off x="1536" y="2304"/>
              <a:ext cx="192" cy="192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1330" name="Rectangle 10"/>
            <p:cNvSpPr>
              <a:spLocks noChangeArrowheads="1"/>
            </p:cNvSpPr>
            <p:nvPr/>
          </p:nvSpPr>
          <p:spPr bwMode="auto">
            <a:xfrm>
              <a:off x="1728" y="2304"/>
              <a:ext cx="192" cy="192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1" name="Rectangle 11"/>
            <p:cNvSpPr>
              <a:spLocks noChangeArrowheads="1"/>
            </p:cNvSpPr>
            <p:nvPr/>
          </p:nvSpPr>
          <p:spPr bwMode="auto">
            <a:xfrm>
              <a:off x="1920" y="2304"/>
              <a:ext cx="192" cy="192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2" name="Rectangle 12"/>
            <p:cNvSpPr>
              <a:spLocks noChangeArrowheads="1"/>
            </p:cNvSpPr>
            <p:nvPr/>
          </p:nvSpPr>
          <p:spPr bwMode="auto">
            <a:xfrm>
              <a:off x="2112" y="2304"/>
              <a:ext cx="192" cy="192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3" name="Rectangle 13"/>
            <p:cNvSpPr>
              <a:spLocks noChangeArrowheads="1"/>
            </p:cNvSpPr>
            <p:nvPr/>
          </p:nvSpPr>
          <p:spPr bwMode="auto">
            <a:xfrm>
              <a:off x="2304" y="2304"/>
              <a:ext cx="192" cy="192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4" name="Rectangle 14"/>
            <p:cNvSpPr>
              <a:spLocks noChangeArrowheads="1"/>
            </p:cNvSpPr>
            <p:nvPr/>
          </p:nvSpPr>
          <p:spPr bwMode="auto">
            <a:xfrm>
              <a:off x="2496" y="2304"/>
              <a:ext cx="192" cy="192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5" name="Rectangle 15"/>
            <p:cNvSpPr>
              <a:spLocks noChangeArrowheads="1"/>
            </p:cNvSpPr>
            <p:nvPr/>
          </p:nvSpPr>
          <p:spPr bwMode="auto">
            <a:xfrm>
              <a:off x="2688" y="2304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1336" name="Rectangle 16"/>
            <p:cNvSpPr>
              <a:spLocks noChangeArrowheads="1"/>
            </p:cNvSpPr>
            <p:nvPr/>
          </p:nvSpPr>
          <p:spPr bwMode="auto">
            <a:xfrm>
              <a:off x="2880" y="2304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7" name="Rectangle 17"/>
            <p:cNvSpPr>
              <a:spLocks noChangeArrowheads="1"/>
            </p:cNvSpPr>
            <p:nvPr/>
          </p:nvSpPr>
          <p:spPr bwMode="auto">
            <a:xfrm>
              <a:off x="3072" y="2304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8" name="Rectangle 18"/>
            <p:cNvSpPr>
              <a:spLocks noChangeArrowheads="1"/>
            </p:cNvSpPr>
            <p:nvPr/>
          </p:nvSpPr>
          <p:spPr bwMode="auto">
            <a:xfrm>
              <a:off x="3264" y="2304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9" name="Rectangle 19"/>
            <p:cNvSpPr>
              <a:spLocks noChangeArrowheads="1"/>
            </p:cNvSpPr>
            <p:nvPr/>
          </p:nvSpPr>
          <p:spPr bwMode="auto">
            <a:xfrm>
              <a:off x="3456" y="2304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40" name="Rectangle 20"/>
            <p:cNvSpPr>
              <a:spLocks noChangeArrowheads="1"/>
            </p:cNvSpPr>
            <p:nvPr/>
          </p:nvSpPr>
          <p:spPr bwMode="auto">
            <a:xfrm>
              <a:off x="3648" y="2304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41" name="Rectangle 21"/>
            <p:cNvSpPr>
              <a:spLocks noChangeArrowheads="1"/>
            </p:cNvSpPr>
            <p:nvPr/>
          </p:nvSpPr>
          <p:spPr bwMode="auto">
            <a:xfrm>
              <a:off x="3840" y="2304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42" name="Rectangle 22"/>
            <p:cNvSpPr>
              <a:spLocks noChangeArrowheads="1"/>
            </p:cNvSpPr>
            <p:nvPr/>
          </p:nvSpPr>
          <p:spPr bwMode="auto">
            <a:xfrm>
              <a:off x="4032" y="2304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43" name="Rectangle 23"/>
            <p:cNvSpPr>
              <a:spLocks noChangeArrowheads="1"/>
            </p:cNvSpPr>
            <p:nvPr/>
          </p:nvSpPr>
          <p:spPr bwMode="auto">
            <a:xfrm>
              <a:off x="4224" y="2304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44" name="Rectangle 24"/>
            <p:cNvSpPr>
              <a:spLocks noChangeArrowheads="1"/>
            </p:cNvSpPr>
            <p:nvPr/>
          </p:nvSpPr>
          <p:spPr bwMode="auto">
            <a:xfrm>
              <a:off x="4416" y="2304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45" name="Rectangle 25"/>
            <p:cNvSpPr>
              <a:spLocks noChangeArrowheads="1"/>
            </p:cNvSpPr>
            <p:nvPr/>
          </p:nvSpPr>
          <p:spPr bwMode="auto">
            <a:xfrm>
              <a:off x="4608" y="2304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46" name="Rectangle 26"/>
            <p:cNvSpPr>
              <a:spLocks noChangeArrowheads="1"/>
            </p:cNvSpPr>
            <p:nvPr/>
          </p:nvSpPr>
          <p:spPr bwMode="auto">
            <a:xfrm>
              <a:off x="2688" y="2506"/>
              <a:ext cx="178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b="1" i="1">
                  <a:solidFill>
                    <a:schemeClr val="accent2"/>
                  </a:solidFill>
                  <a:latin typeface="Times New Roman" charset="0"/>
                </a:rPr>
                <a:t>i</a:t>
              </a:r>
              <a:endParaRPr lang="en-US" b="1">
                <a:solidFill>
                  <a:schemeClr val="accent2"/>
                </a:solidFill>
              </a:endParaRPr>
            </a:p>
          </p:txBody>
        </p:sp>
      </p:grpSp>
      <p:grpSp>
        <p:nvGrpSpPr>
          <p:cNvPr id="11270" name="Group 78"/>
          <p:cNvGrpSpPr>
            <a:grpSpLocks/>
          </p:cNvGrpSpPr>
          <p:nvPr/>
        </p:nvGrpSpPr>
        <p:grpSpPr bwMode="auto">
          <a:xfrm>
            <a:off x="3505200" y="3581400"/>
            <a:ext cx="5638800" cy="673100"/>
            <a:chOff x="1248" y="3408"/>
            <a:chExt cx="3552" cy="424"/>
          </a:xfrm>
        </p:grpSpPr>
        <p:sp>
          <p:nvSpPr>
            <p:cNvPr id="11301" name="Rectangle 50"/>
            <p:cNvSpPr>
              <a:spLocks noChangeArrowheads="1"/>
            </p:cNvSpPr>
            <p:nvPr/>
          </p:nvSpPr>
          <p:spPr bwMode="auto">
            <a:xfrm>
              <a:off x="1248" y="3408"/>
              <a:ext cx="18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b="1" i="1">
                  <a:solidFill>
                    <a:schemeClr val="accent2"/>
                  </a:solidFill>
                  <a:latin typeface="Times New Roman" charset="0"/>
                </a:rPr>
                <a:t>A</a:t>
              </a:r>
              <a:endParaRPr lang="en-US" b="1">
                <a:solidFill>
                  <a:schemeClr val="accent2"/>
                </a:solidFill>
              </a:endParaRPr>
            </a:p>
          </p:txBody>
        </p:sp>
        <p:sp>
          <p:nvSpPr>
            <p:cNvPr id="11302" name="Rectangle 51"/>
            <p:cNvSpPr>
              <a:spLocks noChangeArrowheads="1"/>
            </p:cNvSpPr>
            <p:nvPr/>
          </p:nvSpPr>
          <p:spPr bwMode="auto">
            <a:xfrm>
              <a:off x="1584" y="3653"/>
              <a:ext cx="7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chemeClr val="accent2"/>
                  </a:solidFill>
                  <a:latin typeface="Times New Roman" charset="0"/>
                </a:rPr>
                <a:t>0</a:t>
              </a:r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1303" name="Rectangle 52"/>
            <p:cNvSpPr>
              <a:spLocks noChangeArrowheads="1"/>
            </p:cNvSpPr>
            <p:nvPr/>
          </p:nvSpPr>
          <p:spPr bwMode="auto">
            <a:xfrm>
              <a:off x="1776" y="3653"/>
              <a:ext cx="7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chemeClr val="accent2"/>
                  </a:solidFill>
                  <a:latin typeface="Times New Roman" charset="0"/>
                </a:rPr>
                <a:t>1</a:t>
              </a:r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1304" name="Rectangle 53"/>
            <p:cNvSpPr>
              <a:spLocks noChangeArrowheads="1"/>
            </p:cNvSpPr>
            <p:nvPr/>
          </p:nvSpPr>
          <p:spPr bwMode="auto">
            <a:xfrm>
              <a:off x="1968" y="3653"/>
              <a:ext cx="7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chemeClr val="accent2"/>
                  </a:solidFill>
                  <a:latin typeface="Times New Roman" charset="0"/>
                </a:rPr>
                <a:t>2</a:t>
              </a:r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1305" name="Rectangle 54"/>
            <p:cNvSpPr>
              <a:spLocks noChangeArrowheads="1"/>
            </p:cNvSpPr>
            <p:nvPr/>
          </p:nvSpPr>
          <p:spPr bwMode="auto">
            <a:xfrm>
              <a:off x="3856" y="3653"/>
              <a:ext cx="178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b="1" i="1">
                  <a:solidFill>
                    <a:schemeClr val="accent2"/>
                  </a:solidFill>
                  <a:latin typeface="Times New Roman" charset="0"/>
                </a:rPr>
                <a:t>n</a:t>
              </a:r>
              <a:endParaRPr lang="en-US" b="1">
                <a:solidFill>
                  <a:schemeClr val="accent2"/>
                </a:solidFill>
              </a:endParaRPr>
            </a:p>
          </p:txBody>
        </p:sp>
        <p:sp>
          <p:nvSpPr>
            <p:cNvPr id="11306" name="Rectangle 55"/>
            <p:cNvSpPr>
              <a:spLocks noChangeArrowheads="1"/>
            </p:cNvSpPr>
            <p:nvPr/>
          </p:nvSpPr>
          <p:spPr bwMode="auto">
            <a:xfrm>
              <a:off x="1536" y="3456"/>
              <a:ext cx="192" cy="192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1307" name="Rectangle 56"/>
            <p:cNvSpPr>
              <a:spLocks noChangeArrowheads="1"/>
            </p:cNvSpPr>
            <p:nvPr/>
          </p:nvSpPr>
          <p:spPr bwMode="auto">
            <a:xfrm>
              <a:off x="1728" y="3456"/>
              <a:ext cx="192" cy="192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08" name="Rectangle 57"/>
            <p:cNvSpPr>
              <a:spLocks noChangeArrowheads="1"/>
            </p:cNvSpPr>
            <p:nvPr/>
          </p:nvSpPr>
          <p:spPr bwMode="auto">
            <a:xfrm>
              <a:off x="1920" y="3456"/>
              <a:ext cx="192" cy="192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09" name="Rectangle 58"/>
            <p:cNvSpPr>
              <a:spLocks noChangeArrowheads="1"/>
            </p:cNvSpPr>
            <p:nvPr/>
          </p:nvSpPr>
          <p:spPr bwMode="auto">
            <a:xfrm>
              <a:off x="2112" y="3456"/>
              <a:ext cx="192" cy="192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0" name="Rectangle 59"/>
            <p:cNvSpPr>
              <a:spLocks noChangeArrowheads="1"/>
            </p:cNvSpPr>
            <p:nvPr/>
          </p:nvSpPr>
          <p:spPr bwMode="auto">
            <a:xfrm>
              <a:off x="2304" y="3456"/>
              <a:ext cx="192" cy="192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1" name="Rectangle 60"/>
            <p:cNvSpPr>
              <a:spLocks noChangeArrowheads="1"/>
            </p:cNvSpPr>
            <p:nvPr/>
          </p:nvSpPr>
          <p:spPr bwMode="auto">
            <a:xfrm>
              <a:off x="2496" y="3456"/>
              <a:ext cx="192" cy="192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2" name="Rectangle 61"/>
            <p:cNvSpPr>
              <a:spLocks noChangeArrowheads="1"/>
            </p:cNvSpPr>
            <p:nvPr/>
          </p:nvSpPr>
          <p:spPr bwMode="auto">
            <a:xfrm>
              <a:off x="2688" y="3456"/>
              <a:ext cx="192" cy="192"/>
            </a:xfrm>
            <a:prstGeom prst="rect">
              <a:avLst/>
            </a:prstGeom>
            <a:solidFill>
              <a:schemeClr val="bg2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i="1">
                  <a:latin typeface="Times New Roman" charset="0"/>
                </a:rPr>
                <a:t>o</a:t>
              </a:r>
            </a:p>
          </p:txBody>
        </p:sp>
        <p:sp>
          <p:nvSpPr>
            <p:cNvPr id="11313" name="Rectangle 62"/>
            <p:cNvSpPr>
              <a:spLocks noChangeArrowheads="1"/>
            </p:cNvSpPr>
            <p:nvPr/>
          </p:nvSpPr>
          <p:spPr bwMode="auto">
            <a:xfrm>
              <a:off x="2880" y="3456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4" name="Rectangle 63"/>
            <p:cNvSpPr>
              <a:spLocks noChangeArrowheads="1"/>
            </p:cNvSpPr>
            <p:nvPr/>
          </p:nvSpPr>
          <p:spPr bwMode="auto">
            <a:xfrm>
              <a:off x="3072" y="3456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5" name="Rectangle 64"/>
            <p:cNvSpPr>
              <a:spLocks noChangeArrowheads="1"/>
            </p:cNvSpPr>
            <p:nvPr/>
          </p:nvSpPr>
          <p:spPr bwMode="auto">
            <a:xfrm>
              <a:off x="3264" y="3456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6" name="Rectangle 65"/>
            <p:cNvSpPr>
              <a:spLocks noChangeArrowheads="1"/>
            </p:cNvSpPr>
            <p:nvPr/>
          </p:nvSpPr>
          <p:spPr bwMode="auto">
            <a:xfrm>
              <a:off x="3456" y="3456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7" name="Rectangle 66"/>
            <p:cNvSpPr>
              <a:spLocks noChangeArrowheads="1"/>
            </p:cNvSpPr>
            <p:nvPr/>
          </p:nvSpPr>
          <p:spPr bwMode="auto">
            <a:xfrm>
              <a:off x="3648" y="3456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8" name="Rectangle 67"/>
            <p:cNvSpPr>
              <a:spLocks noChangeArrowheads="1"/>
            </p:cNvSpPr>
            <p:nvPr/>
          </p:nvSpPr>
          <p:spPr bwMode="auto">
            <a:xfrm>
              <a:off x="3840" y="3456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9" name="Rectangle 68"/>
            <p:cNvSpPr>
              <a:spLocks noChangeArrowheads="1"/>
            </p:cNvSpPr>
            <p:nvPr/>
          </p:nvSpPr>
          <p:spPr bwMode="auto">
            <a:xfrm>
              <a:off x="4032" y="3456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0" name="Rectangle 69"/>
            <p:cNvSpPr>
              <a:spLocks noChangeArrowheads="1"/>
            </p:cNvSpPr>
            <p:nvPr/>
          </p:nvSpPr>
          <p:spPr bwMode="auto">
            <a:xfrm>
              <a:off x="4224" y="3456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1" name="Rectangle 70"/>
            <p:cNvSpPr>
              <a:spLocks noChangeArrowheads="1"/>
            </p:cNvSpPr>
            <p:nvPr/>
          </p:nvSpPr>
          <p:spPr bwMode="auto">
            <a:xfrm>
              <a:off x="4416" y="3456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2" name="Rectangle 71"/>
            <p:cNvSpPr>
              <a:spLocks noChangeArrowheads="1"/>
            </p:cNvSpPr>
            <p:nvPr/>
          </p:nvSpPr>
          <p:spPr bwMode="auto">
            <a:xfrm>
              <a:off x="4608" y="3456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3" name="Rectangle 72"/>
            <p:cNvSpPr>
              <a:spLocks noChangeArrowheads="1"/>
            </p:cNvSpPr>
            <p:nvPr/>
          </p:nvSpPr>
          <p:spPr bwMode="auto">
            <a:xfrm>
              <a:off x="2688" y="3658"/>
              <a:ext cx="178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b="1" i="1">
                  <a:solidFill>
                    <a:schemeClr val="accent2"/>
                  </a:solidFill>
                  <a:latin typeface="Times New Roman" charset="0"/>
                </a:rPr>
                <a:t>i</a:t>
              </a:r>
              <a:endParaRPr lang="en-US" b="1">
                <a:solidFill>
                  <a:schemeClr val="accent2"/>
                </a:solidFill>
              </a:endParaRPr>
            </a:p>
          </p:txBody>
        </p:sp>
      </p:grpSp>
      <p:grpSp>
        <p:nvGrpSpPr>
          <p:cNvPr id="11271" name="Group 79"/>
          <p:cNvGrpSpPr>
            <a:grpSpLocks/>
          </p:cNvGrpSpPr>
          <p:nvPr/>
        </p:nvGrpSpPr>
        <p:grpSpPr bwMode="auto">
          <a:xfrm>
            <a:off x="3505200" y="4495800"/>
            <a:ext cx="5638800" cy="673100"/>
            <a:chOff x="1248" y="2832"/>
            <a:chExt cx="3552" cy="424"/>
          </a:xfrm>
        </p:grpSpPr>
        <p:sp>
          <p:nvSpPr>
            <p:cNvPr id="11273" name="Rectangle 27"/>
            <p:cNvSpPr>
              <a:spLocks noChangeArrowheads="1"/>
            </p:cNvSpPr>
            <p:nvPr/>
          </p:nvSpPr>
          <p:spPr bwMode="auto">
            <a:xfrm>
              <a:off x="1248" y="2832"/>
              <a:ext cx="18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b="1" i="1">
                  <a:solidFill>
                    <a:schemeClr val="accent2"/>
                  </a:solidFill>
                  <a:latin typeface="Times New Roman" charset="0"/>
                </a:rPr>
                <a:t>A</a:t>
              </a:r>
              <a:endParaRPr lang="en-US" b="1">
                <a:solidFill>
                  <a:schemeClr val="accent2"/>
                </a:solidFill>
              </a:endParaRPr>
            </a:p>
          </p:txBody>
        </p:sp>
        <p:sp>
          <p:nvSpPr>
            <p:cNvPr id="11274" name="Rectangle 28"/>
            <p:cNvSpPr>
              <a:spLocks noChangeArrowheads="1"/>
            </p:cNvSpPr>
            <p:nvPr/>
          </p:nvSpPr>
          <p:spPr bwMode="auto">
            <a:xfrm>
              <a:off x="1584" y="3077"/>
              <a:ext cx="7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chemeClr val="accent2"/>
                  </a:solidFill>
                  <a:latin typeface="Times New Roman" charset="0"/>
                </a:rPr>
                <a:t>0</a:t>
              </a:r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1275" name="Rectangle 29"/>
            <p:cNvSpPr>
              <a:spLocks noChangeArrowheads="1"/>
            </p:cNvSpPr>
            <p:nvPr/>
          </p:nvSpPr>
          <p:spPr bwMode="auto">
            <a:xfrm>
              <a:off x="1776" y="3077"/>
              <a:ext cx="7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chemeClr val="accent2"/>
                  </a:solidFill>
                  <a:latin typeface="Times New Roman" charset="0"/>
                </a:rPr>
                <a:t>1</a:t>
              </a:r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1276" name="Rectangle 30"/>
            <p:cNvSpPr>
              <a:spLocks noChangeArrowheads="1"/>
            </p:cNvSpPr>
            <p:nvPr/>
          </p:nvSpPr>
          <p:spPr bwMode="auto">
            <a:xfrm>
              <a:off x="1968" y="3077"/>
              <a:ext cx="7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chemeClr val="accent2"/>
                  </a:solidFill>
                  <a:latin typeface="Times New Roman" charset="0"/>
                </a:rPr>
                <a:t>2</a:t>
              </a:r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1277" name="Rectangle 31"/>
            <p:cNvSpPr>
              <a:spLocks noChangeArrowheads="1"/>
            </p:cNvSpPr>
            <p:nvPr/>
          </p:nvSpPr>
          <p:spPr bwMode="auto">
            <a:xfrm>
              <a:off x="3846" y="3077"/>
              <a:ext cx="178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b="1" i="1">
                  <a:solidFill>
                    <a:schemeClr val="accent2"/>
                  </a:solidFill>
                  <a:latin typeface="Times New Roman" charset="0"/>
                </a:rPr>
                <a:t>n</a:t>
              </a:r>
              <a:endParaRPr lang="en-US" b="1">
                <a:solidFill>
                  <a:schemeClr val="accent2"/>
                </a:solidFill>
              </a:endParaRPr>
            </a:p>
          </p:txBody>
        </p:sp>
        <p:sp>
          <p:nvSpPr>
            <p:cNvPr id="11278" name="Rectangle 32"/>
            <p:cNvSpPr>
              <a:spLocks noChangeArrowheads="1"/>
            </p:cNvSpPr>
            <p:nvPr/>
          </p:nvSpPr>
          <p:spPr bwMode="auto">
            <a:xfrm>
              <a:off x="1536" y="2880"/>
              <a:ext cx="192" cy="192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1279" name="Rectangle 33"/>
            <p:cNvSpPr>
              <a:spLocks noChangeArrowheads="1"/>
            </p:cNvSpPr>
            <p:nvPr/>
          </p:nvSpPr>
          <p:spPr bwMode="auto">
            <a:xfrm>
              <a:off x="1728" y="2880"/>
              <a:ext cx="192" cy="192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0" name="Rectangle 34"/>
            <p:cNvSpPr>
              <a:spLocks noChangeArrowheads="1"/>
            </p:cNvSpPr>
            <p:nvPr/>
          </p:nvSpPr>
          <p:spPr bwMode="auto">
            <a:xfrm>
              <a:off x="1920" y="2880"/>
              <a:ext cx="192" cy="192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1" name="Rectangle 35"/>
            <p:cNvSpPr>
              <a:spLocks noChangeArrowheads="1"/>
            </p:cNvSpPr>
            <p:nvPr/>
          </p:nvSpPr>
          <p:spPr bwMode="auto">
            <a:xfrm>
              <a:off x="2112" y="2880"/>
              <a:ext cx="192" cy="192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2" name="Rectangle 36"/>
            <p:cNvSpPr>
              <a:spLocks noChangeArrowheads="1"/>
            </p:cNvSpPr>
            <p:nvPr/>
          </p:nvSpPr>
          <p:spPr bwMode="auto">
            <a:xfrm>
              <a:off x="2304" y="2880"/>
              <a:ext cx="192" cy="192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3" name="Rectangle 37"/>
            <p:cNvSpPr>
              <a:spLocks noChangeArrowheads="1"/>
            </p:cNvSpPr>
            <p:nvPr/>
          </p:nvSpPr>
          <p:spPr bwMode="auto">
            <a:xfrm>
              <a:off x="2496" y="2880"/>
              <a:ext cx="192" cy="192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4" name="Rectangle 38"/>
            <p:cNvSpPr>
              <a:spLocks noChangeArrowheads="1"/>
            </p:cNvSpPr>
            <p:nvPr/>
          </p:nvSpPr>
          <p:spPr bwMode="auto">
            <a:xfrm>
              <a:off x="2688" y="2880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1285" name="Rectangle 39"/>
            <p:cNvSpPr>
              <a:spLocks noChangeArrowheads="1"/>
            </p:cNvSpPr>
            <p:nvPr/>
          </p:nvSpPr>
          <p:spPr bwMode="auto">
            <a:xfrm>
              <a:off x="2880" y="2880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6" name="Rectangle 40"/>
            <p:cNvSpPr>
              <a:spLocks noChangeArrowheads="1"/>
            </p:cNvSpPr>
            <p:nvPr/>
          </p:nvSpPr>
          <p:spPr bwMode="auto">
            <a:xfrm>
              <a:off x="3072" y="2880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7" name="Rectangle 41"/>
            <p:cNvSpPr>
              <a:spLocks noChangeArrowheads="1"/>
            </p:cNvSpPr>
            <p:nvPr/>
          </p:nvSpPr>
          <p:spPr bwMode="auto">
            <a:xfrm>
              <a:off x="3264" y="2880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8" name="Rectangle 42"/>
            <p:cNvSpPr>
              <a:spLocks noChangeArrowheads="1"/>
            </p:cNvSpPr>
            <p:nvPr/>
          </p:nvSpPr>
          <p:spPr bwMode="auto">
            <a:xfrm>
              <a:off x="3456" y="2880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9" name="Rectangle 43"/>
            <p:cNvSpPr>
              <a:spLocks noChangeArrowheads="1"/>
            </p:cNvSpPr>
            <p:nvPr/>
          </p:nvSpPr>
          <p:spPr bwMode="auto">
            <a:xfrm>
              <a:off x="3648" y="2880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0" name="Rectangle 44"/>
            <p:cNvSpPr>
              <a:spLocks noChangeArrowheads="1"/>
            </p:cNvSpPr>
            <p:nvPr/>
          </p:nvSpPr>
          <p:spPr bwMode="auto">
            <a:xfrm>
              <a:off x="3840" y="2880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1" name="Rectangle 45"/>
            <p:cNvSpPr>
              <a:spLocks noChangeArrowheads="1"/>
            </p:cNvSpPr>
            <p:nvPr/>
          </p:nvSpPr>
          <p:spPr bwMode="auto">
            <a:xfrm>
              <a:off x="4032" y="2880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2" name="Rectangle 46"/>
            <p:cNvSpPr>
              <a:spLocks noChangeArrowheads="1"/>
            </p:cNvSpPr>
            <p:nvPr/>
          </p:nvSpPr>
          <p:spPr bwMode="auto">
            <a:xfrm>
              <a:off x="4224" y="2880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3" name="Rectangle 47"/>
            <p:cNvSpPr>
              <a:spLocks noChangeArrowheads="1"/>
            </p:cNvSpPr>
            <p:nvPr/>
          </p:nvSpPr>
          <p:spPr bwMode="auto">
            <a:xfrm>
              <a:off x="4416" y="2880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4" name="Rectangle 48"/>
            <p:cNvSpPr>
              <a:spLocks noChangeArrowheads="1"/>
            </p:cNvSpPr>
            <p:nvPr/>
          </p:nvSpPr>
          <p:spPr bwMode="auto">
            <a:xfrm>
              <a:off x="4608" y="2880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5" name="Rectangle 49"/>
            <p:cNvSpPr>
              <a:spLocks noChangeArrowheads="1"/>
            </p:cNvSpPr>
            <p:nvPr/>
          </p:nvSpPr>
          <p:spPr bwMode="auto">
            <a:xfrm>
              <a:off x="2688" y="3082"/>
              <a:ext cx="178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b="1" i="1">
                  <a:solidFill>
                    <a:schemeClr val="accent2"/>
                  </a:solidFill>
                  <a:latin typeface="Times New Roman" charset="0"/>
                </a:rPr>
                <a:t>i</a:t>
              </a:r>
              <a:endParaRPr lang="en-US" b="1">
                <a:solidFill>
                  <a:schemeClr val="accent2"/>
                </a:solidFill>
              </a:endParaRPr>
            </a:p>
          </p:txBody>
        </p:sp>
        <p:cxnSp>
          <p:nvCxnSpPr>
            <p:cNvPr id="11296" name="AutoShape 73"/>
            <p:cNvCxnSpPr>
              <a:cxnSpLocks noChangeShapeType="1"/>
              <a:stCxn id="11284" idx="0"/>
              <a:endCxn id="11285" idx="0"/>
            </p:cNvCxnSpPr>
            <p:nvPr/>
          </p:nvCxnSpPr>
          <p:spPr bwMode="auto">
            <a:xfrm rot="5400000" flipV="1">
              <a:off x="2879" y="2773"/>
              <a:ext cx="1" cy="192"/>
            </a:xfrm>
            <a:prstGeom prst="curvedConnector3">
              <a:avLst>
                <a:gd name="adj1" fmla="val -13200005"/>
              </a:avLst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1297" name="AutoShape 74"/>
            <p:cNvCxnSpPr>
              <a:cxnSpLocks noChangeShapeType="1"/>
            </p:cNvCxnSpPr>
            <p:nvPr/>
          </p:nvCxnSpPr>
          <p:spPr bwMode="auto">
            <a:xfrm rot="5400000" flipV="1">
              <a:off x="3071" y="2785"/>
              <a:ext cx="1" cy="192"/>
            </a:xfrm>
            <a:prstGeom prst="curvedConnector3">
              <a:avLst>
                <a:gd name="adj1" fmla="val -13200005"/>
              </a:avLst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1298" name="AutoShape 75"/>
            <p:cNvCxnSpPr>
              <a:cxnSpLocks noChangeShapeType="1"/>
            </p:cNvCxnSpPr>
            <p:nvPr/>
          </p:nvCxnSpPr>
          <p:spPr bwMode="auto">
            <a:xfrm rot="5400000" flipV="1">
              <a:off x="3263" y="2785"/>
              <a:ext cx="1" cy="192"/>
            </a:xfrm>
            <a:prstGeom prst="curvedConnector3">
              <a:avLst>
                <a:gd name="adj1" fmla="val -13200005"/>
              </a:avLst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1299" name="AutoShape 76"/>
            <p:cNvCxnSpPr>
              <a:cxnSpLocks noChangeShapeType="1"/>
            </p:cNvCxnSpPr>
            <p:nvPr/>
          </p:nvCxnSpPr>
          <p:spPr bwMode="auto">
            <a:xfrm rot="5400000" flipV="1">
              <a:off x="3455" y="2785"/>
              <a:ext cx="1" cy="192"/>
            </a:xfrm>
            <a:prstGeom prst="curvedConnector3">
              <a:avLst>
                <a:gd name="adj1" fmla="val -13200005"/>
              </a:avLst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1300" name="AutoShape 77"/>
            <p:cNvCxnSpPr>
              <a:cxnSpLocks noChangeShapeType="1"/>
            </p:cNvCxnSpPr>
            <p:nvPr/>
          </p:nvCxnSpPr>
          <p:spPr bwMode="auto">
            <a:xfrm rot="5400000" flipV="1">
              <a:off x="3647" y="2785"/>
              <a:ext cx="1" cy="192"/>
            </a:xfrm>
            <a:prstGeom prst="curvedConnector3">
              <a:avLst>
                <a:gd name="adj1" fmla="val -13200005"/>
              </a:avLst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sp>
        <p:nvSpPr>
          <p:cNvPr id="11272" name="Date Placeholder 8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© 2014 Goodrich, Tamassia, Goldwasser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Lists and Iterators</a:t>
            </a:r>
          </a:p>
        </p:txBody>
      </p:sp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E30576BA-FF8F-2A40-B744-3419202C7476}" type="slidenum">
              <a:rPr lang="en-US" sz="1400"/>
              <a:pPr eaLnBrk="1" hangingPunct="1"/>
              <a:t>10</a:t>
            </a:fld>
            <a:endParaRPr lang="en-US" sz="1400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Performance</a:t>
            </a:r>
          </a:p>
        </p:txBody>
      </p:sp>
      <p:sp>
        <p:nvSpPr>
          <p:cNvPr id="6349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133600" y="1676400"/>
            <a:ext cx="7848600" cy="4572000"/>
          </a:xfrm>
        </p:spPr>
        <p:txBody>
          <a:bodyPr>
            <a:normAutofit/>
          </a:bodyPr>
          <a:lstStyle/>
          <a:p>
            <a:pPr eaLnBrk="1" hangingPunct="1">
              <a:buFont typeface="Wingdings" pitchFamily="2" charset="2"/>
              <a:buChar char="q"/>
              <a:defRPr/>
            </a:pPr>
            <a:r>
              <a:rPr lang="en-US" sz="2800" dirty="0"/>
              <a:t>In an array-based implementation of a dynamic list:</a:t>
            </a:r>
          </a:p>
          <a:p>
            <a:pPr lvl="1" eaLnBrk="1" hangingPunct="1">
              <a:buFont typeface="Wingdings" pitchFamily="2" charset="2"/>
              <a:buChar char="n"/>
              <a:defRPr/>
            </a:pPr>
            <a:r>
              <a:rPr lang="en-US" sz="2400" dirty="0"/>
              <a:t>The space used by the data structure is </a:t>
            </a:r>
            <a:r>
              <a:rPr lang="en-US" sz="2400" b="1" i="1" dirty="0">
                <a:latin typeface="Times New Roman" pitchFamily="18" charset="0"/>
              </a:rPr>
              <a:t>O</a:t>
            </a:r>
            <a:r>
              <a:rPr lang="en-US" sz="2400" dirty="0">
                <a:latin typeface="Times New Roman" pitchFamily="18" charset="0"/>
              </a:rPr>
              <a:t>(</a:t>
            </a:r>
            <a:r>
              <a:rPr lang="en-US" sz="2400" b="1" i="1" dirty="0">
                <a:latin typeface="Times New Roman" pitchFamily="18" charset="0"/>
              </a:rPr>
              <a:t>n</a:t>
            </a:r>
            <a:r>
              <a:rPr lang="en-US" sz="2400" dirty="0">
                <a:latin typeface="Times New Roman" pitchFamily="18" charset="0"/>
              </a:rPr>
              <a:t>)</a:t>
            </a:r>
            <a:endParaRPr lang="en-US" sz="2400" dirty="0"/>
          </a:p>
          <a:p>
            <a:pPr lvl="1" eaLnBrk="1" hangingPunct="1">
              <a:buFont typeface="Wingdings" pitchFamily="2" charset="2"/>
              <a:buChar char="n"/>
              <a:defRPr/>
            </a:pPr>
            <a:r>
              <a:rPr lang="en-US" sz="2400" dirty="0"/>
              <a:t>Indexing the element at </a:t>
            </a:r>
            <a:r>
              <a:rPr lang="en-US" sz="2400" dirty="0" err="1"/>
              <a:t>i</a:t>
            </a:r>
            <a:r>
              <a:rPr lang="en-US" sz="2400" dirty="0"/>
              <a:t> takes </a:t>
            </a:r>
            <a:r>
              <a:rPr lang="en-US" sz="2400" b="1" i="1" dirty="0">
                <a:latin typeface="Times New Roman" pitchFamily="18" charset="0"/>
              </a:rPr>
              <a:t>O</a:t>
            </a:r>
            <a:r>
              <a:rPr lang="en-US" sz="2400" dirty="0">
                <a:latin typeface="Times New Roman" pitchFamily="18" charset="0"/>
              </a:rPr>
              <a:t>(1)</a:t>
            </a:r>
            <a:r>
              <a:rPr lang="en-US" sz="2400" dirty="0"/>
              <a:t> time</a:t>
            </a:r>
          </a:p>
          <a:p>
            <a:pPr lvl="1" eaLnBrk="1" hangingPunct="1">
              <a:buFont typeface="Wingdings" pitchFamily="2" charset="2"/>
              <a:buChar char="n"/>
              <a:defRPr/>
            </a:pPr>
            <a:r>
              <a:rPr lang="en-US" sz="2400" b="1" i="1" dirty="0">
                <a:solidFill>
                  <a:schemeClr val="tx2"/>
                </a:solidFill>
                <a:latin typeface="Times New Roman" pitchFamily="18" charset="0"/>
              </a:rPr>
              <a:t>add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/>
              <a:t>and </a:t>
            </a:r>
            <a:r>
              <a:rPr lang="en-US" sz="2400" b="1" i="1" dirty="0">
                <a:solidFill>
                  <a:schemeClr val="tx2"/>
                </a:solidFill>
                <a:latin typeface="Times New Roman" pitchFamily="18" charset="0"/>
              </a:rPr>
              <a:t>remove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/>
              <a:t>run in </a:t>
            </a:r>
            <a:r>
              <a:rPr lang="en-US" sz="2400" b="1" i="1" dirty="0">
                <a:latin typeface="Times New Roman" pitchFamily="18" charset="0"/>
              </a:rPr>
              <a:t>O</a:t>
            </a:r>
            <a:r>
              <a:rPr lang="en-US" sz="2400" dirty="0">
                <a:latin typeface="Times New Roman" pitchFamily="18" charset="0"/>
              </a:rPr>
              <a:t>(</a:t>
            </a:r>
            <a:r>
              <a:rPr lang="en-US" sz="2400" b="1" i="1" dirty="0">
                <a:latin typeface="Times New Roman" pitchFamily="18" charset="0"/>
              </a:rPr>
              <a:t>n</a:t>
            </a:r>
            <a:r>
              <a:rPr lang="en-US" sz="2400" dirty="0">
                <a:latin typeface="Times New Roman" pitchFamily="18" charset="0"/>
              </a:rPr>
              <a:t>)</a:t>
            </a:r>
            <a:r>
              <a:rPr lang="en-US" sz="2400" dirty="0"/>
              <a:t> time</a:t>
            </a:r>
          </a:p>
          <a:p>
            <a:pPr eaLnBrk="1" hangingPunct="1">
              <a:buFont typeface="Wingdings" pitchFamily="2" charset="2"/>
              <a:buChar char="q"/>
              <a:defRPr/>
            </a:pPr>
            <a:r>
              <a:rPr lang="en-US" sz="2800" dirty="0"/>
              <a:t>In an </a:t>
            </a:r>
            <a:r>
              <a:rPr lang="en-US" sz="2800" b="1" i="1" dirty="0">
                <a:solidFill>
                  <a:schemeClr val="tx2"/>
                </a:solidFill>
                <a:latin typeface="Times New Roman" pitchFamily="18" charset="0"/>
              </a:rPr>
              <a:t>add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/>
              <a:t>operation, when the array is full, instead of throwing an exception, we can replace the array with a larger one …</a:t>
            </a:r>
          </a:p>
        </p:txBody>
      </p:sp>
      <p:sp>
        <p:nvSpPr>
          <p:cNvPr id="12293" name="Date Placeholder 5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© 2014 Goodrich, Tamassia, Goldwasser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Implementation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 Goodrich, Tamassia, Goldwasser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Lists and Iterators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D379D5-F0BC-F149-937C-E0DCC3E9663D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64144"/>
            <a:ext cx="8396580" cy="4455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490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304800"/>
            <a:ext cx="7924800" cy="762000"/>
          </a:xfrm>
        </p:spPr>
        <p:txBody>
          <a:bodyPr/>
          <a:lstStyle/>
          <a:p>
            <a:r>
              <a:rPr lang="en-US" dirty="0"/>
              <a:t>Java Implementation, 2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 Goodrich, Tamassia, Goldwasser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Lists and Iterators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D379D5-F0BC-F149-937C-E0DCC3E9663D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968809"/>
            <a:ext cx="6781800" cy="581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3964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Lists and Iterators</a:t>
            </a:r>
          </a:p>
        </p:txBody>
      </p:sp>
      <p:sp>
        <p:nvSpPr>
          <p:cNvPr id="133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E38ABF70-3CA5-5442-813A-BB394183E247}" type="slidenum">
              <a:rPr lang="en-US" sz="1400"/>
              <a:pPr eaLnBrk="1" hangingPunct="1"/>
              <a:t>13</a:t>
            </a:fld>
            <a:endParaRPr lang="en-US" sz="1400" dirty="0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304800"/>
            <a:ext cx="8153400" cy="1143000"/>
          </a:xfrm>
        </p:spPr>
        <p:txBody>
          <a:bodyPr/>
          <a:lstStyle/>
          <a:p>
            <a:pPr eaLnBrk="1" hangingPunct="1"/>
            <a:r>
              <a:rPr lang="en-US" dirty="0">
                <a:latin typeface="Tahoma" charset="0"/>
              </a:rPr>
              <a:t>Growable Array-based Array List</a:t>
            </a:r>
          </a:p>
        </p:txBody>
      </p:sp>
      <p:sp>
        <p:nvSpPr>
          <p:cNvPr id="6656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209800" y="1524000"/>
            <a:ext cx="4876800" cy="4953000"/>
          </a:xfrm>
        </p:spPr>
        <p:txBody>
          <a:bodyPr>
            <a:normAutofit lnSpcReduction="10000"/>
          </a:bodyPr>
          <a:lstStyle/>
          <a:p>
            <a:pPr eaLnBrk="1" hangingPunct="1">
              <a:buFont typeface="Wingdings" pitchFamily="2" charset="2"/>
              <a:buChar char="q"/>
              <a:defRPr/>
            </a:pPr>
            <a:r>
              <a:rPr lang="en-US" sz="2800" dirty="0"/>
              <a:t>Let </a:t>
            </a:r>
            <a:r>
              <a:rPr lang="en-US" sz="2800" dirty="0">
                <a:solidFill>
                  <a:schemeClr val="tx2"/>
                </a:solidFill>
              </a:rPr>
              <a:t>push(o)</a:t>
            </a:r>
            <a:r>
              <a:rPr lang="en-US" sz="2800" dirty="0"/>
              <a:t> be the operation that adds element </a:t>
            </a:r>
            <a:r>
              <a:rPr lang="en-US" sz="2800" dirty="0">
                <a:solidFill>
                  <a:srgbClr val="BE2D00"/>
                </a:solidFill>
              </a:rPr>
              <a:t>o</a:t>
            </a:r>
            <a:r>
              <a:rPr lang="en-US" sz="2800" dirty="0"/>
              <a:t> at the end of the list</a:t>
            </a:r>
          </a:p>
          <a:p>
            <a:pPr eaLnBrk="1" hangingPunct="1">
              <a:buFont typeface="Wingdings" pitchFamily="2" charset="2"/>
              <a:buChar char="q"/>
              <a:defRPr/>
            </a:pPr>
            <a:r>
              <a:rPr lang="en-US" sz="2800" dirty="0"/>
              <a:t>When the array is full, we replace the array with a larger one</a:t>
            </a:r>
          </a:p>
          <a:p>
            <a:pPr eaLnBrk="1" hangingPunct="1">
              <a:buFont typeface="Wingdings" pitchFamily="2" charset="2"/>
              <a:buChar char="q"/>
              <a:defRPr/>
            </a:pPr>
            <a:r>
              <a:rPr lang="en-US" sz="2800" dirty="0"/>
              <a:t>How large should the new array be?</a:t>
            </a:r>
          </a:p>
          <a:p>
            <a:pPr lvl="1" eaLnBrk="1" hangingPunct="1">
              <a:buFont typeface="Wingdings" pitchFamily="2" charset="2"/>
              <a:buChar char="n"/>
              <a:defRPr/>
            </a:pPr>
            <a:r>
              <a:rPr lang="en-US" sz="2400" dirty="0">
                <a:solidFill>
                  <a:schemeClr val="tx2"/>
                </a:solidFill>
              </a:rPr>
              <a:t>Incremental strategy</a:t>
            </a:r>
            <a:r>
              <a:rPr lang="en-US" sz="2400" dirty="0"/>
              <a:t>: increase the size by a constant </a:t>
            </a:r>
            <a:r>
              <a:rPr lang="en-US" sz="2400" b="1" i="1" dirty="0">
                <a:latin typeface="Times New Roman" pitchFamily="18" charset="0"/>
              </a:rPr>
              <a:t>c</a:t>
            </a:r>
          </a:p>
          <a:p>
            <a:pPr lvl="1" eaLnBrk="1" hangingPunct="1">
              <a:buFont typeface="Wingdings" pitchFamily="2" charset="2"/>
              <a:buChar char="n"/>
              <a:defRPr/>
            </a:pPr>
            <a:r>
              <a:rPr lang="en-US" sz="2400" dirty="0">
                <a:solidFill>
                  <a:schemeClr val="tx2"/>
                </a:solidFill>
              </a:rPr>
              <a:t>Doubling strategy</a:t>
            </a:r>
            <a:r>
              <a:rPr lang="en-US" sz="2400" dirty="0"/>
              <a:t>: double the size</a:t>
            </a:r>
          </a:p>
        </p:txBody>
      </p:sp>
      <p:sp>
        <p:nvSpPr>
          <p:cNvPr id="13317" name="Text Box 4"/>
          <p:cNvSpPr txBox="1">
            <a:spLocks noChangeArrowheads="1"/>
          </p:cNvSpPr>
          <p:nvPr/>
        </p:nvSpPr>
        <p:spPr bwMode="auto">
          <a:xfrm>
            <a:off x="7162800" y="1828801"/>
            <a:ext cx="3276600" cy="3387725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defTabSz="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b="1" dirty="0">
                <a:solidFill>
                  <a:srgbClr val="000000"/>
                </a:solidFill>
                <a:latin typeface="Times New Roman" charset="0"/>
              </a:rPr>
              <a:t>Algorithm</a:t>
            </a:r>
            <a:r>
              <a:rPr lang="en-US" dirty="0">
                <a:latin typeface="Times New Roman" charset="0"/>
              </a:rPr>
              <a:t> </a:t>
            </a:r>
            <a:r>
              <a:rPr lang="en-US" b="1" i="1" dirty="0">
                <a:solidFill>
                  <a:schemeClr val="tx2"/>
                </a:solidFill>
                <a:latin typeface="Times New Roman" charset="0"/>
              </a:rPr>
              <a:t>push</a:t>
            </a:r>
            <a:r>
              <a:rPr lang="en-US" dirty="0">
                <a:solidFill>
                  <a:schemeClr val="tx2"/>
                </a:solidFill>
                <a:latin typeface="Times New Roman" charset="0"/>
              </a:rPr>
              <a:t>(</a:t>
            </a:r>
            <a:r>
              <a:rPr lang="en-US" b="1" i="1" dirty="0">
                <a:solidFill>
                  <a:schemeClr val="tx2"/>
                </a:solidFill>
                <a:latin typeface="Times New Roman" charset="0"/>
              </a:rPr>
              <a:t>o</a:t>
            </a:r>
            <a:r>
              <a:rPr lang="en-US" dirty="0">
                <a:solidFill>
                  <a:schemeClr val="tx2"/>
                </a:solidFill>
                <a:latin typeface="Times New Roman" charset="0"/>
              </a:rPr>
              <a:t>)</a:t>
            </a:r>
          </a:p>
          <a:p>
            <a:pPr eaLnBrk="1" hangingPunct="1"/>
            <a:r>
              <a:rPr lang="en-US" dirty="0">
                <a:latin typeface="Times New Roman" charset="0"/>
                <a:sym typeface="Symbol" charset="0"/>
              </a:rPr>
              <a:t>	</a:t>
            </a:r>
            <a:r>
              <a:rPr lang="en-US" b="1" dirty="0">
                <a:solidFill>
                  <a:srgbClr val="000000"/>
                </a:solidFill>
                <a:latin typeface="Times New Roman" charset="0"/>
                <a:sym typeface="Symbol" charset="0"/>
              </a:rPr>
              <a:t>if</a:t>
            </a:r>
            <a:r>
              <a:rPr lang="en-US" dirty="0">
                <a:latin typeface="Times New Roman" charset="0"/>
                <a:sym typeface="Symbol" charset="0"/>
              </a:rPr>
              <a:t> </a:t>
            </a:r>
            <a:r>
              <a:rPr lang="en-US" b="1" i="1" dirty="0">
                <a:solidFill>
                  <a:schemeClr val="accent2"/>
                </a:solidFill>
                <a:latin typeface="Times New Roman" charset="0"/>
              </a:rPr>
              <a:t>t</a:t>
            </a:r>
            <a:r>
              <a:rPr lang="en-US" dirty="0">
                <a:solidFill>
                  <a:schemeClr val="tx2"/>
                </a:solidFill>
                <a:latin typeface="Times New Roman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charset="0"/>
                <a:sym typeface="Symbol" charset="0"/>
              </a:rPr>
              <a:t>=</a:t>
            </a:r>
            <a:r>
              <a:rPr lang="en-US" dirty="0">
                <a:solidFill>
                  <a:schemeClr val="tx2"/>
                </a:solidFill>
                <a:latin typeface="Times New Roman" charset="0"/>
                <a:sym typeface="Symbol" charset="0"/>
              </a:rPr>
              <a:t> </a:t>
            </a:r>
            <a:r>
              <a:rPr lang="en-US" b="1" i="1" dirty="0" err="1">
                <a:solidFill>
                  <a:schemeClr val="accent2"/>
                </a:solidFill>
                <a:latin typeface="Times New Roman" charset="0"/>
                <a:sym typeface="Symbol" charset="0"/>
              </a:rPr>
              <a:t>S.length</a:t>
            </a:r>
            <a:r>
              <a:rPr lang="en-US" b="1" i="1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 </a:t>
            </a:r>
            <a:r>
              <a:rPr lang="en-US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</a:t>
            </a:r>
            <a:r>
              <a:rPr lang="en-US" dirty="0">
                <a:solidFill>
                  <a:schemeClr val="tx2"/>
                </a:solidFill>
                <a:latin typeface="Times New Roman" charset="0"/>
                <a:sym typeface="Symbol" charset="0"/>
              </a:rPr>
              <a:t> </a:t>
            </a:r>
            <a:r>
              <a:rPr lang="en-US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1</a:t>
            </a:r>
            <a:r>
              <a:rPr lang="en-US" dirty="0">
                <a:latin typeface="Times New Roman" charset="0"/>
                <a:sym typeface="Symbol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Times New Roman" charset="0"/>
                <a:sym typeface="Symbol" charset="0"/>
              </a:rPr>
              <a:t>then</a:t>
            </a:r>
          </a:p>
          <a:p>
            <a:pPr eaLnBrk="1" hangingPunct="1"/>
            <a:r>
              <a:rPr lang="en-US" b="1" dirty="0">
                <a:solidFill>
                  <a:srgbClr val="000000"/>
                </a:solidFill>
                <a:latin typeface="Times New Roman" charset="0"/>
                <a:sym typeface="Symbol" charset="0"/>
              </a:rPr>
              <a:t>		</a:t>
            </a:r>
            <a:r>
              <a:rPr lang="en-US" b="1" i="1" dirty="0">
                <a:solidFill>
                  <a:schemeClr val="accent2"/>
                </a:solidFill>
                <a:latin typeface="Times New Roman" charset="0"/>
              </a:rPr>
              <a:t>A</a:t>
            </a:r>
            <a:r>
              <a:rPr lang="en-US" dirty="0">
                <a:solidFill>
                  <a:schemeClr val="tx2"/>
                </a:solidFill>
                <a:latin typeface="Times New Roman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charset="0"/>
                <a:sym typeface="Symbol" charset="0"/>
              </a:rPr>
              <a:t> </a:t>
            </a:r>
            <a:r>
              <a:rPr lang="en-US" b="1" dirty="0">
                <a:solidFill>
                  <a:schemeClr val="accent2"/>
                </a:solidFill>
                <a:latin typeface="Times New Roman" charset="0"/>
              </a:rPr>
              <a:t>new array of</a:t>
            </a:r>
          </a:p>
          <a:p>
            <a:pPr eaLnBrk="1" hangingPunct="1"/>
            <a:r>
              <a:rPr lang="en-US" b="1" dirty="0">
                <a:solidFill>
                  <a:schemeClr val="accent2"/>
                </a:solidFill>
                <a:latin typeface="Times New Roman" charset="0"/>
              </a:rPr>
              <a:t>					size …</a:t>
            </a:r>
            <a:endParaRPr lang="en-US" b="1" dirty="0">
              <a:solidFill>
                <a:srgbClr val="000000"/>
              </a:solidFill>
              <a:latin typeface="Times New Roman" charset="0"/>
              <a:sym typeface="Symbol" charset="0"/>
            </a:endParaRPr>
          </a:p>
          <a:p>
            <a:pPr eaLnBrk="1" hangingPunct="1"/>
            <a:r>
              <a:rPr lang="en-US" dirty="0">
                <a:solidFill>
                  <a:srgbClr val="000000"/>
                </a:solidFill>
                <a:latin typeface="Times New Roman" charset="0"/>
                <a:sym typeface="Symbol" charset="0"/>
              </a:rPr>
              <a:t>		</a:t>
            </a:r>
            <a:r>
              <a:rPr lang="en-US" b="1" dirty="0">
                <a:solidFill>
                  <a:srgbClr val="000000"/>
                </a:solidFill>
                <a:latin typeface="Times New Roman" charset="0"/>
              </a:rPr>
              <a:t>for</a:t>
            </a:r>
            <a:r>
              <a:rPr lang="en-US" dirty="0">
                <a:latin typeface="Times New Roman" charset="0"/>
              </a:rPr>
              <a:t> </a:t>
            </a:r>
            <a:r>
              <a:rPr lang="en-US" b="1" i="1" dirty="0" err="1">
                <a:solidFill>
                  <a:schemeClr val="accent2"/>
                </a:solidFill>
                <a:latin typeface="Times New Roman" charset="0"/>
              </a:rPr>
              <a:t>i</a:t>
            </a:r>
            <a:r>
              <a:rPr lang="en-US" dirty="0">
                <a:solidFill>
                  <a:schemeClr val="tx2"/>
                </a:solidFill>
                <a:latin typeface="Times New Roman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charset="0"/>
                <a:sym typeface="Symbol" charset="0"/>
              </a:rPr>
              <a:t></a:t>
            </a:r>
            <a:r>
              <a:rPr lang="en-US" dirty="0">
                <a:solidFill>
                  <a:schemeClr val="tx2"/>
                </a:solidFill>
                <a:latin typeface="Times New Roman" charset="0"/>
                <a:sym typeface="Symbol" charset="0"/>
              </a:rPr>
              <a:t> </a:t>
            </a:r>
            <a:r>
              <a:rPr lang="en-US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0</a:t>
            </a:r>
            <a:r>
              <a:rPr lang="en-US" dirty="0">
                <a:latin typeface="Times New Roman" charset="0"/>
                <a:sym typeface="Symbol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Times New Roman" charset="0"/>
                <a:sym typeface="Symbol" charset="0"/>
              </a:rPr>
              <a:t>to</a:t>
            </a:r>
            <a:r>
              <a:rPr lang="en-US" dirty="0">
                <a:latin typeface="Times New Roman" charset="0"/>
                <a:sym typeface="Symbol" charset="0"/>
              </a:rPr>
              <a:t> </a:t>
            </a:r>
            <a:r>
              <a:rPr lang="en-US" b="1" i="1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n</a:t>
            </a:r>
            <a:r>
              <a:rPr lang="en-US" b="1" i="1" dirty="0">
                <a:solidFill>
                  <a:schemeClr val="accent2"/>
                </a:solidFill>
                <a:latin typeface="Symbol" charset="0"/>
                <a:sym typeface="Symbol" charset="0"/>
              </a:rPr>
              <a:t>-</a:t>
            </a:r>
            <a:r>
              <a:rPr lang="en-US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1</a:t>
            </a:r>
            <a:r>
              <a:rPr lang="en-US" b="1" i="1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Times New Roman" charset="0"/>
                <a:sym typeface="Symbol" charset="0"/>
              </a:rPr>
              <a:t>do</a:t>
            </a:r>
          </a:p>
          <a:p>
            <a:pPr eaLnBrk="1" hangingPunct="1"/>
            <a:r>
              <a:rPr lang="en-US" b="1" dirty="0">
                <a:solidFill>
                  <a:srgbClr val="000000"/>
                </a:solidFill>
                <a:latin typeface="Times New Roman" charset="0"/>
                <a:sym typeface="Symbol" charset="0"/>
              </a:rPr>
              <a:t>			 </a:t>
            </a:r>
            <a:r>
              <a:rPr lang="en-US" b="1" i="1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A</a:t>
            </a:r>
            <a:r>
              <a:rPr lang="en-US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[</a:t>
            </a:r>
            <a:r>
              <a:rPr lang="en-US" b="1" i="1" dirty="0" err="1">
                <a:solidFill>
                  <a:schemeClr val="accent2"/>
                </a:solidFill>
                <a:latin typeface="Times New Roman" charset="0"/>
                <a:sym typeface="Symbol" charset="0"/>
              </a:rPr>
              <a:t>i</a:t>
            </a:r>
            <a:r>
              <a:rPr lang="en-US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] </a:t>
            </a:r>
            <a:r>
              <a:rPr lang="en-US" dirty="0">
                <a:solidFill>
                  <a:srgbClr val="000000"/>
                </a:solidFill>
                <a:latin typeface="Times New Roman" charset="0"/>
                <a:sym typeface="Symbol" charset="0"/>
              </a:rPr>
              <a:t> </a:t>
            </a:r>
            <a:r>
              <a:rPr lang="en-US" b="1" i="1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S</a:t>
            </a:r>
            <a:r>
              <a:rPr lang="en-US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[</a:t>
            </a:r>
            <a:r>
              <a:rPr lang="en-US" b="1" i="1" dirty="0" err="1">
                <a:solidFill>
                  <a:schemeClr val="accent2"/>
                </a:solidFill>
                <a:latin typeface="Times New Roman" charset="0"/>
                <a:sym typeface="Symbol" charset="0"/>
              </a:rPr>
              <a:t>i</a:t>
            </a:r>
            <a:r>
              <a:rPr lang="en-US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]</a:t>
            </a:r>
          </a:p>
          <a:p>
            <a:pPr eaLnBrk="1" hangingPunct="1"/>
            <a:r>
              <a:rPr lang="en-US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		</a:t>
            </a:r>
            <a:r>
              <a:rPr lang="en-US" b="1" i="1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S</a:t>
            </a:r>
            <a:r>
              <a:rPr lang="en-US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charset="0"/>
                <a:sym typeface="Symbol" charset="0"/>
              </a:rPr>
              <a:t> </a:t>
            </a:r>
            <a:r>
              <a:rPr lang="en-US" b="1" i="1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A</a:t>
            </a:r>
            <a:endParaRPr lang="en-US" b="1" dirty="0">
              <a:solidFill>
                <a:srgbClr val="000000"/>
              </a:solidFill>
              <a:latin typeface="Times New Roman" charset="0"/>
              <a:sym typeface="Symbol" charset="0"/>
            </a:endParaRPr>
          </a:p>
          <a:p>
            <a:pPr eaLnBrk="1" hangingPunct="1"/>
            <a:r>
              <a:rPr lang="en-US" dirty="0">
                <a:solidFill>
                  <a:schemeClr val="accent2"/>
                </a:solidFill>
                <a:latin typeface="Times New Roman" charset="0"/>
              </a:rPr>
              <a:t>	</a:t>
            </a:r>
            <a:r>
              <a:rPr lang="en-US" b="1" i="1" dirty="0">
                <a:solidFill>
                  <a:schemeClr val="accent2"/>
                </a:solidFill>
                <a:latin typeface="Times New Roman" charset="0"/>
              </a:rPr>
              <a:t>n</a:t>
            </a:r>
            <a:r>
              <a:rPr lang="en-US" dirty="0">
                <a:solidFill>
                  <a:schemeClr val="tx2"/>
                </a:solidFill>
                <a:latin typeface="Times New Roman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charset="0"/>
                <a:sym typeface="Symbol" charset="0"/>
              </a:rPr>
              <a:t></a:t>
            </a:r>
            <a:r>
              <a:rPr lang="en-US" dirty="0">
                <a:solidFill>
                  <a:schemeClr val="tx2"/>
                </a:solidFill>
                <a:latin typeface="Times New Roman" charset="0"/>
                <a:sym typeface="Symbol" charset="0"/>
              </a:rPr>
              <a:t> </a:t>
            </a:r>
            <a:r>
              <a:rPr lang="en-US" b="1" i="1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n</a:t>
            </a:r>
            <a:r>
              <a:rPr lang="en-US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 +</a:t>
            </a:r>
            <a:r>
              <a:rPr lang="en-US" dirty="0">
                <a:solidFill>
                  <a:schemeClr val="tx2"/>
                </a:solidFill>
                <a:latin typeface="Times New Roman" charset="0"/>
                <a:sym typeface="Symbol" charset="0"/>
              </a:rPr>
              <a:t> </a:t>
            </a:r>
            <a:r>
              <a:rPr lang="en-US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1</a:t>
            </a:r>
          </a:p>
          <a:p>
            <a:pPr eaLnBrk="1" hangingPunct="1"/>
            <a:r>
              <a:rPr lang="en-US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	</a:t>
            </a:r>
            <a:r>
              <a:rPr lang="en-US" b="1" i="1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S</a:t>
            </a:r>
            <a:r>
              <a:rPr lang="en-US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[</a:t>
            </a:r>
            <a:r>
              <a:rPr lang="en-US" b="1" i="1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n</a:t>
            </a:r>
            <a:r>
              <a:rPr lang="en-US" b="1" i="1" dirty="0">
                <a:solidFill>
                  <a:schemeClr val="accent2"/>
                </a:solidFill>
                <a:latin typeface="Symbol" charset="0"/>
                <a:sym typeface="Symbol" charset="0"/>
              </a:rPr>
              <a:t>-</a:t>
            </a:r>
            <a:r>
              <a:rPr lang="en-US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1] </a:t>
            </a:r>
            <a:r>
              <a:rPr lang="en-US" dirty="0">
                <a:solidFill>
                  <a:srgbClr val="000000"/>
                </a:solidFill>
                <a:latin typeface="Times New Roman" charset="0"/>
                <a:sym typeface="Symbol" charset="0"/>
              </a:rPr>
              <a:t></a:t>
            </a:r>
            <a:r>
              <a:rPr lang="en-US" dirty="0">
                <a:solidFill>
                  <a:schemeClr val="tx2"/>
                </a:solidFill>
                <a:latin typeface="Times New Roman" charset="0"/>
                <a:sym typeface="Symbol" charset="0"/>
              </a:rPr>
              <a:t> </a:t>
            </a:r>
            <a:r>
              <a:rPr lang="en-US" b="1" i="1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o</a:t>
            </a:r>
          </a:p>
        </p:txBody>
      </p:sp>
      <p:sp>
        <p:nvSpPr>
          <p:cNvPr id="13318" name="Date Placeholder 6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© 2014 Goodrich, Tamassia, Goldwasser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Lists and Iterators</a:t>
            </a:r>
          </a:p>
        </p:txBody>
      </p:sp>
      <p:sp>
        <p:nvSpPr>
          <p:cNvPr id="143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CDAFBC5E-4841-DE44-BFCF-315078BB6B75}" type="slidenum">
              <a:rPr lang="en-US" sz="1400"/>
              <a:pPr eaLnBrk="1" hangingPunct="1"/>
              <a:t>14</a:t>
            </a:fld>
            <a:endParaRPr lang="en-US" sz="1400" dirty="0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Comparison of the Strategies</a:t>
            </a:r>
          </a:p>
        </p:txBody>
      </p:sp>
      <p:sp>
        <p:nvSpPr>
          <p:cNvPr id="1434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362200" y="1905000"/>
            <a:ext cx="7696200" cy="4114800"/>
          </a:xfrm>
        </p:spPr>
        <p:txBody>
          <a:bodyPr/>
          <a:lstStyle/>
          <a:p>
            <a:pPr eaLnBrk="1" hangingPunct="1"/>
            <a:r>
              <a:rPr lang="en-US" sz="2800" dirty="0">
                <a:latin typeface="Tahoma" charset="0"/>
              </a:rPr>
              <a:t>We compare the incremental strategy and the doubling strategy by analyzing the total time </a:t>
            </a:r>
            <a:r>
              <a:rPr lang="en-US" sz="2800" b="1" i="1" dirty="0">
                <a:latin typeface="Times New Roman" charset="0"/>
                <a:sym typeface="Symbol" charset="0"/>
              </a:rPr>
              <a:t>T</a:t>
            </a:r>
            <a:r>
              <a:rPr lang="en-US" sz="2800" dirty="0">
                <a:latin typeface="Times New Roman" charset="0"/>
                <a:sym typeface="Symbol" charset="0"/>
              </a:rPr>
              <a:t>(</a:t>
            </a:r>
            <a:r>
              <a:rPr lang="en-US" sz="2800" b="1" i="1" dirty="0">
                <a:latin typeface="Times New Roman" charset="0"/>
                <a:sym typeface="Symbol" charset="0"/>
              </a:rPr>
              <a:t>n</a:t>
            </a:r>
            <a:r>
              <a:rPr lang="en-US" sz="2800" dirty="0">
                <a:latin typeface="Times New Roman" charset="0"/>
                <a:sym typeface="Symbol" charset="0"/>
              </a:rPr>
              <a:t>)</a:t>
            </a:r>
            <a:r>
              <a:rPr lang="en-US" sz="2800" dirty="0">
                <a:latin typeface="Tahoma" charset="0"/>
              </a:rPr>
              <a:t> needed to perform a series of </a:t>
            </a:r>
            <a:r>
              <a:rPr lang="en-US" sz="2800" b="1" i="1" dirty="0">
                <a:latin typeface="Times New Roman" charset="0"/>
              </a:rPr>
              <a:t>n</a:t>
            </a:r>
            <a:r>
              <a:rPr lang="en-US" sz="2800" dirty="0">
                <a:latin typeface="Tahoma" charset="0"/>
              </a:rPr>
              <a:t> push operations</a:t>
            </a:r>
          </a:p>
          <a:p>
            <a:pPr eaLnBrk="1" hangingPunct="1"/>
            <a:r>
              <a:rPr lang="en-US" sz="2800" dirty="0">
                <a:latin typeface="Tahoma" charset="0"/>
              </a:rPr>
              <a:t>We assume that we start with an empty list represented by a growable array of size </a:t>
            </a:r>
            <a:r>
              <a:rPr lang="en-US" sz="2800" dirty="0">
                <a:latin typeface="Times New Roman" charset="0"/>
              </a:rPr>
              <a:t>1</a:t>
            </a:r>
          </a:p>
          <a:p>
            <a:pPr eaLnBrk="1" hangingPunct="1"/>
            <a:r>
              <a:rPr lang="en-US" sz="2800" dirty="0">
                <a:latin typeface="Tahoma" charset="0"/>
              </a:rPr>
              <a:t>We call </a:t>
            </a:r>
            <a:r>
              <a:rPr lang="en-US" sz="2800" dirty="0">
                <a:solidFill>
                  <a:srgbClr val="BE2D00"/>
                </a:solidFill>
                <a:latin typeface="Tahoma" charset="0"/>
              </a:rPr>
              <a:t>amortized time</a:t>
            </a:r>
            <a:r>
              <a:rPr lang="en-US" sz="2800" dirty="0">
                <a:latin typeface="Tahoma" charset="0"/>
              </a:rPr>
              <a:t> of a push operation the average time taken by a push operation over the series of operations, i.e.,  </a:t>
            </a:r>
            <a:r>
              <a:rPr lang="en-US" sz="2800" b="1" i="1" dirty="0">
                <a:latin typeface="Times New Roman" charset="0"/>
                <a:sym typeface="Symbol" charset="0"/>
              </a:rPr>
              <a:t>T</a:t>
            </a:r>
            <a:r>
              <a:rPr lang="en-US" sz="2800" dirty="0">
                <a:latin typeface="Times New Roman" charset="0"/>
                <a:sym typeface="Symbol" charset="0"/>
              </a:rPr>
              <a:t>(</a:t>
            </a:r>
            <a:r>
              <a:rPr lang="en-US" sz="2800" b="1" i="1" dirty="0">
                <a:latin typeface="Times New Roman" charset="0"/>
                <a:sym typeface="Symbol" charset="0"/>
              </a:rPr>
              <a:t>n</a:t>
            </a:r>
            <a:r>
              <a:rPr lang="en-US" sz="2800" dirty="0">
                <a:latin typeface="Times New Roman" charset="0"/>
                <a:sym typeface="Symbol" charset="0"/>
              </a:rPr>
              <a:t>)/</a:t>
            </a:r>
            <a:r>
              <a:rPr lang="en-US" sz="2800" b="1" i="1" dirty="0">
                <a:latin typeface="Times New Roman" charset="0"/>
                <a:sym typeface="Symbol" charset="0"/>
              </a:rPr>
              <a:t>n</a:t>
            </a:r>
            <a:endParaRPr lang="en-US" sz="2800" dirty="0">
              <a:latin typeface="Tahoma" charset="0"/>
            </a:endParaRPr>
          </a:p>
        </p:txBody>
      </p:sp>
      <p:sp>
        <p:nvSpPr>
          <p:cNvPr id="14341" name="Date Placeholder 5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© 2014 Goodrich, Tamassia, Goldwasser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Lists and Iterators</a:t>
            </a:r>
          </a:p>
        </p:txBody>
      </p:sp>
      <p:sp>
        <p:nvSpPr>
          <p:cNvPr id="153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06806957-E02F-2442-9732-3C968535C7AD}" type="slidenum">
              <a:rPr lang="en-US" sz="1400"/>
              <a:pPr eaLnBrk="1" hangingPunct="1"/>
              <a:t>15</a:t>
            </a:fld>
            <a:endParaRPr lang="en-US" sz="1400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Incremental Strategy Analysis </a:t>
            </a:r>
          </a:p>
        </p:txBody>
      </p:sp>
      <p:sp>
        <p:nvSpPr>
          <p:cNvPr id="1536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286000" y="1676400"/>
            <a:ext cx="8001000" cy="45720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10000"/>
              </a:lnSpc>
            </a:pPr>
            <a:r>
              <a:rPr lang="en-US" sz="2800" dirty="0">
                <a:latin typeface="Tahoma" charset="0"/>
              </a:rPr>
              <a:t>Over </a:t>
            </a:r>
            <a:r>
              <a:rPr lang="en-US" sz="2800" b="1" i="1" dirty="0">
                <a:latin typeface="Times New Roman" charset="0"/>
              </a:rPr>
              <a:t>n</a:t>
            </a:r>
            <a:r>
              <a:rPr lang="en-US" sz="2800" dirty="0">
                <a:latin typeface="Tahoma" charset="0"/>
              </a:rPr>
              <a:t> push operations, we replace the array </a:t>
            </a:r>
            <a:r>
              <a:rPr lang="en-US" sz="2800" b="1" i="1" dirty="0">
                <a:latin typeface="Times New Roman" charset="0"/>
              </a:rPr>
              <a:t>k </a:t>
            </a:r>
            <a:r>
              <a:rPr lang="en-US" sz="2800" i="1" dirty="0">
                <a:latin typeface="Times New Roman" charset="0"/>
              </a:rPr>
              <a:t>= </a:t>
            </a:r>
            <a:r>
              <a:rPr lang="en-US" sz="2800" b="1" i="1" dirty="0">
                <a:latin typeface="Times New Roman" charset="0"/>
              </a:rPr>
              <a:t>n</a:t>
            </a:r>
            <a:r>
              <a:rPr lang="en-US" sz="2800" dirty="0">
                <a:latin typeface="Tahoma" charset="0"/>
              </a:rPr>
              <a:t>/</a:t>
            </a:r>
            <a:r>
              <a:rPr lang="en-US" sz="2800" b="1" i="1" dirty="0">
                <a:latin typeface="Times New Roman" charset="0"/>
              </a:rPr>
              <a:t>c </a:t>
            </a:r>
            <a:r>
              <a:rPr lang="en-US" sz="2800" dirty="0">
                <a:latin typeface="Tahoma" charset="0"/>
              </a:rPr>
              <a:t>times, where </a:t>
            </a:r>
            <a:r>
              <a:rPr lang="en-US" sz="2800" b="1" i="1" dirty="0">
                <a:latin typeface="Times New Roman" charset="0"/>
              </a:rPr>
              <a:t>c</a:t>
            </a:r>
            <a:r>
              <a:rPr lang="en-US" sz="2800" dirty="0">
                <a:latin typeface="Tahoma" charset="0"/>
              </a:rPr>
              <a:t> is a constant</a:t>
            </a:r>
          </a:p>
          <a:p>
            <a:pPr eaLnBrk="1" hangingPunct="1">
              <a:lnSpc>
                <a:spcPct val="110000"/>
              </a:lnSpc>
            </a:pPr>
            <a:r>
              <a:rPr lang="en-US" sz="2800" dirty="0">
                <a:latin typeface="Tahoma" charset="0"/>
              </a:rPr>
              <a:t>The total time </a:t>
            </a:r>
            <a:r>
              <a:rPr lang="en-US" sz="2800" b="1" i="1" dirty="0">
                <a:latin typeface="Times New Roman" charset="0"/>
                <a:sym typeface="Symbol" charset="0"/>
              </a:rPr>
              <a:t>T</a:t>
            </a:r>
            <a:r>
              <a:rPr lang="en-US" sz="2800" dirty="0">
                <a:latin typeface="Times New Roman" charset="0"/>
                <a:sym typeface="Symbol" charset="0"/>
              </a:rPr>
              <a:t>(</a:t>
            </a:r>
            <a:r>
              <a:rPr lang="en-US" sz="2800" b="1" i="1" dirty="0">
                <a:latin typeface="Times New Roman" charset="0"/>
                <a:sym typeface="Symbol" charset="0"/>
              </a:rPr>
              <a:t>n</a:t>
            </a:r>
            <a:r>
              <a:rPr lang="en-US" sz="2800" dirty="0">
                <a:latin typeface="Times New Roman" charset="0"/>
                <a:sym typeface="Symbol" charset="0"/>
              </a:rPr>
              <a:t>)</a:t>
            </a:r>
            <a:r>
              <a:rPr lang="en-US" sz="2800" dirty="0">
                <a:latin typeface="Tahoma" charset="0"/>
              </a:rPr>
              <a:t> of a series of </a:t>
            </a:r>
            <a:r>
              <a:rPr lang="en-US" sz="2800" b="1" i="1" dirty="0">
                <a:latin typeface="Times New Roman" charset="0"/>
              </a:rPr>
              <a:t>n</a:t>
            </a:r>
            <a:r>
              <a:rPr lang="en-US" sz="2800" dirty="0">
                <a:latin typeface="Tahoma" charset="0"/>
              </a:rPr>
              <a:t> push operations is proportional to</a:t>
            </a:r>
          </a:p>
          <a:p>
            <a:pPr algn="ctr" eaLnBrk="1" hangingPunct="1">
              <a:lnSpc>
                <a:spcPct val="110000"/>
              </a:lnSpc>
              <a:buFont typeface="Wingdings" charset="0"/>
              <a:buNone/>
            </a:pPr>
            <a:r>
              <a:rPr lang="en-US" sz="2800" b="1" i="1" dirty="0">
                <a:latin typeface="Times New Roman" charset="0"/>
              </a:rPr>
              <a:t>n</a:t>
            </a:r>
            <a:r>
              <a:rPr lang="en-US" sz="2800" i="1" dirty="0">
                <a:latin typeface="Times New Roman" charset="0"/>
              </a:rPr>
              <a:t> + </a:t>
            </a:r>
            <a:r>
              <a:rPr lang="en-US" sz="2800" b="1" i="1" dirty="0">
                <a:latin typeface="Times New Roman" charset="0"/>
              </a:rPr>
              <a:t>c </a:t>
            </a:r>
            <a:r>
              <a:rPr lang="en-US" sz="2800" i="1" dirty="0">
                <a:latin typeface="Times New Roman" charset="0"/>
              </a:rPr>
              <a:t>+ </a:t>
            </a:r>
            <a:r>
              <a:rPr lang="en-US" sz="2800" dirty="0">
                <a:latin typeface="Times New Roman" charset="0"/>
              </a:rPr>
              <a:t>2</a:t>
            </a:r>
            <a:r>
              <a:rPr lang="en-US" sz="2800" b="1" i="1" dirty="0">
                <a:latin typeface="Times New Roman" charset="0"/>
              </a:rPr>
              <a:t>c </a:t>
            </a:r>
            <a:r>
              <a:rPr lang="en-US" sz="2800" dirty="0">
                <a:latin typeface="Times New Roman" charset="0"/>
              </a:rPr>
              <a:t>+ 3</a:t>
            </a:r>
            <a:r>
              <a:rPr lang="en-US" sz="2800" b="1" i="1" dirty="0">
                <a:latin typeface="Times New Roman" charset="0"/>
              </a:rPr>
              <a:t>c </a:t>
            </a:r>
            <a:r>
              <a:rPr lang="en-US" sz="2800" dirty="0">
                <a:latin typeface="Times New Roman" charset="0"/>
              </a:rPr>
              <a:t>+ 4</a:t>
            </a:r>
            <a:r>
              <a:rPr lang="en-US" sz="2800" b="1" i="1" dirty="0">
                <a:latin typeface="Times New Roman" charset="0"/>
              </a:rPr>
              <a:t>c </a:t>
            </a:r>
            <a:r>
              <a:rPr lang="en-US" sz="2800" dirty="0">
                <a:latin typeface="Times New Roman" charset="0"/>
              </a:rPr>
              <a:t>+</a:t>
            </a:r>
            <a:r>
              <a:rPr lang="en-US" sz="2800" b="1" i="1" dirty="0">
                <a:latin typeface="Times New Roman" charset="0"/>
              </a:rPr>
              <a:t> … </a:t>
            </a:r>
            <a:r>
              <a:rPr lang="en-US" sz="2800" dirty="0">
                <a:latin typeface="Times New Roman" charset="0"/>
              </a:rPr>
              <a:t>+ </a:t>
            </a:r>
            <a:r>
              <a:rPr lang="en-US" sz="2800" b="1" i="1" dirty="0" err="1">
                <a:latin typeface="Times New Roman" charset="0"/>
              </a:rPr>
              <a:t>kc</a:t>
            </a:r>
            <a:r>
              <a:rPr lang="en-US" sz="2800" b="1" i="1" dirty="0">
                <a:latin typeface="Times New Roman" charset="0"/>
              </a:rPr>
              <a:t> </a:t>
            </a:r>
            <a:r>
              <a:rPr lang="en-US" sz="2800" i="1" dirty="0">
                <a:latin typeface="Times New Roman" charset="0"/>
              </a:rPr>
              <a:t>=</a:t>
            </a:r>
          </a:p>
          <a:p>
            <a:pPr algn="ctr" eaLnBrk="1" hangingPunct="1">
              <a:lnSpc>
                <a:spcPct val="110000"/>
              </a:lnSpc>
              <a:buFont typeface="Wingdings" charset="0"/>
              <a:buNone/>
            </a:pPr>
            <a:r>
              <a:rPr lang="en-US" sz="2800" b="1" i="1" dirty="0">
                <a:latin typeface="Times New Roman" charset="0"/>
              </a:rPr>
              <a:t>n</a:t>
            </a:r>
            <a:r>
              <a:rPr lang="en-US" sz="2800" i="1" dirty="0">
                <a:latin typeface="Times New Roman" charset="0"/>
              </a:rPr>
              <a:t> + </a:t>
            </a:r>
            <a:r>
              <a:rPr lang="en-US" sz="2800" b="1" i="1" dirty="0">
                <a:latin typeface="Times New Roman" charset="0"/>
              </a:rPr>
              <a:t>c</a:t>
            </a:r>
            <a:r>
              <a:rPr lang="en-US" sz="2800" dirty="0">
                <a:latin typeface="Times New Roman" charset="0"/>
              </a:rPr>
              <a:t>(1 + 2 + 3 + … + </a:t>
            </a:r>
            <a:r>
              <a:rPr lang="en-US" sz="2800" b="1" i="1" dirty="0">
                <a:latin typeface="Times New Roman" charset="0"/>
              </a:rPr>
              <a:t>k</a:t>
            </a:r>
            <a:r>
              <a:rPr lang="en-US" sz="2800" dirty="0">
                <a:latin typeface="Times New Roman" charset="0"/>
              </a:rPr>
              <a:t>) </a:t>
            </a:r>
            <a:r>
              <a:rPr lang="en-US" sz="2800" i="1" dirty="0">
                <a:latin typeface="Times New Roman" charset="0"/>
              </a:rPr>
              <a:t>=</a:t>
            </a:r>
          </a:p>
          <a:p>
            <a:pPr algn="ctr" eaLnBrk="1" hangingPunct="1">
              <a:lnSpc>
                <a:spcPct val="110000"/>
              </a:lnSpc>
              <a:buFont typeface="Wingdings" charset="0"/>
              <a:buNone/>
            </a:pPr>
            <a:r>
              <a:rPr lang="en-US" sz="2800" b="1" i="1" dirty="0">
                <a:latin typeface="Times New Roman" charset="0"/>
              </a:rPr>
              <a:t>n</a:t>
            </a:r>
            <a:r>
              <a:rPr lang="en-US" sz="2800" i="1" dirty="0">
                <a:latin typeface="Times New Roman" charset="0"/>
              </a:rPr>
              <a:t> + </a:t>
            </a:r>
            <a:r>
              <a:rPr lang="en-US" sz="2800" b="1" i="1" dirty="0" err="1">
                <a:latin typeface="Times New Roman" charset="0"/>
              </a:rPr>
              <a:t>ck</a:t>
            </a:r>
            <a:r>
              <a:rPr lang="en-US" sz="2800" dirty="0">
                <a:latin typeface="Times New Roman" charset="0"/>
              </a:rPr>
              <a:t>(</a:t>
            </a:r>
            <a:r>
              <a:rPr lang="en-US" sz="2800" b="1" i="1" dirty="0">
                <a:latin typeface="Times New Roman" charset="0"/>
              </a:rPr>
              <a:t>k </a:t>
            </a:r>
            <a:r>
              <a:rPr lang="en-US" sz="2800" dirty="0">
                <a:latin typeface="Times New Roman" charset="0"/>
              </a:rPr>
              <a:t>+ 1)/2</a:t>
            </a:r>
          </a:p>
          <a:p>
            <a:pPr eaLnBrk="1" hangingPunct="1">
              <a:lnSpc>
                <a:spcPct val="110000"/>
              </a:lnSpc>
            </a:pPr>
            <a:r>
              <a:rPr lang="en-US" sz="2800" dirty="0">
                <a:latin typeface="Tahoma" charset="0"/>
              </a:rPr>
              <a:t>Since </a:t>
            </a:r>
            <a:r>
              <a:rPr lang="en-US" sz="2800" b="1" i="1" dirty="0">
                <a:latin typeface="Times New Roman" charset="0"/>
              </a:rPr>
              <a:t>c</a:t>
            </a:r>
            <a:r>
              <a:rPr lang="en-US" sz="2800" dirty="0">
                <a:latin typeface="Tahoma" charset="0"/>
              </a:rPr>
              <a:t> is a constant, </a:t>
            </a:r>
            <a:r>
              <a:rPr lang="en-US" sz="2800" b="1" i="1" dirty="0">
                <a:latin typeface="Times New Roman" charset="0"/>
                <a:sym typeface="Symbol" charset="0"/>
              </a:rPr>
              <a:t>T</a:t>
            </a:r>
            <a:r>
              <a:rPr lang="en-US" sz="2800" dirty="0">
                <a:latin typeface="Times New Roman" charset="0"/>
                <a:sym typeface="Symbol" charset="0"/>
              </a:rPr>
              <a:t>(</a:t>
            </a:r>
            <a:r>
              <a:rPr lang="en-US" sz="2800" b="1" i="1" dirty="0">
                <a:latin typeface="Times New Roman" charset="0"/>
                <a:sym typeface="Symbol" charset="0"/>
              </a:rPr>
              <a:t>n</a:t>
            </a:r>
            <a:r>
              <a:rPr lang="en-US" sz="2800" dirty="0">
                <a:latin typeface="Times New Roman" charset="0"/>
                <a:sym typeface="Symbol" charset="0"/>
              </a:rPr>
              <a:t>)</a:t>
            </a:r>
            <a:r>
              <a:rPr lang="en-US" sz="2800" dirty="0">
                <a:latin typeface="Tahoma" charset="0"/>
              </a:rPr>
              <a:t> is </a:t>
            </a:r>
            <a:r>
              <a:rPr lang="en-US" sz="2800" b="1" i="1" dirty="0">
                <a:latin typeface="Times New Roman" charset="0"/>
                <a:sym typeface="Symbol" charset="0"/>
              </a:rPr>
              <a:t>O</a:t>
            </a:r>
            <a:r>
              <a:rPr lang="en-US" sz="2800" dirty="0">
                <a:latin typeface="Times New Roman" charset="0"/>
                <a:sym typeface="Symbol" charset="0"/>
              </a:rPr>
              <a:t>(</a:t>
            </a:r>
            <a:r>
              <a:rPr lang="en-US" sz="2800" b="1" i="1" dirty="0">
                <a:latin typeface="Times New Roman" charset="0"/>
              </a:rPr>
              <a:t>n</a:t>
            </a:r>
            <a:r>
              <a:rPr lang="en-US" sz="2800" i="1" dirty="0">
                <a:latin typeface="Times New Roman" charset="0"/>
              </a:rPr>
              <a:t> +</a:t>
            </a:r>
            <a:r>
              <a:rPr lang="en-US" sz="2800" dirty="0">
                <a:latin typeface="Times New Roman" charset="0"/>
                <a:sym typeface="Symbol" charset="0"/>
              </a:rPr>
              <a:t> </a:t>
            </a:r>
            <a:r>
              <a:rPr lang="en-US" sz="2800" b="1" i="1" dirty="0">
                <a:latin typeface="Times New Roman" charset="0"/>
                <a:sym typeface="Symbol" charset="0"/>
              </a:rPr>
              <a:t>k</a:t>
            </a:r>
            <a:r>
              <a:rPr lang="en-US" sz="2800" baseline="30000" dirty="0">
                <a:latin typeface="Times New Roman" charset="0"/>
                <a:sym typeface="Symbol" charset="0"/>
              </a:rPr>
              <a:t>2</a:t>
            </a:r>
            <a:r>
              <a:rPr lang="en-US" sz="2800" dirty="0">
                <a:latin typeface="Times New Roman" charset="0"/>
                <a:sym typeface="Symbol" charset="0"/>
              </a:rPr>
              <a:t>)</a:t>
            </a:r>
            <a:r>
              <a:rPr lang="en-US" sz="2800" dirty="0">
                <a:latin typeface="Tahoma" charset="0"/>
              </a:rPr>
              <a:t>,</a:t>
            </a:r>
            <a:r>
              <a:rPr lang="en-US" sz="2800" dirty="0">
                <a:latin typeface="Times New Roman" charset="0"/>
                <a:sym typeface="Symbol" charset="0"/>
              </a:rPr>
              <a:t> </a:t>
            </a:r>
            <a:r>
              <a:rPr lang="en-US" sz="2800" dirty="0">
                <a:latin typeface="Tahoma" charset="0"/>
              </a:rPr>
              <a:t>i.e., </a:t>
            </a:r>
            <a:r>
              <a:rPr lang="en-US" sz="2800" b="1" i="1" dirty="0">
                <a:latin typeface="Times New Roman" charset="0"/>
                <a:sym typeface="Symbol" charset="0"/>
              </a:rPr>
              <a:t>O</a:t>
            </a:r>
            <a:r>
              <a:rPr lang="en-US" sz="2800" dirty="0">
                <a:latin typeface="Times New Roman" charset="0"/>
                <a:sym typeface="Symbol" charset="0"/>
              </a:rPr>
              <a:t>(</a:t>
            </a:r>
            <a:r>
              <a:rPr lang="en-US" sz="2800" b="1" i="1" dirty="0">
                <a:latin typeface="Times New Roman" charset="0"/>
                <a:sym typeface="Symbol" charset="0"/>
              </a:rPr>
              <a:t>n</a:t>
            </a:r>
            <a:r>
              <a:rPr lang="en-US" sz="2800" baseline="30000" dirty="0">
                <a:latin typeface="Times New Roman" charset="0"/>
                <a:sym typeface="Symbol" charset="0"/>
              </a:rPr>
              <a:t>2</a:t>
            </a:r>
            <a:r>
              <a:rPr lang="en-US" sz="2800" dirty="0">
                <a:latin typeface="Times New Roman" charset="0"/>
                <a:sym typeface="Symbol" charset="0"/>
              </a:rPr>
              <a:t>)</a:t>
            </a:r>
          </a:p>
          <a:p>
            <a:pPr eaLnBrk="1" hangingPunct="1">
              <a:lnSpc>
                <a:spcPct val="110000"/>
              </a:lnSpc>
            </a:pPr>
            <a:r>
              <a:rPr lang="en-US" sz="2800" dirty="0">
                <a:latin typeface="Tahoma" charset="0"/>
              </a:rPr>
              <a:t>Thus, the amortized time of a push operation is </a:t>
            </a:r>
            <a:r>
              <a:rPr lang="en-US" sz="2800" b="1" i="1" dirty="0">
                <a:latin typeface="Times New Roman" charset="0"/>
                <a:sym typeface="Symbol" charset="0"/>
              </a:rPr>
              <a:t>O</a:t>
            </a:r>
            <a:r>
              <a:rPr lang="en-US" sz="2800" dirty="0">
                <a:latin typeface="Times New Roman" charset="0"/>
                <a:sym typeface="Symbol" charset="0"/>
              </a:rPr>
              <a:t>(</a:t>
            </a:r>
            <a:r>
              <a:rPr lang="en-US" sz="2800" b="1" i="1" dirty="0">
                <a:latin typeface="Times New Roman" charset="0"/>
                <a:sym typeface="Symbol" charset="0"/>
              </a:rPr>
              <a:t>n</a:t>
            </a:r>
            <a:r>
              <a:rPr lang="en-US" sz="2800" dirty="0">
                <a:latin typeface="Times New Roman" charset="0"/>
                <a:sym typeface="Symbol" charset="0"/>
              </a:rPr>
              <a:t>)</a:t>
            </a:r>
          </a:p>
        </p:txBody>
      </p:sp>
      <p:sp>
        <p:nvSpPr>
          <p:cNvPr id="15365" name="Date Placeholder 5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© 2014 Goodrich, Tamassia, Goldwasser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Lists and Iterators</a:t>
            </a:r>
          </a:p>
        </p:txBody>
      </p:sp>
      <p:sp>
        <p:nvSpPr>
          <p:cNvPr id="163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0D0BE270-238B-C247-8240-60176D02004A}" type="slidenum">
              <a:rPr lang="en-US" sz="1400"/>
              <a:pPr eaLnBrk="1" hangingPunct="1"/>
              <a:t>16</a:t>
            </a:fld>
            <a:endParaRPr lang="en-US" sz="1400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Tahoma" charset="0"/>
              </a:rPr>
              <a:t>Doubling Strategy Analysis</a:t>
            </a:r>
          </a:p>
        </p:txBody>
      </p:sp>
      <p:sp>
        <p:nvSpPr>
          <p:cNvPr id="1638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286000" y="1676400"/>
            <a:ext cx="5562600" cy="4572000"/>
          </a:xfrm>
        </p:spPr>
        <p:txBody>
          <a:bodyPr/>
          <a:lstStyle/>
          <a:p>
            <a:pPr eaLnBrk="1" hangingPunct="1"/>
            <a:r>
              <a:rPr lang="en-US" sz="2600" dirty="0">
                <a:latin typeface="Tahoma" charset="0"/>
              </a:rPr>
              <a:t>We replace the array </a:t>
            </a:r>
            <a:r>
              <a:rPr lang="en-US" sz="2600" b="1" i="1" dirty="0">
                <a:latin typeface="Times New Roman" charset="0"/>
              </a:rPr>
              <a:t>k </a:t>
            </a:r>
            <a:r>
              <a:rPr lang="en-US" sz="2600" i="1" dirty="0">
                <a:latin typeface="Times New Roman" charset="0"/>
              </a:rPr>
              <a:t>= </a:t>
            </a:r>
            <a:r>
              <a:rPr lang="en-US" sz="2600" dirty="0">
                <a:latin typeface="Times New Roman" charset="0"/>
              </a:rPr>
              <a:t>log</a:t>
            </a:r>
            <a:r>
              <a:rPr lang="en-US" sz="2600" baseline="-25000" dirty="0">
                <a:latin typeface="Times New Roman" charset="0"/>
              </a:rPr>
              <a:t>2</a:t>
            </a:r>
            <a:r>
              <a:rPr lang="en-US" sz="2600" i="1" dirty="0">
                <a:latin typeface="Times New Roman" charset="0"/>
              </a:rPr>
              <a:t> </a:t>
            </a:r>
            <a:r>
              <a:rPr lang="en-US" sz="2600" b="1" i="1" dirty="0">
                <a:latin typeface="Times New Roman" charset="0"/>
              </a:rPr>
              <a:t>n </a:t>
            </a:r>
            <a:r>
              <a:rPr lang="en-US" sz="2600" dirty="0">
                <a:latin typeface="Tahoma" charset="0"/>
              </a:rPr>
              <a:t>times</a:t>
            </a:r>
          </a:p>
          <a:p>
            <a:pPr eaLnBrk="1" hangingPunct="1"/>
            <a:r>
              <a:rPr lang="en-US" sz="2600" dirty="0">
                <a:latin typeface="Tahoma" charset="0"/>
              </a:rPr>
              <a:t>The total time </a:t>
            </a:r>
            <a:r>
              <a:rPr lang="en-US" sz="2600" b="1" i="1" dirty="0">
                <a:latin typeface="Times New Roman" charset="0"/>
                <a:sym typeface="Symbol" charset="0"/>
              </a:rPr>
              <a:t>T</a:t>
            </a:r>
            <a:r>
              <a:rPr lang="en-US" sz="2600" dirty="0">
                <a:latin typeface="Times New Roman" charset="0"/>
                <a:sym typeface="Symbol" charset="0"/>
              </a:rPr>
              <a:t>(</a:t>
            </a:r>
            <a:r>
              <a:rPr lang="en-US" sz="2600" b="1" i="1" dirty="0">
                <a:latin typeface="Times New Roman" charset="0"/>
                <a:sym typeface="Symbol" charset="0"/>
              </a:rPr>
              <a:t>n</a:t>
            </a:r>
            <a:r>
              <a:rPr lang="en-US" sz="2600" dirty="0">
                <a:latin typeface="Times New Roman" charset="0"/>
                <a:sym typeface="Symbol" charset="0"/>
              </a:rPr>
              <a:t>)</a:t>
            </a:r>
            <a:r>
              <a:rPr lang="en-US" sz="2600" dirty="0">
                <a:latin typeface="Tahoma" charset="0"/>
              </a:rPr>
              <a:t> of a series of </a:t>
            </a:r>
            <a:r>
              <a:rPr lang="en-US" sz="2600" b="1" i="1" dirty="0">
                <a:latin typeface="Times New Roman" charset="0"/>
              </a:rPr>
              <a:t>n</a:t>
            </a:r>
            <a:r>
              <a:rPr lang="en-US" sz="2600" dirty="0">
                <a:latin typeface="Tahoma" charset="0"/>
              </a:rPr>
              <a:t> push operations is proportional to</a:t>
            </a:r>
          </a:p>
          <a:p>
            <a:pPr eaLnBrk="1" hangingPunct="1">
              <a:buFont typeface="Wingdings" charset="0"/>
              <a:buNone/>
            </a:pPr>
            <a:r>
              <a:rPr lang="en-US" sz="2600" b="1" i="1" dirty="0">
                <a:latin typeface="Times New Roman" charset="0"/>
              </a:rPr>
              <a:t>		n</a:t>
            </a:r>
            <a:r>
              <a:rPr lang="en-US" sz="2600" i="1" dirty="0">
                <a:latin typeface="Times New Roman" charset="0"/>
              </a:rPr>
              <a:t> + </a:t>
            </a:r>
            <a:r>
              <a:rPr lang="en-US" sz="2600" dirty="0">
                <a:solidFill>
                  <a:schemeClr val="tx2"/>
                </a:solidFill>
                <a:latin typeface="Times New Roman" charset="0"/>
              </a:rPr>
              <a:t>1 + 2 + 4 + 8 + …+ 2</a:t>
            </a:r>
            <a:r>
              <a:rPr lang="en-US" sz="2600" b="1" i="1" baseline="30000" dirty="0">
                <a:solidFill>
                  <a:schemeClr val="tx2"/>
                </a:solidFill>
                <a:latin typeface="Times New Roman" charset="0"/>
              </a:rPr>
              <a:t>k</a:t>
            </a:r>
            <a:r>
              <a:rPr lang="en-US" sz="2600" b="1" i="1" dirty="0">
                <a:latin typeface="Times New Roman" charset="0"/>
              </a:rPr>
              <a:t> </a:t>
            </a:r>
            <a:r>
              <a:rPr lang="en-US" sz="2600" i="1" dirty="0">
                <a:latin typeface="Times New Roman" charset="0"/>
              </a:rPr>
              <a:t>=</a:t>
            </a:r>
            <a:br>
              <a:rPr lang="en-US" sz="2600" i="1" dirty="0">
                <a:latin typeface="Times New Roman" charset="0"/>
              </a:rPr>
            </a:br>
            <a:r>
              <a:rPr lang="en-US" sz="2600" i="1" dirty="0">
                <a:latin typeface="Times New Roman" charset="0"/>
              </a:rPr>
              <a:t>	</a:t>
            </a:r>
            <a:r>
              <a:rPr lang="en-US" sz="2600" b="1" i="1" dirty="0">
                <a:latin typeface="Times New Roman" charset="0"/>
              </a:rPr>
              <a:t>n</a:t>
            </a:r>
            <a:r>
              <a:rPr lang="en-US" sz="2600" i="1" dirty="0">
                <a:latin typeface="Times New Roman" charset="0"/>
              </a:rPr>
              <a:t> </a:t>
            </a:r>
            <a:r>
              <a:rPr lang="en-US" sz="2600" dirty="0">
                <a:latin typeface="Symbol" charset="0"/>
              </a:rPr>
              <a:t>+</a:t>
            </a:r>
            <a:r>
              <a:rPr lang="en-US" sz="2600" dirty="0">
                <a:latin typeface="Times New Roman" charset="0"/>
              </a:rPr>
              <a:t> </a:t>
            </a:r>
            <a:r>
              <a:rPr lang="en-US" sz="2600" dirty="0">
                <a:solidFill>
                  <a:schemeClr val="tx2"/>
                </a:solidFill>
                <a:latin typeface="Times New Roman" charset="0"/>
              </a:rPr>
              <a:t>2</a:t>
            </a:r>
            <a:r>
              <a:rPr lang="en-US" sz="2600" b="1" i="1" baseline="30000" dirty="0">
                <a:solidFill>
                  <a:schemeClr val="tx2"/>
                </a:solidFill>
                <a:latin typeface="Times New Roman" charset="0"/>
              </a:rPr>
              <a:t>k </a:t>
            </a:r>
            <a:r>
              <a:rPr lang="en-US" sz="2600" baseline="30000" dirty="0">
                <a:solidFill>
                  <a:schemeClr val="tx2"/>
                </a:solidFill>
                <a:latin typeface="Times New Roman" charset="0"/>
              </a:rPr>
              <a:t>+ 1</a:t>
            </a:r>
            <a:r>
              <a:rPr lang="en-US" sz="2600" dirty="0">
                <a:solidFill>
                  <a:schemeClr val="tx2"/>
                </a:solidFill>
                <a:latin typeface="Times New Roman" charset="0"/>
              </a:rPr>
              <a:t> </a:t>
            </a:r>
            <a:r>
              <a:rPr lang="en-US" sz="2600" dirty="0">
                <a:solidFill>
                  <a:schemeClr val="tx2"/>
                </a:solidFill>
                <a:latin typeface="Symbol" charset="0"/>
              </a:rPr>
              <a:t>- </a:t>
            </a:r>
            <a:r>
              <a:rPr lang="en-US" sz="2600" dirty="0">
                <a:solidFill>
                  <a:schemeClr val="tx2"/>
                </a:solidFill>
                <a:latin typeface="Times New Roman" charset="0"/>
              </a:rPr>
              <a:t>1</a:t>
            </a:r>
            <a:r>
              <a:rPr lang="en-US" sz="2600" dirty="0">
                <a:latin typeface="Times New Roman" charset="0"/>
              </a:rPr>
              <a:t> </a:t>
            </a:r>
            <a:r>
              <a:rPr lang="en-US" sz="2600" b="1" i="1" dirty="0">
                <a:latin typeface="Times New Roman" charset="0"/>
              </a:rPr>
              <a:t> </a:t>
            </a:r>
            <a:r>
              <a:rPr lang="en-US" sz="2600" i="1" dirty="0">
                <a:latin typeface="Times New Roman" charset="0"/>
              </a:rPr>
              <a:t>= </a:t>
            </a:r>
          </a:p>
          <a:p>
            <a:pPr eaLnBrk="1" hangingPunct="1">
              <a:buFont typeface="Wingdings" charset="0"/>
              <a:buNone/>
            </a:pPr>
            <a:r>
              <a:rPr lang="en-US" sz="2600" i="1" dirty="0">
                <a:latin typeface="Times New Roman" charset="0"/>
              </a:rPr>
              <a:t>		</a:t>
            </a:r>
            <a:r>
              <a:rPr lang="en-US" sz="2600" dirty="0">
                <a:latin typeface="Times New Roman" charset="0"/>
              </a:rPr>
              <a:t>3</a:t>
            </a:r>
            <a:r>
              <a:rPr lang="en-US" sz="2600" b="1" i="1" dirty="0">
                <a:latin typeface="Times New Roman" charset="0"/>
              </a:rPr>
              <a:t>n </a:t>
            </a:r>
            <a:r>
              <a:rPr lang="en-US" sz="2600" dirty="0">
                <a:latin typeface="Symbol" charset="0"/>
              </a:rPr>
              <a:t>- </a:t>
            </a:r>
            <a:r>
              <a:rPr lang="en-US" sz="2600" dirty="0">
                <a:latin typeface="Times New Roman" charset="0"/>
              </a:rPr>
              <a:t>1</a:t>
            </a:r>
          </a:p>
          <a:p>
            <a:pPr eaLnBrk="1" hangingPunct="1"/>
            <a:r>
              <a:rPr lang="en-US" sz="2600" b="1" i="1" dirty="0">
                <a:latin typeface="Times New Roman" charset="0"/>
                <a:sym typeface="Symbol" charset="0"/>
              </a:rPr>
              <a:t>T</a:t>
            </a:r>
            <a:r>
              <a:rPr lang="en-US" sz="2600" dirty="0">
                <a:latin typeface="Times New Roman" charset="0"/>
                <a:sym typeface="Symbol" charset="0"/>
              </a:rPr>
              <a:t>(</a:t>
            </a:r>
            <a:r>
              <a:rPr lang="en-US" sz="2600" b="1" i="1" dirty="0">
                <a:latin typeface="Times New Roman" charset="0"/>
                <a:sym typeface="Symbol" charset="0"/>
              </a:rPr>
              <a:t>n</a:t>
            </a:r>
            <a:r>
              <a:rPr lang="en-US" sz="2600" dirty="0">
                <a:latin typeface="Times New Roman" charset="0"/>
                <a:sym typeface="Symbol" charset="0"/>
              </a:rPr>
              <a:t>)</a:t>
            </a:r>
            <a:r>
              <a:rPr lang="en-US" sz="2600" dirty="0">
                <a:latin typeface="Tahoma" charset="0"/>
              </a:rPr>
              <a:t> is </a:t>
            </a:r>
            <a:r>
              <a:rPr lang="en-US" sz="2600" b="1" i="1" dirty="0">
                <a:latin typeface="Times New Roman" charset="0"/>
                <a:sym typeface="Symbol" charset="0"/>
              </a:rPr>
              <a:t>O</a:t>
            </a:r>
            <a:r>
              <a:rPr lang="en-US" sz="2600" dirty="0">
                <a:latin typeface="Times New Roman" charset="0"/>
                <a:sym typeface="Symbol" charset="0"/>
              </a:rPr>
              <a:t>(</a:t>
            </a:r>
            <a:r>
              <a:rPr lang="en-US" sz="2600" b="1" i="1" dirty="0">
                <a:latin typeface="Times New Roman" charset="0"/>
                <a:sym typeface="Symbol" charset="0"/>
              </a:rPr>
              <a:t>n</a:t>
            </a:r>
            <a:r>
              <a:rPr lang="en-US" sz="2600" dirty="0">
                <a:latin typeface="Times New Roman" charset="0"/>
                <a:sym typeface="Symbol" charset="0"/>
              </a:rPr>
              <a:t>)</a:t>
            </a:r>
          </a:p>
          <a:p>
            <a:pPr eaLnBrk="1" hangingPunct="1"/>
            <a:r>
              <a:rPr lang="en-US" sz="2600" dirty="0">
                <a:latin typeface="Tahoma" charset="0"/>
              </a:rPr>
              <a:t>The amortized time of a push operation is </a:t>
            </a:r>
            <a:r>
              <a:rPr lang="en-US" sz="2600" b="1" i="1" dirty="0">
                <a:latin typeface="Times New Roman" charset="0"/>
                <a:sym typeface="Symbol" charset="0"/>
              </a:rPr>
              <a:t>O</a:t>
            </a:r>
            <a:r>
              <a:rPr lang="en-US" sz="2600" dirty="0">
                <a:latin typeface="Times New Roman" charset="0"/>
                <a:sym typeface="Symbol" charset="0"/>
              </a:rPr>
              <a:t>(</a:t>
            </a:r>
            <a:r>
              <a:rPr lang="en-US" sz="2600" dirty="0">
                <a:latin typeface="Times New Roman" charset="0"/>
              </a:rPr>
              <a:t>1</a:t>
            </a:r>
            <a:r>
              <a:rPr lang="en-US" sz="2600" dirty="0">
                <a:latin typeface="Times New Roman" charset="0"/>
                <a:sym typeface="Symbol" charset="0"/>
              </a:rPr>
              <a:t>)</a:t>
            </a:r>
            <a:endParaRPr lang="en-US" sz="3000" dirty="0">
              <a:latin typeface="Tahoma" charset="0"/>
            </a:endParaRPr>
          </a:p>
        </p:txBody>
      </p:sp>
      <p:grpSp>
        <p:nvGrpSpPr>
          <p:cNvPr id="16389" name="Group 4"/>
          <p:cNvGrpSpPr>
            <a:grpSpLocks/>
          </p:cNvGrpSpPr>
          <p:nvPr/>
        </p:nvGrpSpPr>
        <p:grpSpPr bwMode="auto">
          <a:xfrm>
            <a:off x="7924800" y="2362200"/>
            <a:ext cx="2438400" cy="3048000"/>
            <a:chOff x="3840" y="1488"/>
            <a:chExt cx="1536" cy="1920"/>
          </a:xfrm>
        </p:grpSpPr>
        <p:sp>
          <p:nvSpPr>
            <p:cNvPr id="69637" name="Rectangle 5"/>
            <p:cNvSpPr>
              <a:spLocks noChangeArrowheads="1"/>
            </p:cNvSpPr>
            <p:nvPr/>
          </p:nvSpPr>
          <p:spPr bwMode="auto">
            <a:xfrm>
              <a:off x="3840" y="1872"/>
              <a:ext cx="1536" cy="15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69638" name="Text Box 6"/>
            <p:cNvSpPr txBox="1">
              <a:spLocks noChangeArrowheads="1"/>
            </p:cNvSpPr>
            <p:nvPr/>
          </p:nvSpPr>
          <p:spPr bwMode="auto">
            <a:xfrm>
              <a:off x="4046" y="1488"/>
              <a:ext cx="109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dirty="0">
                  <a:solidFill>
                    <a:schemeClr val="tx2"/>
                  </a:solidFill>
                </a:rPr>
                <a:t>geometric series</a:t>
              </a:r>
            </a:p>
          </p:txBody>
        </p:sp>
        <p:sp>
          <p:nvSpPr>
            <p:cNvPr id="69639" name="Rectangle 7"/>
            <p:cNvSpPr>
              <a:spLocks noChangeArrowheads="1"/>
            </p:cNvSpPr>
            <p:nvPr/>
          </p:nvSpPr>
          <p:spPr bwMode="auto">
            <a:xfrm>
              <a:off x="4608" y="1872"/>
              <a:ext cx="768" cy="816"/>
            </a:xfrm>
            <a:prstGeom prst="rect">
              <a:avLst/>
            </a:prstGeom>
            <a:solidFill>
              <a:srgbClr val="8097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69640" name="Rectangle 8"/>
            <p:cNvSpPr>
              <a:spLocks noChangeArrowheads="1"/>
            </p:cNvSpPr>
            <p:nvPr/>
          </p:nvSpPr>
          <p:spPr bwMode="auto">
            <a:xfrm>
              <a:off x="3840" y="2640"/>
              <a:ext cx="1536" cy="768"/>
            </a:xfrm>
            <a:prstGeom prst="rect">
              <a:avLst/>
            </a:prstGeom>
            <a:solidFill>
              <a:srgbClr val="5674F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9641" name="Rectangle 9"/>
            <p:cNvSpPr>
              <a:spLocks noChangeArrowheads="1"/>
            </p:cNvSpPr>
            <p:nvPr/>
          </p:nvSpPr>
          <p:spPr bwMode="auto">
            <a:xfrm>
              <a:off x="3840" y="1872"/>
              <a:ext cx="76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69642" name="Rectangle 10"/>
            <p:cNvSpPr>
              <a:spLocks noChangeArrowheads="1"/>
            </p:cNvSpPr>
            <p:nvPr/>
          </p:nvSpPr>
          <p:spPr bwMode="auto">
            <a:xfrm>
              <a:off x="3840" y="2256"/>
              <a:ext cx="384" cy="384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9643" name="Text Box 11"/>
            <p:cNvSpPr txBox="1">
              <a:spLocks noChangeArrowheads="1"/>
            </p:cNvSpPr>
            <p:nvPr/>
          </p:nvSpPr>
          <p:spPr bwMode="auto">
            <a:xfrm>
              <a:off x="3947" y="2304"/>
              <a:ext cx="19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69644" name="Text Box 12"/>
            <p:cNvSpPr txBox="1">
              <a:spLocks noChangeArrowheads="1"/>
            </p:cNvSpPr>
            <p:nvPr/>
          </p:nvSpPr>
          <p:spPr bwMode="auto">
            <a:xfrm>
              <a:off x="4119" y="1920"/>
              <a:ext cx="19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69645" name="Text Box 13"/>
            <p:cNvSpPr txBox="1">
              <a:spLocks noChangeArrowheads="1"/>
            </p:cNvSpPr>
            <p:nvPr/>
          </p:nvSpPr>
          <p:spPr bwMode="auto">
            <a:xfrm>
              <a:off x="4315" y="2304"/>
              <a:ext cx="19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69646" name="Text Box 14"/>
            <p:cNvSpPr txBox="1">
              <a:spLocks noChangeArrowheads="1"/>
            </p:cNvSpPr>
            <p:nvPr/>
          </p:nvSpPr>
          <p:spPr bwMode="auto">
            <a:xfrm>
              <a:off x="4883" y="2096"/>
              <a:ext cx="19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69647" name="Text Box 15"/>
            <p:cNvSpPr txBox="1">
              <a:spLocks noChangeArrowheads="1"/>
            </p:cNvSpPr>
            <p:nvPr/>
          </p:nvSpPr>
          <p:spPr bwMode="auto">
            <a:xfrm>
              <a:off x="4523" y="2864"/>
              <a:ext cx="19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>
                  <a:solidFill>
                    <a:srgbClr val="000000"/>
                  </a:solidFill>
                </a:rPr>
                <a:t>8</a:t>
              </a:r>
            </a:p>
          </p:txBody>
        </p:sp>
      </p:grpSp>
      <p:sp>
        <p:nvSpPr>
          <p:cNvPr id="16390" name="Date Placeholder 17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© 2014 Goodrich, Tamassia, Goldwasser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600200"/>
            <a:ext cx="9753600" cy="4648200"/>
          </a:xfrm>
        </p:spPr>
        <p:txBody>
          <a:bodyPr>
            <a:noAutofit/>
          </a:bodyPr>
          <a:lstStyle/>
          <a:p>
            <a:r>
              <a:rPr lang="en-US" sz="2000" dirty="0" err="1"/>
              <a:t>Java.util.ArrayList</a:t>
            </a:r>
            <a:r>
              <a:rPr lang="en-US" sz="2000" dirty="0"/>
              <a:t> overcomes a weakness in the simple array implementation</a:t>
            </a:r>
          </a:p>
          <a:p>
            <a:r>
              <a:rPr lang="en-US" sz="2000" dirty="0"/>
              <a:t>Arrays require specification of a fixed capacity N when created</a:t>
            </a:r>
          </a:p>
          <a:p>
            <a:r>
              <a:rPr lang="en-US" sz="2000" dirty="0"/>
              <a:t>If actual number of elements n is much smaller than N, memory wasted</a:t>
            </a:r>
          </a:p>
          <a:p>
            <a:r>
              <a:rPr lang="en-US" sz="2000" dirty="0"/>
              <a:t>If n increases past N, program crash</a:t>
            </a:r>
          </a:p>
          <a:p>
            <a:endParaRPr lang="en-US" sz="2000" dirty="0"/>
          </a:p>
          <a:p>
            <a:r>
              <a:rPr lang="en-US" sz="2000" dirty="0"/>
              <a:t>Extendable array technique: when n = N,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2000" dirty="0"/>
              <a:t>Allocate a new array B of capacity 2N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2000" dirty="0"/>
              <a:t>Let B[i] </a:t>
            </a:r>
            <a:r>
              <a:rPr lang="en-US" sz="2000" dirty="0">
                <a:sym typeface="Symbol"/>
              </a:rPr>
              <a:t> A[i], for I = 0, 1, … N-1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2000" dirty="0">
                <a:sym typeface="Symbol"/>
              </a:rPr>
              <a:t>Let A  B, that is, we use B as the array supporting 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2000" dirty="0">
                <a:sym typeface="Symbol"/>
              </a:rPr>
              <a:t>Insert the new element in A</a:t>
            </a:r>
            <a:endParaRPr lang="en-US" sz="20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96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Implementing an array list using extendable arrays</a:t>
            </a:r>
          </a:p>
        </p:txBody>
      </p:sp>
    </p:spTree>
    <p:extLst>
      <p:ext uri="{BB962C8B-B14F-4D97-AF65-F5344CB8AC3E}">
        <p14:creationId xmlns:p14="http://schemas.microsoft.com/office/powerpoint/2010/main" val="2536811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4638"/>
            <a:ext cx="10744200" cy="944562"/>
          </a:xfrm>
        </p:spPr>
        <p:txBody>
          <a:bodyPr>
            <a:noAutofit/>
          </a:bodyPr>
          <a:lstStyle/>
          <a:p>
            <a:r>
              <a:rPr lang="en-US" sz="4000" dirty="0"/>
              <a:t>Implementing an array list using extendable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524000"/>
            <a:ext cx="5486400" cy="47598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</a:rPr>
              <a:t>public class </a:t>
            </a:r>
            <a:r>
              <a:rPr lang="en-US" sz="1800" dirty="0" err="1">
                <a:latin typeface="Century Gothic" panose="020B0502020202020204" pitchFamily="34" charset="0"/>
              </a:rPr>
              <a:t>ArrayIndexList</a:t>
            </a:r>
            <a:r>
              <a:rPr lang="en-US" sz="1800" dirty="0">
                <a:latin typeface="Century Gothic" panose="020B0502020202020204" pitchFamily="34" charset="0"/>
              </a:rPr>
              <a:t>&lt;E&gt;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</a:rPr>
              <a:t>       implements </a:t>
            </a:r>
            <a:r>
              <a:rPr lang="en-US" sz="1800" dirty="0" err="1">
                <a:latin typeface="Century Gothic" panose="020B0502020202020204" pitchFamily="34" charset="0"/>
              </a:rPr>
              <a:t>indexList</a:t>
            </a:r>
            <a:r>
              <a:rPr lang="en-US" sz="1800" dirty="0">
                <a:latin typeface="Century Gothic" panose="020B0502020202020204" pitchFamily="34" charset="0"/>
              </a:rPr>
              <a:t>&lt;E&gt; {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</a:rPr>
              <a:t>	private E[] A;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</a:rPr>
              <a:t>	</a:t>
            </a:r>
            <a:r>
              <a:rPr lang="en-US" sz="1800" dirty="0" err="1">
                <a:latin typeface="Century Gothic" panose="020B0502020202020204" pitchFamily="34" charset="0"/>
              </a:rPr>
              <a:t>int</a:t>
            </a:r>
            <a:r>
              <a:rPr lang="en-US" sz="1800" dirty="0">
                <a:latin typeface="Century Gothic" panose="020B0502020202020204" pitchFamily="34" charset="0"/>
              </a:rPr>
              <a:t> capacity = 16;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</a:rPr>
              <a:t>	</a:t>
            </a:r>
            <a:r>
              <a:rPr lang="en-US" sz="1800" dirty="0" err="1">
                <a:latin typeface="Century Gothic" panose="020B0502020202020204" pitchFamily="34" charset="0"/>
              </a:rPr>
              <a:t>int</a:t>
            </a:r>
            <a:r>
              <a:rPr lang="en-US" sz="1800" dirty="0">
                <a:latin typeface="Century Gothic" panose="020B0502020202020204" pitchFamily="34" charset="0"/>
              </a:rPr>
              <a:t> size = 0; </a:t>
            </a:r>
          </a:p>
          <a:p>
            <a:pPr marL="0" indent="0">
              <a:buNone/>
            </a:pPr>
            <a:endParaRPr lang="en-US" sz="1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</a:rPr>
              <a:t>	public </a:t>
            </a:r>
            <a:r>
              <a:rPr lang="en-US" sz="1800" dirty="0" err="1">
                <a:latin typeface="Century Gothic" panose="020B0502020202020204" pitchFamily="34" charset="0"/>
              </a:rPr>
              <a:t>ArrayIndexList</a:t>
            </a:r>
            <a:r>
              <a:rPr lang="en-US" sz="1800" dirty="0">
                <a:latin typeface="Century Gothic" panose="020B0502020202020204" pitchFamily="34" charset="0"/>
              </a:rPr>
              <a:t>() {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</a:rPr>
              <a:t>	      A = (E[]) new Object[capacity];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</a:rPr>
              <a:t>	}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</a:rPr>
              <a:t>	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7136885-F3EC-F44A-B74E-D1A986FF21D3}"/>
              </a:ext>
            </a:extLst>
          </p:cNvPr>
          <p:cNvSpPr txBox="1">
            <a:spLocks/>
          </p:cNvSpPr>
          <p:nvPr/>
        </p:nvSpPr>
        <p:spPr>
          <a:xfrm>
            <a:off x="5943600" y="1758780"/>
            <a:ext cx="5867400" cy="45333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1600" dirty="0">
                <a:latin typeface="Century Gothic" panose="020B0502020202020204" pitchFamily="34" charset="0"/>
              </a:rPr>
              <a:t>public void add(</a:t>
            </a:r>
            <a:r>
              <a:rPr lang="en-US" sz="1600" dirty="0" err="1">
                <a:latin typeface="Century Gothic" panose="020B0502020202020204" pitchFamily="34" charset="0"/>
              </a:rPr>
              <a:t>int</a:t>
            </a:r>
            <a:r>
              <a:rPr lang="en-US" sz="1600" dirty="0">
                <a:latin typeface="Century Gothic" panose="020B0502020202020204" pitchFamily="34" charset="0"/>
              </a:rPr>
              <a:t> r, E e) </a:t>
            </a:r>
          </a:p>
          <a:p>
            <a:pPr marL="0" indent="0">
              <a:buFont typeface="Arial" pitchFamily="34" charset="0"/>
              <a:buNone/>
            </a:pPr>
            <a:r>
              <a:rPr lang="en-US" sz="1600" dirty="0">
                <a:latin typeface="Century Gothic" panose="020B0502020202020204" pitchFamily="34" charset="0"/>
              </a:rPr>
              <a:t>       throws </a:t>
            </a:r>
            <a:r>
              <a:rPr lang="en-US" sz="1600" dirty="0" err="1">
                <a:latin typeface="Century Gothic" panose="020B0502020202020204" pitchFamily="34" charset="0"/>
              </a:rPr>
              <a:t>IndexOutOfBoundsException</a:t>
            </a:r>
            <a:r>
              <a:rPr lang="en-US" sz="1600" dirty="0">
                <a:latin typeface="Century Gothic" panose="020B0502020202020204" pitchFamily="34" charset="0"/>
              </a:rPr>
              <a:t> { 		</a:t>
            </a:r>
          </a:p>
          <a:p>
            <a:pPr marL="0" indent="0">
              <a:buFont typeface="Arial" pitchFamily="34" charset="0"/>
              <a:buNone/>
            </a:pPr>
            <a:r>
              <a:rPr lang="en-US" sz="1600" dirty="0">
                <a:latin typeface="Century Gothic" panose="020B0502020202020204" pitchFamily="34" charset="0"/>
              </a:rPr>
              <a:t>	</a:t>
            </a:r>
            <a:r>
              <a:rPr lang="en-US" sz="1600" dirty="0" err="1">
                <a:latin typeface="Century Gothic" panose="020B0502020202020204" pitchFamily="34" charset="0"/>
              </a:rPr>
              <a:t>checkIndex</a:t>
            </a:r>
            <a:r>
              <a:rPr lang="en-US" sz="1600" dirty="0">
                <a:latin typeface="Century Gothic" panose="020B0502020202020204" pitchFamily="34" charset="0"/>
              </a:rPr>
              <a:t>(r, size() + 1);   </a:t>
            </a:r>
          </a:p>
          <a:p>
            <a:pPr marL="0" indent="0">
              <a:buFont typeface="Arial" pitchFamily="34" charset="0"/>
              <a:buNone/>
            </a:pPr>
            <a:r>
              <a:rPr lang="en-US" sz="1600" dirty="0">
                <a:latin typeface="Century Gothic" panose="020B0502020202020204" pitchFamily="34" charset="0"/>
              </a:rPr>
              <a:t>	if (size == capacity) {</a:t>
            </a:r>
          </a:p>
          <a:p>
            <a:pPr marL="0" indent="0">
              <a:buFont typeface="Arial" pitchFamily="34" charset="0"/>
              <a:buNone/>
            </a:pPr>
            <a:r>
              <a:rPr lang="en-US" sz="1600" dirty="0">
                <a:latin typeface="Century Gothic" panose="020B0502020202020204" pitchFamily="34" charset="0"/>
              </a:rPr>
              <a:t>		capacity=2*capacity;</a:t>
            </a:r>
          </a:p>
          <a:p>
            <a:pPr marL="0" indent="0">
              <a:buFont typeface="Arial" pitchFamily="34" charset="0"/>
              <a:buNone/>
            </a:pPr>
            <a:endParaRPr lang="en-US" sz="1600" dirty="0">
              <a:latin typeface="Century Gothic" panose="020B0502020202020204" pitchFamily="34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US" sz="1600" dirty="0">
                <a:latin typeface="Century Gothic" panose="020B0502020202020204" pitchFamily="34" charset="0"/>
              </a:rPr>
              <a:t>		E[] B =(E[]) new Object[capacity]; </a:t>
            </a:r>
          </a:p>
          <a:p>
            <a:pPr marL="0" indent="0">
              <a:buFont typeface="Arial" pitchFamily="34" charset="0"/>
              <a:buNone/>
            </a:pPr>
            <a:r>
              <a:rPr lang="en-US" sz="1600" dirty="0">
                <a:latin typeface="Century Gothic" panose="020B0502020202020204" pitchFamily="34" charset="0"/>
              </a:rPr>
              <a:t>		for (</a:t>
            </a:r>
            <a:r>
              <a:rPr lang="en-US" sz="1600" dirty="0" err="1">
                <a:latin typeface="Century Gothic" panose="020B0502020202020204" pitchFamily="34" charset="0"/>
              </a:rPr>
              <a:t>int</a:t>
            </a:r>
            <a:r>
              <a:rPr lang="en-US" sz="1600" dirty="0">
                <a:latin typeface="Century Gothic" panose="020B0502020202020204" pitchFamily="34" charset="0"/>
              </a:rPr>
              <a:t> </a:t>
            </a:r>
            <a:r>
              <a:rPr lang="en-US" sz="1600" dirty="0" err="1">
                <a:latin typeface="Century Gothic" panose="020B0502020202020204" pitchFamily="34" charset="0"/>
              </a:rPr>
              <a:t>i</a:t>
            </a:r>
            <a:r>
              <a:rPr lang="en-US" sz="1600" dirty="0">
                <a:latin typeface="Century Gothic" panose="020B0502020202020204" pitchFamily="34" charset="0"/>
              </a:rPr>
              <a:t>=0; </a:t>
            </a:r>
            <a:r>
              <a:rPr lang="en-US" sz="1600" dirty="0" err="1">
                <a:latin typeface="Century Gothic" panose="020B0502020202020204" pitchFamily="34" charset="0"/>
              </a:rPr>
              <a:t>i</a:t>
            </a:r>
            <a:r>
              <a:rPr lang="en-US" sz="1600" dirty="0">
                <a:latin typeface="Century Gothic" panose="020B0502020202020204" pitchFamily="34" charset="0"/>
              </a:rPr>
              <a:t>&lt;size; </a:t>
            </a:r>
            <a:r>
              <a:rPr lang="en-US" sz="1600" dirty="0" err="1">
                <a:latin typeface="Century Gothic" panose="020B0502020202020204" pitchFamily="34" charset="0"/>
              </a:rPr>
              <a:t>i</a:t>
            </a:r>
            <a:r>
              <a:rPr lang="en-US" sz="1600" dirty="0">
                <a:latin typeface="Century Gothic" panose="020B0502020202020204" pitchFamily="34" charset="0"/>
              </a:rPr>
              <a:t>++) </a:t>
            </a:r>
          </a:p>
          <a:p>
            <a:pPr marL="0" indent="0">
              <a:buFont typeface="Arial" pitchFamily="34" charset="0"/>
              <a:buNone/>
            </a:pPr>
            <a:r>
              <a:rPr lang="en-US" sz="1600" dirty="0">
                <a:latin typeface="Century Gothic" panose="020B0502020202020204" pitchFamily="34" charset="0"/>
              </a:rPr>
              <a:t>			B[</a:t>
            </a:r>
            <a:r>
              <a:rPr lang="en-US" sz="1600" dirty="0" err="1">
                <a:latin typeface="Century Gothic" panose="020B0502020202020204" pitchFamily="34" charset="0"/>
              </a:rPr>
              <a:t>i</a:t>
            </a:r>
            <a:r>
              <a:rPr lang="en-US" sz="1600" dirty="0">
                <a:latin typeface="Century Gothic" panose="020B0502020202020204" pitchFamily="34" charset="0"/>
              </a:rPr>
              <a:t>] = A[</a:t>
            </a:r>
            <a:r>
              <a:rPr lang="en-US" sz="1600" dirty="0" err="1">
                <a:latin typeface="Century Gothic" panose="020B0502020202020204" pitchFamily="34" charset="0"/>
              </a:rPr>
              <a:t>i</a:t>
            </a:r>
            <a:r>
              <a:rPr lang="en-US" sz="1600" dirty="0">
                <a:latin typeface="Century Gothic" panose="020B0502020202020204" pitchFamily="34" charset="0"/>
              </a:rPr>
              <a:t>]; </a:t>
            </a:r>
          </a:p>
          <a:p>
            <a:pPr marL="0" indent="0">
              <a:buFont typeface="Arial" pitchFamily="34" charset="0"/>
              <a:buNone/>
            </a:pPr>
            <a:r>
              <a:rPr lang="en-US" sz="1600" dirty="0">
                <a:latin typeface="Century Gothic" panose="020B0502020202020204" pitchFamily="34" charset="0"/>
              </a:rPr>
              <a:t>		A = B; </a:t>
            </a:r>
          </a:p>
          <a:p>
            <a:pPr marL="0" indent="0">
              <a:buFont typeface="Arial" pitchFamily="34" charset="0"/>
              <a:buNone/>
            </a:pPr>
            <a:r>
              <a:rPr lang="en-US" sz="1600" dirty="0">
                <a:latin typeface="Century Gothic" panose="020B0502020202020204" pitchFamily="34" charset="0"/>
              </a:rPr>
              <a:t>	} </a:t>
            </a:r>
          </a:p>
          <a:p>
            <a:pPr marL="0" indent="0">
              <a:buFont typeface="Arial" pitchFamily="34" charset="0"/>
              <a:buNone/>
            </a:pPr>
            <a:r>
              <a:rPr lang="en-US" sz="1600" dirty="0">
                <a:latin typeface="Century Gothic" panose="020B0502020202020204" pitchFamily="34" charset="0"/>
              </a:rPr>
              <a:t>	for (</a:t>
            </a:r>
            <a:r>
              <a:rPr lang="en-US" sz="1600" dirty="0" err="1">
                <a:latin typeface="Century Gothic" panose="020B0502020202020204" pitchFamily="34" charset="0"/>
              </a:rPr>
              <a:t>int</a:t>
            </a:r>
            <a:r>
              <a:rPr lang="en-US" sz="1600" dirty="0">
                <a:latin typeface="Century Gothic" panose="020B0502020202020204" pitchFamily="34" charset="0"/>
              </a:rPr>
              <a:t> </a:t>
            </a:r>
            <a:r>
              <a:rPr lang="en-US" sz="1600" dirty="0" err="1">
                <a:latin typeface="Century Gothic" panose="020B0502020202020204" pitchFamily="34" charset="0"/>
              </a:rPr>
              <a:t>i</a:t>
            </a:r>
            <a:r>
              <a:rPr lang="en-US" sz="1600" dirty="0">
                <a:latin typeface="Century Gothic" panose="020B0502020202020204" pitchFamily="34" charset="0"/>
              </a:rPr>
              <a:t>=size-1; </a:t>
            </a:r>
            <a:r>
              <a:rPr lang="en-US" sz="1600" dirty="0" err="1">
                <a:latin typeface="Century Gothic" panose="020B0502020202020204" pitchFamily="34" charset="0"/>
              </a:rPr>
              <a:t>i</a:t>
            </a:r>
            <a:r>
              <a:rPr lang="en-US" sz="1600" dirty="0">
                <a:latin typeface="Century Gothic" panose="020B0502020202020204" pitchFamily="34" charset="0"/>
              </a:rPr>
              <a:t>&gt;=r; </a:t>
            </a:r>
            <a:r>
              <a:rPr lang="en-US" sz="1600" dirty="0" err="1">
                <a:latin typeface="Century Gothic" panose="020B0502020202020204" pitchFamily="34" charset="0"/>
              </a:rPr>
              <a:t>i</a:t>
            </a:r>
            <a:r>
              <a:rPr lang="en-US" sz="1600" dirty="0">
                <a:latin typeface="Century Gothic" panose="020B0502020202020204" pitchFamily="34" charset="0"/>
              </a:rPr>
              <a:t>--) </a:t>
            </a:r>
          </a:p>
          <a:p>
            <a:pPr marL="0" indent="0">
              <a:buFont typeface="Arial" pitchFamily="34" charset="0"/>
              <a:buNone/>
            </a:pPr>
            <a:r>
              <a:rPr lang="en-US" sz="1600" dirty="0">
                <a:latin typeface="Century Gothic" panose="020B0502020202020204" pitchFamily="34" charset="0"/>
              </a:rPr>
              <a:t>		A[i+1] = A[</a:t>
            </a:r>
            <a:r>
              <a:rPr lang="en-US" sz="1600" dirty="0" err="1">
                <a:latin typeface="Century Gothic" panose="020B0502020202020204" pitchFamily="34" charset="0"/>
              </a:rPr>
              <a:t>i</a:t>
            </a:r>
            <a:r>
              <a:rPr lang="en-US" sz="1600" dirty="0">
                <a:latin typeface="Century Gothic" panose="020B0502020202020204" pitchFamily="34" charset="0"/>
              </a:rPr>
              <a:t>]; </a:t>
            </a:r>
          </a:p>
          <a:p>
            <a:pPr marL="0" indent="0">
              <a:buFont typeface="Arial" pitchFamily="34" charset="0"/>
              <a:buNone/>
            </a:pPr>
            <a:r>
              <a:rPr lang="en-US" sz="1600" dirty="0">
                <a:latin typeface="Century Gothic" panose="020B0502020202020204" pitchFamily="34" charset="0"/>
              </a:rPr>
              <a:t>	A[r] = e; </a:t>
            </a:r>
          </a:p>
          <a:p>
            <a:pPr marL="0" indent="0">
              <a:buFont typeface="Arial" pitchFamily="34" charset="0"/>
              <a:buNone/>
            </a:pPr>
            <a:r>
              <a:rPr lang="en-US" sz="1600" dirty="0">
                <a:latin typeface="Century Gothic" panose="020B0502020202020204" pitchFamily="34" charset="0"/>
              </a:rPr>
              <a:t>	size++; </a:t>
            </a:r>
          </a:p>
          <a:p>
            <a:pPr marL="0" indent="0">
              <a:buFont typeface="Arial" pitchFamily="34" charset="0"/>
              <a:buNone/>
            </a:pPr>
            <a:r>
              <a:rPr lang="en-US" sz="1600" dirty="0">
                <a:latin typeface="Century Gothic" panose="020B0502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248845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Implementing an array list using extendable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</a:rPr>
              <a:t>	/** Removes the element stored at the given index. */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</a:rPr>
              <a:t>	 public E remove(</a:t>
            </a:r>
            <a:r>
              <a:rPr lang="en-US" sz="1800" dirty="0" err="1">
                <a:latin typeface="Century Gothic" panose="020B0502020202020204" pitchFamily="34" charset="0"/>
              </a:rPr>
              <a:t>int</a:t>
            </a:r>
            <a:r>
              <a:rPr lang="en-US" sz="1800" dirty="0">
                <a:latin typeface="Century Gothic" panose="020B0502020202020204" pitchFamily="34" charset="0"/>
              </a:rPr>
              <a:t> r) throws </a:t>
            </a:r>
            <a:r>
              <a:rPr lang="en-US" sz="1800" dirty="0" err="1">
                <a:latin typeface="Century Gothic" panose="020B0502020202020204" pitchFamily="34" charset="0"/>
              </a:rPr>
              <a:t>IndexOutOfBoundsException</a:t>
            </a:r>
            <a:r>
              <a:rPr lang="en-US" sz="1800" dirty="0">
                <a:latin typeface="Century Gothic" panose="020B0502020202020204" pitchFamily="34" charset="0"/>
              </a:rPr>
              <a:t> {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</a:rPr>
              <a:t>		</a:t>
            </a:r>
            <a:r>
              <a:rPr lang="en-US" sz="1800" dirty="0" err="1">
                <a:latin typeface="Century Gothic" panose="020B0502020202020204" pitchFamily="34" charset="0"/>
              </a:rPr>
              <a:t>checkIndex</a:t>
            </a:r>
            <a:r>
              <a:rPr lang="en-US" sz="1800" dirty="0">
                <a:latin typeface="Century Gothic" panose="020B0502020202020204" pitchFamily="34" charset="0"/>
              </a:rPr>
              <a:t>(r, size());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</a:rPr>
              <a:t>		E temp = A[r];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</a:rPr>
              <a:t>		for (</a:t>
            </a:r>
            <a:r>
              <a:rPr lang="en-US" sz="1800" dirty="0" err="1">
                <a:latin typeface="Century Gothic" panose="020B0502020202020204" pitchFamily="34" charset="0"/>
              </a:rPr>
              <a:t>int</a:t>
            </a:r>
            <a:r>
              <a:rPr lang="en-US" sz="1800" dirty="0">
                <a:latin typeface="Century Gothic" panose="020B0502020202020204" pitchFamily="34" charset="0"/>
              </a:rPr>
              <a:t> i=r; i&lt;size-1; i++) // shift elements down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</a:rPr>
              <a:t>			A[i] = A[i+1];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</a:rPr>
              <a:t>		size--;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</a:rPr>
              <a:t>		return temp;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42668524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Amortized analysis of extendable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Replacing an array required by some element insertion can take O(n) time.</a:t>
            </a:r>
          </a:p>
          <a:p>
            <a:r>
              <a:rPr lang="en-US" sz="2400" dirty="0"/>
              <a:t>However, after an array replacement, the new array allows us to add n new elements before next replacement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Proposition</a:t>
            </a:r>
            <a:r>
              <a:rPr lang="en-US" sz="2400" dirty="0"/>
              <a:t>:</a:t>
            </a:r>
          </a:p>
          <a:p>
            <a:pPr marL="400050" lvl="1" indent="0">
              <a:buNone/>
            </a:pPr>
            <a:r>
              <a:rPr lang="en-US" sz="2400" dirty="0"/>
              <a:t>Let S be an array list implemented by means of an extendable array with initial length one. </a:t>
            </a:r>
          </a:p>
          <a:p>
            <a:pPr marL="400050" lvl="1" indent="0">
              <a:buNone/>
            </a:pPr>
            <a:r>
              <a:rPr lang="en-US" sz="2400" dirty="0"/>
              <a:t>The total time to perform a series of n push operations in S, starting from S being empty is O(n).</a:t>
            </a:r>
          </a:p>
        </p:txBody>
      </p:sp>
    </p:spTree>
    <p:extLst>
      <p:ext uri="{BB962C8B-B14F-4D97-AF65-F5344CB8AC3E}">
        <p14:creationId xmlns:p14="http://schemas.microsoft.com/office/powerpoint/2010/main" val="24532461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Traverse </a:t>
            </a:r>
            <a:r>
              <a:rPr lang="en-US" dirty="0" err="1"/>
              <a:t>Arraylist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err="1">
                <a:latin typeface="Century Gothic" panose="020B0502020202020204" pitchFamily="34" charset="0"/>
              </a:rPr>
              <a:t>ArrayList</a:t>
            </a:r>
            <a:r>
              <a:rPr lang="en-US" sz="2000" dirty="0">
                <a:latin typeface="Century Gothic" panose="020B0502020202020204" pitchFamily="34" charset="0"/>
              </a:rPr>
              <a:t>&lt;String&gt; a = new </a:t>
            </a:r>
            <a:r>
              <a:rPr lang="en-US" sz="2000" dirty="0" err="1">
                <a:latin typeface="Century Gothic" panose="020B0502020202020204" pitchFamily="34" charset="0"/>
              </a:rPr>
              <a:t>ArrayList</a:t>
            </a:r>
            <a:r>
              <a:rPr lang="en-US" sz="2000" dirty="0">
                <a:latin typeface="Century Gothic" panose="020B0502020202020204" pitchFamily="34" charset="0"/>
              </a:rPr>
              <a:t>&lt;String&gt;();</a:t>
            </a:r>
            <a:endParaRPr lang="nb-NO" sz="20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nb-NO" sz="20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nb-NO" sz="2000" dirty="0">
                <a:latin typeface="Century Gothic" panose="020B0502020202020204" pitchFamily="34" charset="0"/>
              </a:rPr>
              <a:t>for (int i = 0; i &lt; a.size(); i++) {     //1. loop with index</a:t>
            </a:r>
          </a:p>
          <a:p>
            <a:pPr marL="0" indent="0">
              <a:buNone/>
            </a:pPr>
            <a:r>
              <a:rPr lang="nb-NO" sz="2000" dirty="0">
                <a:latin typeface="Century Gothic" panose="020B0502020202020204" pitchFamily="34" charset="0"/>
              </a:rPr>
              <a:t>    System.out.println(a.get(i));</a:t>
            </a:r>
          </a:p>
          <a:p>
            <a:pPr marL="0" indent="0">
              <a:buNone/>
            </a:pPr>
            <a:r>
              <a:rPr lang="nb-NO" sz="2000" dirty="0">
                <a:latin typeface="Century Gothic" panose="020B0502020202020204" pitchFamily="34" charset="0"/>
              </a:rPr>
              <a:t>}</a:t>
            </a:r>
          </a:p>
          <a:p>
            <a:pPr marL="0" indent="0">
              <a:buNone/>
            </a:pPr>
            <a:endParaRPr lang="nb-NO" sz="20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for (String s : a) {		//2. </a:t>
            </a:r>
            <a:r>
              <a:rPr lang="en-US" sz="2000" dirty="0" err="1">
                <a:latin typeface="Century Gothic" panose="020B0502020202020204" pitchFamily="34" charset="0"/>
              </a:rPr>
              <a:t>foreach</a:t>
            </a:r>
            <a:r>
              <a:rPr lang="en-US" sz="2000" dirty="0">
                <a:latin typeface="Century Gothic" panose="020B0502020202020204" pitchFamily="34" charset="0"/>
              </a:rPr>
              <a:t> loop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    </a:t>
            </a:r>
            <a:r>
              <a:rPr lang="en-US" sz="2000" dirty="0" err="1">
                <a:latin typeface="Century Gothic" panose="020B0502020202020204" pitchFamily="34" charset="0"/>
              </a:rPr>
              <a:t>System.out.println</a:t>
            </a:r>
            <a:r>
              <a:rPr lang="en-US" sz="2000" dirty="0">
                <a:latin typeface="Century Gothic" panose="020B0502020202020204" pitchFamily="34" charset="0"/>
              </a:rPr>
              <a:t>(s);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}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				//3. Iterator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for (Iterator&lt;String&gt; </a:t>
            </a:r>
            <a:r>
              <a:rPr lang="en-US" sz="2000" dirty="0" err="1">
                <a:latin typeface="Century Gothic" panose="020B0502020202020204" pitchFamily="34" charset="0"/>
              </a:rPr>
              <a:t>iter</a:t>
            </a:r>
            <a:r>
              <a:rPr lang="en-US" sz="2000" dirty="0">
                <a:latin typeface="Century Gothic" panose="020B0502020202020204" pitchFamily="34" charset="0"/>
              </a:rPr>
              <a:t> = </a:t>
            </a:r>
            <a:r>
              <a:rPr lang="en-US" sz="2000" dirty="0" err="1">
                <a:latin typeface="Century Gothic" panose="020B0502020202020204" pitchFamily="34" charset="0"/>
              </a:rPr>
              <a:t>a.iterator</a:t>
            </a:r>
            <a:r>
              <a:rPr lang="en-US" sz="2000" dirty="0">
                <a:latin typeface="Century Gothic" panose="020B0502020202020204" pitchFamily="34" charset="0"/>
              </a:rPr>
              <a:t>(); </a:t>
            </a:r>
            <a:r>
              <a:rPr lang="en-US" sz="2000" dirty="0" err="1">
                <a:latin typeface="Century Gothic" panose="020B0502020202020204" pitchFamily="34" charset="0"/>
              </a:rPr>
              <a:t>iter.hasNext</a:t>
            </a:r>
            <a:r>
              <a:rPr lang="en-US" sz="2000" dirty="0">
                <a:latin typeface="Century Gothic" panose="020B0502020202020204" pitchFamily="34" charset="0"/>
              </a:rPr>
              <a:t>();  ) {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    </a:t>
            </a:r>
            <a:r>
              <a:rPr lang="en-US" sz="2000" dirty="0" err="1">
                <a:latin typeface="Century Gothic" panose="020B0502020202020204" pitchFamily="34" charset="0"/>
              </a:rPr>
              <a:t>System.out.println</a:t>
            </a:r>
            <a:r>
              <a:rPr lang="en-US" sz="2000" dirty="0">
                <a:latin typeface="Century Gothic" panose="020B0502020202020204" pitchFamily="34" charset="0"/>
              </a:rPr>
              <a:t>(</a:t>
            </a:r>
            <a:r>
              <a:rPr lang="en-US" sz="2000" dirty="0" err="1">
                <a:latin typeface="Century Gothic" panose="020B0502020202020204" pitchFamily="34" charset="0"/>
              </a:rPr>
              <a:t>iter.next</a:t>
            </a:r>
            <a:r>
              <a:rPr lang="en-US" sz="2000" dirty="0">
                <a:latin typeface="Century Gothic" panose="020B0502020202020204" pitchFamily="34" charset="0"/>
              </a:rPr>
              <a:t>());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590629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Iterator and </a:t>
            </a:r>
            <a:r>
              <a:rPr lang="en-US" dirty="0" err="1"/>
              <a:t>Iterable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Java </a:t>
            </a:r>
            <a:r>
              <a:rPr lang="en-US" sz="2400" dirty="0" err="1"/>
              <a:t>ArrayList</a:t>
            </a:r>
            <a:r>
              <a:rPr lang="en-US" sz="2400"/>
              <a:t> implements </a:t>
            </a:r>
            <a:r>
              <a:rPr lang="en-US" sz="2400" dirty="0"/>
              <a:t>iterator and  </a:t>
            </a:r>
            <a:r>
              <a:rPr lang="en-US" sz="2400" dirty="0" err="1"/>
              <a:t>iterable</a:t>
            </a:r>
            <a:endParaRPr lang="en-US" sz="2400" dirty="0"/>
          </a:p>
          <a:p>
            <a:r>
              <a:rPr lang="en-US" sz="2400" dirty="0"/>
              <a:t>Program exercise</a:t>
            </a:r>
          </a:p>
          <a:p>
            <a:pPr marL="0" indent="0">
              <a:buNone/>
            </a:pPr>
            <a:r>
              <a:rPr lang="en-US" sz="2400" dirty="0"/>
              <a:t>	Page 300-301</a:t>
            </a:r>
          </a:p>
          <a:p>
            <a:pPr marL="0" indent="0">
              <a:buNone/>
            </a:pPr>
            <a:r>
              <a:rPr lang="en-US" sz="2400" dirty="0"/>
              <a:t>	R-7.2, 7.5, 7.10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185241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iterator is a software design pattern that abstracts the process of scanning through a sequence of elements, one element at a time.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 Goodrich, Tamassia, Goldwasser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Lists and Iterators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D379D5-F0BC-F149-937C-E0DCC3E9663D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886200"/>
            <a:ext cx="8833874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3410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Iterable</a:t>
            </a:r>
            <a:r>
              <a:rPr lang="en-US" dirty="0"/>
              <a:t>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Java defines a parameterized interface, named </a:t>
            </a:r>
            <a:r>
              <a:rPr lang="en-US" sz="2400" dirty="0" err="1">
                <a:solidFill>
                  <a:srgbClr val="BE2D00"/>
                </a:solidFill>
              </a:rPr>
              <a:t>Iterable</a:t>
            </a:r>
            <a:r>
              <a:rPr lang="en-US" sz="2400" dirty="0"/>
              <a:t>, that includes the following single method:</a:t>
            </a:r>
          </a:p>
          <a:p>
            <a:pPr lvl="1"/>
            <a:r>
              <a:rPr lang="en-US" sz="2000" dirty="0">
                <a:solidFill>
                  <a:srgbClr val="BE2D00"/>
                </a:solidFill>
              </a:rPr>
              <a:t>iterator</a:t>
            </a:r>
            <a:r>
              <a:rPr lang="en-US" sz="2000" dirty="0"/>
              <a:t>( ): Returns an iterator of the elements in the collection.</a:t>
            </a:r>
          </a:p>
          <a:p>
            <a:r>
              <a:rPr lang="en-US" sz="2400" dirty="0"/>
              <a:t>An instance of a typical collection class in Java, such as an </a:t>
            </a:r>
            <a:r>
              <a:rPr lang="en-US" sz="2400" dirty="0" err="1"/>
              <a:t>ArrayList</a:t>
            </a:r>
            <a:r>
              <a:rPr lang="en-US" sz="2400" dirty="0"/>
              <a:t>, is </a:t>
            </a:r>
            <a:r>
              <a:rPr lang="en-US" sz="2400" dirty="0" err="1"/>
              <a:t>iterable</a:t>
            </a:r>
            <a:r>
              <a:rPr lang="en-US" sz="2400" dirty="0"/>
              <a:t> (but not itself an iterator); it produces an iterator for its collection as the return value of the </a:t>
            </a:r>
            <a:r>
              <a:rPr lang="en-US" sz="2400" dirty="0">
                <a:solidFill>
                  <a:srgbClr val="BE2D00"/>
                </a:solidFill>
              </a:rPr>
              <a:t>iterator</a:t>
            </a:r>
            <a:r>
              <a:rPr lang="en-US" sz="2400" dirty="0"/>
              <a:t>( ) method. </a:t>
            </a:r>
          </a:p>
          <a:p>
            <a:r>
              <a:rPr lang="en-US" sz="2400" dirty="0"/>
              <a:t>Each call to </a:t>
            </a:r>
            <a:r>
              <a:rPr lang="en-US" sz="2400" dirty="0">
                <a:solidFill>
                  <a:srgbClr val="BE2D00"/>
                </a:solidFill>
              </a:rPr>
              <a:t>iterator</a:t>
            </a:r>
            <a:r>
              <a:rPr lang="en-US" sz="2400" dirty="0"/>
              <a:t>( ) returns a new iterator instance, thereby allowing multiple (even simultaneous) traversals of a collection.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 Goodrich, Tamassia, Goldwasser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Lists and Iterators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D379D5-F0BC-F149-937C-E0DCC3E9663D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2503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for-each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Java’s </a:t>
            </a:r>
            <a:r>
              <a:rPr lang="en-US" sz="2800" dirty="0" err="1"/>
              <a:t>Iterable</a:t>
            </a:r>
            <a:r>
              <a:rPr lang="en-US" sz="2800" dirty="0"/>
              <a:t> class also plays a fundamental role in support of the “for-each” loop syntax:</a:t>
            </a:r>
          </a:p>
          <a:p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400050" lvl="1" indent="0">
              <a:buNone/>
            </a:pPr>
            <a:r>
              <a:rPr lang="en-US" sz="2400" dirty="0"/>
              <a:t>is equivalent to: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 Goodrich, Tamassia, Goldwasser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Lists and Iterators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D379D5-F0BC-F149-937C-E0DCC3E9663D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590801"/>
            <a:ext cx="7924800" cy="105232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4267201"/>
            <a:ext cx="7848600" cy="166167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556633" y="52125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5572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Using an index is not the only means of referring to the place where an element appears in a sequence</a:t>
            </a:r>
          </a:p>
          <a:p>
            <a:r>
              <a:rPr lang="en-US" sz="2400" dirty="0"/>
              <a:t>If a sequence S is implemented with a linked list, then it is more nature to use a </a:t>
            </a:r>
            <a:r>
              <a:rPr lang="en-US" sz="2400" b="1" dirty="0"/>
              <a:t>node</a:t>
            </a:r>
            <a:r>
              <a:rPr lang="en-US" sz="2400" dirty="0"/>
              <a:t> as a means of identifying where to access and update S</a:t>
            </a:r>
          </a:p>
          <a:p>
            <a:r>
              <a:rPr lang="en-US" sz="2400" dirty="0"/>
              <a:t>A node is used as a “position”</a:t>
            </a:r>
          </a:p>
          <a:p>
            <a:r>
              <a:rPr lang="en-US" sz="2400" dirty="0"/>
              <a:t>A position is always defined relatively, e.g.</a:t>
            </a:r>
          </a:p>
          <a:p>
            <a:pPr lvl="1"/>
            <a:r>
              <a:rPr lang="en-US" sz="2400" dirty="0"/>
              <a:t>A position p is “after” some position q and before some position s</a:t>
            </a:r>
          </a:p>
          <a:p>
            <a:pPr marL="457200" lvl="1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537069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 list ADT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200" dirty="0"/>
              <a:t>first(): return the position of the first element of S</a:t>
            </a:r>
          </a:p>
          <a:p>
            <a:r>
              <a:rPr lang="en-US" sz="2200" dirty="0"/>
              <a:t>last()</a:t>
            </a:r>
          </a:p>
          <a:p>
            <a:r>
              <a:rPr lang="en-US" sz="2200" dirty="0" err="1"/>
              <a:t>prev</a:t>
            </a:r>
            <a:r>
              <a:rPr lang="en-US" sz="2200" dirty="0"/>
              <a:t>(p): return the position of the element of S preceding the one at position p; an error occurs if p is the first position</a:t>
            </a:r>
          </a:p>
          <a:p>
            <a:r>
              <a:rPr lang="en-US" sz="2200" dirty="0"/>
              <a:t>next(p)</a:t>
            </a:r>
          </a:p>
          <a:p>
            <a:r>
              <a:rPr lang="en-US" sz="2200" dirty="0"/>
              <a:t>set(p, e): replace the element at position p with e, returning the element formerly at position p</a:t>
            </a:r>
          </a:p>
          <a:p>
            <a:r>
              <a:rPr lang="en-US" sz="2200" dirty="0" err="1"/>
              <a:t>addFirst</a:t>
            </a:r>
            <a:r>
              <a:rPr lang="en-US" sz="2200" dirty="0"/>
              <a:t>(e)</a:t>
            </a:r>
          </a:p>
          <a:p>
            <a:r>
              <a:rPr lang="en-US" sz="2200" dirty="0" err="1"/>
              <a:t>addLast</a:t>
            </a:r>
            <a:r>
              <a:rPr lang="en-US" sz="2200" dirty="0"/>
              <a:t>(e)</a:t>
            </a:r>
          </a:p>
          <a:p>
            <a:r>
              <a:rPr lang="en-US" sz="2200" dirty="0" err="1"/>
              <a:t>addBefore</a:t>
            </a:r>
            <a:r>
              <a:rPr lang="en-US" sz="2200" dirty="0"/>
              <a:t>(p, e)</a:t>
            </a:r>
          </a:p>
          <a:p>
            <a:r>
              <a:rPr lang="en-US" sz="2200" dirty="0" err="1"/>
              <a:t>addAfter</a:t>
            </a:r>
            <a:r>
              <a:rPr lang="en-US" sz="2200" dirty="0"/>
              <a:t>(p, e)</a:t>
            </a:r>
          </a:p>
          <a:p>
            <a:r>
              <a:rPr lang="en-US" sz="2200" dirty="0"/>
              <a:t>remove(p)</a:t>
            </a:r>
          </a:p>
        </p:txBody>
      </p:sp>
    </p:spTree>
    <p:extLst>
      <p:ext uri="{BB962C8B-B14F-4D97-AF65-F5344CB8AC3E}">
        <p14:creationId xmlns:p14="http://schemas.microsoft.com/office/powerpoint/2010/main" val="14646621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Operation		Output			S</a:t>
            </a:r>
          </a:p>
          <a:p>
            <a:pPr marL="0" indent="0">
              <a:buNone/>
            </a:pPr>
            <a:r>
              <a:rPr lang="en-US" sz="2000" dirty="0" err="1"/>
              <a:t>addFrist</a:t>
            </a:r>
            <a:r>
              <a:rPr lang="en-US" sz="2000" dirty="0"/>
              <a:t>(8)		-			(8)</a:t>
            </a:r>
          </a:p>
          <a:p>
            <a:pPr marL="0" indent="0">
              <a:buNone/>
            </a:pPr>
            <a:r>
              <a:rPr lang="en-US" sz="2000" dirty="0"/>
              <a:t>First()			p</a:t>
            </a:r>
            <a:r>
              <a:rPr lang="en-US" sz="2000" baseline="-25000" dirty="0"/>
              <a:t>1</a:t>
            </a:r>
            <a:r>
              <a:rPr lang="en-US" sz="2000" dirty="0"/>
              <a:t>(8)			(8)</a:t>
            </a:r>
          </a:p>
          <a:p>
            <a:pPr marL="0" indent="0">
              <a:buNone/>
            </a:pPr>
            <a:r>
              <a:rPr lang="en-US" sz="2000" dirty="0" err="1"/>
              <a:t>addAfter</a:t>
            </a:r>
            <a:r>
              <a:rPr lang="en-US" sz="2000" dirty="0"/>
              <a:t>(p</a:t>
            </a:r>
            <a:r>
              <a:rPr lang="en-US" sz="2000" baseline="-25000" dirty="0"/>
              <a:t>1</a:t>
            </a:r>
            <a:r>
              <a:rPr lang="en-US" sz="2000" dirty="0"/>
              <a:t>, 5)		-			(8,5)</a:t>
            </a:r>
          </a:p>
          <a:p>
            <a:pPr marL="0" indent="0">
              <a:buNone/>
            </a:pPr>
            <a:r>
              <a:rPr lang="en-US" sz="2000" dirty="0"/>
              <a:t>next(p</a:t>
            </a:r>
            <a:r>
              <a:rPr lang="en-US" sz="2000" baseline="-25000" dirty="0"/>
              <a:t>1</a:t>
            </a:r>
            <a:r>
              <a:rPr lang="en-US" sz="2000" dirty="0"/>
              <a:t>)			p</a:t>
            </a:r>
            <a:r>
              <a:rPr lang="en-US" sz="2000" baseline="-25000" dirty="0"/>
              <a:t>2</a:t>
            </a:r>
            <a:r>
              <a:rPr lang="en-US" sz="2000" dirty="0"/>
              <a:t>(5)			(8,5)</a:t>
            </a:r>
          </a:p>
          <a:p>
            <a:pPr marL="0" indent="0">
              <a:buNone/>
            </a:pPr>
            <a:r>
              <a:rPr lang="en-US" sz="2000" dirty="0" err="1"/>
              <a:t>addBefore</a:t>
            </a:r>
            <a:r>
              <a:rPr lang="en-US" sz="2000" dirty="0"/>
              <a:t>(p</a:t>
            </a:r>
            <a:r>
              <a:rPr lang="en-US" sz="2000" baseline="-25000" dirty="0"/>
              <a:t>2</a:t>
            </a:r>
            <a:r>
              <a:rPr lang="en-US" sz="2000" dirty="0"/>
              <a:t>, 3)		-			(8,3,5)</a:t>
            </a:r>
          </a:p>
          <a:p>
            <a:pPr marL="0" indent="0">
              <a:buNone/>
            </a:pPr>
            <a:r>
              <a:rPr lang="en-US" sz="2000" dirty="0" err="1"/>
              <a:t>prev</a:t>
            </a:r>
            <a:r>
              <a:rPr lang="en-US" sz="2000" dirty="0"/>
              <a:t>(p</a:t>
            </a:r>
            <a:r>
              <a:rPr lang="en-US" sz="2000" baseline="-25000" dirty="0"/>
              <a:t>2</a:t>
            </a:r>
            <a:r>
              <a:rPr lang="en-US" sz="2000" dirty="0"/>
              <a:t>)			p</a:t>
            </a:r>
            <a:r>
              <a:rPr lang="en-US" sz="2000" baseline="-25000" dirty="0"/>
              <a:t>1</a:t>
            </a:r>
            <a:r>
              <a:rPr lang="en-US" sz="2000" dirty="0"/>
              <a:t>(5)			(8,3,5)</a:t>
            </a:r>
          </a:p>
          <a:p>
            <a:pPr marL="0" indent="0">
              <a:buNone/>
            </a:pPr>
            <a:r>
              <a:rPr lang="en-US" sz="2000" dirty="0" err="1"/>
              <a:t>addFrist</a:t>
            </a:r>
            <a:r>
              <a:rPr lang="en-US" sz="2000" dirty="0"/>
              <a:t>(9)		-			(9,8,3,5)</a:t>
            </a:r>
          </a:p>
          <a:p>
            <a:pPr marL="0" indent="0">
              <a:buNone/>
            </a:pPr>
            <a:r>
              <a:rPr lang="en-US" sz="2000" dirty="0"/>
              <a:t>last()			p</a:t>
            </a:r>
            <a:r>
              <a:rPr lang="en-US" sz="2000" baseline="-25000" dirty="0"/>
              <a:t>4</a:t>
            </a:r>
            <a:r>
              <a:rPr lang="en-US" sz="2000" dirty="0"/>
              <a:t>(5)			(9,8,3,5)</a:t>
            </a:r>
          </a:p>
          <a:p>
            <a:pPr marL="0" indent="0">
              <a:buNone/>
            </a:pPr>
            <a:r>
              <a:rPr lang="en-US" sz="2000" dirty="0"/>
              <a:t>remove(</a:t>
            </a:r>
            <a:r>
              <a:rPr lang="en-US" sz="2000" dirty="0" err="1"/>
              <a:t>frist</a:t>
            </a:r>
            <a:r>
              <a:rPr lang="en-US" sz="2000" dirty="0"/>
              <a:t>())		9			(8,3,5)</a:t>
            </a:r>
          </a:p>
          <a:p>
            <a:pPr marL="0" indent="0">
              <a:buNone/>
            </a:pPr>
            <a:r>
              <a:rPr lang="en-US" sz="2000" dirty="0"/>
              <a:t>set(p</a:t>
            </a:r>
            <a:r>
              <a:rPr lang="en-US" sz="2000" baseline="-25000" dirty="0"/>
              <a:t>2</a:t>
            </a:r>
            <a:r>
              <a:rPr lang="en-US" sz="2000" dirty="0"/>
              <a:t>,7)			3			(8,7,5)</a:t>
            </a:r>
          </a:p>
          <a:p>
            <a:pPr marL="0" indent="0">
              <a:buNone/>
            </a:pPr>
            <a:r>
              <a:rPr lang="en-US" sz="2000" dirty="0" err="1"/>
              <a:t>addAfter</a:t>
            </a:r>
            <a:r>
              <a:rPr lang="en-US" sz="2000" dirty="0"/>
              <a:t>(first(),2)		-			(8,2,7,5)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080569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 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public interface Position&lt;E&gt; { 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	/** Return the element stored at this position. */ 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	E element(); 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}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400" dirty="0"/>
              <a:t>Position is an ADT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197720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 </a:t>
            </a:r>
            <a:r>
              <a:rPr lang="en-US" dirty="0" err="1"/>
              <a:t>PositionList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>
                <a:latin typeface="Century Gothic" panose="020B0502020202020204" pitchFamily="34" charset="0"/>
              </a:rPr>
              <a:t>public interface </a:t>
            </a:r>
            <a:r>
              <a:rPr lang="en-US" dirty="0" err="1">
                <a:latin typeface="Century Gothic" panose="020B0502020202020204" pitchFamily="34" charset="0"/>
              </a:rPr>
              <a:t>PositionList</a:t>
            </a:r>
            <a:r>
              <a:rPr lang="en-US" dirty="0">
                <a:latin typeface="Century Gothic" panose="020B0502020202020204" pitchFamily="34" charset="0"/>
              </a:rPr>
              <a:t>&lt;E&gt; { </a:t>
            </a:r>
          </a:p>
          <a:p>
            <a:pPr marL="0" indent="0">
              <a:buNone/>
            </a:pPr>
            <a:r>
              <a:rPr lang="en-US" dirty="0">
                <a:latin typeface="Century Gothic" panose="020B0502020202020204" pitchFamily="34" charset="0"/>
              </a:rPr>
              <a:t>	public </a:t>
            </a:r>
            <a:r>
              <a:rPr lang="en-US" dirty="0" err="1">
                <a:latin typeface="Century Gothic" panose="020B0502020202020204" pitchFamily="34" charset="0"/>
              </a:rPr>
              <a:t>int</a:t>
            </a:r>
            <a:r>
              <a:rPr lang="en-US" dirty="0">
                <a:latin typeface="Century Gothic" panose="020B0502020202020204" pitchFamily="34" charset="0"/>
              </a:rPr>
              <a:t> size(); </a:t>
            </a:r>
          </a:p>
          <a:p>
            <a:pPr marL="0" indent="0">
              <a:buNone/>
            </a:pPr>
            <a:r>
              <a:rPr lang="en-US" dirty="0">
                <a:latin typeface="Century Gothic" panose="020B0502020202020204" pitchFamily="34" charset="0"/>
              </a:rPr>
              <a:t>	public </a:t>
            </a:r>
            <a:r>
              <a:rPr lang="en-US" dirty="0" err="1">
                <a:latin typeface="Century Gothic" panose="020B0502020202020204" pitchFamily="34" charset="0"/>
              </a:rPr>
              <a:t>boolean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isEmpty</a:t>
            </a:r>
            <a:r>
              <a:rPr lang="en-US" dirty="0">
                <a:latin typeface="Century Gothic" panose="020B0502020202020204" pitchFamily="34" charset="0"/>
              </a:rPr>
              <a:t>(); </a:t>
            </a:r>
          </a:p>
          <a:p>
            <a:pPr marL="0" indent="0">
              <a:buNone/>
            </a:pPr>
            <a:r>
              <a:rPr lang="en-US" dirty="0">
                <a:latin typeface="Century Gothic" panose="020B0502020202020204" pitchFamily="34" charset="0"/>
              </a:rPr>
              <a:t>	public Position&lt;E&gt; first(); </a:t>
            </a:r>
          </a:p>
          <a:p>
            <a:pPr marL="0" indent="0">
              <a:buNone/>
            </a:pPr>
            <a:r>
              <a:rPr lang="en-US" dirty="0">
                <a:latin typeface="Century Gothic" panose="020B0502020202020204" pitchFamily="34" charset="0"/>
              </a:rPr>
              <a:t>	public Position&lt;E&gt; last(); </a:t>
            </a:r>
          </a:p>
          <a:p>
            <a:pPr marL="0" indent="0">
              <a:buNone/>
            </a:pPr>
            <a:r>
              <a:rPr lang="en-US" dirty="0">
                <a:latin typeface="Century Gothic" panose="020B0502020202020204" pitchFamily="34" charset="0"/>
              </a:rPr>
              <a:t>	public Position&lt;E&gt; next(Position&lt;E&gt; p) </a:t>
            </a:r>
          </a:p>
          <a:p>
            <a:pPr marL="0" indent="0">
              <a:buNone/>
            </a:pPr>
            <a:r>
              <a:rPr lang="en-US" dirty="0">
                <a:latin typeface="Century Gothic" panose="020B0502020202020204" pitchFamily="34" charset="0"/>
              </a:rPr>
              <a:t>		throws </a:t>
            </a:r>
            <a:r>
              <a:rPr lang="en-US" dirty="0" err="1">
                <a:latin typeface="Century Gothic" panose="020B0502020202020204" pitchFamily="34" charset="0"/>
              </a:rPr>
              <a:t>InvalidPositionException</a:t>
            </a:r>
            <a:r>
              <a:rPr lang="en-US" dirty="0">
                <a:latin typeface="Century Gothic" panose="020B0502020202020204" pitchFamily="34" charset="0"/>
              </a:rPr>
              <a:t>, </a:t>
            </a:r>
            <a:r>
              <a:rPr lang="en-US" dirty="0" err="1">
                <a:latin typeface="Century Gothic" panose="020B0502020202020204" pitchFamily="34" charset="0"/>
              </a:rPr>
              <a:t>BoundaryViolationException</a:t>
            </a:r>
            <a:r>
              <a:rPr lang="en-US" dirty="0">
                <a:latin typeface="Century Gothic" panose="020B0502020202020204" pitchFamily="34" charset="0"/>
              </a:rPr>
              <a:t>; </a:t>
            </a:r>
          </a:p>
          <a:p>
            <a:pPr marL="0" indent="0">
              <a:buNone/>
            </a:pPr>
            <a:r>
              <a:rPr lang="en-US" dirty="0">
                <a:latin typeface="Century Gothic" panose="020B0502020202020204" pitchFamily="34" charset="0"/>
              </a:rPr>
              <a:t>	public Position&lt;E&gt; </a:t>
            </a:r>
            <a:r>
              <a:rPr lang="en-US" dirty="0" err="1">
                <a:latin typeface="Century Gothic" panose="020B0502020202020204" pitchFamily="34" charset="0"/>
              </a:rPr>
              <a:t>prev</a:t>
            </a:r>
            <a:r>
              <a:rPr lang="en-US" dirty="0">
                <a:latin typeface="Century Gothic" panose="020B0502020202020204" pitchFamily="34" charset="0"/>
              </a:rPr>
              <a:t>(Position&lt;E&gt; p) </a:t>
            </a:r>
          </a:p>
          <a:p>
            <a:pPr marL="0" indent="0">
              <a:buNone/>
            </a:pPr>
            <a:r>
              <a:rPr lang="en-US" dirty="0">
                <a:latin typeface="Century Gothic" panose="020B0502020202020204" pitchFamily="34" charset="0"/>
              </a:rPr>
              <a:t>		throws </a:t>
            </a:r>
            <a:r>
              <a:rPr lang="en-US" dirty="0" err="1">
                <a:latin typeface="Century Gothic" panose="020B0502020202020204" pitchFamily="34" charset="0"/>
              </a:rPr>
              <a:t>InvalidPositionException</a:t>
            </a:r>
            <a:r>
              <a:rPr lang="en-US" dirty="0">
                <a:latin typeface="Century Gothic" panose="020B0502020202020204" pitchFamily="34" charset="0"/>
              </a:rPr>
              <a:t>, </a:t>
            </a:r>
            <a:r>
              <a:rPr lang="en-US" dirty="0" err="1">
                <a:latin typeface="Century Gothic" panose="020B0502020202020204" pitchFamily="34" charset="0"/>
              </a:rPr>
              <a:t>BoundaryViolationException</a:t>
            </a:r>
            <a:r>
              <a:rPr lang="en-US" dirty="0">
                <a:latin typeface="Century Gothic" panose="020B0502020202020204" pitchFamily="34" charset="0"/>
              </a:rPr>
              <a:t>; </a:t>
            </a:r>
          </a:p>
          <a:p>
            <a:pPr marL="0" indent="0">
              <a:buNone/>
            </a:pPr>
            <a:r>
              <a:rPr lang="en-US" dirty="0">
                <a:latin typeface="Century Gothic" panose="020B0502020202020204" pitchFamily="34" charset="0"/>
              </a:rPr>
              <a:t>	public void </a:t>
            </a:r>
            <a:r>
              <a:rPr lang="en-US" dirty="0" err="1">
                <a:latin typeface="Century Gothic" panose="020B0502020202020204" pitchFamily="34" charset="0"/>
              </a:rPr>
              <a:t>addFirst</a:t>
            </a:r>
            <a:r>
              <a:rPr lang="en-US" dirty="0">
                <a:latin typeface="Century Gothic" panose="020B0502020202020204" pitchFamily="34" charset="0"/>
              </a:rPr>
              <a:t>(E e); </a:t>
            </a:r>
          </a:p>
          <a:p>
            <a:pPr marL="0" indent="0">
              <a:buNone/>
            </a:pPr>
            <a:r>
              <a:rPr lang="en-US" dirty="0">
                <a:latin typeface="Century Gothic" panose="020B0502020202020204" pitchFamily="34" charset="0"/>
              </a:rPr>
              <a:t>	public void </a:t>
            </a:r>
            <a:r>
              <a:rPr lang="en-US" dirty="0" err="1">
                <a:latin typeface="Century Gothic" panose="020B0502020202020204" pitchFamily="34" charset="0"/>
              </a:rPr>
              <a:t>addLast</a:t>
            </a:r>
            <a:r>
              <a:rPr lang="en-US" dirty="0">
                <a:latin typeface="Century Gothic" panose="020B0502020202020204" pitchFamily="34" charset="0"/>
              </a:rPr>
              <a:t>(E e); </a:t>
            </a:r>
          </a:p>
          <a:p>
            <a:pPr marL="0" indent="0">
              <a:buNone/>
            </a:pPr>
            <a:r>
              <a:rPr lang="en-US" dirty="0">
                <a:latin typeface="Century Gothic" panose="020B0502020202020204" pitchFamily="34" charset="0"/>
              </a:rPr>
              <a:t>	public void </a:t>
            </a:r>
            <a:r>
              <a:rPr lang="en-US" dirty="0" err="1">
                <a:latin typeface="Century Gothic" panose="020B0502020202020204" pitchFamily="34" charset="0"/>
              </a:rPr>
              <a:t>addAfter</a:t>
            </a:r>
            <a:r>
              <a:rPr lang="en-US" dirty="0">
                <a:latin typeface="Century Gothic" panose="020B0502020202020204" pitchFamily="34" charset="0"/>
              </a:rPr>
              <a:t>(Position&lt;E&gt; p, E e) throws </a:t>
            </a:r>
            <a:r>
              <a:rPr lang="en-US" dirty="0" err="1">
                <a:latin typeface="Century Gothic" panose="020B0502020202020204" pitchFamily="34" charset="0"/>
              </a:rPr>
              <a:t>InvalidPositionException</a:t>
            </a:r>
            <a:r>
              <a:rPr lang="en-US" dirty="0">
                <a:latin typeface="Century Gothic" panose="020B0502020202020204" pitchFamily="34" charset="0"/>
              </a:rPr>
              <a:t>; 	</a:t>
            </a:r>
          </a:p>
          <a:p>
            <a:pPr marL="0" indent="0">
              <a:buNone/>
            </a:pPr>
            <a:r>
              <a:rPr lang="en-US" dirty="0">
                <a:latin typeface="Century Gothic" panose="020B0502020202020204" pitchFamily="34" charset="0"/>
              </a:rPr>
              <a:t>	public void </a:t>
            </a:r>
            <a:r>
              <a:rPr lang="en-US" dirty="0" err="1">
                <a:latin typeface="Century Gothic" panose="020B0502020202020204" pitchFamily="34" charset="0"/>
              </a:rPr>
              <a:t>addBefore</a:t>
            </a:r>
            <a:r>
              <a:rPr lang="en-US" dirty="0">
                <a:latin typeface="Century Gothic" panose="020B0502020202020204" pitchFamily="34" charset="0"/>
              </a:rPr>
              <a:t>(Position&lt;E&gt; p, E e) throws </a:t>
            </a:r>
            <a:r>
              <a:rPr lang="en-US" dirty="0" err="1">
                <a:latin typeface="Century Gothic" panose="020B0502020202020204" pitchFamily="34" charset="0"/>
              </a:rPr>
              <a:t>InvalidPositionException</a:t>
            </a:r>
            <a:r>
              <a:rPr lang="en-US" dirty="0">
                <a:latin typeface="Century Gothic" panose="020B0502020202020204" pitchFamily="34" charset="0"/>
              </a:rPr>
              <a:t>; 	</a:t>
            </a:r>
          </a:p>
          <a:p>
            <a:pPr marL="0" indent="0">
              <a:buNone/>
            </a:pPr>
            <a:r>
              <a:rPr lang="en-US" dirty="0">
                <a:latin typeface="Century Gothic" panose="020B0502020202020204" pitchFamily="34" charset="0"/>
              </a:rPr>
              <a:t>	public E remove(Position&lt;E&gt; p) throws </a:t>
            </a:r>
            <a:r>
              <a:rPr lang="en-US" dirty="0" err="1">
                <a:latin typeface="Century Gothic" panose="020B0502020202020204" pitchFamily="34" charset="0"/>
              </a:rPr>
              <a:t>InvalidPositionException</a:t>
            </a:r>
            <a:r>
              <a:rPr lang="en-US" dirty="0">
                <a:latin typeface="Century Gothic" panose="020B0502020202020204" pitchFamily="34" charset="0"/>
              </a:rPr>
              <a:t>; </a:t>
            </a:r>
          </a:p>
          <a:p>
            <a:pPr marL="0" indent="0">
              <a:buNone/>
            </a:pPr>
            <a:r>
              <a:rPr lang="en-US" dirty="0">
                <a:latin typeface="Century Gothic" panose="020B0502020202020204" pitchFamily="34" charset="0"/>
              </a:rPr>
              <a:t>	public E set(Position&lt;E&gt; p, E e) throws </a:t>
            </a:r>
            <a:r>
              <a:rPr lang="en-US" dirty="0" err="1">
                <a:latin typeface="Century Gothic" panose="020B0502020202020204" pitchFamily="34" charset="0"/>
              </a:rPr>
              <a:t>InvalidPositionException</a:t>
            </a:r>
            <a:r>
              <a:rPr lang="en-US" dirty="0">
                <a:latin typeface="Century Gothic" panose="020B0502020202020204" pitchFamily="34" charset="0"/>
              </a:rPr>
              <a:t>; </a:t>
            </a:r>
          </a:p>
          <a:p>
            <a:pPr marL="0" indent="0">
              <a:buNone/>
            </a:pPr>
            <a:r>
              <a:rPr lang="en-US" dirty="0">
                <a:latin typeface="Century Gothic" panose="020B0502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222243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</a:t>
            </a:r>
            <a:r>
              <a:rPr lang="en-US" dirty="0" err="1"/>
              <a:t>DNode</a:t>
            </a:r>
            <a:r>
              <a:rPr lang="en-US" dirty="0"/>
              <a:t> implements 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9601200" cy="47244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public class </a:t>
            </a:r>
            <a:r>
              <a:rPr lang="en-US" sz="2000" dirty="0" err="1">
                <a:latin typeface="Century Gothic" panose="020B0502020202020204" pitchFamily="34" charset="0"/>
              </a:rPr>
              <a:t>DNode</a:t>
            </a:r>
            <a:r>
              <a:rPr lang="en-US" sz="2000" dirty="0">
                <a:latin typeface="Century Gothic" panose="020B0502020202020204" pitchFamily="34" charset="0"/>
              </a:rPr>
              <a:t>&lt;E&gt; implements Position&lt;E&gt; {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    private </a:t>
            </a:r>
            <a:r>
              <a:rPr lang="en-US" sz="2000" dirty="0" err="1">
                <a:latin typeface="Century Gothic" panose="020B0502020202020204" pitchFamily="34" charset="0"/>
              </a:rPr>
              <a:t>DNode</a:t>
            </a:r>
            <a:r>
              <a:rPr lang="en-US" sz="2000" dirty="0">
                <a:latin typeface="Century Gothic" panose="020B0502020202020204" pitchFamily="34" charset="0"/>
              </a:rPr>
              <a:t>&lt;E&gt; </a:t>
            </a:r>
            <a:r>
              <a:rPr lang="en-US" sz="2000" dirty="0" err="1">
                <a:latin typeface="Century Gothic" panose="020B0502020202020204" pitchFamily="34" charset="0"/>
              </a:rPr>
              <a:t>prev</a:t>
            </a:r>
            <a:r>
              <a:rPr lang="en-US" sz="2000" dirty="0">
                <a:latin typeface="Century Gothic" panose="020B0502020202020204" pitchFamily="34" charset="0"/>
              </a:rPr>
              <a:t>, next; 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    public </a:t>
            </a:r>
            <a:r>
              <a:rPr lang="en-US" sz="2000" dirty="0" err="1">
                <a:latin typeface="Century Gothic" panose="020B0502020202020204" pitchFamily="34" charset="0"/>
              </a:rPr>
              <a:t>DNode</a:t>
            </a:r>
            <a:r>
              <a:rPr lang="en-US" sz="2000" dirty="0">
                <a:latin typeface="Century Gothic" panose="020B0502020202020204" pitchFamily="34" charset="0"/>
              </a:rPr>
              <a:t>(</a:t>
            </a:r>
            <a:r>
              <a:rPr lang="en-US" sz="2000" dirty="0" err="1">
                <a:latin typeface="Century Gothic" panose="020B0502020202020204" pitchFamily="34" charset="0"/>
              </a:rPr>
              <a:t>DNode</a:t>
            </a:r>
            <a:r>
              <a:rPr lang="en-US" sz="2000" dirty="0">
                <a:latin typeface="Century Gothic" panose="020B0502020202020204" pitchFamily="34" charset="0"/>
              </a:rPr>
              <a:t>&lt;E&gt; </a:t>
            </a:r>
            <a:r>
              <a:rPr lang="en-US" sz="2000" dirty="0" err="1">
                <a:latin typeface="Century Gothic" panose="020B0502020202020204" pitchFamily="34" charset="0"/>
              </a:rPr>
              <a:t>newPrev</a:t>
            </a:r>
            <a:r>
              <a:rPr lang="en-US" sz="2000" dirty="0">
                <a:latin typeface="Century Gothic" panose="020B0502020202020204" pitchFamily="34" charset="0"/>
              </a:rPr>
              <a:t>, </a:t>
            </a:r>
            <a:r>
              <a:rPr lang="en-US" sz="2000" dirty="0" err="1">
                <a:latin typeface="Century Gothic" panose="020B0502020202020204" pitchFamily="34" charset="0"/>
              </a:rPr>
              <a:t>DNode</a:t>
            </a:r>
            <a:r>
              <a:rPr lang="en-US" sz="2000" dirty="0">
                <a:latin typeface="Century Gothic" panose="020B0502020202020204" pitchFamily="34" charset="0"/>
              </a:rPr>
              <a:t>&lt;E&gt; </a:t>
            </a:r>
            <a:r>
              <a:rPr lang="en-US" sz="2000" dirty="0" err="1">
                <a:latin typeface="Century Gothic" panose="020B0502020202020204" pitchFamily="34" charset="0"/>
              </a:rPr>
              <a:t>newNext</a:t>
            </a:r>
            <a:r>
              <a:rPr lang="en-US" sz="2000" dirty="0">
                <a:latin typeface="Century Gothic" panose="020B0502020202020204" pitchFamily="34" charset="0"/>
              </a:rPr>
              <a:t>, E </a:t>
            </a:r>
            <a:r>
              <a:rPr lang="en-US" sz="2000" dirty="0" err="1">
                <a:latin typeface="Century Gothic" panose="020B0502020202020204" pitchFamily="34" charset="0"/>
              </a:rPr>
              <a:t>elem</a:t>
            </a:r>
            <a:r>
              <a:rPr lang="en-US" sz="2000" dirty="0">
                <a:latin typeface="Century Gothic" panose="020B0502020202020204" pitchFamily="34" charset="0"/>
              </a:rPr>
              <a:t>) { 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        </a:t>
            </a:r>
            <a:r>
              <a:rPr lang="en-US" sz="2000" dirty="0" err="1">
                <a:latin typeface="Century Gothic" panose="020B0502020202020204" pitchFamily="34" charset="0"/>
              </a:rPr>
              <a:t>prev</a:t>
            </a:r>
            <a:r>
              <a:rPr lang="en-US" sz="2000" dirty="0">
                <a:latin typeface="Century Gothic" panose="020B0502020202020204" pitchFamily="34" charset="0"/>
              </a:rPr>
              <a:t> = </a:t>
            </a:r>
            <a:r>
              <a:rPr lang="en-US" sz="2000" dirty="0" err="1">
                <a:latin typeface="Century Gothic" panose="020B0502020202020204" pitchFamily="34" charset="0"/>
              </a:rPr>
              <a:t>newPrev</a:t>
            </a:r>
            <a:r>
              <a:rPr lang="en-US" sz="2000" dirty="0">
                <a:latin typeface="Century Gothic" panose="020B0502020202020204" pitchFamily="34" charset="0"/>
              </a:rPr>
              <a:t>; next = </a:t>
            </a:r>
            <a:r>
              <a:rPr lang="en-US" sz="2000" dirty="0" err="1">
                <a:latin typeface="Century Gothic" panose="020B0502020202020204" pitchFamily="34" charset="0"/>
              </a:rPr>
              <a:t>newNext</a:t>
            </a:r>
            <a:r>
              <a:rPr lang="en-US" sz="2000" dirty="0">
                <a:latin typeface="Century Gothic" panose="020B0502020202020204" pitchFamily="34" charset="0"/>
              </a:rPr>
              <a:t>; element = </a:t>
            </a:r>
            <a:r>
              <a:rPr lang="en-US" sz="2000" dirty="0" err="1">
                <a:latin typeface="Century Gothic" panose="020B0502020202020204" pitchFamily="34" charset="0"/>
              </a:rPr>
              <a:t>elem</a:t>
            </a:r>
            <a:r>
              <a:rPr lang="en-US" sz="2000" dirty="0">
                <a:latin typeface="Century Gothic" panose="020B0502020202020204" pitchFamily="34" charset="0"/>
              </a:rPr>
              <a:t>; 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    } 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    public E element() throws </a:t>
            </a:r>
            <a:r>
              <a:rPr lang="en-US" sz="2000" dirty="0" err="1">
                <a:latin typeface="Century Gothic" panose="020B0502020202020204" pitchFamily="34" charset="0"/>
              </a:rPr>
              <a:t>InvalidPositionException</a:t>
            </a:r>
            <a:r>
              <a:rPr lang="en-US" sz="2000" dirty="0">
                <a:latin typeface="Century Gothic" panose="020B0502020202020204" pitchFamily="34" charset="0"/>
              </a:rPr>
              <a:t> { 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        if ((</a:t>
            </a:r>
            <a:r>
              <a:rPr lang="en-US" sz="2000" dirty="0" err="1">
                <a:latin typeface="Century Gothic" panose="020B0502020202020204" pitchFamily="34" charset="0"/>
              </a:rPr>
              <a:t>prev</a:t>
            </a:r>
            <a:r>
              <a:rPr lang="en-US" sz="2000" dirty="0">
                <a:latin typeface="Century Gothic" panose="020B0502020202020204" pitchFamily="34" charset="0"/>
              </a:rPr>
              <a:t> == null) &amp;&amp; (next == null)) 	 	 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             throw new </a:t>
            </a:r>
            <a:r>
              <a:rPr lang="en-US" sz="2000" dirty="0" err="1">
                <a:latin typeface="Century Gothic" panose="020B0502020202020204" pitchFamily="34" charset="0"/>
              </a:rPr>
              <a:t>InvalidPositionException</a:t>
            </a:r>
            <a:r>
              <a:rPr lang="en-US" sz="2000" dirty="0">
                <a:latin typeface="Century Gothic" panose="020B0502020202020204" pitchFamily="34" charset="0"/>
              </a:rPr>
              <a:t>("Position is not in a list!"); 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        return element; 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    } 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    public </a:t>
            </a:r>
            <a:r>
              <a:rPr lang="en-US" sz="2000" dirty="0" err="1">
                <a:latin typeface="Century Gothic" panose="020B0502020202020204" pitchFamily="34" charset="0"/>
              </a:rPr>
              <a:t>DNode</a:t>
            </a:r>
            <a:r>
              <a:rPr lang="en-US" sz="2000" dirty="0">
                <a:latin typeface="Century Gothic" panose="020B0502020202020204" pitchFamily="34" charset="0"/>
              </a:rPr>
              <a:t>&lt;E&gt; </a:t>
            </a:r>
            <a:r>
              <a:rPr lang="en-US" sz="2000" dirty="0" err="1">
                <a:latin typeface="Century Gothic" panose="020B0502020202020204" pitchFamily="34" charset="0"/>
              </a:rPr>
              <a:t>getNext</a:t>
            </a:r>
            <a:r>
              <a:rPr lang="en-US" sz="2000" dirty="0">
                <a:latin typeface="Century Gothic" panose="020B0502020202020204" pitchFamily="34" charset="0"/>
              </a:rPr>
              <a:t>() { return next; } 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    public </a:t>
            </a:r>
            <a:r>
              <a:rPr lang="en-US" sz="2000" dirty="0" err="1">
                <a:latin typeface="Century Gothic" panose="020B0502020202020204" pitchFamily="34" charset="0"/>
              </a:rPr>
              <a:t>DNode</a:t>
            </a:r>
            <a:r>
              <a:rPr lang="en-US" sz="2000" dirty="0">
                <a:latin typeface="Century Gothic" panose="020B0502020202020204" pitchFamily="34" charset="0"/>
              </a:rPr>
              <a:t>&lt;E&gt; </a:t>
            </a:r>
            <a:r>
              <a:rPr lang="en-US" sz="2000" dirty="0" err="1">
                <a:latin typeface="Century Gothic" panose="020B0502020202020204" pitchFamily="34" charset="0"/>
              </a:rPr>
              <a:t>getPrev</a:t>
            </a:r>
            <a:r>
              <a:rPr lang="en-US" sz="2000" dirty="0">
                <a:latin typeface="Century Gothic" panose="020B0502020202020204" pitchFamily="34" charset="0"/>
              </a:rPr>
              <a:t>() { return </a:t>
            </a:r>
            <a:r>
              <a:rPr lang="en-US" sz="2000" dirty="0" err="1">
                <a:latin typeface="Century Gothic" panose="020B0502020202020204" pitchFamily="34" charset="0"/>
              </a:rPr>
              <a:t>prev</a:t>
            </a:r>
            <a:r>
              <a:rPr lang="en-US" sz="2000" dirty="0">
                <a:latin typeface="Century Gothic" panose="020B0502020202020204" pitchFamily="34" charset="0"/>
              </a:rPr>
              <a:t>; } 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    public void </a:t>
            </a:r>
            <a:r>
              <a:rPr lang="en-US" sz="2000" dirty="0" err="1">
                <a:latin typeface="Century Gothic" panose="020B0502020202020204" pitchFamily="34" charset="0"/>
              </a:rPr>
              <a:t>setNext</a:t>
            </a:r>
            <a:r>
              <a:rPr lang="en-US" sz="2000" dirty="0">
                <a:latin typeface="Century Gothic" panose="020B0502020202020204" pitchFamily="34" charset="0"/>
              </a:rPr>
              <a:t>(</a:t>
            </a:r>
            <a:r>
              <a:rPr lang="en-US" sz="2000" dirty="0" err="1">
                <a:latin typeface="Century Gothic" panose="020B0502020202020204" pitchFamily="34" charset="0"/>
              </a:rPr>
              <a:t>DNode</a:t>
            </a:r>
            <a:r>
              <a:rPr lang="en-US" sz="2000" dirty="0">
                <a:latin typeface="Century Gothic" panose="020B0502020202020204" pitchFamily="34" charset="0"/>
              </a:rPr>
              <a:t>&lt;E&gt; </a:t>
            </a:r>
            <a:r>
              <a:rPr lang="en-US" sz="2000" dirty="0" err="1">
                <a:latin typeface="Century Gothic" panose="020B0502020202020204" pitchFamily="34" charset="0"/>
              </a:rPr>
              <a:t>newNext</a:t>
            </a:r>
            <a:r>
              <a:rPr lang="en-US" sz="2000" dirty="0">
                <a:latin typeface="Century Gothic" panose="020B0502020202020204" pitchFamily="34" charset="0"/>
              </a:rPr>
              <a:t>) { next = </a:t>
            </a:r>
            <a:r>
              <a:rPr lang="en-US" sz="2000" dirty="0" err="1">
                <a:latin typeface="Century Gothic" panose="020B0502020202020204" pitchFamily="34" charset="0"/>
              </a:rPr>
              <a:t>newNext</a:t>
            </a:r>
            <a:r>
              <a:rPr lang="en-US" sz="2000" dirty="0">
                <a:latin typeface="Century Gothic" panose="020B0502020202020204" pitchFamily="34" charset="0"/>
              </a:rPr>
              <a:t>; } 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    public void </a:t>
            </a:r>
            <a:r>
              <a:rPr lang="en-US" sz="2000" dirty="0" err="1">
                <a:latin typeface="Century Gothic" panose="020B0502020202020204" pitchFamily="34" charset="0"/>
              </a:rPr>
              <a:t>setPrev</a:t>
            </a:r>
            <a:r>
              <a:rPr lang="en-US" sz="2000" dirty="0">
                <a:latin typeface="Century Gothic" panose="020B0502020202020204" pitchFamily="34" charset="0"/>
              </a:rPr>
              <a:t>(</a:t>
            </a:r>
            <a:r>
              <a:rPr lang="en-US" sz="2000" dirty="0" err="1">
                <a:latin typeface="Century Gothic" panose="020B0502020202020204" pitchFamily="34" charset="0"/>
              </a:rPr>
              <a:t>DNode</a:t>
            </a:r>
            <a:r>
              <a:rPr lang="en-US" sz="2000" dirty="0">
                <a:latin typeface="Century Gothic" panose="020B0502020202020204" pitchFamily="34" charset="0"/>
              </a:rPr>
              <a:t>&lt;E&gt; </a:t>
            </a:r>
            <a:r>
              <a:rPr lang="en-US" sz="2000" dirty="0" err="1">
                <a:latin typeface="Century Gothic" panose="020B0502020202020204" pitchFamily="34" charset="0"/>
              </a:rPr>
              <a:t>newPrev</a:t>
            </a:r>
            <a:r>
              <a:rPr lang="en-US" sz="2000" dirty="0">
                <a:latin typeface="Century Gothic" panose="020B0502020202020204" pitchFamily="34" charset="0"/>
              </a:rPr>
              <a:t>) { </a:t>
            </a:r>
            <a:r>
              <a:rPr lang="en-US" sz="2000" dirty="0" err="1">
                <a:latin typeface="Century Gothic" panose="020B0502020202020204" pitchFamily="34" charset="0"/>
              </a:rPr>
              <a:t>prev</a:t>
            </a:r>
            <a:r>
              <a:rPr lang="en-US" sz="2000" dirty="0">
                <a:latin typeface="Century Gothic" panose="020B0502020202020204" pitchFamily="34" charset="0"/>
              </a:rPr>
              <a:t> = </a:t>
            </a:r>
            <a:r>
              <a:rPr lang="en-US" sz="2000" dirty="0" err="1">
                <a:latin typeface="Century Gothic" panose="020B0502020202020204" pitchFamily="34" charset="0"/>
              </a:rPr>
              <a:t>newPrev</a:t>
            </a:r>
            <a:r>
              <a:rPr lang="en-US" sz="2000" dirty="0">
                <a:latin typeface="Century Gothic" panose="020B0502020202020204" pitchFamily="34" charset="0"/>
              </a:rPr>
              <a:t>; } 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    public void </a:t>
            </a:r>
            <a:r>
              <a:rPr lang="en-US" sz="2000" dirty="0" err="1">
                <a:latin typeface="Century Gothic" panose="020B0502020202020204" pitchFamily="34" charset="0"/>
              </a:rPr>
              <a:t>setElement</a:t>
            </a:r>
            <a:r>
              <a:rPr lang="en-US" sz="2000" dirty="0">
                <a:latin typeface="Century Gothic" panose="020B0502020202020204" pitchFamily="34" charset="0"/>
              </a:rPr>
              <a:t>(E </a:t>
            </a:r>
            <a:r>
              <a:rPr lang="en-US" sz="2000" dirty="0" err="1">
                <a:latin typeface="Century Gothic" panose="020B0502020202020204" pitchFamily="34" charset="0"/>
              </a:rPr>
              <a:t>newElement</a:t>
            </a:r>
            <a:r>
              <a:rPr lang="en-US" sz="2000" dirty="0">
                <a:latin typeface="Century Gothic" panose="020B0502020202020204" pitchFamily="34" charset="0"/>
              </a:rPr>
              <a:t>) { element = </a:t>
            </a:r>
            <a:r>
              <a:rPr lang="en-US" sz="2000" dirty="0" err="1">
                <a:latin typeface="Century Gothic" panose="020B0502020202020204" pitchFamily="34" charset="0"/>
              </a:rPr>
              <a:t>newElement</a:t>
            </a:r>
            <a:r>
              <a:rPr lang="en-US" sz="2000" dirty="0">
                <a:latin typeface="Century Gothic" panose="020B0502020202020204" pitchFamily="34" charset="0"/>
              </a:rPr>
              <a:t>; } 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5797746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 </a:t>
            </a:r>
            <a:r>
              <a:rPr lang="en-US" dirty="0" err="1"/>
              <a:t>NodePositionList</a:t>
            </a:r>
            <a:r>
              <a:rPr lang="en-US" dirty="0"/>
              <a:t> implements </a:t>
            </a:r>
            <a:r>
              <a:rPr lang="en-US" dirty="0" err="1"/>
              <a:t>PositionList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24000"/>
            <a:ext cx="10210800" cy="4876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public class </a:t>
            </a:r>
            <a:r>
              <a:rPr lang="en-US" sz="2000" dirty="0" err="1">
                <a:latin typeface="Century Gothic" panose="020B0502020202020204" pitchFamily="34" charset="0"/>
              </a:rPr>
              <a:t>NodePositionList</a:t>
            </a:r>
            <a:r>
              <a:rPr lang="en-US" sz="2000" dirty="0">
                <a:latin typeface="Century Gothic" panose="020B0502020202020204" pitchFamily="34" charset="0"/>
              </a:rPr>
              <a:t>&lt;E&gt; implements </a:t>
            </a:r>
            <a:r>
              <a:rPr lang="en-US" sz="2000" dirty="0" err="1">
                <a:latin typeface="Century Gothic" panose="020B0502020202020204" pitchFamily="34" charset="0"/>
              </a:rPr>
              <a:t>PositionList</a:t>
            </a:r>
            <a:r>
              <a:rPr lang="en-US" sz="2000" dirty="0">
                <a:latin typeface="Century Gothic" panose="020B0502020202020204" pitchFamily="34" charset="0"/>
              </a:rPr>
              <a:t>&lt;E&gt; {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	protected </a:t>
            </a:r>
            <a:r>
              <a:rPr lang="en-US" sz="2000" dirty="0" err="1">
                <a:latin typeface="Century Gothic" panose="020B0502020202020204" pitchFamily="34" charset="0"/>
              </a:rPr>
              <a:t>int</a:t>
            </a:r>
            <a:r>
              <a:rPr lang="en-US" sz="2000" dirty="0">
                <a:latin typeface="Century Gothic" panose="020B0502020202020204" pitchFamily="34" charset="0"/>
              </a:rPr>
              <a:t> </a:t>
            </a:r>
            <a:r>
              <a:rPr lang="en-US" sz="2000" dirty="0" err="1">
                <a:latin typeface="Century Gothic" panose="020B0502020202020204" pitchFamily="34" charset="0"/>
              </a:rPr>
              <a:t>numElts</a:t>
            </a:r>
            <a:r>
              <a:rPr lang="en-US" sz="2000" dirty="0">
                <a:latin typeface="Century Gothic" panose="020B0502020202020204" pitchFamily="34" charset="0"/>
              </a:rPr>
              <a:t>; 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	</a:t>
            </a:r>
            <a:r>
              <a:rPr lang="en-US" sz="2000" dirty="0" err="1">
                <a:latin typeface="Century Gothic" panose="020B0502020202020204" pitchFamily="34" charset="0"/>
              </a:rPr>
              <a:t>DNode</a:t>
            </a:r>
            <a:r>
              <a:rPr lang="en-US" sz="2000" dirty="0">
                <a:latin typeface="Century Gothic" panose="020B0502020202020204" pitchFamily="34" charset="0"/>
              </a:rPr>
              <a:t>&lt;E&gt; header, trailer; </a:t>
            </a:r>
          </a:p>
          <a:p>
            <a:pPr marL="0" indent="0">
              <a:buNone/>
            </a:pPr>
            <a:endParaRPr lang="en-US" sz="20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	public </a:t>
            </a:r>
            <a:r>
              <a:rPr lang="en-US" sz="2000" dirty="0" err="1">
                <a:latin typeface="Century Gothic" panose="020B0502020202020204" pitchFamily="34" charset="0"/>
              </a:rPr>
              <a:t>NodePositionList</a:t>
            </a:r>
            <a:r>
              <a:rPr lang="en-US" sz="2000" dirty="0">
                <a:latin typeface="Century Gothic" panose="020B0502020202020204" pitchFamily="34" charset="0"/>
              </a:rPr>
              <a:t>() { 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		</a:t>
            </a:r>
            <a:r>
              <a:rPr lang="en-US" sz="2000" dirty="0" err="1">
                <a:latin typeface="Century Gothic" panose="020B0502020202020204" pitchFamily="34" charset="0"/>
              </a:rPr>
              <a:t>numElts</a:t>
            </a:r>
            <a:r>
              <a:rPr lang="en-US" sz="2000" dirty="0">
                <a:latin typeface="Century Gothic" panose="020B0502020202020204" pitchFamily="34" charset="0"/>
              </a:rPr>
              <a:t> = 0; 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		header = new </a:t>
            </a:r>
            <a:r>
              <a:rPr lang="en-US" sz="2000" dirty="0" err="1">
                <a:latin typeface="Century Gothic" panose="020B0502020202020204" pitchFamily="34" charset="0"/>
              </a:rPr>
              <a:t>DNode</a:t>
            </a:r>
            <a:r>
              <a:rPr lang="en-US" sz="2000" dirty="0">
                <a:latin typeface="Century Gothic" panose="020B0502020202020204" pitchFamily="34" charset="0"/>
              </a:rPr>
              <a:t>&lt;E&gt;(null, null, null); 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		trailer = new </a:t>
            </a:r>
            <a:r>
              <a:rPr lang="en-US" sz="2000" dirty="0" err="1">
                <a:latin typeface="Century Gothic" panose="020B0502020202020204" pitchFamily="34" charset="0"/>
              </a:rPr>
              <a:t>DNode</a:t>
            </a:r>
            <a:r>
              <a:rPr lang="en-US" sz="2000" dirty="0">
                <a:latin typeface="Century Gothic" panose="020B0502020202020204" pitchFamily="34" charset="0"/>
              </a:rPr>
              <a:t>&lt;E&gt;(header, null, null); 					</a:t>
            </a:r>
            <a:r>
              <a:rPr lang="en-US" sz="2000" dirty="0" err="1">
                <a:latin typeface="Century Gothic" panose="020B0502020202020204" pitchFamily="34" charset="0"/>
              </a:rPr>
              <a:t>header.setNext</a:t>
            </a:r>
            <a:r>
              <a:rPr lang="en-US" sz="2000" dirty="0">
                <a:latin typeface="Century Gothic" panose="020B0502020202020204" pitchFamily="34" charset="0"/>
              </a:rPr>
              <a:t>(trailer);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35214059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020762"/>
          </a:xfrm>
        </p:spPr>
        <p:txBody>
          <a:bodyPr/>
          <a:lstStyle/>
          <a:p>
            <a:r>
              <a:rPr lang="en-US" dirty="0"/>
              <a:t>Class </a:t>
            </a:r>
            <a:r>
              <a:rPr lang="en-US" dirty="0" err="1"/>
              <a:t>NodePositionList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04460"/>
            <a:ext cx="10744200" cy="5181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</a:rPr>
              <a:t>protected </a:t>
            </a:r>
            <a:r>
              <a:rPr lang="en-US" sz="1800" dirty="0" err="1">
                <a:latin typeface="Century Gothic" panose="020B0502020202020204" pitchFamily="34" charset="0"/>
              </a:rPr>
              <a:t>DNode</a:t>
            </a:r>
            <a:r>
              <a:rPr lang="en-US" sz="1800" dirty="0">
                <a:latin typeface="Century Gothic" panose="020B0502020202020204" pitchFamily="34" charset="0"/>
              </a:rPr>
              <a:t>&lt;E&gt; </a:t>
            </a:r>
            <a:r>
              <a:rPr lang="en-US" sz="1800" dirty="0" err="1">
                <a:latin typeface="Century Gothic" panose="020B0502020202020204" pitchFamily="34" charset="0"/>
              </a:rPr>
              <a:t>checkPosition</a:t>
            </a:r>
            <a:r>
              <a:rPr lang="en-US" sz="1800" dirty="0">
                <a:latin typeface="Century Gothic" panose="020B0502020202020204" pitchFamily="34" charset="0"/>
              </a:rPr>
              <a:t>(Position&lt;E&gt; p) throws </a:t>
            </a:r>
            <a:r>
              <a:rPr lang="en-US" sz="1800" dirty="0" err="1">
                <a:latin typeface="Century Gothic" panose="020B0502020202020204" pitchFamily="34" charset="0"/>
              </a:rPr>
              <a:t>InvalidPositionException</a:t>
            </a:r>
            <a:r>
              <a:rPr lang="en-US" sz="1800" dirty="0">
                <a:latin typeface="Century Gothic" panose="020B0502020202020204" pitchFamily="34" charset="0"/>
              </a:rPr>
              <a:t> {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</a:rPr>
              <a:t>   	if (p == null) throw new  </a:t>
            </a:r>
            <a:r>
              <a:rPr lang="en-US" sz="1800" dirty="0" err="1">
                <a:latin typeface="Century Gothic" panose="020B0502020202020204" pitchFamily="34" charset="0"/>
              </a:rPr>
              <a:t>InvalidPositionException</a:t>
            </a:r>
            <a:r>
              <a:rPr lang="en-US" sz="1800" dirty="0">
                <a:latin typeface="Century Gothic" panose="020B0502020202020204" pitchFamily="34" charset="0"/>
              </a:rPr>
              <a:t> ("Null position passed to </a:t>
            </a:r>
            <a:r>
              <a:rPr lang="en-US" sz="1800" dirty="0" err="1">
                <a:latin typeface="Century Gothic" panose="020B0502020202020204" pitchFamily="34" charset="0"/>
              </a:rPr>
              <a:t>NodeList</a:t>
            </a:r>
            <a:r>
              <a:rPr lang="en-US" sz="1800" dirty="0">
                <a:latin typeface="Century Gothic" panose="020B0502020202020204" pitchFamily="34" charset="0"/>
              </a:rPr>
              <a:t>");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</a:rPr>
              <a:t>   	if (p == header)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</a:rPr>
              <a:t>		throw new </a:t>
            </a:r>
            <a:r>
              <a:rPr lang="en-US" sz="1800" dirty="0" err="1">
                <a:latin typeface="Century Gothic" panose="020B0502020202020204" pitchFamily="34" charset="0"/>
              </a:rPr>
              <a:t>InvalidPositionException</a:t>
            </a:r>
            <a:r>
              <a:rPr lang="en-US" sz="1800" dirty="0">
                <a:latin typeface="Century Gothic" panose="020B0502020202020204" pitchFamily="34" charset="0"/>
              </a:rPr>
              <a:t> ("The header node is not a valid position");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</a:rPr>
              <a:t>    	if (p == trailer)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</a:rPr>
              <a:t>		throw new </a:t>
            </a:r>
            <a:r>
              <a:rPr lang="en-US" sz="1800" dirty="0" err="1">
                <a:latin typeface="Century Gothic" panose="020B0502020202020204" pitchFamily="34" charset="0"/>
              </a:rPr>
              <a:t>InvalidPositionException</a:t>
            </a:r>
            <a:r>
              <a:rPr lang="en-US" sz="1800" dirty="0">
                <a:latin typeface="Century Gothic" panose="020B0502020202020204" pitchFamily="34" charset="0"/>
              </a:rPr>
              <a:t> ("The trailer node is not a valid position");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</a:rPr>
              <a:t>   	try {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</a:rPr>
              <a:t>        		</a:t>
            </a:r>
            <a:r>
              <a:rPr lang="en-US" sz="1800" dirty="0" err="1">
                <a:latin typeface="Century Gothic" panose="020B0502020202020204" pitchFamily="34" charset="0"/>
              </a:rPr>
              <a:t>DNode</a:t>
            </a:r>
            <a:r>
              <a:rPr lang="en-US" sz="1800" dirty="0">
                <a:latin typeface="Century Gothic" panose="020B0502020202020204" pitchFamily="34" charset="0"/>
              </a:rPr>
              <a:t>&lt;E&gt; temp = (</a:t>
            </a:r>
            <a:r>
              <a:rPr lang="en-US" sz="1800" dirty="0" err="1">
                <a:latin typeface="Century Gothic" panose="020B0502020202020204" pitchFamily="34" charset="0"/>
              </a:rPr>
              <a:t>DNode</a:t>
            </a:r>
            <a:r>
              <a:rPr lang="en-US" sz="1800" dirty="0">
                <a:latin typeface="Century Gothic" panose="020B0502020202020204" pitchFamily="34" charset="0"/>
              </a:rPr>
              <a:t>&lt;E&gt;) p;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</a:rPr>
              <a:t>      		if ((</a:t>
            </a:r>
            <a:r>
              <a:rPr lang="en-US" sz="1800" dirty="0" err="1">
                <a:latin typeface="Century Gothic" panose="020B0502020202020204" pitchFamily="34" charset="0"/>
              </a:rPr>
              <a:t>temp.getPrev</a:t>
            </a:r>
            <a:r>
              <a:rPr lang="en-US" sz="1800" dirty="0">
                <a:latin typeface="Century Gothic" panose="020B0502020202020204" pitchFamily="34" charset="0"/>
              </a:rPr>
              <a:t>() == null) || (</a:t>
            </a:r>
            <a:r>
              <a:rPr lang="en-US" sz="1800" dirty="0" err="1">
                <a:latin typeface="Century Gothic" panose="020B0502020202020204" pitchFamily="34" charset="0"/>
              </a:rPr>
              <a:t>temp.getNext</a:t>
            </a:r>
            <a:r>
              <a:rPr lang="en-US" sz="1800" dirty="0">
                <a:latin typeface="Century Gothic" panose="020B0502020202020204" pitchFamily="34" charset="0"/>
              </a:rPr>
              <a:t>() == null))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</a:rPr>
              <a:t>			throw new </a:t>
            </a:r>
            <a:r>
              <a:rPr lang="en-US" sz="1800" dirty="0" err="1">
                <a:latin typeface="Century Gothic" panose="020B0502020202020204" pitchFamily="34" charset="0"/>
              </a:rPr>
              <a:t>InvalidPositionException</a:t>
            </a:r>
            <a:r>
              <a:rPr lang="en-US" sz="1800" dirty="0">
                <a:latin typeface="Century Gothic" panose="020B0502020202020204" pitchFamily="34" charset="0"/>
              </a:rPr>
              <a:t> ("Position is invalid.");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</a:rPr>
              <a:t>      		return temp;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</a:rPr>
              <a:t>    	}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</a:rPr>
              <a:t>    	catch (</a:t>
            </a:r>
            <a:r>
              <a:rPr lang="en-US" sz="1800" dirty="0" err="1">
                <a:latin typeface="Century Gothic" panose="020B0502020202020204" pitchFamily="34" charset="0"/>
              </a:rPr>
              <a:t>ClassCastException</a:t>
            </a:r>
            <a:r>
              <a:rPr lang="en-US" sz="1800" dirty="0">
                <a:latin typeface="Century Gothic" panose="020B0502020202020204" pitchFamily="34" charset="0"/>
              </a:rPr>
              <a:t> e) {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</a:rPr>
              <a:t>        		throw new </a:t>
            </a:r>
            <a:r>
              <a:rPr lang="en-US" sz="1800" dirty="0" err="1">
                <a:latin typeface="Century Gothic" panose="020B0502020202020204" pitchFamily="34" charset="0"/>
              </a:rPr>
              <a:t>InvalidPositionException</a:t>
            </a:r>
            <a:r>
              <a:rPr lang="en-US" sz="1800" dirty="0">
                <a:latin typeface="Century Gothic" panose="020B0502020202020204" pitchFamily="34" charset="0"/>
              </a:rPr>
              <a:t> ("Position is of wrong type for this list");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</a:rPr>
              <a:t>    	} 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92619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5712</TotalTime>
  <Words>3027</Words>
  <Application>Microsoft Macintosh PowerPoint</Application>
  <PresentationFormat>Widescreen</PresentationFormat>
  <Paragraphs>369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Arial</vt:lpstr>
      <vt:lpstr>Calibri</vt:lpstr>
      <vt:lpstr>Century Gothic</vt:lpstr>
      <vt:lpstr>Symbol</vt:lpstr>
      <vt:lpstr>Tahoma</vt:lpstr>
      <vt:lpstr>Times New Roman</vt:lpstr>
      <vt:lpstr>Wingdings</vt:lpstr>
      <vt:lpstr>Office Theme</vt:lpstr>
      <vt:lpstr>CS-205/503 Data Structure and Algorithms  9. Array Lists and Node Lists</vt:lpstr>
      <vt:lpstr>The java.util.List ADT</vt:lpstr>
      <vt:lpstr>Example</vt:lpstr>
      <vt:lpstr>Array lists</vt:lpstr>
      <vt:lpstr>ADT of array lists</vt:lpstr>
      <vt:lpstr>Example</vt:lpstr>
      <vt:lpstr>Array Lists</vt:lpstr>
      <vt:lpstr>Insertion</vt:lpstr>
      <vt:lpstr>Element Removal</vt:lpstr>
      <vt:lpstr>Performance</vt:lpstr>
      <vt:lpstr>Java Implementation</vt:lpstr>
      <vt:lpstr>Java Implementation, 2</vt:lpstr>
      <vt:lpstr>Growable Array-based Array List</vt:lpstr>
      <vt:lpstr>Comparison of the Strategies</vt:lpstr>
      <vt:lpstr>Incremental Strategy Analysis </vt:lpstr>
      <vt:lpstr>Doubling Strategy Analysis</vt:lpstr>
      <vt:lpstr>Implementing an array list using extendable arrays</vt:lpstr>
      <vt:lpstr>Implementing an array list using extendable arrays</vt:lpstr>
      <vt:lpstr>Implementing an array list using extendable arrays</vt:lpstr>
      <vt:lpstr>Amortized analysis of extendable arrays</vt:lpstr>
      <vt:lpstr>Traverse Arraylist</vt:lpstr>
      <vt:lpstr>Iterator and Iterable</vt:lpstr>
      <vt:lpstr>Iterators</vt:lpstr>
      <vt:lpstr>The Iterable Interface</vt:lpstr>
      <vt:lpstr>The for-each Loop</vt:lpstr>
      <vt:lpstr>Node lists</vt:lpstr>
      <vt:lpstr>Node list ADT</vt:lpstr>
      <vt:lpstr>Example</vt:lpstr>
      <vt:lpstr>Interface Position</vt:lpstr>
      <vt:lpstr>Interface PositionList</vt:lpstr>
      <vt:lpstr>Class DNode implements Position</vt:lpstr>
      <vt:lpstr>Class NodePositionList implements PositionList</vt:lpstr>
      <vt:lpstr>Class NodePositionList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of Algorithms</dc:title>
  <dc:creator>Yao Xu</dc:creator>
  <cp:lastModifiedBy>Qu, Weihao</cp:lastModifiedBy>
  <cp:revision>145</cp:revision>
  <dcterms:created xsi:type="dcterms:W3CDTF">2006-08-16T00:00:00Z</dcterms:created>
  <dcterms:modified xsi:type="dcterms:W3CDTF">2025-01-18T19:35:36Z</dcterms:modified>
</cp:coreProperties>
</file>