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0" r:id="rId2"/>
    <p:sldId id="257" r:id="rId3"/>
    <p:sldId id="282" r:id="rId4"/>
    <p:sldId id="258" r:id="rId5"/>
    <p:sldId id="283" r:id="rId6"/>
    <p:sldId id="324" r:id="rId7"/>
    <p:sldId id="284" r:id="rId8"/>
    <p:sldId id="300" r:id="rId9"/>
    <p:sldId id="297" r:id="rId10"/>
    <p:sldId id="301" r:id="rId11"/>
    <p:sldId id="259" r:id="rId12"/>
    <p:sldId id="305" r:id="rId13"/>
    <p:sldId id="306" r:id="rId14"/>
    <p:sldId id="304" r:id="rId15"/>
    <p:sldId id="260" r:id="rId16"/>
    <p:sldId id="261" r:id="rId17"/>
    <p:sldId id="262" r:id="rId18"/>
    <p:sldId id="264" r:id="rId19"/>
    <p:sldId id="265" r:id="rId20"/>
    <p:sldId id="266" r:id="rId21"/>
    <p:sldId id="281" r:id="rId22"/>
    <p:sldId id="32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8"/>
  </p:normalViewPr>
  <p:slideViewPr>
    <p:cSldViewPr>
      <p:cViewPr varScale="1">
        <p:scale>
          <a:sx n="128" d="100"/>
          <a:sy n="128" d="100"/>
        </p:scale>
        <p:origin x="176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4A6AD-31BA-A642-840F-2ED74DF6899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2CCB2-779D-8D44-B8B9-C5C28141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98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2CCB2-779D-8D44-B8B9-C5C28141FA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53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DB84-C68D-3BFA-55B1-2870BFDC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58841C-4437-AF36-63F7-5280F53A0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8FB23-51B2-6155-5017-4B68567B2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05DE2-0BDE-098A-BD87-0F5BABF83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2CCB2-779D-8D44-B8B9-C5C28141FA0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A207-9751-BD47-83BB-D47E541C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983FB-CCA5-3C45-868E-4AE755394D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8722E-066A-AA41-831C-8A05F0DE1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08CEBB-2D30-AAAE-5972-B9FE5F743A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3BFFB-DBF1-B8E6-C427-EC9501D708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941F1-B0FA-7F8C-9CE0-178333ADCA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86C6B5-5633-9B43-945C-1E5309C1E5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4374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B90FFA-F5D6-8A45-8E45-B60A691ADFE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E87EAF6-2863-BC94-B48A-57FB32BFC4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7325766-CD81-D09E-CA6C-5C242777C9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217958-8429-5FA1-B78B-712B75A3BC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917DC2-6DA0-F342-8D54-74BD3A1A4E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7271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990601"/>
            <a:ext cx="7772400" cy="2609850"/>
          </a:xfrm>
        </p:spPr>
        <p:txBody>
          <a:bodyPr>
            <a:normAutofit fontScale="90000"/>
          </a:bodyPr>
          <a:lstStyle/>
          <a:p>
            <a:r>
              <a:rPr lang="en-US"/>
              <a:t>CS-205 </a:t>
            </a:r>
            <a:r>
              <a:rPr lang="en-US" dirty="0"/>
              <a:t>Data Structure and Algorithms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8. Queues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Weihao</a:t>
            </a:r>
            <a:r>
              <a:rPr lang="en-US" dirty="0"/>
              <a:t> Qu</a:t>
            </a:r>
          </a:p>
          <a:p>
            <a:r>
              <a:rPr lang="en-US" dirty="0"/>
              <a:t>Monmouth University</a:t>
            </a:r>
          </a:p>
        </p:txBody>
      </p:sp>
    </p:spTree>
    <p:extLst>
      <p:ext uri="{BB962C8B-B14F-4D97-AF65-F5344CB8AC3E}">
        <p14:creationId xmlns:p14="http://schemas.microsoft.com/office/powerpoint/2010/main" val="1756496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Last-in-first-out (LIFO)</a:t>
            </a:r>
          </a:p>
          <a:p>
            <a:r>
              <a:rPr lang="en-US" sz="2400" dirty="0"/>
              <a:t>Main operations:</a:t>
            </a:r>
          </a:p>
          <a:p>
            <a:pPr lvl="1"/>
            <a:r>
              <a:rPr lang="en-US" sz="2400" dirty="0"/>
              <a:t>push(e): add element e, to be the top of the stack</a:t>
            </a:r>
          </a:p>
          <a:p>
            <a:pPr lvl="1"/>
            <a:r>
              <a:rPr lang="en-US" sz="2400" dirty="0"/>
              <a:t>pop: remove from the stack and return the top element on the stack</a:t>
            </a:r>
          </a:p>
          <a:p>
            <a:r>
              <a:rPr lang="en-US" sz="2400" dirty="0"/>
              <a:t>Other methods:</a:t>
            </a:r>
          </a:p>
          <a:p>
            <a:pPr lvl="1"/>
            <a:r>
              <a:rPr lang="en-US" sz="2400" dirty="0"/>
              <a:t>size(): return the number of elements in the stack</a:t>
            </a:r>
          </a:p>
          <a:p>
            <a:pPr lvl="1"/>
            <a:r>
              <a:rPr lang="en-US" sz="2400" dirty="0" err="1"/>
              <a:t>isEmpty</a:t>
            </a:r>
            <a:r>
              <a:rPr lang="en-US" sz="2400" dirty="0"/>
              <a:t>(): return a </a:t>
            </a:r>
            <a:r>
              <a:rPr lang="en-US" sz="2400" dirty="0" err="1"/>
              <a:t>boolean</a:t>
            </a:r>
            <a:r>
              <a:rPr lang="en-US" sz="2400" dirty="0"/>
              <a:t> indicating if the stack is empty</a:t>
            </a:r>
          </a:p>
          <a:p>
            <a:pPr lvl="1"/>
            <a:r>
              <a:rPr lang="en-US" sz="2400" dirty="0"/>
              <a:t>top(): Return the top element in the stack, without removing it.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5234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2">
            <a:extLst>
              <a:ext uri="{FF2B5EF4-FFF2-40B4-BE49-F238E27FC236}">
                <a16:creationId xmlns:a16="http://schemas.microsoft.com/office/drawing/2014/main" id="{492ADFAA-8A66-7DF0-85E7-5BEE8F6EF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Queues</a:t>
            </a:r>
          </a:p>
        </p:txBody>
      </p:sp>
      <p:sp>
        <p:nvSpPr>
          <p:cNvPr id="2050" name="Rectangle 10">
            <a:extLst>
              <a:ext uri="{FF2B5EF4-FFF2-40B4-BE49-F238E27FC236}">
                <a16:creationId xmlns:a16="http://schemas.microsoft.com/office/drawing/2014/main" id="{66268999-4B48-34B6-EAA0-8CB9C0908B9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1981200" y="1447801"/>
            <a:ext cx="8229600" cy="12731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/>
              <a:t>Queue  </a:t>
            </a:r>
            <a:r>
              <a:rPr lang="en-US" altLang="en-US" sz="2800"/>
              <a:t>A structure in which elements are added to the rear and removed from the front; a “first in, first out” (FIFO) structure</a:t>
            </a:r>
          </a:p>
        </p:txBody>
      </p:sp>
      <p:sp>
        <p:nvSpPr>
          <p:cNvPr id="2051" name="Text Box 8">
            <a:extLst>
              <a:ext uri="{FF2B5EF4-FFF2-40B4-BE49-F238E27FC236}">
                <a16:creationId xmlns:a16="http://schemas.microsoft.com/office/drawing/2014/main" id="{A8230338-4F7E-8374-4791-A09027236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41513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2052" name="Picture 12" descr="37461_CH05_FIG0501">
            <a:extLst>
              <a:ext uri="{FF2B5EF4-FFF2-40B4-BE49-F238E27FC236}">
                <a16:creationId xmlns:a16="http://schemas.microsoft.com/office/drawing/2014/main" id="{3A3DC9FA-0485-8906-42F9-B0C81A764BF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02014" y="3124200"/>
            <a:ext cx="5387975" cy="3257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First-in-first-out (FIFO)</a:t>
            </a:r>
          </a:p>
          <a:p>
            <a:r>
              <a:rPr lang="en-US" sz="2400" dirty="0"/>
              <a:t>Main operations:</a:t>
            </a:r>
          </a:p>
          <a:p>
            <a:pPr lvl="1"/>
            <a:r>
              <a:rPr lang="en-US" sz="2400" dirty="0" err="1"/>
              <a:t>enqueue</a:t>
            </a:r>
            <a:r>
              <a:rPr lang="en-US" sz="2400" dirty="0"/>
              <a:t>(e): insert element e at the rear of the queue</a:t>
            </a:r>
          </a:p>
          <a:p>
            <a:pPr lvl="1"/>
            <a:r>
              <a:rPr lang="en-US" sz="2400" dirty="0" err="1"/>
              <a:t>dequeue</a:t>
            </a:r>
            <a:r>
              <a:rPr lang="en-US" sz="2400" dirty="0"/>
              <a:t>: remove and return from the queue the element at the front</a:t>
            </a:r>
          </a:p>
          <a:p>
            <a:r>
              <a:rPr lang="en-US" sz="2400" dirty="0"/>
              <a:t>Other methods:</a:t>
            </a:r>
          </a:p>
          <a:p>
            <a:pPr lvl="1"/>
            <a:r>
              <a:rPr lang="en-US" sz="2400" dirty="0"/>
              <a:t>size(): return the number of elements in the queue</a:t>
            </a:r>
          </a:p>
          <a:p>
            <a:pPr lvl="1"/>
            <a:r>
              <a:rPr lang="en-US" sz="2400" dirty="0" err="1"/>
              <a:t>isEmpty</a:t>
            </a:r>
            <a:r>
              <a:rPr lang="en-US" sz="2400" dirty="0"/>
              <a:t>(): return a Boolean indicating if the queue is empty</a:t>
            </a:r>
          </a:p>
          <a:p>
            <a:pPr lvl="1"/>
            <a:r>
              <a:rPr lang="en-US" sz="2400" dirty="0"/>
              <a:t>front(): Return the front element in the queue, without removing it.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5062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8">
            <a:extLst>
              <a:ext uri="{FF2B5EF4-FFF2-40B4-BE49-F238E27FC236}">
                <a16:creationId xmlns:a16="http://schemas.microsoft.com/office/drawing/2014/main" id="{90C2FBEC-9188-FF4C-D593-C81FA8EC3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Operations on Queues</a:t>
            </a:r>
          </a:p>
        </p:txBody>
      </p:sp>
      <p:sp>
        <p:nvSpPr>
          <p:cNvPr id="3074" name="Rectangle 9">
            <a:extLst>
              <a:ext uri="{FF2B5EF4-FFF2-40B4-BE49-F238E27FC236}">
                <a16:creationId xmlns:a16="http://schemas.microsoft.com/office/drawing/2014/main" id="{FB9942F0-5FD4-0144-7568-6FAE471E51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Constructor</a:t>
            </a:r>
          </a:p>
          <a:p>
            <a:pPr lvl="1" eaLnBrk="1" hangingPunct="1"/>
            <a:r>
              <a:rPr lang="en-US" altLang="en-US"/>
              <a:t>new</a:t>
            </a:r>
            <a:r>
              <a:rPr lang="en-US" altLang="en-US" i="1"/>
              <a:t> - </a:t>
            </a:r>
            <a:r>
              <a:rPr lang="en-US" altLang="en-US"/>
              <a:t>creates an empty queue</a:t>
            </a:r>
          </a:p>
          <a:p>
            <a:pPr eaLnBrk="1" hangingPunct="1"/>
            <a:r>
              <a:rPr lang="en-US" altLang="en-US"/>
              <a:t>Transformers</a:t>
            </a:r>
          </a:p>
          <a:p>
            <a:pPr lvl="1" eaLnBrk="1" hangingPunct="1"/>
            <a:r>
              <a:rPr lang="en-US" altLang="en-US"/>
              <a:t>enqueue</a:t>
            </a:r>
            <a:r>
              <a:rPr lang="en-US" altLang="en-US" i="1"/>
              <a:t> - </a:t>
            </a:r>
            <a:r>
              <a:rPr lang="en-US" altLang="en-US"/>
              <a:t>adds an element to the rear of a queue </a:t>
            </a:r>
          </a:p>
          <a:p>
            <a:pPr lvl="1" eaLnBrk="1" hangingPunct="1"/>
            <a:r>
              <a:rPr lang="en-US" altLang="en-US"/>
              <a:t>dequeue - removes and returns the front element of the queue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6">
            <a:extLst>
              <a:ext uri="{FF2B5EF4-FFF2-40B4-BE49-F238E27FC236}">
                <a16:creationId xmlns:a16="http://schemas.microsoft.com/office/drawing/2014/main" id="{5BEA197E-5259-6ED0-1B5E-39218EFBE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859340"/>
            <a:ext cx="234711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 b="1" dirty="0"/>
              <a:t>Effects of</a:t>
            </a:r>
          </a:p>
          <a:p>
            <a:pPr eaLnBrk="1" hangingPunct="1"/>
            <a:r>
              <a:rPr lang="en-US" altLang="en-US" sz="3200" b="1" dirty="0"/>
              <a:t>Queue </a:t>
            </a:r>
          </a:p>
          <a:p>
            <a:pPr eaLnBrk="1" hangingPunct="1"/>
            <a:r>
              <a:rPr lang="en-US" altLang="en-US" sz="3200" b="1" dirty="0"/>
              <a:t>Operations</a:t>
            </a:r>
          </a:p>
        </p:txBody>
      </p:sp>
      <p:pic>
        <p:nvPicPr>
          <p:cNvPr id="4098" name="Picture 8" descr="37461_CH05_FIG0502">
            <a:extLst>
              <a:ext uri="{FF2B5EF4-FFF2-40B4-BE49-F238E27FC236}">
                <a16:creationId xmlns:a16="http://schemas.microsoft.com/office/drawing/2014/main" id="{5EC3B390-BCAD-B02C-93EF-C5B4ADB7EE0A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625476"/>
            <a:ext cx="5562600" cy="5318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Queues</a:t>
            </a:r>
          </a:p>
        </p:txBody>
      </p:sp>
      <p:sp>
        <p:nvSpPr>
          <p:cNvPr id="10243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A95839B-BC68-B945-93C3-8AFC0F9CED66}" type="slidenum">
              <a:rPr lang="en-US" sz="1400"/>
              <a:pPr eaLnBrk="1" hangingPunct="1"/>
              <a:t>7</a:t>
            </a:fld>
            <a:endParaRPr lang="en-US" sz="1400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Array-based Queue</a:t>
            </a:r>
          </a:p>
        </p:txBody>
      </p:sp>
      <p:sp>
        <p:nvSpPr>
          <p:cNvPr id="1024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0" y="1524000"/>
            <a:ext cx="7543800" cy="2743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Use an array of size </a:t>
            </a:r>
            <a:r>
              <a:rPr lang="en-US" sz="2400" b="1" i="1" dirty="0">
                <a:latin typeface="Times New Roman" charset="0"/>
              </a:rPr>
              <a:t>N</a:t>
            </a:r>
            <a:r>
              <a:rPr lang="en-US" sz="2400" dirty="0">
                <a:latin typeface="Tahoma" charset="0"/>
              </a:rPr>
              <a:t> in a circular fashion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Two variables keep track of the front and size</a:t>
            </a:r>
          </a:p>
          <a:p>
            <a:pPr lvl="1" eaLnBrk="1" hangingPunct="1">
              <a:lnSpc>
                <a:spcPct val="90000"/>
              </a:lnSpc>
              <a:buFont typeface="Times New Roman" charset="0"/>
              <a:buNone/>
            </a:pPr>
            <a:r>
              <a:rPr lang="en-US" sz="2000" b="1" i="1" dirty="0">
                <a:latin typeface="Times New Roman" charset="0"/>
              </a:rPr>
              <a:t>f</a:t>
            </a:r>
            <a:r>
              <a:rPr lang="en-US" sz="2000" dirty="0">
                <a:latin typeface="Tahoma" charset="0"/>
              </a:rPr>
              <a:t> 	index of the front element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</a:pPr>
            <a:r>
              <a:rPr lang="en-US" sz="2000" b="1" i="1" dirty="0" err="1">
                <a:latin typeface="Times New Roman" charset="0"/>
              </a:rPr>
              <a:t>sz</a:t>
            </a:r>
            <a:r>
              <a:rPr lang="en-US" sz="2000" dirty="0">
                <a:latin typeface="Tahoma" charset="0"/>
              </a:rPr>
              <a:t>	number of stored elements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When the queue has fewer than </a:t>
            </a:r>
            <a:r>
              <a:rPr lang="en-US" sz="2400" b="1" i="1" dirty="0">
                <a:latin typeface="Times New Roman"/>
                <a:cs typeface="Times New Roman"/>
              </a:rPr>
              <a:t>N</a:t>
            </a:r>
            <a:r>
              <a:rPr lang="en-US" sz="2400" dirty="0">
                <a:latin typeface="Tahoma" charset="0"/>
              </a:rPr>
              <a:t> elements, array location </a:t>
            </a:r>
            <a:r>
              <a:rPr lang="en-US" sz="2400" b="1" i="1" dirty="0">
                <a:latin typeface="Times New Roman" charset="0"/>
              </a:rPr>
              <a:t>r = </a:t>
            </a:r>
            <a:r>
              <a:rPr lang="en-US" sz="2400" b="1" dirty="0">
                <a:latin typeface="Times New Roman" charset="0"/>
              </a:rPr>
              <a:t>(</a:t>
            </a:r>
            <a:r>
              <a:rPr lang="en-US" sz="2400" b="1" i="1" dirty="0">
                <a:latin typeface="Times New Roman" charset="0"/>
              </a:rPr>
              <a:t>f + </a:t>
            </a:r>
            <a:r>
              <a:rPr lang="en-US" sz="2400" b="1" i="1" dirty="0" err="1">
                <a:latin typeface="Times New Roman" charset="0"/>
              </a:rPr>
              <a:t>sz</a:t>
            </a:r>
            <a:r>
              <a:rPr lang="en-US" sz="2400" b="1" dirty="0">
                <a:latin typeface="Times New Roman" charset="0"/>
              </a:rPr>
              <a:t>)</a:t>
            </a:r>
            <a:r>
              <a:rPr lang="en-US" sz="2400" b="1" i="1" dirty="0">
                <a:latin typeface="Times New Roman" charset="0"/>
              </a:rPr>
              <a:t> mod N </a:t>
            </a:r>
            <a:r>
              <a:rPr lang="en-US" sz="2400" dirty="0">
                <a:latin typeface="Tahoma" charset="0"/>
              </a:rPr>
              <a:t> is the first empty slot past the rear of the queue</a:t>
            </a:r>
          </a:p>
        </p:txBody>
      </p:sp>
      <p:grpSp>
        <p:nvGrpSpPr>
          <p:cNvPr id="10246" name="Group 128"/>
          <p:cNvGrpSpPr>
            <a:grpSpLocks/>
          </p:cNvGrpSpPr>
          <p:nvPr/>
        </p:nvGrpSpPr>
        <p:grpSpPr bwMode="auto">
          <a:xfrm>
            <a:off x="3048000" y="4579938"/>
            <a:ext cx="5638800" cy="665162"/>
            <a:chOff x="960" y="2597"/>
            <a:chExt cx="3552" cy="419"/>
          </a:xfrm>
        </p:grpSpPr>
        <p:sp>
          <p:nvSpPr>
            <p:cNvPr id="10274" name="Rectangle 58"/>
            <p:cNvSpPr>
              <a:spLocks noChangeArrowheads="1"/>
            </p:cNvSpPr>
            <p:nvPr/>
          </p:nvSpPr>
          <p:spPr bwMode="auto">
            <a:xfrm>
              <a:off x="960" y="2597"/>
              <a:ext cx="18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Q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0275" name="Rectangle 59"/>
            <p:cNvSpPr>
              <a:spLocks noChangeArrowheads="1"/>
            </p:cNvSpPr>
            <p:nvPr/>
          </p:nvSpPr>
          <p:spPr bwMode="auto">
            <a:xfrm>
              <a:off x="1296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276" name="Rectangle 60"/>
            <p:cNvSpPr>
              <a:spLocks noChangeArrowheads="1"/>
            </p:cNvSpPr>
            <p:nvPr/>
          </p:nvSpPr>
          <p:spPr bwMode="auto">
            <a:xfrm>
              <a:off x="1488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277" name="Rectangle 61"/>
            <p:cNvSpPr>
              <a:spLocks noChangeArrowheads="1"/>
            </p:cNvSpPr>
            <p:nvPr/>
          </p:nvSpPr>
          <p:spPr bwMode="auto">
            <a:xfrm>
              <a:off x="1680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278" name="Rectangle 65"/>
            <p:cNvSpPr>
              <a:spLocks noChangeArrowheads="1"/>
            </p:cNvSpPr>
            <p:nvPr/>
          </p:nvSpPr>
          <p:spPr bwMode="auto">
            <a:xfrm>
              <a:off x="3936" y="2842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r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0279" name="Rectangle 80"/>
            <p:cNvSpPr>
              <a:spLocks noChangeArrowheads="1"/>
            </p:cNvSpPr>
            <p:nvPr/>
          </p:nvSpPr>
          <p:spPr bwMode="auto">
            <a:xfrm>
              <a:off x="2016" y="2842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f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0280" name="Rectangle 82"/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281" name="Rectangle 83"/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2" name="Rectangle 84"/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3" name="Rectangle 85"/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4" name="Rectangle 86"/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5" name="Rectangle 87"/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6" name="Rectangle 88"/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7" name="Rectangle 89"/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8" name="Rectangle 90"/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9" name="Rectangle 91"/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0" name="Rectangle 92"/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1" name="Rectangle 93"/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2" name="Rectangle 94"/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3" name="Rectangle 95"/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4" name="Rectangle 96"/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5" name="Rectangle 97"/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6" name="Rectangle 98"/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47" name="Text Box 99"/>
          <p:cNvSpPr txBox="1">
            <a:spLocks noChangeArrowheads="1"/>
          </p:cNvSpPr>
          <p:nvPr/>
        </p:nvSpPr>
        <p:spPr bwMode="auto">
          <a:xfrm>
            <a:off x="4343400" y="4122738"/>
            <a:ext cx="296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/>
              <a:t>normal configuration</a:t>
            </a:r>
          </a:p>
        </p:txBody>
      </p:sp>
      <p:grpSp>
        <p:nvGrpSpPr>
          <p:cNvPr id="10248" name="Group 126"/>
          <p:cNvGrpSpPr>
            <a:grpSpLocks/>
          </p:cNvGrpSpPr>
          <p:nvPr/>
        </p:nvGrpSpPr>
        <p:grpSpPr bwMode="auto">
          <a:xfrm>
            <a:off x="3048000" y="5722938"/>
            <a:ext cx="5638800" cy="665162"/>
            <a:chOff x="960" y="3360"/>
            <a:chExt cx="3552" cy="419"/>
          </a:xfrm>
        </p:grpSpPr>
        <p:sp>
          <p:nvSpPr>
            <p:cNvPr id="10251" name="Rectangle 102"/>
            <p:cNvSpPr>
              <a:spLocks noChangeArrowheads="1"/>
            </p:cNvSpPr>
            <p:nvPr/>
          </p:nvSpPr>
          <p:spPr bwMode="auto">
            <a:xfrm>
              <a:off x="960" y="3360"/>
              <a:ext cx="18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Q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0252" name="Rectangle 103"/>
            <p:cNvSpPr>
              <a:spLocks noChangeArrowheads="1"/>
            </p:cNvSpPr>
            <p:nvPr/>
          </p:nvSpPr>
          <p:spPr bwMode="auto">
            <a:xfrm>
              <a:off x="1296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253" name="Rectangle 104"/>
            <p:cNvSpPr>
              <a:spLocks noChangeArrowheads="1"/>
            </p:cNvSpPr>
            <p:nvPr/>
          </p:nvSpPr>
          <p:spPr bwMode="auto">
            <a:xfrm>
              <a:off x="1488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254" name="Rectangle 105"/>
            <p:cNvSpPr>
              <a:spLocks noChangeArrowheads="1"/>
            </p:cNvSpPr>
            <p:nvPr/>
          </p:nvSpPr>
          <p:spPr bwMode="auto">
            <a:xfrm>
              <a:off x="1680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0255" name="Rectangle 106"/>
            <p:cNvSpPr>
              <a:spLocks noChangeArrowheads="1"/>
            </p:cNvSpPr>
            <p:nvPr/>
          </p:nvSpPr>
          <p:spPr bwMode="auto">
            <a:xfrm>
              <a:off x="3360" y="3605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f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0256" name="Rectangle 107"/>
            <p:cNvSpPr>
              <a:spLocks noChangeArrowheads="1"/>
            </p:cNvSpPr>
            <p:nvPr/>
          </p:nvSpPr>
          <p:spPr bwMode="auto">
            <a:xfrm>
              <a:off x="2016" y="3605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r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0257" name="Rectangle 108"/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258" name="Rectangle 109"/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9" name="Rectangle 110"/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0" name="Rectangle 111"/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1" name="Rectangle 112"/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2" name="Rectangle 113"/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3" name="Rectangle 114"/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4" name="Rectangle 115"/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5" name="Rectangle 116"/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6" name="Rectangle 117"/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7" name="Rectangle 118"/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8" name="Rectangle 119"/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9" name="Rectangle 120"/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0" name="Rectangle 121"/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1" name="Rectangle 122"/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2" name="Rectangle 123"/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3" name="Rectangle 124"/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49" name="Text Box 125"/>
          <p:cNvSpPr txBox="1">
            <a:spLocks noChangeArrowheads="1"/>
          </p:cNvSpPr>
          <p:nvPr/>
        </p:nvSpPr>
        <p:spPr bwMode="auto">
          <a:xfrm>
            <a:off x="3741738" y="5265738"/>
            <a:ext cx="4252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/>
              <a:t>wrapped-around configuration</a:t>
            </a:r>
          </a:p>
        </p:txBody>
      </p:sp>
      <p:sp>
        <p:nvSpPr>
          <p:cNvPr id="10250" name="Date Placeholder 5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Queues</a:t>
            </a: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85C24267-2DEE-2640-BB3F-DF3C057569F4}" type="slidenum">
              <a:rPr lang="en-US" sz="1400"/>
              <a:pPr eaLnBrk="1" hangingPunct="1"/>
              <a:t>8</a:t>
            </a:fld>
            <a:endParaRPr lang="en-US" sz="1400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Queue Operations</a:t>
            </a:r>
          </a:p>
        </p:txBody>
      </p:sp>
      <p:sp>
        <p:nvSpPr>
          <p:cNvPr id="1126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362200" y="1676400"/>
            <a:ext cx="3352800" cy="1905000"/>
          </a:xfrm>
        </p:spPr>
        <p:txBody>
          <a:bodyPr/>
          <a:lstStyle/>
          <a:p>
            <a:pPr eaLnBrk="1" hangingPunct="1"/>
            <a:r>
              <a:rPr lang="en-US" sz="2800">
                <a:latin typeface="Tahoma" charset="0"/>
              </a:rPr>
              <a:t>We use the modulo operator (remainder of division)</a:t>
            </a:r>
          </a:p>
        </p:txBody>
      </p:sp>
      <p:sp>
        <p:nvSpPr>
          <p:cNvPr id="11270" name="Text Box 4"/>
          <p:cNvSpPr txBox="1">
            <a:spLocks noChangeArrowheads="1"/>
          </p:cNvSpPr>
          <p:nvPr/>
        </p:nvSpPr>
        <p:spPr bwMode="auto">
          <a:xfrm>
            <a:off x="5867400" y="1676401"/>
            <a:ext cx="4419600" cy="19272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dirty="0">
                <a:latin typeface="Times New Roman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charset="0"/>
              </a:rPr>
              <a:t>size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()</a:t>
            </a: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return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  <a:sym typeface="Symbol" charset="0"/>
              </a:rPr>
              <a:t>sz</a:t>
            </a:r>
            <a:endParaRPr lang="en-US" b="1" i="1" dirty="0">
              <a:solidFill>
                <a:schemeClr val="accent2"/>
              </a:solidFill>
              <a:latin typeface="Times New Roman" charset="0"/>
              <a:sym typeface="Symbol" charset="0"/>
            </a:endParaRPr>
          </a:p>
          <a:p>
            <a:pPr eaLnBrk="1" hangingPunct="1"/>
            <a:endParaRPr lang="en-US" b="1" dirty="0">
              <a:solidFill>
                <a:schemeClr val="tx2"/>
              </a:solidFill>
              <a:latin typeface="Times New Roman" charset="0"/>
            </a:endParaRPr>
          </a:p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dirty="0">
                <a:latin typeface="Times New Roman" charset="0"/>
              </a:rPr>
              <a:t> </a:t>
            </a:r>
            <a:r>
              <a:rPr lang="en-US" b="1" i="1" dirty="0" err="1">
                <a:solidFill>
                  <a:schemeClr val="tx2"/>
                </a:solidFill>
                <a:latin typeface="Times New Roman" charset="0"/>
              </a:rPr>
              <a:t>isEmpty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()</a:t>
            </a: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return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(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  <a:sym typeface="Symbol" charset="0"/>
              </a:rPr>
              <a:t>sz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Symbol" charset="0"/>
                <a:sym typeface="Symbol" charset="0"/>
              </a:rPr>
              <a:t>== 0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)</a:t>
            </a:r>
          </a:p>
        </p:txBody>
      </p:sp>
      <p:grpSp>
        <p:nvGrpSpPr>
          <p:cNvPr id="11271" name="Group 5"/>
          <p:cNvGrpSpPr>
            <a:grpSpLocks/>
          </p:cNvGrpSpPr>
          <p:nvPr/>
        </p:nvGrpSpPr>
        <p:grpSpPr bwMode="auto">
          <a:xfrm>
            <a:off x="3048000" y="4198938"/>
            <a:ext cx="5638800" cy="665162"/>
            <a:chOff x="960" y="2597"/>
            <a:chExt cx="3552" cy="419"/>
          </a:xfrm>
        </p:grpSpPr>
        <p:sp>
          <p:nvSpPr>
            <p:cNvPr id="11297" name="Rectangle 6"/>
            <p:cNvSpPr>
              <a:spLocks noChangeArrowheads="1"/>
            </p:cNvSpPr>
            <p:nvPr/>
          </p:nvSpPr>
          <p:spPr bwMode="auto">
            <a:xfrm>
              <a:off x="960" y="2597"/>
              <a:ext cx="18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Q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298" name="Rectangle 7"/>
            <p:cNvSpPr>
              <a:spLocks noChangeArrowheads="1"/>
            </p:cNvSpPr>
            <p:nvPr/>
          </p:nvSpPr>
          <p:spPr bwMode="auto">
            <a:xfrm>
              <a:off x="1296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299" name="Rectangle 8"/>
            <p:cNvSpPr>
              <a:spLocks noChangeArrowheads="1"/>
            </p:cNvSpPr>
            <p:nvPr/>
          </p:nvSpPr>
          <p:spPr bwMode="auto">
            <a:xfrm>
              <a:off x="1488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300" name="Rectangle 9"/>
            <p:cNvSpPr>
              <a:spLocks noChangeArrowheads="1"/>
            </p:cNvSpPr>
            <p:nvPr/>
          </p:nvSpPr>
          <p:spPr bwMode="auto">
            <a:xfrm>
              <a:off x="1680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301" name="Rectangle 10"/>
            <p:cNvSpPr>
              <a:spLocks noChangeArrowheads="1"/>
            </p:cNvSpPr>
            <p:nvPr/>
          </p:nvSpPr>
          <p:spPr bwMode="auto">
            <a:xfrm>
              <a:off x="3936" y="2842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r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302" name="Rectangle 11"/>
            <p:cNvSpPr>
              <a:spLocks noChangeArrowheads="1"/>
            </p:cNvSpPr>
            <p:nvPr/>
          </p:nvSpPr>
          <p:spPr bwMode="auto">
            <a:xfrm>
              <a:off x="2016" y="2842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f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303" name="Rectangle 12"/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304" name="Rectangle 13"/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5" name="Rectangle 14"/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6" name="Rectangle 15"/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7" name="Rectangle 16"/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8" name="Rectangle 17"/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9" name="Rectangle 18"/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0" name="Rectangle 19"/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1" name="Rectangle 20"/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2" name="Rectangle 21"/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3" name="Rectangle 22"/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4" name="Rectangle 23"/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5" name="Rectangle 24"/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6" name="Rectangle 25"/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7" name="Rectangle 26"/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8" name="Rectangle 27"/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9" name="Rectangle 28"/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272" name="Group 30"/>
          <p:cNvGrpSpPr>
            <a:grpSpLocks/>
          </p:cNvGrpSpPr>
          <p:nvPr/>
        </p:nvGrpSpPr>
        <p:grpSpPr bwMode="auto">
          <a:xfrm>
            <a:off x="3048000" y="5181601"/>
            <a:ext cx="5638800" cy="665163"/>
            <a:chOff x="960" y="3360"/>
            <a:chExt cx="3552" cy="419"/>
          </a:xfrm>
        </p:grpSpPr>
        <p:sp>
          <p:nvSpPr>
            <p:cNvPr id="11274" name="Rectangle 31"/>
            <p:cNvSpPr>
              <a:spLocks noChangeArrowheads="1"/>
            </p:cNvSpPr>
            <p:nvPr/>
          </p:nvSpPr>
          <p:spPr bwMode="auto">
            <a:xfrm>
              <a:off x="960" y="3360"/>
              <a:ext cx="18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Q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275" name="Rectangle 32"/>
            <p:cNvSpPr>
              <a:spLocks noChangeArrowheads="1"/>
            </p:cNvSpPr>
            <p:nvPr/>
          </p:nvSpPr>
          <p:spPr bwMode="auto">
            <a:xfrm>
              <a:off x="1296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276" name="Rectangle 33"/>
            <p:cNvSpPr>
              <a:spLocks noChangeArrowheads="1"/>
            </p:cNvSpPr>
            <p:nvPr/>
          </p:nvSpPr>
          <p:spPr bwMode="auto">
            <a:xfrm>
              <a:off x="1488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277" name="Rectangle 34"/>
            <p:cNvSpPr>
              <a:spLocks noChangeArrowheads="1"/>
            </p:cNvSpPr>
            <p:nvPr/>
          </p:nvSpPr>
          <p:spPr bwMode="auto">
            <a:xfrm>
              <a:off x="1680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1278" name="Rectangle 35"/>
            <p:cNvSpPr>
              <a:spLocks noChangeArrowheads="1"/>
            </p:cNvSpPr>
            <p:nvPr/>
          </p:nvSpPr>
          <p:spPr bwMode="auto">
            <a:xfrm>
              <a:off x="3360" y="3605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f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279" name="Rectangle 36"/>
            <p:cNvSpPr>
              <a:spLocks noChangeArrowheads="1"/>
            </p:cNvSpPr>
            <p:nvPr/>
          </p:nvSpPr>
          <p:spPr bwMode="auto">
            <a:xfrm>
              <a:off x="2016" y="3605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r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1280" name="Rectangle 37"/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281" name="Rectangle 38"/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2" name="Rectangle 39"/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3" name="Rectangle 40"/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4" name="Rectangle 41"/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5" name="Rectangle 42"/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6" name="Rectangle 43"/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7" name="Rectangle 44"/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8" name="Rectangle 45"/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9" name="Rectangle 46"/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0" name="Rectangle 47"/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1" name="Rectangle 48"/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2" name="Rectangle 49"/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3" name="Rectangle 50"/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" name="Rectangle 51"/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" name="Rectangle 52"/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6" name="Rectangle 53"/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73" name="Date Placeholder 5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Queues</a:t>
            </a: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EF873FA5-820A-4641-94FF-B32C9F2FC1D2}" type="slidenum">
              <a:rPr lang="en-US" sz="1400"/>
              <a:pPr eaLnBrk="1" hangingPunct="1"/>
              <a:t>9</a:t>
            </a:fld>
            <a:endParaRPr lang="en-US" sz="1400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Queue Operations (cont.)</a:t>
            </a: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2133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endParaRPr lang="en-US" sz="4400">
              <a:solidFill>
                <a:schemeClr val="tx2"/>
              </a:solidFill>
            </a:endParaRPr>
          </a:p>
        </p:txBody>
      </p:sp>
      <p:sp>
        <p:nvSpPr>
          <p:cNvPr id="12294" name="Text Box 74"/>
          <p:cNvSpPr txBox="1">
            <a:spLocks noChangeArrowheads="1"/>
          </p:cNvSpPr>
          <p:nvPr/>
        </p:nvSpPr>
        <p:spPr bwMode="auto">
          <a:xfrm>
            <a:off x="6019800" y="1600200"/>
            <a:ext cx="4267200" cy="2677656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dirty="0">
                <a:latin typeface="Times New Roman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charset="0"/>
              </a:rPr>
              <a:t>enqueue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(</a:t>
            </a:r>
            <a:r>
              <a:rPr lang="en-US" b="1" i="1" dirty="0">
                <a:solidFill>
                  <a:schemeClr val="tx2"/>
                </a:solidFill>
                <a:latin typeface="Times New Roman" charset="0"/>
              </a:rPr>
              <a:t>o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)</a:t>
            </a:r>
          </a:p>
          <a:p>
            <a:pPr eaLnBrk="1" hangingPunct="1"/>
            <a:r>
              <a:rPr lang="en-US" dirty="0">
                <a:latin typeface="Times New Roman" charset="0"/>
                <a:sym typeface="Symbol" charset="0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if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</a:rPr>
              <a:t>size</a:t>
            </a:r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()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=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N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Symbol" charset="2"/>
                <a:cs typeface="Symbol" charset="2"/>
                <a:sym typeface="Symbol" charset="0"/>
              </a:rPr>
              <a:t>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1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then</a:t>
            </a:r>
          </a:p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		throw 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  <a:sym typeface="Symbol" charset="0"/>
              </a:rPr>
              <a:t>IllegalStateException</a:t>
            </a:r>
            <a:endParaRPr lang="en-US" b="1" dirty="0">
              <a:solidFill>
                <a:srgbClr val="000000"/>
              </a:solidFill>
              <a:latin typeface="Times New Roman" charset="0"/>
              <a:sym typeface="Symbol" charset="0"/>
            </a:endParaRP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 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else 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</a:p>
          <a:p>
            <a:pPr eaLnBrk="1" hangingPunct="1"/>
            <a:r>
              <a:rPr lang="en-US" dirty="0">
                <a:latin typeface="Times New Roman" charset="0"/>
                <a:sym typeface="Symbol" charset="0"/>
              </a:rPr>
              <a:t>     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</a:rPr>
              <a:t>r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f + 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  <a:sym typeface="Symbol" charset="0"/>
              </a:rPr>
              <a:t>sz</a:t>
            </a:r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)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mod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N</a:t>
            </a:r>
            <a:endParaRPr lang="en-US" dirty="0">
              <a:latin typeface="Times New Roman" charset="0"/>
            </a:endParaRP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	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Q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[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r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]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o</a:t>
            </a: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		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</a:rPr>
              <a:t>sz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  <a:sym typeface="Symbol" charset="0"/>
              </a:rPr>
              <a:t>sz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+ 1</a:t>
            </a:r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)</a:t>
            </a:r>
            <a:endParaRPr lang="en-US" b="1" i="1" dirty="0">
              <a:solidFill>
                <a:schemeClr val="accent2"/>
              </a:solidFill>
              <a:latin typeface="Times New Roman" charset="0"/>
              <a:sym typeface="Symbol" charset="0"/>
            </a:endParaRPr>
          </a:p>
        </p:txBody>
      </p:sp>
      <p:sp>
        <p:nvSpPr>
          <p:cNvPr id="12295" name="Rectangle 7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3733800" cy="25146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Tahoma" charset="0"/>
              </a:rPr>
              <a:t>Operation enqueue throws an exception if the array is full</a:t>
            </a:r>
          </a:p>
          <a:p>
            <a:pPr eaLnBrk="1" hangingPunct="1"/>
            <a:r>
              <a:rPr lang="en-US" sz="2400" dirty="0">
                <a:latin typeface="Tahoma" charset="0"/>
              </a:rPr>
              <a:t>This exception is implementation-dependent</a:t>
            </a:r>
          </a:p>
        </p:txBody>
      </p:sp>
      <p:grpSp>
        <p:nvGrpSpPr>
          <p:cNvPr id="12296" name="Group 128"/>
          <p:cNvGrpSpPr>
            <a:grpSpLocks/>
          </p:cNvGrpSpPr>
          <p:nvPr/>
        </p:nvGrpSpPr>
        <p:grpSpPr bwMode="auto">
          <a:xfrm>
            <a:off x="3048000" y="4343400"/>
            <a:ext cx="5638800" cy="665162"/>
            <a:chOff x="960" y="2597"/>
            <a:chExt cx="3552" cy="419"/>
          </a:xfrm>
        </p:grpSpPr>
        <p:sp>
          <p:nvSpPr>
            <p:cNvPr id="12322" name="Rectangle 129"/>
            <p:cNvSpPr>
              <a:spLocks noChangeArrowheads="1"/>
            </p:cNvSpPr>
            <p:nvPr/>
          </p:nvSpPr>
          <p:spPr bwMode="auto">
            <a:xfrm>
              <a:off x="960" y="2597"/>
              <a:ext cx="18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Q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2323" name="Rectangle 130"/>
            <p:cNvSpPr>
              <a:spLocks noChangeArrowheads="1"/>
            </p:cNvSpPr>
            <p:nvPr/>
          </p:nvSpPr>
          <p:spPr bwMode="auto">
            <a:xfrm>
              <a:off x="1296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324" name="Rectangle 131"/>
            <p:cNvSpPr>
              <a:spLocks noChangeArrowheads="1"/>
            </p:cNvSpPr>
            <p:nvPr/>
          </p:nvSpPr>
          <p:spPr bwMode="auto">
            <a:xfrm>
              <a:off x="1488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325" name="Rectangle 132"/>
            <p:cNvSpPr>
              <a:spLocks noChangeArrowheads="1"/>
            </p:cNvSpPr>
            <p:nvPr/>
          </p:nvSpPr>
          <p:spPr bwMode="auto">
            <a:xfrm>
              <a:off x="1680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326" name="Rectangle 133"/>
            <p:cNvSpPr>
              <a:spLocks noChangeArrowheads="1"/>
            </p:cNvSpPr>
            <p:nvPr/>
          </p:nvSpPr>
          <p:spPr bwMode="auto">
            <a:xfrm>
              <a:off x="3936" y="2842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r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2327" name="Rectangle 134"/>
            <p:cNvSpPr>
              <a:spLocks noChangeArrowheads="1"/>
            </p:cNvSpPr>
            <p:nvPr/>
          </p:nvSpPr>
          <p:spPr bwMode="auto">
            <a:xfrm>
              <a:off x="2016" y="2842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f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2328" name="Rectangle 135"/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2329" name="Rectangle 136"/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0" name="Rectangle 137"/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1" name="Rectangle 138"/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2" name="Rectangle 139"/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3" name="Rectangle 140"/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4" name="Rectangle 141"/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5" name="Rectangle 142"/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6" name="Rectangle 143"/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7" name="Rectangle 144"/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8" name="Rectangle 145"/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9" name="Rectangle 146"/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0" name="Rectangle 147"/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1" name="Rectangle 148"/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2" name="Rectangle 149"/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3" name="Rectangle 150"/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4" name="Rectangle 151"/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297" name="Group 152"/>
          <p:cNvGrpSpPr>
            <a:grpSpLocks/>
          </p:cNvGrpSpPr>
          <p:nvPr/>
        </p:nvGrpSpPr>
        <p:grpSpPr bwMode="auto">
          <a:xfrm>
            <a:off x="3048000" y="5334001"/>
            <a:ext cx="5638800" cy="665163"/>
            <a:chOff x="960" y="3360"/>
            <a:chExt cx="3552" cy="419"/>
          </a:xfrm>
        </p:grpSpPr>
        <p:sp>
          <p:nvSpPr>
            <p:cNvPr id="12299" name="Rectangle 153"/>
            <p:cNvSpPr>
              <a:spLocks noChangeArrowheads="1"/>
            </p:cNvSpPr>
            <p:nvPr/>
          </p:nvSpPr>
          <p:spPr bwMode="auto">
            <a:xfrm>
              <a:off x="960" y="3360"/>
              <a:ext cx="18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Q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2300" name="Rectangle 154"/>
            <p:cNvSpPr>
              <a:spLocks noChangeArrowheads="1"/>
            </p:cNvSpPr>
            <p:nvPr/>
          </p:nvSpPr>
          <p:spPr bwMode="auto">
            <a:xfrm>
              <a:off x="1296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301" name="Rectangle 155"/>
            <p:cNvSpPr>
              <a:spLocks noChangeArrowheads="1"/>
            </p:cNvSpPr>
            <p:nvPr/>
          </p:nvSpPr>
          <p:spPr bwMode="auto">
            <a:xfrm>
              <a:off x="1488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302" name="Rectangle 156"/>
            <p:cNvSpPr>
              <a:spLocks noChangeArrowheads="1"/>
            </p:cNvSpPr>
            <p:nvPr/>
          </p:nvSpPr>
          <p:spPr bwMode="auto">
            <a:xfrm>
              <a:off x="1680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303" name="Rectangle 157"/>
            <p:cNvSpPr>
              <a:spLocks noChangeArrowheads="1"/>
            </p:cNvSpPr>
            <p:nvPr/>
          </p:nvSpPr>
          <p:spPr bwMode="auto">
            <a:xfrm>
              <a:off x="3360" y="3605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f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2304" name="Rectangle 158"/>
            <p:cNvSpPr>
              <a:spLocks noChangeArrowheads="1"/>
            </p:cNvSpPr>
            <p:nvPr/>
          </p:nvSpPr>
          <p:spPr bwMode="auto">
            <a:xfrm>
              <a:off x="2016" y="3605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r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2305" name="Rectangle 159"/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2306" name="Rectangle 160"/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Rectangle 161"/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Rectangle 162"/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Rectangle 163"/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0" name="Rectangle 164"/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1" name="Rectangle 165"/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2" name="Rectangle 166"/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3" name="Rectangle 167"/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4" name="Rectangle 168"/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5" name="Rectangle 169"/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6" name="Rectangle 170"/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7" name="Rectangle 171"/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8" name="Rectangle 172"/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9" name="Rectangle 173"/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0" name="Rectangle 174"/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1" name="Rectangle 175"/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298" name="Date Placeholder 5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Queues</a:t>
            </a: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CB24B79E-A965-1E4F-A2B7-A12C5D9F51FC}" type="slidenum">
              <a:rPr lang="en-US" sz="1400"/>
              <a:pPr eaLnBrk="1" hangingPunct="1"/>
              <a:t>10</a:t>
            </a:fld>
            <a:endParaRPr lang="en-US" sz="140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ahoma" charset="0"/>
              </a:rPr>
              <a:t>Queue Operations (cont.)</a:t>
            </a:r>
          </a:p>
        </p:txBody>
      </p:sp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0" y="1524000"/>
            <a:ext cx="34290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Tahoma" charset="0"/>
              </a:rPr>
              <a:t>Note that operation dequeue returns null if the queue is empty</a:t>
            </a:r>
          </a:p>
        </p:txBody>
      </p:sp>
      <p:sp>
        <p:nvSpPr>
          <p:cNvPr id="13318" name="Text Box 4"/>
          <p:cNvSpPr txBox="1">
            <a:spLocks noChangeArrowheads="1"/>
          </p:cNvSpPr>
          <p:nvPr/>
        </p:nvSpPr>
        <p:spPr bwMode="auto">
          <a:xfrm>
            <a:off x="6400800" y="1524000"/>
            <a:ext cx="3886200" cy="304698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</a:rPr>
              <a:t>Algorithm</a:t>
            </a:r>
            <a:r>
              <a:rPr lang="en-US" dirty="0">
                <a:latin typeface="Times New Roman" charset="0"/>
              </a:rPr>
              <a:t> </a:t>
            </a:r>
            <a:r>
              <a:rPr lang="en-US" b="1" i="1" dirty="0">
                <a:solidFill>
                  <a:schemeClr val="tx2"/>
                </a:solidFill>
                <a:latin typeface="Times New Roman" charset="0"/>
              </a:rPr>
              <a:t>dequeue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()</a:t>
            </a:r>
          </a:p>
          <a:p>
            <a:pPr eaLnBrk="1" hangingPunct="1"/>
            <a:r>
              <a:rPr lang="en-US" dirty="0">
                <a:latin typeface="Times New Roman" charset="0"/>
                <a:sym typeface="Symbol" charset="0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if</a:t>
            </a:r>
            <a:r>
              <a:rPr lang="en-US" dirty="0">
                <a:latin typeface="Times New Roman" charset="0"/>
                <a:sym typeface="Symbol" charset="0"/>
              </a:rPr>
              <a:t> 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</a:rPr>
              <a:t>isEmpty</a:t>
            </a:r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()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then</a:t>
            </a:r>
          </a:p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		return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null</a:t>
            </a:r>
            <a:endParaRPr lang="en-US" b="1" dirty="0">
              <a:solidFill>
                <a:srgbClr val="000000"/>
              </a:solidFill>
              <a:latin typeface="Times New Roman" charset="0"/>
              <a:sym typeface="Symbol" charset="0"/>
            </a:endParaRP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 </a:t>
            </a:r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else</a:t>
            </a:r>
            <a:endParaRPr lang="en-US" dirty="0">
              <a:latin typeface="Times New Roman" charset="0"/>
              <a:sym typeface="Symbol" charset="0"/>
            </a:endParaRPr>
          </a:p>
          <a:p>
            <a:pPr eaLnBrk="1" hangingPunct="1"/>
            <a:r>
              <a:rPr lang="en-US" dirty="0">
                <a:latin typeface="Times New Roman" charset="0"/>
                <a:sym typeface="Symbol" charset="0"/>
              </a:rPr>
              <a:t>		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</a:rPr>
              <a:t>o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Q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[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f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]</a:t>
            </a:r>
            <a:endParaRPr lang="en-US" dirty="0">
              <a:latin typeface="Times New Roman" charset="0"/>
            </a:endParaRP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		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</a:rPr>
              <a:t>f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f 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+ 1</a:t>
            </a:r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)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mod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N</a:t>
            </a:r>
          </a:p>
          <a:p>
            <a:pPr eaLnBrk="1" hangingPunct="1"/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		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</a:rPr>
              <a:t>sz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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(</a:t>
            </a:r>
            <a:r>
              <a:rPr lang="en-US" b="1" i="1" dirty="0" err="1">
                <a:solidFill>
                  <a:schemeClr val="accent2"/>
                </a:solidFill>
                <a:latin typeface="Times New Roman" charset="0"/>
                <a:sym typeface="Symbol" charset="0"/>
              </a:rPr>
              <a:t>sz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Symbol" charset="2"/>
                <a:cs typeface="Symbol" charset="2"/>
                <a:sym typeface="Symbol" charset="0"/>
              </a:rPr>
              <a:t>-</a:t>
            </a:r>
            <a:r>
              <a:rPr lang="en-US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 1</a:t>
            </a:r>
            <a:r>
              <a:rPr lang="en-US" dirty="0">
                <a:solidFill>
                  <a:schemeClr val="accent2"/>
                </a:solidFill>
                <a:latin typeface="Times New Roman" charset="0"/>
              </a:rPr>
              <a:t>)</a:t>
            </a:r>
            <a:endParaRPr lang="en-US" b="1" i="1" dirty="0">
              <a:solidFill>
                <a:schemeClr val="accent2"/>
              </a:solidFill>
              <a:latin typeface="Times New Roman" charset="0"/>
              <a:sym typeface="Symbol" charset="0"/>
            </a:endParaRPr>
          </a:p>
          <a:p>
            <a:pPr eaLnBrk="1" hangingPunct="1"/>
            <a:r>
              <a:rPr lang="en-US" b="1" dirty="0">
                <a:solidFill>
                  <a:srgbClr val="000000"/>
                </a:solidFill>
                <a:latin typeface="Times New Roman" charset="0"/>
                <a:sym typeface="Symbol" charset="0"/>
              </a:rPr>
              <a:t>		return</a:t>
            </a:r>
            <a:r>
              <a:rPr lang="en-US" dirty="0">
                <a:solidFill>
                  <a:schemeClr val="tx2"/>
                </a:solidFill>
                <a:latin typeface="Times New Roman" charset="0"/>
                <a:sym typeface="Symbol" charset="0"/>
              </a:rPr>
              <a:t> </a:t>
            </a:r>
            <a:r>
              <a:rPr lang="en-US" b="1" i="1" dirty="0">
                <a:solidFill>
                  <a:schemeClr val="accent2"/>
                </a:solidFill>
                <a:latin typeface="Times New Roman" charset="0"/>
                <a:sym typeface="Symbol" charset="0"/>
              </a:rPr>
              <a:t>o</a:t>
            </a:r>
          </a:p>
        </p:txBody>
      </p:sp>
      <p:grpSp>
        <p:nvGrpSpPr>
          <p:cNvPr id="13319" name="Group 55"/>
          <p:cNvGrpSpPr>
            <a:grpSpLocks/>
          </p:cNvGrpSpPr>
          <p:nvPr/>
        </p:nvGrpSpPr>
        <p:grpSpPr bwMode="auto">
          <a:xfrm>
            <a:off x="3048000" y="4587876"/>
            <a:ext cx="5638800" cy="665163"/>
            <a:chOff x="960" y="2597"/>
            <a:chExt cx="3552" cy="419"/>
          </a:xfrm>
        </p:grpSpPr>
        <p:sp>
          <p:nvSpPr>
            <p:cNvPr id="13345" name="Rectangle 56"/>
            <p:cNvSpPr>
              <a:spLocks noChangeArrowheads="1"/>
            </p:cNvSpPr>
            <p:nvPr/>
          </p:nvSpPr>
          <p:spPr bwMode="auto">
            <a:xfrm>
              <a:off x="960" y="2597"/>
              <a:ext cx="18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Q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3346" name="Rectangle 57"/>
            <p:cNvSpPr>
              <a:spLocks noChangeArrowheads="1"/>
            </p:cNvSpPr>
            <p:nvPr/>
          </p:nvSpPr>
          <p:spPr bwMode="auto">
            <a:xfrm>
              <a:off x="1296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347" name="Rectangle 58"/>
            <p:cNvSpPr>
              <a:spLocks noChangeArrowheads="1"/>
            </p:cNvSpPr>
            <p:nvPr/>
          </p:nvSpPr>
          <p:spPr bwMode="auto">
            <a:xfrm>
              <a:off x="1488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348" name="Rectangle 59"/>
            <p:cNvSpPr>
              <a:spLocks noChangeArrowheads="1"/>
            </p:cNvSpPr>
            <p:nvPr/>
          </p:nvSpPr>
          <p:spPr bwMode="auto">
            <a:xfrm>
              <a:off x="1680" y="2842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349" name="Rectangle 60"/>
            <p:cNvSpPr>
              <a:spLocks noChangeArrowheads="1"/>
            </p:cNvSpPr>
            <p:nvPr/>
          </p:nvSpPr>
          <p:spPr bwMode="auto">
            <a:xfrm>
              <a:off x="3936" y="2842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r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3350" name="Rectangle 61"/>
            <p:cNvSpPr>
              <a:spLocks noChangeArrowheads="1"/>
            </p:cNvSpPr>
            <p:nvPr/>
          </p:nvSpPr>
          <p:spPr bwMode="auto">
            <a:xfrm>
              <a:off x="2016" y="2842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f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3351" name="Rectangle 62"/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3352" name="Rectangle 63"/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3" name="Rectangle 64"/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4" name="Rectangle 65"/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5" name="Rectangle 66"/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6" name="Rectangle 67"/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7" name="Rectangle 68"/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8" name="Rectangle 69"/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9" name="Rectangle 70"/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0" name="Rectangle 71"/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1" name="Rectangle 72"/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2" name="Rectangle 73"/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3" name="Rectangle 74"/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4" name="Rectangle 75"/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5" name="Rectangle 76"/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6" name="Rectangle 77"/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67" name="Rectangle 78"/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320" name="Group 79"/>
          <p:cNvGrpSpPr>
            <a:grpSpLocks/>
          </p:cNvGrpSpPr>
          <p:nvPr/>
        </p:nvGrpSpPr>
        <p:grpSpPr bwMode="auto">
          <a:xfrm>
            <a:off x="3048000" y="5570538"/>
            <a:ext cx="5638800" cy="665162"/>
            <a:chOff x="960" y="3360"/>
            <a:chExt cx="3552" cy="419"/>
          </a:xfrm>
        </p:grpSpPr>
        <p:sp>
          <p:nvSpPr>
            <p:cNvPr id="13322" name="Rectangle 80"/>
            <p:cNvSpPr>
              <a:spLocks noChangeArrowheads="1"/>
            </p:cNvSpPr>
            <p:nvPr/>
          </p:nvSpPr>
          <p:spPr bwMode="auto">
            <a:xfrm>
              <a:off x="960" y="3360"/>
              <a:ext cx="18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Q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3323" name="Rectangle 81"/>
            <p:cNvSpPr>
              <a:spLocks noChangeArrowheads="1"/>
            </p:cNvSpPr>
            <p:nvPr/>
          </p:nvSpPr>
          <p:spPr bwMode="auto">
            <a:xfrm>
              <a:off x="1296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0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324" name="Rectangle 82"/>
            <p:cNvSpPr>
              <a:spLocks noChangeArrowheads="1"/>
            </p:cNvSpPr>
            <p:nvPr/>
          </p:nvSpPr>
          <p:spPr bwMode="auto">
            <a:xfrm>
              <a:off x="1488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1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325" name="Rectangle 83"/>
            <p:cNvSpPr>
              <a:spLocks noChangeArrowheads="1"/>
            </p:cNvSpPr>
            <p:nvPr/>
          </p:nvSpPr>
          <p:spPr bwMode="auto">
            <a:xfrm>
              <a:off x="1680" y="36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accent2"/>
                  </a:solidFill>
                  <a:latin typeface="Times New Roman" charset="0"/>
                </a:rPr>
                <a:t>2</a:t>
              </a:r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3326" name="Rectangle 84"/>
            <p:cNvSpPr>
              <a:spLocks noChangeArrowheads="1"/>
            </p:cNvSpPr>
            <p:nvPr/>
          </p:nvSpPr>
          <p:spPr bwMode="auto">
            <a:xfrm>
              <a:off x="3360" y="3605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f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3327" name="Rectangle 85"/>
            <p:cNvSpPr>
              <a:spLocks noChangeArrowheads="1"/>
            </p:cNvSpPr>
            <p:nvPr/>
          </p:nvSpPr>
          <p:spPr bwMode="auto">
            <a:xfrm>
              <a:off x="2016" y="3605"/>
              <a:ext cx="17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b="1" i="1">
                  <a:solidFill>
                    <a:schemeClr val="accent2"/>
                  </a:solidFill>
                  <a:latin typeface="Times New Roman" charset="0"/>
                </a:rPr>
                <a:t>r</a:t>
              </a:r>
              <a:endParaRPr lang="en-US" b="1">
                <a:solidFill>
                  <a:schemeClr val="accent2"/>
                </a:solidFill>
              </a:endParaRPr>
            </a:p>
          </p:txBody>
        </p:sp>
        <p:sp>
          <p:nvSpPr>
            <p:cNvPr id="13328" name="Rectangle 86"/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3329" name="Rectangle 87"/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0" name="Rectangle 88"/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1" name="Rectangle 89"/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2" name="Rectangle 90"/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3" name="Rectangle 91"/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4" name="Rectangle 92"/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5" name="Rectangle 93"/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6" name="Rectangle 94"/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7" name="Rectangle 95"/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8" name="Rectangle 96"/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39" name="Rectangle 97"/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0" name="Rectangle 98"/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1" name="Rectangle 99"/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2" name="Rectangle 100"/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3" name="Rectangle 101"/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4" name="Rectangle 102"/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321" name="Date Placeholder 5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© 2014 Goodrich, Tamassia, Goldwasser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 interface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public interface Queue&lt;E&gt; {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public </a:t>
            </a:r>
            <a:r>
              <a:rPr lang="en-US" sz="2000" dirty="0" err="1">
                <a:latin typeface="Century Gothic" panose="020B0502020202020204" pitchFamily="34" charset="0"/>
              </a:rPr>
              <a:t>int</a:t>
            </a:r>
            <a:r>
              <a:rPr lang="en-US" sz="2000" dirty="0">
                <a:latin typeface="Century Gothic" panose="020B0502020202020204" pitchFamily="34" charset="0"/>
              </a:rPr>
              <a:t> size();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public </a:t>
            </a:r>
            <a:r>
              <a:rPr lang="en-US" sz="2000" dirty="0" err="1">
                <a:latin typeface="Century Gothic" panose="020B0502020202020204" pitchFamily="34" charset="0"/>
              </a:rPr>
              <a:t>boolean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isEmpty</a:t>
            </a:r>
            <a:r>
              <a:rPr lang="en-US" sz="2000" dirty="0">
                <a:latin typeface="Century Gothic" panose="020B0502020202020204" pitchFamily="34" charset="0"/>
              </a:rPr>
              <a:t>();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public E front() throws </a:t>
            </a:r>
            <a:r>
              <a:rPr lang="en-US" sz="2000" dirty="0" err="1">
                <a:latin typeface="Century Gothic" panose="020B0502020202020204" pitchFamily="34" charset="0"/>
              </a:rPr>
              <a:t>EmptyQueueException</a:t>
            </a:r>
            <a:r>
              <a:rPr lang="en-US" sz="2000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public void </a:t>
            </a:r>
            <a:r>
              <a:rPr lang="en-US" sz="2000" dirty="0" err="1">
                <a:latin typeface="Century Gothic" panose="020B0502020202020204" pitchFamily="34" charset="0"/>
              </a:rPr>
              <a:t>enqueue</a:t>
            </a:r>
            <a:r>
              <a:rPr lang="en-US" sz="2000" dirty="0">
                <a:latin typeface="Century Gothic" panose="020B0502020202020204" pitchFamily="34" charset="0"/>
              </a:rPr>
              <a:t> (E element);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public E </a:t>
            </a:r>
            <a:r>
              <a:rPr lang="en-US" sz="2000" dirty="0" err="1">
                <a:latin typeface="Century Gothic" panose="020B0502020202020204" pitchFamily="34" charset="0"/>
              </a:rPr>
              <a:t>dequeue</a:t>
            </a:r>
            <a:r>
              <a:rPr lang="en-US" sz="2000" dirty="0">
                <a:latin typeface="Century Gothic" panose="020B0502020202020204" pitchFamily="34" charset="0"/>
              </a:rPr>
              <a:t>() throws </a:t>
            </a:r>
            <a:r>
              <a:rPr lang="en-US" sz="2000" dirty="0" err="1">
                <a:latin typeface="Century Gothic" panose="020B0502020202020204" pitchFamily="34" charset="0"/>
              </a:rPr>
              <a:t>EmptyQueueException</a:t>
            </a:r>
            <a:r>
              <a:rPr lang="en-US" sz="2000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158069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Implementation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r>
              <a:rPr lang="en-US"/>
              <a:t>© 2014 Goodrich, Tamassia, Goldwasser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8928D3-5836-D34A-958F-14258FF24A4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Queues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600200"/>
            <a:ext cx="7620000" cy="474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95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8229600" cy="1143000"/>
          </a:xfrm>
        </p:spPr>
        <p:txBody>
          <a:bodyPr/>
          <a:lstStyle/>
          <a:p>
            <a:r>
              <a:rPr lang="en-US" dirty="0"/>
              <a:t>Array-based Implementation (2)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r>
              <a:rPr lang="en-US"/>
              <a:t>© 2014 Goodrich, Tamassia, Goldwasser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8928D3-5836-D34A-958F-14258FF24A4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Queues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600200"/>
            <a:ext cx="6781800" cy="473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17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to </a:t>
            </a:r>
            <a:r>
              <a:rPr lang="en-US" dirty="0" err="1"/>
              <a:t>java.util.Queue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Queue methods and corresponding methods of </a:t>
            </a:r>
            <a:r>
              <a:rPr lang="en-US" dirty="0" err="1">
                <a:solidFill>
                  <a:srgbClr val="BE2D00"/>
                </a:solidFill>
              </a:rPr>
              <a:t>java.util.Queue</a:t>
            </a:r>
            <a:r>
              <a:rPr lang="en-US" dirty="0"/>
              <a:t>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hangingPunct="1"/>
            <a:r>
              <a:rPr lang="en-US"/>
              <a:t>© 2014 Goodrich, Tamassia, Goldwasser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8928D3-5836-D34A-958F-14258FF24A4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Queues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124201"/>
            <a:ext cx="8001000" cy="297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2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based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Implemented based on singly linked list</a:t>
            </a:r>
          </a:p>
          <a:p>
            <a:r>
              <a:rPr lang="en-US" sz="2000" dirty="0"/>
              <a:t>Node definition?</a:t>
            </a:r>
          </a:p>
          <a:p>
            <a:pPr marL="0" indent="0">
              <a:buNone/>
            </a:pPr>
            <a:r>
              <a:rPr lang="en-US" sz="1900" dirty="0">
                <a:latin typeface="Century Gothic" panose="020B0502020202020204" pitchFamily="34" charset="0"/>
              </a:rPr>
              <a:t>public void </a:t>
            </a:r>
            <a:r>
              <a:rPr lang="en-US" sz="1900" dirty="0" err="1">
                <a:latin typeface="Century Gothic" panose="020B0502020202020204" pitchFamily="34" charset="0"/>
              </a:rPr>
              <a:t>enqueue</a:t>
            </a:r>
            <a:r>
              <a:rPr lang="en-US" sz="1900" dirty="0">
                <a:latin typeface="Century Gothic" panose="020B0502020202020204" pitchFamily="34" charset="0"/>
              </a:rPr>
              <a:t>(E </a:t>
            </a:r>
            <a:r>
              <a:rPr lang="en-US" sz="1900" dirty="0" err="1">
                <a:latin typeface="Century Gothic" panose="020B0502020202020204" pitchFamily="34" charset="0"/>
              </a:rPr>
              <a:t>elem</a:t>
            </a:r>
            <a:r>
              <a:rPr lang="en-US" sz="1900" dirty="0">
                <a:latin typeface="Century Gothic" panose="020B0502020202020204" pitchFamily="34" charset="0"/>
              </a:rPr>
              <a:t>) { </a:t>
            </a:r>
          </a:p>
          <a:p>
            <a:pPr marL="0" indent="0">
              <a:buNone/>
            </a:pPr>
            <a:r>
              <a:rPr lang="en-US" sz="1900" dirty="0">
                <a:latin typeface="Century Gothic" panose="020B0502020202020204" pitchFamily="34" charset="0"/>
              </a:rPr>
              <a:t>	Node&lt;E&gt; node = new Node&lt;E&gt;(); </a:t>
            </a:r>
          </a:p>
          <a:p>
            <a:pPr marL="0" indent="0">
              <a:buNone/>
            </a:pPr>
            <a:r>
              <a:rPr lang="en-US" sz="1900" dirty="0">
                <a:latin typeface="Century Gothic" panose="020B0502020202020204" pitchFamily="34" charset="0"/>
              </a:rPr>
              <a:t>	</a:t>
            </a:r>
            <a:r>
              <a:rPr lang="en-US" sz="1900" dirty="0" err="1">
                <a:latin typeface="Century Gothic" panose="020B0502020202020204" pitchFamily="34" charset="0"/>
              </a:rPr>
              <a:t>node.setElement</a:t>
            </a:r>
            <a:r>
              <a:rPr lang="en-US" sz="1900" dirty="0">
                <a:latin typeface="Century Gothic" panose="020B0502020202020204" pitchFamily="34" charset="0"/>
              </a:rPr>
              <a:t>(</a:t>
            </a:r>
            <a:r>
              <a:rPr lang="en-US" sz="1900" dirty="0" err="1">
                <a:latin typeface="Century Gothic" panose="020B0502020202020204" pitchFamily="34" charset="0"/>
              </a:rPr>
              <a:t>elem</a:t>
            </a:r>
            <a:r>
              <a:rPr lang="en-US" sz="1900" dirty="0">
                <a:latin typeface="Century Gothic" panose="020B0502020202020204" pitchFamily="34" charset="0"/>
              </a:rPr>
              <a:t>); </a:t>
            </a:r>
          </a:p>
          <a:p>
            <a:pPr marL="0" indent="0">
              <a:buNone/>
            </a:pPr>
            <a:r>
              <a:rPr lang="en-US" sz="1900" dirty="0">
                <a:latin typeface="Century Gothic" panose="020B0502020202020204" pitchFamily="34" charset="0"/>
              </a:rPr>
              <a:t>	</a:t>
            </a:r>
            <a:r>
              <a:rPr lang="en-US" sz="1900" dirty="0" err="1">
                <a:latin typeface="Century Gothic" panose="020B0502020202020204" pitchFamily="34" charset="0"/>
              </a:rPr>
              <a:t>node.setNext</a:t>
            </a:r>
            <a:r>
              <a:rPr lang="en-US" sz="1900" dirty="0">
                <a:latin typeface="Century Gothic" panose="020B0502020202020204" pitchFamily="34" charset="0"/>
              </a:rPr>
              <a:t>(null); // node will be new tail node </a:t>
            </a:r>
          </a:p>
          <a:p>
            <a:pPr marL="0" indent="0">
              <a:buNone/>
            </a:pPr>
            <a:r>
              <a:rPr lang="en-US" sz="1900" dirty="0">
                <a:latin typeface="Century Gothic" panose="020B0502020202020204" pitchFamily="34" charset="0"/>
              </a:rPr>
              <a:t>	if (size == 0) // special case: empty queue </a:t>
            </a:r>
          </a:p>
          <a:p>
            <a:pPr marL="0" indent="0">
              <a:buNone/>
            </a:pPr>
            <a:r>
              <a:rPr lang="en-US" sz="1900" dirty="0">
                <a:latin typeface="Century Gothic" panose="020B0502020202020204" pitchFamily="34" charset="0"/>
              </a:rPr>
              <a:t>		head = node; </a:t>
            </a:r>
          </a:p>
          <a:p>
            <a:pPr marL="0" indent="0">
              <a:buNone/>
            </a:pPr>
            <a:r>
              <a:rPr lang="en-US" sz="1900" dirty="0">
                <a:latin typeface="Century Gothic" panose="020B0502020202020204" pitchFamily="34" charset="0"/>
              </a:rPr>
              <a:t>	else </a:t>
            </a:r>
          </a:p>
          <a:p>
            <a:pPr marL="0" indent="0">
              <a:buNone/>
            </a:pPr>
            <a:r>
              <a:rPr lang="en-US" sz="1900" dirty="0">
                <a:latin typeface="Century Gothic" panose="020B0502020202020204" pitchFamily="34" charset="0"/>
              </a:rPr>
              <a:t>		</a:t>
            </a:r>
            <a:r>
              <a:rPr lang="en-US" sz="1900" dirty="0" err="1">
                <a:latin typeface="Century Gothic" panose="020B0502020202020204" pitchFamily="34" charset="0"/>
              </a:rPr>
              <a:t>tail.setNext</a:t>
            </a:r>
            <a:r>
              <a:rPr lang="en-US" sz="1900" dirty="0">
                <a:latin typeface="Century Gothic" panose="020B0502020202020204" pitchFamily="34" charset="0"/>
              </a:rPr>
              <a:t>(node); // add node at the tail of the list </a:t>
            </a:r>
          </a:p>
          <a:p>
            <a:pPr marL="0" indent="0">
              <a:buNone/>
            </a:pPr>
            <a:r>
              <a:rPr lang="en-US" sz="1900" dirty="0">
                <a:latin typeface="Century Gothic" panose="020B0502020202020204" pitchFamily="34" charset="0"/>
              </a:rPr>
              <a:t>	tail = node; // update the reference to the tail node </a:t>
            </a:r>
          </a:p>
          <a:p>
            <a:pPr marL="0" indent="0">
              <a:buNone/>
            </a:pPr>
            <a:r>
              <a:rPr lang="en-US" sz="1900" dirty="0">
                <a:latin typeface="Century Gothic" panose="020B0502020202020204" pitchFamily="34" charset="0"/>
              </a:rPr>
              <a:t>	size++; </a:t>
            </a:r>
          </a:p>
          <a:p>
            <a:pPr marL="0" indent="0">
              <a:buNone/>
            </a:pPr>
            <a:r>
              <a:rPr lang="en-US" sz="1900" dirty="0">
                <a:latin typeface="Century Gothic" panose="020B050202020202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250910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based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public E </a:t>
            </a:r>
            <a:r>
              <a:rPr lang="en-US" sz="2000" dirty="0" err="1">
                <a:latin typeface="Century Gothic" panose="020B0502020202020204" pitchFamily="34" charset="0"/>
              </a:rPr>
              <a:t>dequeue</a:t>
            </a:r>
            <a:r>
              <a:rPr lang="en-US" sz="2000" dirty="0">
                <a:latin typeface="Century Gothic" panose="020B0502020202020204" pitchFamily="34" charset="0"/>
              </a:rPr>
              <a:t>() throws </a:t>
            </a:r>
            <a:r>
              <a:rPr lang="en-US" sz="2000" dirty="0" err="1">
                <a:latin typeface="Century Gothic" panose="020B0502020202020204" pitchFamily="34" charset="0"/>
              </a:rPr>
              <a:t>EmptyQueueException</a:t>
            </a:r>
            <a:r>
              <a:rPr lang="en-US" sz="2000" dirty="0">
                <a:latin typeface="Century Gothic" panose="020B0502020202020204" pitchFamily="34" charset="0"/>
              </a:rPr>
              <a:t> {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if (size == 0)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	throw new </a:t>
            </a:r>
            <a:r>
              <a:rPr lang="en-US" sz="2000" dirty="0" err="1">
                <a:latin typeface="Century Gothic" panose="020B0502020202020204" pitchFamily="34" charset="0"/>
              </a:rPr>
              <a:t>EmptyQueueException</a:t>
            </a:r>
            <a:r>
              <a:rPr lang="en-US" sz="2000" dirty="0">
                <a:latin typeface="Century Gothic" panose="020B0502020202020204" pitchFamily="34" charset="0"/>
              </a:rPr>
              <a:t>("Queue is empty.");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E temp = </a:t>
            </a:r>
            <a:r>
              <a:rPr lang="en-US" sz="2000" dirty="0" err="1">
                <a:latin typeface="Century Gothic" panose="020B0502020202020204" pitchFamily="34" charset="0"/>
              </a:rPr>
              <a:t>head.getElement</a:t>
            </a:r>
            <a:r>
              <a:rPr lang="en-US" sz="2000" dirty="0">
                <a:latin typeface="Century Gothic" panose="020B0502020202020204" pitchFamily="34" charset="0"/>
              </a:rPr>
              <a:t>();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head = </a:t>
            </a:r>
            <a:r>
              <a:rPr lang="en-US" sz="2000" dirty="0" err="1">
                <a:latin typeface="Century Gothic" panose="020B0502020202020204" pitchFamily="34" charset="0"/>
              </a:rPr>
              <a:t>head.getNext</a:t>
            </a:r>
            <a:r>
              <a:rPr lang="en-US" sz="2000" dirty="0">
                <a:latin typeface="Century Gothic" panose="020B0502020202020204" pitchFamily="34" charset="0"/>
              </a:rPr>
              <a:t>();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size--;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if (size == 0)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	tail = null; // the queue is now empty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	return temp;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}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400" dirty="0"/>
              <a:t>Implement </a:t>
            </a:r>
          </a:p>
          <a:p>
            <a:pPr marL="400050" lvl="1" indent="0">
              <a:buNone/>
            </a:pPr>
            <a:r>
              <a:rPr lang="en-US" sz="2400" dirty="0"/>
              <a:t>	</a:t>
            </a:r>
            <a:r>
              <a:rPr lang="en-US" sz="2000" dirty="0">
                <a:latin typeface="Century Gothic" panose="020B0502020202020204" pitchFamily="34" charset="0"/>
              </a:rPr>
              <a:t>public E front() throws </a:t>
            </a:r>
            <a:r>
              <a:rPr lang="en-US" sz="2000" dirty="0" err="1">
                <a:latin typeface="Century Gothic" panose="020B0502020202020204" pitchFamily="34" charset="0"/>
              </a:rPr>
              <a:t>EmptyQueueException</a:t>
            </a:r>
            <a:r>
              <a:rPr lang="en-US" sz="2000" dirty="0">
                <a:latin typeface="Century Gothic" panose="020B0502020202020204" pitchFamily="34" charset="0"/>
              </a:rPr>
              <a:t>{…}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532174"/>
              </p:ext>
            </p:extLst>
          </p:nvPr>
        </p:nvGraphicFramePr>
        <p:xfrm>
          <a:off x="6242050" y="25908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177480" progId="Equation.DSMT4">
                  <p:embed/>
                </p:oleObj>
              </mc:Choice>
              <mc:Fallback>
                <p:oleObj name="Equation" r:id="rId2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42050" y="2590800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6284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Double-ended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public interface </a:t>
            </a:r>
            <a:r>
              <a:rPr lang="en-US" sz="2000" dirty="0" err="1">
                <a:latin typeface="Century Gothic" panose="020B0502020202020204" pitchFamily="34" charset="0"/>
              </a:rPr>
              <a:t>Deque</a:t>
            </a:r>
            <a:r>
              <a:rPr lang="en-US" sz="2000" dirty="0">
                <a:latin typeface="Century Gothic" panose="020B0502020202020204" pitchFamily="34" charset="0"/>
              </a:rPr>
              <a:t>&lt;E&gt; {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	public </a:t>
            </a:r>
            <a:r>
              <a:rPr lang="en-US" sz="2000" dirty="0" err="1">
                <a:latin typeface="Century Gothic" panose="020B0502020202020204" pitchFamily="34" charset="0"/>
              </a:rPr>
              <a:t>int</a:t>
            </a:r>
            <a:r>
              <a:rPr lang="en-US" sz="2000" dirty="0">
                <a:latin typeface="Century Gothic" panose="020B0502020202020204" pitchFamily="34" charset="0"/>
              </a:rPr>
              <a:t> size(); // Returns the number of elements in the deque.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	public </a:t>
            </a:r>
            <a:r>
              <a:rPr lang="en-US" sz="2000" dirty="0" err="1">
                <a:latin typeface="Century Gothic" panose="020B0502020202020204" pitchFamily="34" charset="0"/>
              </a:rPr>
              <a:t>boolean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isEmpty</a:t>
            </a:r>
            <a:r>
              <a:rPr lang="en-US" sz="2000" dirty="0">
                <a:latin typeface="Century Gothic" panose="020B0502020202020204" pitchFamily="34" charset="0"/>
              </a:rPr>
              <a:t>(); //Returns whether the deque is empty.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	public E </a:t>
            </a:r>
            <a:r>
              <a:rPr lang="en-US" sz="2000" dirty="0" err="1">
                <a:latin typeface="Century Gothic" panose="020B0502020202020204" pitchFamily="34" charset="0"/>
              </a:rPr>
              <a:t>getFirst</a:t>
            </a:r>
            <a:r>
              <a:rPr lang="en-US" sz="2000" dirty="0">
                <a:latin typeface="Century Gothic" panose="020B0502020202020204" pitchFamily="34" charset="0"/>
              </a:rPr>
              <a:t>() throws </a:t>
            </a:r>
            <a:r>
              <a:rPr lang="en-US" sz="2000" dirty="0" err="1">
                <a:latin typeface="Century Gothic" panose="020B0502020202020204" pitchFamily="34" charset="0"/>
              </a:rPr>
              <a:t>EmptyDequeException</a:t>
            </a:r>
            <a:r>
              <a:rPr lang="en-US" sz="2000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	public E </a:t>
            </a:r>
            <a:r>
              <a:rPr lang="en-US" sz="2000" dirty="0" err="1">
                <a:latin typeface="Century Gothic" panose="020B0502020202020204" pitchFamily="34" charset="0"/>
              </a:rPr>
              <a:t>getLast</a:t>
            </a:r>
            <a:r>
              <a:rPr lang="en-US" sz="2000" dirty="0">
                <a:latin typeface="Century Gothic" panose="020B0502020202020204" pitchFamily="34" charset="0"/>
              </a:rPr>
              <a:t>() throws </a:t>
            </a:r>
            <a:r>
              <a:rPr lang="en-US" sz="2000" dirty="0" err="1">
                <a:latin typeface="Century Gothic" panose="020B0502020202020204" pitchFamily="34" charset="0"/>
              </a:rPr>
              <a:t>EmptyDequeException</a:t>
            </a:r>
            <a:r>
              <a:rPr lang="en-US" sz="2000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	public void </a:t>
            </a:r>
            <a:r>
              <a:rPr lang="en-US" sz="2000" dirty="0" err="1">
                <a:latin typeface="Century Gothic" panose="020B0502020202020204" pitchFamily="34" charset="0"/>
              </a:rPr>
              <a:t>addFirst</a:t>
            </a:r>
            <a:r>
              <a:rPr lang="en-US" sz="2000" dirty="0">
                <a:latin typeface="Century Gothic" panose="020B0502020202020204" pitchFamily="34" charset="0"/>
              </a:rPr>
              <a:t> (E element); //Inserts an element to be the first.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	public void </a:t>
            </a:r>
            <a:r>
              <a:rPr lang="en-US" sz="2000" dirty="0" err="1">
                <a:latin typeface="Century Gothic" panose="020B0502020202020204" pitchFamily="34" charset="0"/>
              </a:rPr>
              <a:t>addLast</a:t>
            </a:r>
            <a:r>
              <a:rPr lang="en-US" sz="2000" dirty="0">
                <a:latin typeface="Century Gothic" panose="020B0502020202020204" pitchFamily="34" charset="0"/>
              </a:rPr>
              <a:t> (E element); //Removes the first element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	public E </a:t>
            </a:r>
            <a:r>
              <a:rPr lang="en-US" sz="2000" dirty="0" err="1">
                <a:latin typeface="Century Gothic" panose="020B0502020202020204" pitchFamily="34" charset="0"/>
              </a:rPr>
              <a:t>removeFirst</a:t>
            </a:r>
            <a:r>
              <a:rPr lang="en-US" sz="2000" dirty="0">
                <a:latin typeface="Century Gothic" panose="020B0502020202020204" pitchFamily="34" charset="0"/>
              </a:rPr>
              <a:t>() throws </a:t>
            </a:r>
            <a:r>
              <a:rPr lang="en-US" sz="2000" dirty="0" err="1">
                <a:latin typeface="Century Gothic" panose="020B0502020202020204" pitchFamily="34" charset="0"/>
              </a:rPr>
              <a:t>EmptyDequeException</a:t>
            </a:r>
            <a:r>
              <a:rPr lang="en-US" sz="2000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  	public E </a:t>
            </a:r>
            <a:r>
              <a:rPr lang="en-US" sz="2000" dirty="0" err="1">
                <a:latin typeface="Century Gothic" panose="020B0502020202020204" pitchFamily="34" charset="0"/>
              </a:rPr>
              <a:t>removeLast</a:t>
            </a:r>
            <a:r>
              <a:rPr lang="en-US" sz="2000" dirty="0">
                <a:latin typeface="Century Gothic" panose="020B0502020202020204" pitchFamily="34" charset="0"/>
              </a:rPr>
              <a:t>() throws </a:t>
            </a:r>
            <a:r>
              <a:rPr lang="en-US" sz="2000" dirty="0" err="1">
                <a:latin typeface="Century Gothic" panose="020B0502020202020204" pitchFamily="34" charset="0"/>
              </a:rPr>
              <a:t>EmptyDequeException</a:t>
            </a:r>
            <a:r>
              <a:rPr lang="en-US" sz="2000" dirty="0">
                <a:latin typeface="Century Gothic" panose="020B0502020202020204" pitchFamily="34" charset="0"/>
              </a:rPr>
              <a:t>; </a:t>
            </a:r>
          </a:p>
          <a:p>
            <a:pPr marL="0" indent="0">
              <a:buNone/>
            </a:pPr>
            <a:r>
              <a:rPr lang="en-US" sz="2000" dirty="0">
                <a:latin typeface="Century Gothic" panose="020B0502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3994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00200"/>
            <a:ext cx="8229600" cy="4648200"/>
          </a:xfrm>
        </p:spPr>
        <p:txBody>
          <a:bodyPr>
            <a:noAutofit/>
          </a:bodyPr>
          <a:lstStyle/>
          <a:p>
            <a:r>
              <a:rPr lang="en-US" sz="2000" dirty="0"/>
              <a:t>Implemented based on </a:t>
            </a:r>
            <a:r>
              <a:rPr lang="en-US" sz="2000" u="sng" dirty="0"/>
              <a:t>doubly linked list</a:t>
            </a:r>
          </a:p>
          <a:p>
            <a:r>
              <a:rPr lang="en-US" sz="2000" dirty="0"/>
              <a:t>Node definition?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public class </a:t>
            </a:r>
            <a:r>
              <a:rPr lang="en-US" sz="1900" dirty="0" err="1"/>
              <a:t>NodeDeque</a:t>
            </a:r>
            <a:r>
              <a:rPr lang="en-US" sz="1900" dirty="0"/>
              <a:t>&lt;E&gt; implements </a:t>
            </a:r>
            <a:r>
              <a:rPr lang="en-US" sz="1900" dirty="0" err="1"/>
              <a:t>Deque</a:t>
            </a:r>
            <a:r>
              <a:rPr lang="en-US" sz="1900" dirty="0"/>
              <a:t>&lt;E&gt; { </a:t>
            </a:r>
          </a:p>
          <a:p>
            <a:pPr marL="0" indent="0">
              <a:buNone/>
            </a:pPr>
            <a:r>
              <a:rPr lang="en-US" sz="1900" dirty="0"/>
              <a:t>	protected </a:t>
            </a:r>
            <a:r>
              <a:rPr lang="en-US" sz="1900" dirty="0" err="1"/>
              <a:t>DLNode</a:t>
            </a:r>
            <a:r>
              <a:rPr lang="en-US" sz="1900" dirty="0"/>
              <a:t>&lt;E&gt; header, trailer; </a:t>
            </a:r>
          </a:p>
          <a:p>
            <a:pPr marL="0" indent="0">
              <a:buNone/>
            </a:pPr>
            <a:r>
              <a:rPr lang="en-US" sz="1900" dirty="0"/>
              <a:t>	protected </a:t>
            </a:r>
            <a:r>
              <a:rPr lang="en-US" sz="1900" dirty="0" err="1"/>
              <a:t>int</a:t>
            </a:r>
            <a:r>
              <a:rPr lang="en-US" sz="1900" dirty="0"/>
              <a:t> size; </a:t>
            </a:r>
          </a:p>
          <a:p>
            <a:pPr marL="0" indent="0">
              <a:buNone/>
            </a:pPr>
            <a:r>
              <a:rPr lang="en-US" sz="1900" dirty="0"/>
              <a:t>	public </a:t>
            </a:r>
            <a:r>
              <a:rPr lang="en-US" sz="1900" dirty="0" err="1"/>
              <a:t>NodeDeque</a:t>
            </a:r>
            <a:r>
              <a:rPr lang="en-US" sz="1900" dirty="0"/>
              <a:t>() { </a:t>
            </a:r>
          </a:p>
          <a:p>
            <a:pPr marL="0" indent="0">
              <a:buNone/>
            </a:pPr>
            <a:r>
              <a:rPr lang="en-US" sz="1900" dirty="0"/>
              <a:t>		header = new </a:t>
            </a:r>
            <a:r>
              <a:rPr lang="en-US" sz="1900" dirty="0" err="1"/>
              <a:t>DLNode</a:t>
            </a:r>
            <a:r>
              <a:rPr lang="en-US" sz="1900" dirty="0"/>
              <a:t>&lt;E&gt;(); </a:t>
            </a:r>
          </a:p>
          <a:p>
            <a:pPr marL="0" indent="0">
              <a:buNone/>
            </a:pPr>
            <a:r>
              <a:rPr lang="en-US" sz="1900" dirty="0"/>
              <a:t>		trailer = new </a:t>
            </a:r>
            <a:r>
              <a:rPr lang="en-US" sz="1900" dirty="0" err="1"/>
              <a:t>DLNode</a:t>
            </a:r>
            <a:r>
              <a:rPr lang="en-US" sz="1900" dirty="0"/>
              <a:t>&lt;E&gt;(); 			</a:t>
            </a:r>
          </a:p>
          <a:p>
            <a:pPr marL="0" indent="0">
              <a:buNone/>
            </a:pPr>
            <a:r>
              <a:rPr lang="en-US" sz="1900" dirty="0"/>
              <a:t>		</a:t>
            </a:r>
            <a:r>
              <a:rPr lang="en-US" sz="1900" dirty="0" err="1"/>
              <a:t>header.setNext</a:t>
            </a:r>
            <a:r>
              <a:rPr lang="en-US" sz="1900" dirty="0"/>
              <a:t>(trailer); </a:t>
            </a:r>
          </a:p>
          <a:p>
            <a:pPr marL="0" indent="0">
              <a:buNone/>
            </a:pPr>
            <a:r>
              <a:rPr lang="en-US" sz="1900" dirty="0"/>
              <a:t>		</a:t>
            </a:r>
            <a:r>
              <a:rPr lang="en-US" sz="1900" dirty="0" err="1"/>
              <a:t>trailer.setPrev</a:t>
            </a:r>
            <a:r>
              <a:rPr lang="en-US" sz="1900" dirty="0"/>
              <a:t>(header); </a:t>
            </a:r>
          </a:p>
          <a:p>
            <a:pPr marL="0" indent="0">
              <a:buNone/>
            </a:pPr>
            <a:r>
              <a:rPr lang="en-US" sz="1900" dirty="0"/>
              <a:t>		size = 0; </a:t>
            </a:r>
          </a:p>
          <a:p>
            <a:pPr marL="0" indent="0">
              <a:buNone/>
            </a:pPr>
            <a:r>
              <a:rPr lang="en-US" sz="1900" dirty="0"/>
              <a:t>	}</a:t>
            </a:r>
          </a:p>
          <a:p>
            <a:pPr marL="0" indent="0">
              <a:buNone/>
            </a:pPr>
            <a:endParaRPr lang="en-US" sz="19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Linked list </a:t>
            </a:r>
            <a:r>
              <a:rPr lang="en-US" dirty="0" err="1"/>
              <a:t>deque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81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</a:t>
            </a:r>
            <a:r>
              <a:rPr lang="en-US" dirty="0" err="1"/>
              <a:t>deque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/>
              <a:t>  public </a:t>
            </a:r>
            <a:r>
              <a:rPr lang="en-US" sz="2000" dirty="0" err="1"/>
              <a:t>int</a:t>
            </a:r>
            <a:r>
              <a:rPr lang="en-US" sz="2000" dirty="0"/>
              <a:t> size() { </a:t>
            </a:r>
          </a:p>
          <a:p>
            <a:pPr marL="0" indent="0">
              <a:buNone/>
            </a:pPr>
            <a:r>
              <a:rPr lang="en-US" sz="2000" dirty="0"/>
              <a:t>	return size; </a:t>
            </a:r>
          </a:p>
          <a:p>
            <a:pPr marL="0" indent="0">
              <a:buNone/>
            </a:pPr>
            <a:r>
              <a:rPr lang="en-US" sz="2000" dirty="0"/>
              <a:t>  }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 public </a:t>
            </a:r>
            <a:r>
              <a:rPr lang="en-US" sz="2000" dirty="0" err="1"/>
              <a:t>boolean</a:t>
            </a:r>
            <a:r>
              <a:rPr lang="en-US" sz="2000" dirty="0"/>
              <a:t> </a:t>
            </a:r>
            <a:r>
              <a:rPr lang="en-US" sz="2000" dirty="0" err="1"/>
              <a:t>isEmpty</a:t>
            </a:r>
            <a:r>
              <a:rPr lang="en-US" sz="2000" dirty="0"/>
              <a:t>() { </a:t>
            </a:r>
          </a:p>
          <a:p>
            <a:pPr marL="0" indent="0">
              <a:buNone/>
            </a:pPr>
            <a:r>
              <a:rPr lang="en-US" sz="2000" dirty="0"/>
              <a:t>	if (size == 0) return true; </a:t>
            </a:r>
          </a:p>
          <a:p>
            <a:pPr marL="0" indent="0">
              <a:buNone/>
            </a:pPr>
            <a:r>
              <a:rPr lang="en-US" sz="2000" dirty="0"/>
              <a:t>	return false; </a:t>
            </a:r>
          </a:p>
          <a:p>
            <a:pPr marL="0" indent="0">
              <a:buNone/>
            </a:pPr>
            <a:r>
              <a:rPr lang="en-US" sz="2000" dirty="0"/>
              <a:t>  }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public E </a:t>
            </a:r>
            <a:r>
              <a:rPr lang="en-US" sz="2000" dirty="0" err="1"/>
              <a:t>getFirst</a:t>
            </a:r>
            <a:r>
              <a:rPr lang="en-US" sz="2000" dirty="0"/>
              <a:t>() throws </a:t>
            </a:r>
            <a:r>
              <a:rPr lang="en-US" sz="2000" dirty="0" err="1"/>
              <a:t>EmptyDequeException</a:t>
            </a:r>
            <a:r>
              <a:rPr lang="en-US" sz="2000" dirty="0"/>
              <a:t> { </a:t>
            </a:r>
          </a:p>
          <a:p>
            <a:pPr marL="0" indent="0">
              <a:buNone/>
            </a:pPr>
            <a:r>
              <a:rPr lang="en-US" sz="2000" dirty="0"/>
              <a:t>	if (</a:t>
            </a:r>
            <a:r>
              <a:rPr lang="en-US" sz="2000" dirty="0" err="1"/>
              <a:t>isEmpty</a:t>
            </a:r>
            <a:r>
              <a:rPr lang="en-US" sz="2000" dirty="0"/>
              <a:t>()) throw </a:t>
            </a:r>
          </a:p>
          <a:p>
            <a:pPr marL="0" indent="0">
              <a:buNone/>
            </a:pPr>
            <a:r>
              <a:rPr lang="en-US" sz="2000" dirty="0"/>
              <a:t>		new </a:t>
            </a:r>
            <a:r>
              <a:rPr lang="en-US" sz="2000" dirty="0" err="1"/>
              <a:t>EmptyDequeException</a:t>
            </a:r>
            <a:r>
              <a:rPr lang="en-US" sz="2000" dirty="0"/>
              <a:t>("</a:t>
            </a:r>
            <a:r>
              <a:rPr lang="en-US" sz="2000" dirty="0" err="1"/>
              <a:t>Deque</a:t>
            </a:r>
            <a:r>
              <a:rPr lang="en-US" sz="2000" dirty="0"/>
              <a:t> is empty."); </a:t>
            </a:r>
          </a:p>
          <a:p>
            <a:pPr marL="0" indent="0">
              <a:buNone/>
            </a:pPr>
            <a:r>
              <a:rPr lang="en-US" sz="2000" dirty="0"/>
              <a:t>	return </a:t>
            </a:r>
            <a:r>
              <a:rPr lang="en-US" sz="2000" dirty="0" err="1"/>
              <a:t>header.getNext</a:t>
            </a:r>
            <a:r>
              <a:rPr lang="en-US" sz="2000" dirty="0"/>
              <a:t>().</a:t>
            </a:r>
            <a:r>
              <a:rPr lang="en-US" sz="2000" dirty="0" err="1"/>
              <a:t>getElement</a:t>
            </a:r>
            <a:r>
              <a:rPr lang="en-US" sz="2000" dirty="0"/>
              <a:t>(); </a:t>
            </a:r>
          </a:p>
          <a:p>
            <a:pPr marL="0" indent="0">
              <a:buNone/>
            </a:pPr>
            <a:r>
              <a:rPr lang="en-US" sz="2000" dirty="0"/>
              <a:t>  } 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92839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Linked list </a:t>
            </a:r>
            <a:r>
              <a:rPr lang="en-US" dirty="0" err="1"/>
              <a:t>deque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257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dirty="0"/>
              <a:t>public void </a:t>
            </a:r>
            <a:r>
              <a:rPr lang="en-US" sz="2400" dirty="0" err="1"/>
              <a:t>addFirst</a:t>
            </a:r>
            <a:r>
              <a:rPr lang="en-US" sz="2400" dirty="0"/>
              <a:t>(E o) { 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DLNode</a:t>
            </a:r>
            <a:r>
              <a:rPr lang="en-US" sz="2400" dirty="0"/>
              <a:t>&lt;E&gt; second = </a:t>
            </a:r>
            <a:r>
              <a:rPr lang="en-US" sz="2400" dirty="0" err="1"/>
              <a:t>header.getNext</a:t>
            </a:r>
            <a:r>
              <a:rPr lang="en-US" sz="2400" dirty="0"/>
              <a:t>(); 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DLNode</a:t>
            </a:r>
            <a:r>
              <a:rPr lang="en-US" sz="2400" dirty="0"/>
              <a:t>&lt;E&gt; first = new </a:t>
            </a:r>
            <a:r>
              <a:rPr lang="en-US" sz="2400" dirty="0" err="1"/>
              <a:t>DLNode</a:t>
            </a:r>
            <a:r>
              <a:rPr lang="en-US" sz="2400" dirty="0"/>
              <a:t>&lt;E&gt;(o, header, second); 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second.setPrev</a:t>
            </a:r>
            <a:r>
              <a:rPr lang="en-US" sz="2400" dirty="0"/>
              <a:t>(first); 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header.setNext</a:t>
            </a:r>
            <a:r>
              <a:rPr lang="en-US" sz="2400" dirty="0"/>
              <a:t>(first); </a:t>
            </a:r>
          </a:p>
          <a:p>
            <a:pPr marL="0" indent="0">
              <a:buNone/>
            </a:pPr>
            <a:r>
              <a:rPr lang="en-US" sz="2400" dirty="0"/>
              <a:t>	size++; </a:t>
            </a:r>
          </a:p>
          <a:p>
            <a:pPr marL="0" indent="0">
              <a:buNone/>
            </a:pPr>
            <a:r>
              <a:rPr lang="en-US" sz="2400" dirty="0"/>
              <a:t>  }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public E </a:t>
            </a:r>
            <a:r>
              <a:rPr lang="en-US" sz="2400" dirty="0" err="1"/>
              <a:t>removeLast</a:t>
            </a:r>
            <a:r>
              <a:rPr lang="en-US" sz="2400" dirty="0"/>
              <a:t>() throws </a:t>
            </a:r>
            <a:r>
              <a:rPr lang="en-US" sz="2400" dirty="0" err="1"/>
              <a:t>EmptyDequeException</a:t>
            </a:r>
            <a:r>
              <a:rPr lang="en-US" sz="2400" dirty="0"/>
              <a:t> { </a:t>
            </a:r>
          </a:p>
          <a:p>
            <a:pPr marL="0" indent="0">
              <a:buNone/>
            </a:pPr>
            <a:r>
              <a:rPr lang="en-US" sz="2400" dirty="0"/>
              <a:t>	if (</a:t>
            </a:r>
            <a:r>
              <a:rPr lang="en-US" sz="2400" dirty="0" err="1"/>
              <a:t>isEmpty</a:t>
            </a:r>
            <a:r>
              <a:rPr lang="en-US" sz="2400" dirty="0"/>
              <a:t>()) throw new </a:t>
            </a:r>
            <a:r>
              <a:rPr lang="en-US" sz="2400" dirty="0" err="1"/>
              <a:t>EmptyDequeException</a:t>
            </a:r>
            <a:r>
              <a:rPr lang="en-US" sz="2400" dirty="0"/>
              <a:t>("</a:t>
            </a:r>
            <a:r>
              <a:rPr lang="en-US" sz="2400" dirty="0" err="1"/>
              <a:t>Deque</a:t>
            </a:r>
            <a:r>
              <a:rPr lang="en-US" sz="2400" dirty="0"/>
              <a:t> is empty."); 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DLNode</a:t>
            </a:r>
            <a:r>
              <a:rPr lang="en-US" sz="2400" dirty="0"/>
              <a:t>&lt;E&gt; last = </a:t>
            </a:r>
            <a:r>
              <a:rPr lang="en-US" sz="2400" dirty="0" err="1"/>
              <a:t>trailer.getPrev</a:t>
            </a:r>
            <a:r>
              <a:rPr lang="en-US" sz="2400" dirty="0"/>
              <a:t>(); E o = </a:t>
            </a:r>
            <a:r>
              <a:rPr lang="en-US" sz="2400" dirty="0" err="1"/>
              <a:t>last.getElement</a:t>
            </a:r>
            <a:r>
              <a:rPr lang="en-US" sz="2400" dirty="0"/>
              <a:t>(); 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DLNode</a:t>
            </a:r>
            <a:r>
              <a:rPr lang="en-US" sz="2400" dirty="0"/>
              <a:t>&lt;E&gt; </a:t>
            </a:r>
            <a:r>
              <a:rPr lang="en-US" sz="2400" dirty="0" err="1"/>
              <a:t>secondtolast</a:t>
            </a:r>
            <a:r>
              <a:rPr lang="en-US" sz="2400" dirty="0"/>
              <a:t> = </a:t>
            </a:r>
            <a:r>
              <a:rPr lang="en-US" sz="2400" dirty="0" err="1"/>
              <a:t>last.getPrev</a:t>
            </a:r>
            <a:r>
              <a:rPr lang="en-US" sz="2400" dirty="0"/>
              <a:t>(); 	</a:t>
            </a:r>
            <a:r>
              <a:rPr lang="en-US" sz="2400" dirty="0" err="1"/>
              <a:t>trailer.setPrev</a:t>
            </a:r>
            <a:r>
              <a:rPr lang="en-US" sz="2400" dirty="0"/>
              <a:t>(</a:t>
            </a:r>
            <a:r>
              <a:rPr lang="en-US" sz="2400" dirty="0" err="1"/>
              <a:t>secondtolast</a:t>
            </a:r>
            <a:r>
              <a:rPr lang="en-US" sz="2400" dirty="0"/>
              <a:t>); 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secondtolast.setNext</a:t>
            </a:r>
            <a:r>
              <a:rPr lang="en-US" sz="2400" dirty="0"/>
              <a:t>(trailer); </a:t>
            </a:r>
          </a:p>
          <a:p>
            <a:pPr marL="0" indent="0">
              <a:buNone/>
            </a:pPr>
            <a:r>
              <a:rPr lang="en-US" sz="2400" dirty="0"/>
              <a:t>	size--; </a:t>
            </a:r>
          </a:p>
          <a:p>
            <a:pPr marL="0" indent="0">
              <a:buNone/>
            </a:pPr>
            <a:r>
              <a:rPr lang="en-US" sz="2400" dirty="0"/>
              <a:t>	return o; </a:t>
            </a:r>
          </a:p>
          <a:p>
            <a:pPr marL="0" indent="0">
              <a:buNone/>
            </a:pPr>
            <a:r>
              <a:rPr lang="en-US" sz="2400" dirty="0"/>
              <a:t>  } 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4884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 252: R-6.7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173D55-8F89-72FB-6F1A-142FCF05F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" y="3035300"/>
            <a:ext cx="11220450" cy="393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9D20BD-F195-AB35-2EAD-8D095A7A92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76" y="3463529"/>
            <a:ext cx="11753850" cy="29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52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8FA81-A921-96C4-E525-A7C6B394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EF13-71C7-E745-F67C-E6FD16EDB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95695-2571-0B91-4851-930994160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 254: C-6.24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B90CB7-0F47-F58F-60B1-816955BA1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793" y="2720182"/>
            <a:ext cx="9566413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91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1242</Words>
  <Application>Microsoft Macintosh PowerPoint</Application>
  <PresentationFormat>Widescreen</PresentationFormat>
  <Paragraphs>240</Paragraphs>
  <Slides>22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Century Gothic</vt:lpstr>
      <vt:lpstr>Symbol</vt:lpstr>
      <vt:lpstr>Tahoma</vt:lpstr>
      <vt:lpstr>Times New Roman</vt:lpstr>
      <vt:lpstr>Wingdings</vt:lpstr>
      <vt:lpstr>Office Theme</vt:lpstr>
      <vt:lpstr>Equation</vt:lpstr>
      <vt:lpstr>CS-205 Data Structure and Algorithms  8. Queues</vt:lpstr>
      <vt:lpstr>Review of stacks</vt:lpstr>
      <vt:lpstr>Queues</vt:lpstr>
      <vt:lpstr>Queues</vt:lpstr>
      <vt:lpstr>Operations on Queues</vt:lpstr>
      <vt:lpstr>PowerPoint Presentation</vt:lpstr>
      <vt:lpstr>Array-based Queue</vt:lpstr>
      <vt:lpstr>Queue Operations</vt:lpstr>
      <vt:lpstr>Queue Operations (cont.)</vt:lpstr>
      <vt:lpstr>Queue Operations (cont.)</vt:lpstr>
      <vt:lpstr>Queue interface in Java</vt:lpstr>
      <vt:lpstr>Array-based Implementation</vt:lpstr>
      <vt:lpstr>Array-based Implementation (2)</vt:lpstr>
      <vt:lpstr>Comparison to java.util.Queue</vt:lpstr>
      <vt:lpstr>Linked list based queue</vt:lpstr>
      <vt:lpstr>Linked list based queue</vt:lpstr>
      <vt:lpstr>Double-ended queues</vt:lpstr>
      <vt:lpstr>Linked list deque</vt:lpstr>
      <vt:lpstr>Linked list deque</vt:lpstr>
      <vt:lpstr>Linked list deque</vt:lpstr>
      <vt:lpstr>Exercises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Yao Xu</dc:creator>
  <cp:lastModifiedBy>Qu, Weihao</cp:lastModifiedBy>
  <cp:revision>104</cp:revision>
  <dcterms:created xsi:type="dcterms:W3CDTF">2006-08-16T00:00:00Z</dcterms:created>
  <dcterms:modified xsi:type="dcterms:W3CDTF">2025-01-18T19:29:04Z</dcterms:modified>
</cp:coreProperties>
</file>