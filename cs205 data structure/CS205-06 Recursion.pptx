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310" r:id="rId3"/>
    <p:sldId id="331" r:id="rId4"/>
    <p:sldId id="336" r:id="rId5"/>
    <p:sldId id="337" r:id="rId6"/>
    <p:sldId id="338" r:id="rId7"/>
    <p:sldId id="265" r:id="rId8"/>
    <p:sldId id="304" r:id="rId9"/>
    <p:sldId id="311" r:id="rId10"/>
    <p:sldId id="260" r:id="rId11"/>
    <p:sldId id="312" r:id="rId12"/>
    <p:sldId id="268" r:id="rId13"/>
    <p:sldId id="316" r:id="rId14"/>
    <p:sldId id="317" r:id="rId15"/>
    <p:sldId id="318" r:id="rId16"/>
    <p:sldId id="319" r:id="rId17"/>
    <p:sldId id="320" r:id="rId18"/>
    <p:sldId id="321" r:id="rId19"/>
    <p:sldId id="269" r:id="rId20"/>
    <p:sldId id="271" r:id="rId21"/>
    <p:sldId id="272" r:id="rId22"/>
    <p:sldId id="270" r:id="rId23"/>
    <p:sldId id="325" r:id="rId24"/>
    <p:sldId id="326" r:id="rId25"/>
    <p:sldId id="273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303" r:id="rId35"/>
    <p:sldId id="297" r:id="rId36"/>
    <p:sldId id="298" r:id="rId37"/>
    <p:sldId id="299" r:id="rId38"/>
    <p:sldId id="300" r:id="rId39"/>
    <p:sldId id="301" r:id="rId40"/>
    <p:sldId id="302" r:id="rId41"/>
  </p:sldIdLst>
  <p:sldSz cx="12192000" cy="6858000"/>
  <p:notesSz cx="7010400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34" autoAdjust="0"/>
    <p:restoredTop sz="94660"/>
  </p:normalViewPr>
  <p:slideViewPr>
    <p:cSldViewPr>
      <p:cViewPr varScale="1">
        <p:scale>
          <a:sx n="130" d="100"/>
          <a:sy n="130" d="100"/>
        </p:scale>
        <p:origin x="208" y="30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47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7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931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454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871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526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697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093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186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813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151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3048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17600" y="19050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0" y="19050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© 2014 Goodrich, Tamassia, Goldwasser</a:t>
            </a:r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F16466C-239D-0E4F-9AE1-B2A430EFDC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Recursion</a:t>
            </a:r>
          </a:p>
        </p:txBody>
      </p:sp>
    </p:spTree>
    <p:extLst>
      <p:ext uri="{BB962C8B-B14F-4D97-AF65-F5344CB8AC3E}">
        <p14:creationId xmlns:p14="http://schemas.microsoft.com/office/powerpoint/2010/main" val="21173878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3048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17600" y="19050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400800" y="1905000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400800" y="4038600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© 2014 Goodrich, Tamassia, Goldwasser</a:t>
            </a:r>
          </a:p>
        </p:txBody>
      </p:sp>
      <p:sp>
        <p:nvSpPr>
          <p:cNvPr id="7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E773B9B-2255-BC41-AEC8-AD5B252866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Recursion</a:t>
            </a:r>
          </a:p>
        </p:txBody>
      </p:sp>
    </p:spTree>
    <p:extLst>
      <p:ext uri="{BB962C8B-B14F-4D97-AF65-F5344CB8AC3E}">
        <p14:creationId xmlns:p14="http://schemas.microsoft.com/office/powerpoint/2010/main" val="1258833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932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762001"/>
            <a:ext cx="10439400" cy="2838451"/>
          </a:xfrm>
        </p:spPr>
        <p:txBody>
          <a:bodyPr>
            <a:normAutofit/>
          </a:bodyPr>
          <a:lstStyle/>
          <a:p>
            <a:r>
              <a:rPr lang="en-US" dirty="0"/>
              <a:t>CS-205 Data Structure and Algorithms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6. Recursion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Weihao</a:t>
            </a:r>
            <a:r>
              <a:rPr lang="en-US" dirty="0"/>
              <a:t> Qu</a:t>
            </a:r>
          </a:p>
          <a:p>
            <a:r>
              <a:rPr lang="en-US" dirty="0"/>
              <a:t>Monmouth University</a:t>
            </a:r>
          </a:p>
        </p:txBody>
      </p:sp>
    </p:spTree>
    <p:extLst>
      <p:ext uri="{BB962C8B-B14F-4D97-AF65-F5344CB8AC3E}">
        <p14:creationId xmlns:p14="http://schemas.microsoft.com/office/powerpoint/2010/main" val="280014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Footer Placeholder 5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Recursion</a:t>
            </a:r>
          </a:p>
        </p:txBody>
      </p:sp>
      <p:sp>
        <p:nvSpPr>
          <p:cNvPr id="12290" name="Slide Number Placeholder 6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8A9CF3F0-E475-6C44-8B5A-F065EBEF5143}" type="slidenum">
              <a:rPr lang="en-US" sz="1400"/>
              <a:pPr eaLnBrk="1" hangingPunct="1"/>
              <a:t>2</a:t>
            </a:fld>
            <a:endParaRPr lang="en-US" sz="140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>
                <a:latin typeface="Tahoma" charset="0"/>
              </a:rPr>
              <a:t>The Recursion Pattern</a:t>
            </a:r>
            <a:endParaRPr lang="en-US" sz="4000" dirty="0">
              <a:latin typeface="Tahoma" charset="0"/>
              <a:cs typeface="Tahoma" charset="0"/>
            </a:endParaRPr>
          </a:p>
        </p:txBody>
      </p:sp>
      <p:sp>
        <p:nvSpPr>
          <p:cNvPr id="12292" name="Rectangle 44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2362200" y="1524000"/>
            <a:ext cx="7772400" cy="4800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>
                <a:solidFill>
                  <a:schemeClr val="tx2"/>
                </a:solidFill>
                <a:latin typeface="Tahoma" charset="0"/>
              </a:rPr>
              <a:t>Recursion</a:t>
            </a:r>
            <a:r>
              <a:rPr lang="en-US" sz="2400" dirty="0">
                <a:latin typeface="Tahoma" charset="0"/>
              </a:rPr>
              <a:t>: when a method calls itself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dirty="0">
                <a:latin typeface="Tahoma" charset="0"/>
              </a:rPr>
              <a:t>Classic example</a:t>
            </a:r>
            <a:r>
              <a:rPr lang="en-US" sz="2400" i="1" dirty="0">
                <a:latin typeface="Tahoma" charset="0"/>
              </a:rPr>
              <a:t> – </a:t>
            </a:r>
            <a:r>
              <a:rPr lang="en-US" sz="2400" dirty="0">
                <a:latin typeface="Tahoma" charset="0"/>
              </a:rPr>
              <a:t>the factorial function: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 dirty="0">
                <a:latin typeface="Tahoma" charset="0"/>
              </a:rPr>
              <a:t>		n! = 1</a:t>
            </a:r>
            <a:r>
              <a:rPr lang="en-US" sz="2400" dirty="0">
                <a:latin typeface="Tahoma" charset="0"/>
                <a:cs typeface="Tahoma" charset="0"/>
              </a:rPr>
              <a:t>· </a:t>
            </a:r>
            <a:r>
              <a:rPr lang="en-US" sz="2400" dirty="0">
                <a:latin typeface="Tahoma" charset="0"/>
              </a:rPr>
              <a:t>2</a:t>
            </a:r>
            <a:r>
              <a:rPr lang="en-US" sz="2400" dirty="0">
                <a:latin typeface="Tahoma" charset="0"/>
                <a:cs typeface="Tahoma" charset="0"/>
              </a:rPr>
              <a:t>· </a:t>
            </a:r>
            <a:r>
              <a:rPr lang="en-US" sz="2400" dirty="0">
                <a:latin typeface="Tahoma" charset="0"/>
              </a:rPr>
              <a:t>3</a:t>
            </a:r>
            <a:r>
              <a:rPr lang="en-US" sz="2400" dirty="0">
                <a:latin typeface="Tahoma" charset="0"/>
                <a:cs typeface="Tahoma" charset="0"/>
              </a:rPr>
              <a:t>· ··· · </a:t>
            </a:r>
            <a:r>
              <a:rPr lang="en-US" sz="2400" dirty="0">
                <a:latin typeface="Tahoma" charset="0"/>
              </a:rPr>
              <a:t>(n-1)</a:t>
            </a:r>
            <a:r>
              <a:rPr lang="en-US" sz="2400" dirty="0">
                <a:latin typeface="Tahoma" charset="0"/>
                <a:cs typeface="Tahoma" charset="0"/>
              </a:rPr>
              <a:t>· </a:t>
            </a:r>
            <a:r>
              <a:rPr lang="en-US" sz="2400" dirty="0">
                <a:latin typeface="Tahoma" charset="0"/>
              </a:rPr>
              <a:t>n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dirty="0">
                <a:latin typeface="Tahoma" charset="0"/>
                <a:cs typeface="Tahoma" charset="0"/>
              </a:rPr>
              <a:t>Recursive definition:</a:t>
            </a:r>
          </a:p>
          <a:p>
            <a:pPr marL="0" indent="0">
              <a:lnSpc>
                <a:spcPct val="80000"/>
              </a:lnSpc>
              <a:buNone/>
            </a:pPr>
            <a:endParaRPr lang="en-US" sz="2400" dirty="0">
              <a:latin typeface="Tahoma" charset="0"/>
              <a:cs typeface="Tahoma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400" dirty="0">
                <a:latin typeface="Tahoma" charset="0"/>
                <a:cs typeface="Tahoma" charset="0"/>
              </a:rPr>
              <a:t>As a Java method:</a:t>
            </a:r>
          </a:p>
        </p:txBody>
      </p:sp>
      <p:graphicFrame>
        <p:nvGraphicFramePr>
          <p:cNvPr id="12293" name="Object 45"/>
          <p:cNvGraphicFramePr>
            <a:graphicFrameLocks noGrp="1" noChangeAspect="1"/>
          </p:cNvGraphicFramePr>
          <p:nvPr>
            <p:ph sz="half" idx="2"/>
          </p:nvPr>
        </p:nvGraphicFramePr>
        <p:xfrm>
          <a:off x="5486400" y="2667000"/>
          <a:ext cx="355682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78000" imgH="457200" progId="Equation.3">
                  <p:embed/>
                </p:oleObj>
              </mc:Choice>
              <mc:Fallback>
                <p:oleObj name="Equation" r:id="rId2" imgW="1778000" imgH="457200" progId="Equation.3">
                  <p:embed/>
                  <p:pic>
                    <p:nvPicPr>
                      <p:cNvPr id="12293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667000"/>
                        <a:ext cx="355682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  <a:endParaRPr lang="en-US" sz="1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8592" y="3886200"/>
            <a:ext cx="8234608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676400" y="6248400"/>
            <a:ext cx="3429000" cy="4572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200"/>
              <a:t>Recursion</a:t>
            </a:r>
          </a:p>
        </p:txBody>
      </p:sp>
      <p:sp>
        <p:nvSpPr>
          <p:cNvPr id="13314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1DA06153-850C-CF44-BF81-AF7DDB2B0BA8}" type="slidenum">
              <a:rPr lang="en-US" sz="1400"/>
              <a:pPr eaLnBrk="1" hangingPunct="1"/>
              <a:t>3</a:t>
            </a:fld>
            <a:endParaRPr lang="en-US" sz="140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8153400" cy="1143000"/>
          </a:xfrm>
        </p:spPr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Content of a Recursive Method</a:t>
            </a:r>
            <a:endParaRPr lang="en-US">
              <a:latin typeface="Tahoma" charset="0"/>
              <a:cs typeface="Tahoma" charset="0"/>
            </a:endParaRPr>
          </a:p>
        </p:txBody>
      </p:sp>
      <p:sp>
        <p:nvSpPr>
          <p:cNvPr id="1331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362200" y="1676400"/>
            <a:ext cx="7848600" cy="4724400"/>
          </a:xfrm>
        </p:spPr>
        <p:txBody>
          <a:bodyPr/>
          <a:lstStyle/>
          <a:p>
            <a:pPr eaLnBrk="1" hangingPunct="1"/>
            <a:r>
              <a:rPr lang="en-US" sz="2800" dirty="0">
                <a:solidFill>
                  <a:srgbClr val="C00000"/>
                </a:solidFill>
                <a:latin typeface="Tahoma" charset="0"/>
              </a:rPr>
              <a:t>Base case(s)</a:t>
            </a:r>
            <a:endParaRPr lang="en-US" sz="2800" i="1" dirty="0">
              <a:solidFill>
                <a:srgbClr val="C00000"/>
              </a:solidFill>
              <a:latin typeface="Tahoma" charset="0"/>
            </a:endParaRPr>
          </a:p>
          <a:p>
            <a:pPr lvl="1" eaLnBrk="1" hangingPunct="1"/>
            <a:r>
              <a:rPr lang="en-US" sz="2400" dirty="0">
                <a:latin typeface="Tahoma" charset="0"/>
              </a:rPr>
              <a:t>Values of the input variables for which we perform no recursive calls are called </a:t>
            </a:r>
            <a:r>
              <a:rPr lang="en-US" sz="2400" dirty="0">
                <a:solidFill>
                  <a:schemeClr val="tx2"/>
                </a:solidFill>
                <a:latin typeface="Tahoma" charset="0"/>
              </a:rPr>
              <a:t>base cases</a:t>
            </a:r>
            <a:r>
              <a:rPr lang="en-US" sz="2400" dirty="0">
                <a:latin typeface="Tahoma" charset="0"/>
              </a:rPr>
              <a:t> (there should be at least one base case). </a:t>
            </a:r>
          </a:p>
          <a:p>
            <a:pPr lvl="1" eaLnBrk="1" hangingPunct="1"/>
            <a:r>
              <a:rPr lang="en-US" sz="2400" dirty="0">
                <a:latin typeface="Tahoma" charset="0"/>
              </a:rPr>
              <a:t>Every possible chain of recursive calls </a:t>
            </a:r>
            <a:r>
              <a:rPr lang="en-US" sz="2400" dirty="0">
                <a:solidFill>
                  <a:schemeClr val="tx2"/>
                </a:solidFill>
                <a:latin typeface="Tahoma" charset="0"/>
              </a:rPr>
              <a:t>must</a:t>
            </a:r>
            <a:r>
              <a:rPr lang="en-US" sz="2400" dirty="0">
                <a:latin typeface="Tahoma" charset="0"/>
              </a:rPr>
              <a:t> eventually reach a base case.</a:t>
            </a:r>
          </a:p>
          <a:p>
            <a:pPr eaLnBrk="1" hangingPunct="1"/>
            <a:r>
              <a:rPr lang="en-US" sz="2800" dirty="0">
                <a:solidFill>
                  <a:schemeClr val="tx2"/>
                </a:solidFill>
                <a:latin typeface="Tahoma" charset="0"/>
              </a:rPr>
              <a:t>Recursive calls</a:t>
            </a:r>
          </a:p>
          <a:p>
            <a:pPr lvl="1" eaLnBrk="1" hangingPunct="1"/>
            <a:r>
              <a:rPr lang="en-US" sz="2400" dirty="0">
                <a:latin typeface="Tahoma" charset="0"/>
              </a:rPr>
              <a:t>Calls to the current method. </a:t>
            </a:r>
          </a:p>
          <a:p>
            <a:pPr lvl="1" eaLnBrk="1" hangingPunct="1"/>
            <a:r>
              <a:rPr lang="en-US" sz="2400" dirty="0">
                <a:latin typeface="Tahoma" charset="0"/>
              </a:rPr>
              <a:t>Each recursive call should be defined so that it makes progress towards a base case.</a:t>
            </a:r>
          </a:p>
        </p:txBody>
      </p:sp>
      <p:sp>
        <p:nvSpPr>
          <p:cNvPr id="13317" name="Date Placeholder 6"/>
          <p:cNvSpPr>
            <a:spLocks noGrp="1"/>
          </p:cNvSpPr>
          <p:nvPr>
            <p:ph type="dt" sz="quarter" idx="10"/>
          </p:nvPr>
        </p:nvSpPr>
        <p:spPr>
          <a:xfrm>
            <a:off x="4648200" y="6248400"/>
            <a:ext cx="2895600" cy="4572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200"/>
              <a:t>© 2014 Goodrich, Tamassia, Goldwasser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1" y="2057400"/>
            <a:ext cx="8105825" cy="4395986"/>
          </a:xfrm>
          <a:prstGeom prst="rect">
            <a:avLst/>
          </a:prstGeom>
        </p:spPr>
      </p:pic>
      <p:sp>
        <p:nvSpPr>
          <p:cNvPr id="4505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ahoma" charset="0"/>
              </a:rPr>
              <a:t>Binary Search</a:t>
            </a:r>
          </a:p>
        </p:txBody>
      </p:sp>
      <p:sp>
        <p:nvSpPr>
          <p:cNvPr id="45058" name="Content Placeholder 2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2209800" y="1600200"/>
            <a:ext cx="7772400" cy="3810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latin typeface="Tahoma" charset="0"/>
              </a:rPr>
              <a:t>Search for an integer in an ordered list</a:t>
            </a:r>
          </a:p>
        </p:txBody>
      </p:sp>
      <p:sp>
        <p:nvSpPr>
          <p:cNvPr id="45059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  <p:sp>
        <p:nvSpPr>
          <p:cNvPr id="4506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7D9A72E1-57E3-084E-9D01-E4ED51A3D46E}" type="slidenum">
              <a:rPr lang="en-US" sz="1400"/>
              <a:pPr eaLnBrk="1" hangingPunct="1"/>
              <a:t>4</a:t>
            </a:fld>
            <a:endParaRPr lang="en-US" sz="14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Recursion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ahoma" charset="0"/>
              </a:rPr>
              <a:t>Visualizing Binary Search</a:t>
            </a:r>
          </a:p>
        </p:txBody>
      </p:sp>
      <p:sp>
        <p:nvSpPr>
          <p:cNvPr id="46082" name="Content Placeholder 2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2133600" y="1524000"/>
            <a:ext cx="8229600" cy="4495800"/>
          </a:xfrm>
        </p:spPr>
        <p:txBody>
          <a:bodyPr/>
          <a:lstStyle/>
          <a:p>
            <a:r>
              <a:rPr lang="en-US" sz="2400">
                <a:latin typeface="Tahoma" charset="0"/>
              </a:rPr>
              <a:t>We consider three cases:</a:t>
            </a:r>
          </a:p>
          <a:p>
            <a:pPr lvl="1"/>
            <a:r>
              <a:rPr lang="en-US" sz="2000">
                <a:latin typeface="Tahoma" charset="0"/>
              </a:rPr>
              <a:t>If the target equals data[mid], then we have found the target.</a:t>
            </a:r>
          </a:p>
          <a:p>
            <a:pPr lvl="1"/>
            <a:r>
              <a:rPr lang="en-US" sz="2000">
                <a:latin typeface="Tahoma" charset="0"/>
              </a:rPr>
              <a:t>If target &lt; data[mid], then we recur on the first half of the sequence.</a:t>
            </a:r>
          </a:p>
          <a:p>
            <a:pPr lvl="1"/>
            <a:r>
              <a:rPr lang="en-US" sz="2000">
                <a:latin typeface="Tahoma" charset="0"/>
              </a:rPr>
              <a:t>If target &gt; data[mid], then we recur on the second half of the sequence.</a:t>
            </a:r>
          </a:p>
        </p:txBody>
      </p:sp>
      <p:sp>
        <p:nvSpPr>
          <p:cNvPr id="46083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  <p:sp>
        <p:nvSpPr>
          <p:cNvPr id="4608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FB1E9D9C-F009-924E-901E-BCCFB2FD8961}" type="slidenum">
              <a:rPr lang="en-US" sz="1400"/>
              <a:pPr eaLnBrk="1" hangingPunct="1"/>
              <a:t>5</a:t>
            </a:fld>
            <a:endParaRPr lang="en-US" sz="14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Recursion</a:t>
            </a:r>
          </a:p>
        </p:txBody>
      </p:sp>
      <p:pic>
        <p:nvPicPr>
          <p:cNvPr id="4608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1" y="3505200"/>
            <a:ext cx="4505325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ahoma" charset="0"/>
              </a:rPr>
              <a:t>Analyzing Binary Search</a:t>
            </a:r>
          </a:p>
        </p:txBody>
      </p:sp>
      <p:sp>
        <p:nvSpPr>
          <p:cNvPr id="47106" name="Content Placeholder 2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2667000" y="1447800"/>
            <a:ext cx="7010400" cy="4876800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latin typeface="Tahoma" charset="0"/>
              </a:rPr>
              <a:t>Runs in O(log n) time.</a:t>
            </a:r>
          </a:p>
          <a:p>
            <a:pPr lvl="1"/>
            <a:r>
              <a:rPr lang="en-US" sz="2400" dirty="0">
                <a:latin typeface="Tahoma" charset="0"/>
              </a:rPr>
              <a:t>The remaining portion of the list is of size high – low + 1</a:t>
            </a:r>
          </a:p>
          <a:p>
            <a:pPr lvl="1"/>
            <a:r>
              <a:rPr lang="en-US" sz="2400" dirty="0">
                <a:latin typeface="Tahoma" charset="0"/>
              </a:rPr>
              <a:t>After one comparison, this becomes one of the following:</a:t>
            </a:r>
          </a:p>
          <a:p>
            <a:pPr lvl="1"/>
            <a:endParaRPr lang="en-US" sz="2400" dirty="0">
              <a:latin typeface="Tahoma" charset="0"/>
            </a:endParaRPr>
          </a:p>
          <a:p>
            <a:pPr lvl="1"/>
            <a:endParaRPr lang="en-US" sz="2400" dirty="0">
              <a:latin typeface="Tahoma" charset="0"/>
            </a:endParaRPr>
          </a:p>
          <a:p>
            <a:pPr lvl="1"/>
            <a:endParaRPr lang="en-US" sz="2400" dirty="0">
              <a:latin typeface="Tahoma" charset="0"/>
            </a:endParaRPr>
          </a:p>
          <a:p>
            <a:pPr lvl="1"/>
            <a:endParaRPr lang="en-US" sz="2400" dirty="0">
              <a:latin typeface="Tahoma" charset="0"/>
            </a:endParaRPr>
          </a:p>
          <a:p>
            <a:pPr lvl="1"/>
            <a:r>
              <a:rPr lang="en-US" sz="2400" dirty="0">
                <a:latin typeface="Tahoma" charset="0"/>
              </a:rPr>
              <a:t>Thus, each recursive call divides the search region in half; hence, there can be at most log n levels</a:t>
            </a:r>
          </a:p>
        </p:txBody>
      </p:sp>
      <p:sp>
        <p:nvSpPr>
          <p:cNvPr id="47107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  <p:sp>
        <p:nvSpPr>
          <p:cNvPr id="4710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E1F3D6B7-56BE-2049-A6AF-AFF134446C9C}" type="slidenum">
              <a:rPr lang="en-US" sz="1400"/>
              <a:pPr eaLnBrk="1" hangingPunct="1"/>
              <a:t>6</a:t>
            </a:fld>
            <a:endParaRPr lang="en-US" sz="14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Recursion</a:t>
            </a:r>
          </a:p>
        </p:txBody>
      </p:sp>
      <p:pic>
        <p:nvPicPr>
          <p:cNvPr id="47110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2182" y="3570288"/>
            <a:ext cx="6547618" cy="168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371600"/>
            <a:ext cx="10210800" cy="5029200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Two ways to process repetition: loops and recursion</a:t>
            </a:r>
          </a:p>
          <a:p>
            <a:r>
              <a:rPr lang="en-US" sz="2400" dirty="0"/>
              <a:t>Recursion is a method to call itself</a:t>
            </a:r>
          </a:p>
          <a:p>
            <a:r>
              <a:rPr lang="en-US" sz="2400" dirty="0"/>
              <a:t>The Factorial</a:t>
            </a:r>
          </a:p>
          <a:p>
            <a:pPr marL="0" indent="0">
              <a:buNone/>
            </a:pPr>
            <a:r>
              <a:rPr lang="en-US" sz="2400" dirty="0"/>
              <a:t>	n! = 1					if n = 0</a:t>
            </a:r>
          </a:p>
          <a:p>
            <a:pPr marL="0" indent="0">
              <a:buNone/>
            </a:pPr>
            <a:r>
              <a:rPr lang="en-US" sz="2400" dirty="0"/>
              <a:t>	     = n*(n-1)*(n-2)….3*2*1		if n </a:t>
            </a:r>
            <a:r>
              <a:rPr lang="en-US" sz="2400" dirty="0">
                <a:sym typeface="Symbol"/>
              </a:rPr>
              <a:t> 0</a:t>
            </a:r>
            <a:r>
              <a:rPr lang="en-US" sz="2400" dirty="0"/>
              <a:t>	</a:t>
            </a:r>
          </a:p>
          <a:p>
            <a:pPr marL="0" indent="0">
              <a:buNone/>
            </a:pPr>
            <a:r>
              <a:rPr lang="en-US" sz="2400" dirty="0"/>
              <a:t>       Let  	factorial(n) = n!</a:t>
            </a:r>
          </a:p>
          <a:p>
            <a:pPr marL="0" indent="0">
              <a:buNone/>
            </a:pPr>
            <a:r>
              <a:rPr lang="en-US" sz="2400" dirty="0"/>
              <a:t>       Then  	factorial(n) = 1				if n = 0</a:t>
            </a:r>
          </a:p>
          <a:p>
            <a:pPr marL="0" indent="0">
              <a:buNone/>
            </a:pPr>
            <a:r>
              <a:rPr lang="en-US" sz="2400" dirty="0"/>
              <a:t>	    	    	        = n*factorial(n-1) 	if n </a:t>
            </a:r>
            <a:r>
              <a:rPr lang="en-US" sz="2400" dirty="0">
                <a:sym typeface="Symbol"/>
              </a:rPr>
              <a:t> 0</a:t>
            </a:r>
            <a:r>
              <a:rPr lang="en-US" sz="2400" dirty="0"/>
              <a:t>	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public static </a:t>
            </a:r>
            <a:r>
              <a:rPr lang="en-US" sz="2000" dirty="0" err="1">
                <a:latin typeface="Century Gothic" panose="020B0502020202020204" pitchFamily="34" charset="0"/>
              </a:rPr>
              <a:t>int</a:t>
            </a:r>
            <a:r>
              <a:rPr lang="en-US" sz="2000" dirty="0"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latin typeface="Century Gothic" panose="020B0502020202020204" pitchFamily="34" charset="0"/>
              </a:rPr>
              <a:t>recursiveFactorial</a:t>
            </a:r>
            <a:r>
              <a:rPr lang="en-US" sz="2000" dirty="0">
                <a:latin typeface="Century Gothic" panose="020B0502020202020204" pitchFamily="34" charset="0"/>
              </a:rPr>
              <a:t>(</a:t>
            </a:r>
            <a:r>
              <a:rPr lang="en-US" sz="2000" dirty="0" err="1">
                <a:latin typeface="Century Gothic" panose="020B0502020202020204" pitchFamily="34" charset="0"/>
              </a:rPr>
              <a:t>int</a:t>
            </a:r>
            <a:r>
              <a:rPr lang="en-US" sz="2000" dirty="0">
                <a:latin typeface="Century Gothic" panose="020B0502020202020204" pitchFamily="34" charset="0"/>
              </a:rPr>
              <a:t> n) { </a:t>
            </a:r>
            <a:r>
              <a:rPr lang="en-US" sz="2000" dirty="0">
                <a:solidFill>
                  <a:srgbClr val="FF0000"/>
                </a:solidFill>
                <a:latin typeface="Century Gothic" panose="020B0502020202020204" pitchFamily="34" charset="0"/>
              </a:rPr>
              <a:t>// recursive factorial function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	if (n == 0) return 1; </a:t>
            </a:r>
            <a:r>
              <a:rPr lang="en-US" sz="2000" dirty="0">
                <a:solidFill>
                  <a:srgbClr val="FF0000"/>
                </a:solidFill>
                <a:latin typeface="Century Gothic" panose="020B0502020202020204" pitchFamily="34" charset="0"/>
              </a:rPr>
              <a:t>// basis case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	else return n * </a:t>
            </a:r>
            <a:r>
              <a:rPr lang="en-US" sz="2000" dirty="0" err="1">
                <a:latin typeface="Century Gothic" panose="020B0502020202020204" pitchFamily="34" charset="0"/>
              </a:rPr>
              <a:t>recursiveFactorial</a:t>
            </a:r>
            <a:r>
              <a:rPr lang="en-US" sz="2000" dirty="0">
                <a:latin typeface="Century Gothic" panose="020B0502020202020204" pitchFamily="34" charset="0"/>
              </a:rPr>
              <a:t>(n-1); </a:t>
            </a:r>
            <a:r>
              <a:rPr lang="en-US" sz="2000" dirty="0">
                <a:solidFill>
                  <a:srgbClr val="FF0000"/>
                </a:solidFill>
                <a:latin typeface="Century Gothic" panose="020B0502020202020204" pitchFamily="34" charset="0"/>
              </a:rPr>
              <a:t>// recursive case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}  </a:t>
            </a:r>
          </a:p>
        </p:txBody>
      </p:sp>
    </p:spTree>
    <p:extLst>
      <p:ext uri="{BB962C8B-B14F-4D97-AF65-F5344CB8AC3E}">
        <p14:creationId xmlns:p14="http://schemas.microsoft.com/office/powerpoint/2010/main" val="3836847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BDFFE-07F9-E272-9F31-10E6EEF98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err="1">
                <a:latin typeface="Century Gothic" panose="020B0502020202020204" pitchFamily="34" charset="0"/>
              </a:rPr>
              <a:t>recursiveFactorial</a:t>
            </a:r>
            <a:r>
              <a:rPr lang="en-US" sz="4400" dirty="0">
                <a:latin typeface="Century Gothic" panose="020B0502020202020204" pitchFamily="34" charset="0"/>
              </a:rPr>
              <a:t>(int 5)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A59642-E771-FAE3-BC63-8C7EF57BC9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1417638"/>
            <a:ext cx="5727700" cy="481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360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Footer Placeholder 4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Recursion</a:t>
            </a:r>
          </a:p>
        </p:txBody>
      </p:sp>
      <p:sp>
        <p:nvSpPr>
          <p:cNvPr id="20482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9FDEA54B-737E-E042-9CAD-971A094AD5CD}" type="slidenum">
              <a:rPr lang="en-US" sz="1400"/>
              <a:pPr eaLnBrk="1" hangingPunct="1"/>
              <a:t>9</a:t>
            </a:fld>
            <a:endParaRPr lang="en-US" sz="140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8153400" cy="1143000"/>
          </a:xfrm>
        </p:spPr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Linear Recursion</a:t>
            </a:r>
            <a:endParaRPr lang="en-US">
              <a:latin typeface="Tahoma" charset="0"/>
              <a:cs typeface="Tahoma" charset="0"/>
            </a:endParaRPr>
          </a:p>
        </p:txBody>
      </p:sp>
      <p:sp>
        <p:nvSpPr>
          <p:cNvPr id="717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209800" y="1676400"/>
            <a:ext cx="8077200" cy="47244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10000"/>
              </a:lnSpc>
              <a:buFont typeface="Wingdings" pitchFamily="2" charset="2"/>
              <a:buChar char="q"/>
              <a:defRPr/>
            </a:pPr>
            <a:r>
              <a:rPr lang="en-US" sz="2800" dirty="0">
                <a:solidFill>
                  <a:schemeClr val="tx2"/>
                </a:solidFill>
              </a:rPr>
              <a:t>Test for base cases</a:t>
            </a:r>
            <a:endParaRPr lang="en-US" sz="2800" i="1" dirty="0">
              <a:solidFill>
                <a:schemeClr val="tx2"/>
              </a:solidFill>
            </a:endParaRPr>
          </a:p>
          <a:p>
            <a:pPr lvl="1" eaLnBrk="1" hangingPunct="1">
              <a:lnSpc>
                <a:spcPct val="110000"/>
              </a:lnSpc>
              <a:buFont typeface="Wingdings" pitchFamily="2" charset="2"/>
              <a:buChar char="n"/>
              <a:defRPr/>
            </a:pPr>
            <a:r>
              <a:rPr lang="en-US" sz="2400" dirty="0"/>
              <a:t>Begin by testing for a set of base cases (there should be at least one). 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Char char="n"/>
              <a:defRPr/>
            </a:pPr>
            <a:r>
              <a:rPr lang="en-US" sz="2400" dirty="0"/>
              <a:t>Every possible chain of recursive calls </a:t>
            </a:r>
            <a:r>
              <a:rPr lang="en-US" sz="2400" dirty="0">
                <a:solidFill>
                  <a:schemeClr val="tx2"/>
                </a:solidFill>
              </a:rPr>
              <a:t>must</a:t>
            </a:r>
            <a:r>
              <a:rPr lang="en-US" sz="2400" dirty="0"/>
              <a:t> eventually reach a base case, and the handling of each base case should not use recursion.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Char char="q"/>
              <a:defRPr/>
            </a:pPr>
            <a:r>
              <a:rPr lang="en-US" sz="2800" dirty="0">
                <a:solidFill>
                  <a:schemeClr val="tx2"/>
                </a:solidFill>
              </a:rPr>
              <a:t>Recur once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Char char="n"/>
              <a:defRPr/>
            </a:pPr>
            <a:r>
              <a:rPr lang="en-US" sz="2400" dirty="0"/>
              <a:t>Perform a single recursive call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Char char="n"/>
              <a:defRPr/>
            </a:pPr>
            <a:r>
              <a:rPr lang="en-US" sz="2400" dirty="0"/>
              <a:t>This step may have a test that decides which of several possible recursive calls to make, but it should ultimately make just one of these calls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Char char="n"/>
              <a:defRPr/>
            </a:pPr>
            <a:r>
              <a:rPr lang="en-US" sz="2400" dirty="0"/>
              <a:t>Define each possible recursive call so that it makes progress towards a base case.</a:t>
            </a:r>
            <a:endParaRPr lang="en-US" dirty="0"/>
          </a:p>
        </p:txBody>
      </p:sp>
      <p:sp>
        <p:nvSpPr>
          <p:cNvPr id="20485" name="Date Placeholder 5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recursion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A method is defined so that it makes at most one recursive call each time it is invoked</a:t>
            </a:r>
          </a:p>
          <a:p>
            <a:pPr marL="0" indent="0">
              <a:spcBef>
                <a:spcPts val="1176"/>
              </a:spcBef>
              <a:spcAft>
                <a:spcPts val="600"/>
              </a:spcAft>
              <a:buNone/>
            </a:pPr>
            <a:r>
              <a:rPr lang="en-US" sz="2400" i="1" dirty="0"/>
              <a:t>Example: sum the first n integer array elements of array A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FF0000"/>
                </a:solidFill>
              </a:rPr>
              <a:t>Algorithm</a:t>
            </a:r>
            <a:r>
              <a:rPr lang="en-US" sz="2200" dirty="0"/>
              <a:t> </a:t>
            </a:r>
            <a:r>
              <a:rPr lang="en-US" sz="2200" dirty="0" err="1"/>
              <a:t>LinearSum</a:t>
            </a:r>
            <a:r>
              <a:rPr lang="en-US" sz="2200" dirty="0"/>
              <a:t>(A, n)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FF0000"/>
                </a:solidFill>
              </a:rPr>
              <a:t>	Input: </a:t>
            </a:r>
            <a:r>
              <a:rPr lang="en-US" sz="2200" dirty="0"/>
              <a:t>An integer array A, some integer n </a:t>
            </a:r>
            <a:r>
              <a:rPr lang="en-US" sz="2200" dirty="0">
                <a:sym typeface="Symbol"/>
              </a:rPr>
              <a:t> 1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FF0000"/>
                </a:solidFill>
                <a:sym typeface="Symbol"/>
              </a:rPr>
              <a:t>	Output: </a:t>
            </a:r>
            <a:r>
              <a:rPr lang="en-US" sz="2200" dirty="0">
                <a:sym typeface="Symbol"/>
              </a:rPr>
              <a:t>Sum of the first n elements of the array A</a:t>
            </a:r>
          </a:p>
          <a:p>
            <a:pPr marL="0" indent="0">
              <a:buNone/>
            </a:pPr>
            <a:r>
              <a:rPr lang="en-US" sz="2200" dirty="0">
                <a:sym typeface="Symbol"/>
              </a:rPr>
              <a:t>	</a:t>
            </a:r>
            <a:r>
              <a:rPr lang="en-US" sz="2200" b="1" dirty="0">
                <a:sym typeface="Symbol"/>
              </a:rPr>
              <a:t>if</a:t>
            </a:r>
            <a:r>
              <a:rPr lang="en-US" sz="2200" dirty="0">
                <a:sym typeface="Symbol"/>
              </a:rPr>
              <a:t> n = 1 </a:t>
            </a:r>
            <a:r>
              <a:rPr lang="en-US" sz="2200" b="1" dirty="0">
                <a:sym typeface="Symbol"/>
              </a:rPr>
              <a:t>then</a:t>
            </a:r>
          </a:p>
          <a:p>
            <a:pPr marL="0" indent="0">
              <a:buNone/>
            </a:pPr>
            <a:r>
              <a:rPr lang="en-US" sz="2200" dirty="0">
                <a:sym typeface="Symbol"/>
              </a:rPr>
              <a:t>		</a:t>
            </a:r>
            <a:r>
              <a:rPr lang="en-US" sz="2200" b="1" dirty="0">
                <a:sym typeface="Symbol"/>
              </a:rPr>
              <a:t>return</a:t>
            </a:r>
            <a:r>
              <a:rPr lang="en-US" sz="2200" dirty="0">
                <a:sym typeface="Symbol"/>
              </a:rPr>
              <a:t> A[0];</a:t>
            </a:r>
          </a:p>
          <a:p>
            <a:pPr marL="0" indent="0">
              <a:buNone/>
            </a:pPr>
            <a:r>
              <a:rPr lang="en-US" sz="2200" dirty="0">
                <a:sym typeface="Symbol"/>
              </a:rPr>
              <a:t>	</a:t>
            </a:r>
            <a:r>
              <a:rPr lang="en-US" sz="2200" b="1" dirty="0">
                <a:sym typeface="Symbol"/>
              </a:rPr>
              <a:t>else</a:t>
            </a:r>
          </a:p>
          <a:p>
            <a:pPr marL="0" indent="0">
              <a:buNone/>
            </a:pPr>
            <a:r>
              <a:rPr lang="en-US" sz="2200" dirty="0">
                <a:sym typeface="Symbol"/>
              </a:rPr>
              <a:t>		</a:t>
            </a:r>
            <a:r>
              <a:rPr lang="en-US" sz="2200" b="1" dirty="0">
                <a:sym typeface="Symbol"/>
              </a:rPr>
              <a:t>return</a:t>
            </a:r>
            <a:r>
              <a:rPr lang="en-US" sz="2200" dirty="0">
                <a:sym typeface="Symbol"/>
              </a:rPr>
              <a:t> </a:t>
            </a:r>
            <a:r>
              <a:rPr lang="en-US" sz="2200" dirty="0" err="1">
                <a:sym typeface="Symbol"/>
              </a:rPr>
              <a:t>LinearSum</a:t>
            </a:r>
            <a:r>
              <a:rPr lang="en-US" sz="2200" dirty="0">
                <a:sym typeface="Symbol"/>
              </a:rPr>
              <a:t>(A, n-1) +A[n-1]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70137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Footer Placeholder 6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Recursion</a:t>
            </a:r>
          </a:p>
        </p:txBody>
      </p:sp>
      <p:sp>
        <p:nvSpPr>
          <p:cNvPr id="21506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95066F1D-4C91-2144-AB64-9A3FE94192D4}" type="slidenum">
              <a:rPr lang="en-US" sz="1400"/>
              <a:pPr eaLnBrk="1" hangingPunct="1"/>
              <a:t>11</a:t>
            </a:fld>
            <a:endParaRPr lang="en-US" sz="140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>
                <a:latin typeface="Tahoma" charset="0"/>
              </a:rPr>
              <a:t>Example of Linear Recursion</a:t>
            </a:r>
          </a:p>
        </p:txBody>
      </p:sp>
      <p:sp>
        <p:nvSpPr>
          <p:cNvPr id="21511" name="Date Placeholder 135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  <a:endParaRPr lang="en-US" sz="1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451"/>
          <a:stretch/>
        </p:blipFill>
        <p:spPr>
          <a:xfrm>
            <a:off x="4746190" y="2209801"/>
            <a:ext cx="5921810" cy="4114800"/>
          </a:xfrm>
          <a:prstGeom prst="rect">
            <a:avLst/>
          </a:prstGeom>
        </p:spPr>
      </p:pic>
      <p:sp>
        <p:nvSpPr>
          <p:cNvPr id="2150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2133600" y="1752600"/>
            <a:ext cx="3733800" cy="4572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dirty="0">
                <a:solidFill>
                  <a:srgbClr val="000000"/>
                </a:solidFill>
                <a:latin typeface="Tahoma" charset="0"/>
              </a:rPr>
              <a:t>Algorithm</a:t>
            </a:r>
            <a:r>
              <a:rPr lang="en-US" sz="2000" dirty="0">
                <a:latin typeface="Tahoma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Tahoma" charset="0"/>
              </a:rPr>
              <a:t>linearSum</a:t>
            </a:r>
            <a:r>
              <a:rPr lang="en-US" sz="2000" dirty="0">
                <a:latin typeface="Tahoma" charset="0"/>
              </a:rPr>
              <a:t>(A, n):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dirty="0">
                <a:solidFill>
                  <a:srgbClr val="000000"/>
                </a:solidFill>
                <a:latin typeface="Tahoma" charset="0"/>
              </a:rPr>
              <a:t>Input: 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dirty="0">
                <a:latin typeface="Tahoma" charset="0"/>
              </a:rPr>
              <a:t>  Array, A, of integers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dirty="0">
                <a:latin typeface="Tahoma" charset="0"/>
              </a:rPr>
              <a:t>  Integer n such that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dirty="0">
                <a:latin typeface="Tahoma" charset="0"/>
              </a:rPr>
              <a:t>	0 ≤ n ≤ |A|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dirty="0">
                <a:solidFill>
                  <a:srgbClr val="000000"/>
                </a:solidFill>
                <a:latin typeface="Tahoma" charset="0"/>
              </a:rPr>
              <a:t>Output: 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dirty="0">
                <a:latin typeface="Tahoma" charset="0"/>
              </a:rPr>
              <a:t>	Sum of the first n </a:t>
            </a:r>
            <a:br>
              <a:rPr lang="en-US" sz="2000" dirty="0">
                <a:latin typeface="Tahoma" charset="0"/>
              </a:rPr>
            </a:br>
            <a:r>
              <a:rPr lang="en-US" sz="2000" dirty="0">
                <a:latin typeface="Tahoma" charset="0"/>
              </a:rPr>
              <a:t>integers in A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endParaRPr lang="en-US" sz="2000" dirty="0">
              <a:solidFill>
                <a:srgbClr val="000000"/>
              </a:solidFill>
              <a:latin typeface="Tahoma" charset="0"/>
            </a:endParaRP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dirty="0">
                <a:solidFill>
                  <a:srgbClr val="000000"/>
                </a:solidFill>
                <a:latin typeface="Tahoma" charset="0"/>
              </a:rPr>
              <a:t>if</a:t>
            </a:r>
            <a:r>
              <a:rPr lang="en-US" sz="2000" dirty="0">
                <a:latin typeface="Tahoma" charset="0"/>
              </a:rPr>
              <a:t> n = 0 </a:t>
            </a:r>
            <a:r>
              <a:rPr lang="en-US" sz="2000" dirty="0">
                <a:solidFill>
                  <a:srgbClr val="000000"/>
                </a:solidFill>
                <a:latin typeface="Tahoma" charset="0"/>
              </a:rPr>
              <a:t>then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dirty="0">
                <a:latin typeface="Tahoma" charset="0"/>
              </a:rPr>
              <a:t>  </a:t>
            </a:r>
            <a:r>
              <a:rPr lang="en-US" sz="2000" dirty="0">
                <a:solidFill>
                  <a:srgbClr val="000000"/>
                </a:solidFill>
                <a:latin typeface="Tahoma" charset="0"/>
              </a:rPr>
              <a:t>return</a:t>
            </a:r>
            <a:r>
              <a:rPr lang="en-US" sz="2000" dirty="0">
                <a:latin typeface="Tahoma" charset="0"/>
              </a:rPr>
              <a:t> 0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dirty="0">
                <a:solidFill>
                  <a:srgbClr val="000000"/>
                </a:solidFill>
                <a:latin typeface="Tahoma" charset="0"/>
              </a:rPr>
              <a:t>else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dirty="0">
                <a:solidFill>
                  <a:srgbClr val="000000"/>
                </a:solidFill>
                <a:latin typeface="Tahoma" charset="0"/>
              </a:rPr>
              <a:t>  return 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dirty="0" err="1">
                <a:solidFill>
                  <a:srgbClr val="BE2D00"/>
                </a:solidFill>
                <a:latin typeface="Tahoma" charset="0"/>
              </a:rPr>
              <a:t>linearSum</a:t>
            </a:r>
            <a:r>
              <a:rPr lang="en-US" sz="2000" dirty="0">
                <a:latin typeface="Tahoma" charset="0"/>
              </a:rPr>
              <a:t>(A, n - 1) + A[n - 1]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endParaRPr lang="en-US" sz="2000" dirty="0">
              <a:latin typeface="Tahoma" charset="0"/>
            </a:endParaRPr>
          </a:p>
          <a:p>
            <a:pPr eaLnBrk="1" hangingPunct="1">
              <a:lnSpc>
                <a:spcPct val="80000"/>
              </a:lnSpc>
            </a:pPr>
            <a:endParaRPr lang="en-US" sz="2000" dirty="0">
              <a:latin typeface="Tahoma" charset="0"/>
            </a:endParaRPr>
          </a:p>
        </p:txBody>
      </p:sp>
      <p:sp>
        <p:nvSpPr>
          <p:cNvPr id="21509" name="Text Box 8"/>
          <p:cNvSpPr txBox="1">
            <a:spLocks noChangeArrowheads="1"/>
          </p:cNvSpPr>
          <p:nvPr/>
        </p:nvSpPr>
        <p:spPr bwMode="auto">
          <a:xfrm>
            <a:off x="5867400" y="1447800"/>
            <a:ext cx="44196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dirty="0"/>
              <a:t>Recursion trace of </a:t>
            </a:r>
            <a:r>
              <a:rPr lang="en-US" sz="2000" dirty="0" err="1">
                <a:solidFill>
                  <a:schemeClr val="tx2"/>
                </a:solidFill>
              </a:rPr>
              <a:t>linearSum</a:t>
            </a:r>
            <a:r>
              <a:rPr lang="en-US" sz="2000" dirty="0"/>
              <a:t>(data, 5) called on array data = [4, 3, 6, 2, 8]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Linear recursion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i="1" dirty="0"/>
              <a:t>Example: Reversing an array by recursion</a:t>
            </a:r>
          </a:p>
          <a:p>
            <a:pPr marL="0" indent="0">
              <a:buNone/>
            </a:pPr>
            <a:endParaRPr lang="en-US" sz="22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200" dirty="0">
                <a:solidFill>
                  <a:srgbClr val="FF0000"/>
                </a:solidFill>
              </a:rPr>
              <a:t>Algorithm</a:t>
            </a:r>
            <a:r>
              <a:rPr lang="en-US" sz="2200" dirty="0"/>
              <a:t> </a:t>
            </a:r>
            <a:r>
              <a:rPr lang="en-US" sz="2200" dirty="0" err="1"/>
              <a:t>ReverseArray</a:t>
            </a:r>
            <a:r>
              <a:rPr lang="en-US" sz="2200" dirty="0"/>
              <a:t>(A, i, j)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FF0000"/>
                </a:solidFill>
              </a:rPr>
              <a:t>	Input: </a:t>
            </a:r>
            <a:r>
              <a:rPr lang="en-US" sz="2200" dirty="0"/>
              <a:t>An integer array A, non-negative indices i and j</a:t>
            </a:r>
            <a:endParaRPr lang="en-US" sz="2200" dirty="0">
              <a:sym typeface="Symbol"/>
            </a:endParaRPr>
          </a:p>
          <a:p>
            <a:pPr marL="0" indent="0">
              <a:buNone/>
            </a:pPr>
            <a:r>
              <a:rPr lang="en-US" sz="2200" dirty="0">
                <a:solidFill>
                  <a:srgbClr val="FF0000"/>
                </a:solidFill>
                <a:sym typeface="Symbol"/>
              </a:rPr>
              <a:t>	Output: </a:t>
            </a:r>
            <a:r>
              <a:rPr lang="en-US" sz="2200" dirty="0">
                <a:sym typeface="Symbol"/>
              </a:rPr>
              <a:t>The reversal of elements in A starting at index </a:t>
            </a:r>
            <a:r>
              <a:rPr lang="en-US" sz="2200" dirty="0" err="1">
                <a:sym typeface="Symbol"/>
              </a:rPr>
              <a:t>i</a:t>
            </a:r>
            <a:r>
              <a:rPr lang="en-US" sz="2200" dirty="0">
                <a:sym typeface="Symbol"/>
              </a:rPr>
              <a:t> and ending at j</a:t>
            </a:r>
          </a:p>
          <a:p>
            <a:pPr marL="0" indent="0">
              <a:buNone/>
            </a:pPr>
            <a:endParaRPr lang="en-US" sz="2200" dirty="0">
              <a:sym typeface="Symbol"/>
            </a:endParaRPr>
          </a:p>
          <a:p>
            <a:pPr marL="0" indent="0">
              <a:buNone/>
            </a:pPr>
            <a:r>
              <a:rPr lang="en-US" sz="2200" dirty="0">
                <a:sym typeface="Symbol"/>
              </a:rPr>
              <a:t>	</a:t>
            </a:r>
            <a:r>
              <a:rPr lang="en-US" sz="2200" b="1" dirty="0">
                <a:sym typeface="Symbol"/>
              </a:rPr>
              <a:t>if</a:t>
            </a:r>
            <a:r>
              <a:rPr lang="en-US" sz="2200" dirty="0">
                <a:sym typeface="Symbol"/>
              </a:rPr>
              <a:t> i&lt;j </a:t>
            </a:r>
            <a:r>
              <a:rPr lang="en-US" sz="2200" b="1" dirty="0">
                <a:sym typeface="Symbol"/>
              </a:rPr>
              <a:t>then</a:t>
            </a:r>
          </a:p>
          <a:p>
            <a:pPr marL="0" indent="0">
              <a:buNone/>
            </a:pPr>
            <a:r>
              <a:rPr lang="en-US" sz="2200" dirty="0">
                <a:sym typeface="Symbol"/>
              </a:rPr>
              <a:t>		Swap A[i] and A[j]</a:t>
            </a:r>
          </a:p>
          <a:p>
            <a:pPr marL="0" indent="0">
              <a:buNone/>
            </a:pPr>
            <a:r>
              <a:rPr lang="en-US" sz="2200" dirty="0"/>
              <a:t>		</a:t>
            </a:r>
            <a:r>
              <a:rPr lang="en-US" sz="2200" dirty="0" err="1"/>
              <a:t>ReverseArray</a:t>
            </a:r>
            <a:r>
              <a:rPr lang="en-US" sz="2200" dirty="0"/>
              <a:t>(A, i+1, j-1)                     </a:t>
            </a:r>
            <a:r>
              <a:rPr lang="en-US" sz="2200" dirty="0">
                <a:solidFill>
                  <a:srgbClr val="FF0000"/>
                </a:solidFill>
                <a:sym typeface="Wingdings" pitchFamily="2" charset="2"/>
              </a:rPr>
              <a:t> tail recursion</a:t>
            </a:r>
            <a:endParaRPr lang="en-US" sz="22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200" dirty="0"/>
              <a:t>	</a:t>
            </a:r>
            <a:r>
              <a:rPr lang="en-US" sz="2200" b="1" dirty="0"/>
              <a:t>return</a:t>
            </a: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12187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Footer Placeholder 4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Recursion</a:t>
            </a:r>
          </a:p>
        </p:txBody>
      </p:sp>
      <p:sp>
        <p:nvSpPr>
          <p:cNvPr id="22530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D7A0A9FD-C67D-DA4E-B3E3-2F1484597457}" type="slidenum">
              <a:rPr lang="en-US" sz="1400"/>
              <a:pPr eaLnBrk="1" hangingPunct="1"/>
              <a:t>13</a:t>
            </a:fld>
            <a:endParaRPr lang="en-US" sz="140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Reversing an Array</a:t>
            </a:r>
          </a:p>
        </p:txBody>
      </p:sp>
      <p:sp>
        <p:nvSpPr>
          <p:cNvPr id="2253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362200" y="1600200"/>
            <a:ext cx="7772400" cy="44196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800" dirty="0">
                <a:solidFill>
                  <a:srgbClr val="000000"/>
                </a:solidFill>
                <a:latin typeface="Tahoma" charset="0"/>
              </a:rPr>
              <a:t>Algorithm</a:t>
            </a:r>
            <a:r>
              <a:rPr lang="en-US" sz="2800" b="1" dirty="0">
                <a:latin typeface="Tahoma" charset="0"/>
              </a:rPr>
              <a:t> </a:t>
            </a:r>
            <a:r>
              <a:rPr lang="en-US" sz="2800" dirty="0" err="1">
                <a:solidFill>
                  <a:srgbClr val="BE2D00"/>
                </a:solidFill>
                <a:latin typeface="Tahoma" charset="0"/>
              </a:rPr>
              <a:t>reverseArray</a:t>
            </a:r>
            <a:r>
              <a:rPr lang="en-US" sz="2800" dirty="0">
                <a:latin typeface="Tahoma" charset="0"/>
              </a:rPr>
              <a:t>(A, </a:t>
            </a:r>
            <a:r>
              <a:rPr lang="en-US" sz="2800" dirty="0" err="1">
                <a:latin typeface="Tahoma" charset="0"/>
              </a:rPr>
              <a:t>i</a:t>
            </a:r>
            <a:r>
              <a:rPr lang="en-US" sz="2800" dirty="0">
                <a:latin typeface="Tahoma" charset="0"/>
              </a:rPr>
              <a:t>,  j):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800" dirty="0">
                <a:solidFill>
                  <a:srgbClr val="000000"/>
                </a:solidFill>
                <a:latin typeface="Tahoma" charset="0"/>
              </a:rPr>
              <a:t>Input: </a:t>
            </a:r>
            <a:r>
              <a:rPr lang="en-US" sz="2800" dirty="0">
                <a:latin typeface="Tahoma" charset="0"/>
              </a:rPr>
              <a:t>An array A and nonnegative integer indices </a:t>
            </a:r>
            <a:r>
              <a:rPr lang="en-US" sz="2800" dirty="0" err="1">
                <a:latin typeface="Tahoma" charset="0"/>
              </a:rPr>
              <a:t>i</a:t>
            </a:r>
            <a:r>
              <a:rPr lang="en-US" sz="2800" dirty="0">
                <a:latin typeface="Tahoma" charset="0"/>
              </a:rPr>
              <a:t> and  j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800" dirty="0">
                <a:solidFill>
                  <a:srgbClr val="000000"/>
                </a:solidFill>
                <a:latin typeface="Tahoma" charset="0"/>
              </a:rPr>
              <a:t>Output: </a:t>
            </a:r>
            <a:r>
              <a:rPr lang="en-US" sz="2800" dirty="0">
                <a:latin typeface="Tahoma" charset="0"/>
              </a:rPr>
              <a:t>The reversal of the elements in A starting at index </a:t>
            </a:r>
            <a:r>
              <a:rPr lang="en-US" sz="2800" dirty="0" err="1">
                <a:latin typeface="Tahoma" charset="0"/>
              </a:rPr>
              <a:t>i</a:t>
            </a:r>
            <a:r>
              <a:rPr lang="en-US" sz="2800" dirty="0">
                <a:latin typeface="Tahoma" charset="0"/>
              </a:rPr>
              <a:t> and ending at  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endParaRPr lang="en-US" sz="2800" dirty="0">
              <a:solidFill>
                <a:srgbClr val="000000"/>
              </a:solidFill>
              <a:latin typeface="Tahoma" charset="0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800" dirty="0">
                <a:solidFill>
                  <a:srgbClr val="000000"/>
                </a:solidFill>
                <a:latin typeface="Tahoma" charset="0"/>
              </a:rPr>
              <a:t>if</a:t>
            </a:r>
            <a:r>
              <a:rPr lang="en-US" sz="2800" b="1" dirty="0">
                <a:solidFill>
                  <a:srgbClr val="000000"/>
                </a:solidFill>
                <a:latin typeface="Tahoma" charset="0"/>
              </a:rPr>
              <a:t> </a:t>
            </a:r>
            <a:r>
              <a:rPr lang="en-US" sz="2800" dirty="0" err="1">
                <a:latin typeface="Tahoma" charset="0"/>
              </a:rPr>
              <a:t>i</a:t>
            </a:r>
            <a:r>
              <a:rPr lang="en-US" sz="2800" dirty="0">
                <a:latin typeface="Tahoma" charset="0"/>
              </a:rPr>
              <a:t> &lt;  j </a:t>
            </a:r>
            <a:r>
              <a:rPr lang="en-US" sz="2800" dirty="0">
                <a:solidFill>
                  <a:srgbClr val="000000"/>
                </a:solidFill>
                <a:latin typeface="Tahoma" charset="0"/>
              </a:rPr>
              <a:t>then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800" dirty="0">
                <a:latin typeface="Tahoma" charset="0"/>
              </a:rPr>
              <a:t>		Swap A[</a:t>
            </a:r>
            <a:r>
              <a:rPr lang="en-US" sz="2800" dirty="0" err="1">
                <a:latin typeface="Tahoma" charset="0"/>
              </a:rPr>
              <a:t>i</a:t>
            </a:r>
            <a:r>
              <a:rPr lang="en-US" sz="2800" dirty="0">
                <a:latin typeface="Tahoma" charset="0"/>
              </a:rPr>
              <a:t>] and A[ j]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800" dirty="0">
                <a:latin typeface="Tahoma" charset="0"/>
              </a:rPr>
              <a:t>		</a:t>
            </a:r>
            <a:r>
              <a:rPr lang="en-US" sz="2800" dirty="0" err="1">
                <a:latin typeface="Tahoma" charset="0"/>
              </a:rPr>
              <a:t>reverseArray</a:t>
            </a:r>
            <a:r>
              <a:rPr lang="en-US" sz="2800" dirty="0">
                <a:latin typeface="Tahoma" charset="0"/>
              </a:rPr>
              <a:t>(A, </a:t>
            </a:r>
            <a:r>
              <a:rPr lang="en-US" sz="2800" dirty="0" err="1">
                <a:latin typeface="Tahoma" charset="0"/>
              </a:rPr>
              <a:t>i</a:t>
            </a:r>
            <a:r>
              <a:rPr lang="en-US" sz="2800" dirty="0">
                <a:latin typeface="Tahoma" charset="0"/>
              </a:rPr>
              <a:t> + 1,  j </a:t>
            </a:r>
            <a:r>
              <a:rPr lang="en-US" sz="2800" dirty="0">
                <a:latin typeface="Symbol" charset="2"/>
                <a:cs typeface="Symbol" charset="2"/>
              </a:rPr>
              <a:t>-</a:t>
            </a:r>
            <a:r>
              <a:rPr lang="en-US" sz="2800" dirty="0">
                <a:latin typeface="Tahoma" charset="0"/>
              </a:rPr>
              <a:t> 1)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800" dirty="0">
                <a:solidFill>
                  <a:srgbClr val="000000"/>
                </a:solidFill>
                <a:latin typeface="Tahoma" charset="0"/>
              </a:rPr>
              <a:t>return</a:t>
            </a:r>
          </a:p>
        </p:txBody>
      </p:sp>
      <p:sp>
        <p:nvSpPr>
          <p:cNvPr id="22533" name="Date Placeholder 5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Footer Placeholder 4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Recursion</a:t>
            </a:r>
          </a:p>
        </p:txBody>
      </p:sp>
      <p:sp>
        <p:nvSpPr>
          <p:cNvPr id="23554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9326BB66-2E46-3647-8828-3C96E3886EDF}" type="slidenum">
              <a:rPr lang="en-US" sz="1400"/>
              <a:pPr eaLnBrk="1" hangingPunct="1"/>
              <a:t>14</a:t>
            </a:fld>
            <a:endParaRPr lang="en-US" sz="140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>
                <a:latin typeface="Tahoma" charset="0"/>
              </a:rPr>
              <a:t>Defining Arguments for Recursion</a:t>
            </a:r>
          </a:p>
        </p:txBody>
      </p:sp>
      <p:sp>
        <p:nvSpPr>
          <p:cNvPr id="2355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209800" y="1524000"/>
            <a:ext cx="8001000" cy="20574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sz="2400" dirty="0">
                <a:latin typeface="Tahoma" charset="0"/>
              </a:rPr>
              <a:t>In creating recursive methods, it is important to define the methods in ways that facilitate recursion.</a:t>
            </a:r>
          </a:p>
          <a:p>
            <a:pPr eaLnBrk="1" hangingPunct="1"/>
            <a:r>
              <a:rPr lang="en-US" sz="2400" dirty="0">
                <a:latin typeface="Tahoma" charset="0"/>
              </a:rPr>
              <a:t>This sometimes requires we define additional parameters that are passed to the method.</a:t>
            </a:r>
          </a:p>
          <a:p>
            <a:pPr eaLnBrk="1" hangingPunct="1"/>
            <a:r>
              <a:rPr lang="en-US" sz="2400" dirty="0">
                <a:latin typeface="Tahoma" charset="0"/>
              </a:rPr>
              <a:t>For example, we defined the array reversal method as </a:t>
            </a:r>
            <a:r>
              <a:rPr lang="en-US" sz="2400" dirty="0" err="1">
                <a:solidFill>
                  <a:srgbClr val="BE2D00"/>
                </a:solidFill>
                <a:latin typeface="Tahoma" charset="0"/>
              </a:rPr>
              <a:t>reverseArray</a:t>
            </a:r>
            <a:r>
              <a:rPr lang="en-US" sz="2400" dirty="0">
                <a:latin typeface="Tahoma" charset="0"/>
              </a:rPr>
              <a:t>(A, </a:t>
            </a:r>
            <a:r>
              <a:rPr lang="en-US" sz="2400" dirty="0" err="1">
                <a:latin typeface="Tahoma" charset="0"/>
              </a:rPr>
              <a:t>i</a:t>
            </a:r>
            <a:r>
              <a:rPr lang="en-US" sz="2400" dirty="0">
                <a:latin typeface="Tahoma" charset="0"/>
              </a:rPr>
              <a:t>,  j), not </a:t>
            </a:r>
            <a:r>
              <a:rPr lang="en-US" sz="2400" dirty="0" err="1">
                <a:solidFill>
                  <a:srgbClr val="BE2D00"/>
                </a:solidFill>
                <a:latin typeface="Tahoma" charset="0"/>
              </a:rPr>
              <a:t>reverseArray</a:t>
            </a:r>
            <a:r>
              <a:rPr lang="en-US" sz="2400" dirty="0">
                <a:latin typeface="Tahoma" charset="0"/>
              </a:rPr>
              <a:t>(A)</a:t>
            </a:r>
          </a:p>
        </p:txBody>
      </p:sp>
      <p:sp>
        <p:nvSpPr>
          <p:cNvPr id="23557" name="Date Placeholder 5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313" r="1291"/>
          <a:stretch/>
        </p:blipFill>
        <p:spPr>
          <a:xfrm>
            <a:off x="1676401" y="3657600"/>
            <a:ext cx="8950011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Footer Placeholder 5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Recursion</a:t>
            </a:r>
          </a:p>
        </p:txBody>
      </p:sp>
      <p:sp>
        <p:nvSpPr>
          <p:cNvPr id="24578" name="Slide Number Placeholder 6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14DA94C0-20EB-DF4D-A1D7-8FF01AA25FA7}" type="slidenum">
              <a:rPr lang="en-US" sz="1400"/>
              <a:pPr eaLnBrk="1" hangingPunct="1"/>
              <a:t>15</a:t>
            </a:fld>
            <a:endParaRPr lang="en-US" sz="140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Computing Powers</a:t>
            </a:r>
          </a:p>
        </p:txBody>
      </p:sp>
      <p:sp>
        <p:nvSpPr>
          <p:cNvPr id="2458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2362200" y="1905000"/>
            <a:ext cx="7772400" cy="4114800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Tahoma" charset="0"/>
              </a:rPr>
              <a:t>The power function, p(</a:t>
            </a:r>
            <a:r>
              <a:rPr lang="en-US" sz="2800" dirty="0" err="1">
                <a:latin typeface="Tahoma" charset="0"/>
              </a:rPr>
              <a:t>x,n</a:t>
            </a:r>
            <a:r>
              <a:rPr lang="en-US" sz="2800" dirty="0">
                <a:latin typeface="Tahoma" charset="0"/>
              </a:rPr>
              <a:t>)=</a:t>
            </a:r>
            <a:r>
              <a:rPr lang="en-US" sz="2800" dirty="0" err="1">
                <a:latin typeface="Tahoma" charset="0"/>
              </a:rPr>
              <a:t>x</a:t>
            </a:r>
            <a:r>
              <a:rPr lang="en-US" sz="2800" baseline="30000" dirty="0" err="1">
                <a:latin typeface="Tahoma" charset="0"/>
              </a:rPr>
              <a:t>n</a:t>
            </a:r>
            <a:r>
              <a:rPr lang="en-US" sz="2800" dirty="0">
                <a:latin typeface="Tahoma" charset="0"/>
              </a:rPr>
              <a:t>, can be defined recursively:</a:t>
            </a:r>
          </a:p>
          <a:p>
            <a:pPr eaLnBrk="1" hangingPunct="1"/>
            <a:endParaRPr lang="en-US" sz="2800" dirty="0">
              <a:latin typeface="Tahoma" charset="0"/>
            </a:endParaRPr>
          </a:p>
          <a:p>
            <a:pPr eaLnBrk="1" hangingPunct="1"/>
            <a:endParaRPr lang="en-US" sz="2800" dirty="0">
              <a:latin typeface="Tahoma" charset="0"/>
            </a:endParaRPr>
          </a:p>
          <a:p>
            <a:pPr eaLnBrk="1" hangingPunct="1"/>
            <a:r>
              <a:rPr lang="en-US" sz="2800" dirty="0">
                <a:latin typeface="Tahoma" charset="0"/>
              </a:rPr>
              <a:t>This leads to an power function that runs in O(n) time (for we make n recursive calls)</a:t>
            </a:r>
          </a:p>
          <a:p>
            <a:pPr eaLnBrk="1" hangingPunct="1"/>
            <a:r>
              <a:rPr lang="en-US" sz="2800" dirty="0">
                <a:latin typeface="Tahoma" charset="0"/>
              </a:rPr>
              <a:t>We can do better than this, however</a:t>
            </a:r>
          </a:p>
          <a:p>
            <a:pPr eaLnBrk="1" hangingPunct="1">
              <a:buFont typeface="Wingdings" charset="0"/>
              <a:buNone/>
            </a:pPr>
            <a:endParaRPr lang="en-US" sz="2800" dirty="0">
              <a:latin typeface="Tahoma" charset="0"/>
            </a:endParaRPr>
          </a:p>
        </p:txBody>
      </p:sp>
      <p:graphicFrame>
        <p:nvGraphicFramePr>
          <p:cNvPr id="24581" name="Object 6"/>
          <p:cNvGraphicFramePr>
            <a:graphicFrameLocks noGrp="1" noChangeAspect="1"/>
          </p:cNvGraphicFramePr>
          <p:nvPr>
            <p:ph sz="half" idx="2"/>
          </p:nvPr>
        </p:nvGraphicFramePr>
        <p:xfrm>
          <a:off x="3962400" y="2895600"/>
          <a:ext cx="43434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32000" imgH="457200" progId="Equation.3">
                  <p:embed/>
                </p:oleObj>
              </mc:Choice>
              <mc:Fallback>
                <p:oleObj name="Equation" r:id="rId2" imgW="2032000" imgH="457200" progId="Equation.3">
                  <p:embed/>
                  <p:pic>
                    <p:nvPicPr>
                      <p:cNvPr id="2458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895600"/>
                        <a:ext cx="43434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2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Footer Placeholder 5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Recursion</a:t>
            </a:r>
          </a:p>
        </p:txBody>
      </p:sp>
      <p:sp>
        <p:nvSpPr>
          <p:cNvPr id="25602" name="Slide Number Placeholder 6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25824FD2-AB1B-0544-BC09-0885D6D91738}" type="slidenum">
              <a:rPr lang="en-US" sz="1400"/>
              <a:pPr eaLnBrk="1" hangingPunct="1"/>
              <a:t>16</a:t>
            </a:fld>
            <a:endParaRPr lang="en-US" sz="1400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Recursive Squaring</a:t>
            </a:r>
          </a:p>
        </p:txBody>
      </p:sp>
      <p:sp>
        <p:nvSpPr>
          <p:cNvPr id="2560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2209800" y="1600200"/>
            <a:ext cx="80772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>
                <a:latin typeface="Tahoma" charset="0"/>
              </a:rPr>
              <a:t>We can derive a more efficient linearly recursive algorithm by using repeated squaring:</a:t>
            </a:r>
          </a:p>
          <a:p>
            <a:pPr eaLnBrk="1" hangingPunct="1">
              <a:lnSpc>
                <a:spcPct val="90000"/>
              </a:lnSpc>
            </a:pPr>
            <a:endParaRPr lang="en-US" sz="2800" dirty="0">
              <a:latin typeface="Tahoma" charset="0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endParaRPr lang="en-US" sz="2800" dirty="0">
              <a:latin typeface="Tahoma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800" dirty="0">
              <a:latin typeface="Tahoma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 dirty="0">
                <a:latin typeface="Tahoma" charset="0"/>
              </a:rPr>
              <a:t>For example,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4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400" baseline="30000" dirty="0">
                <a:solidFill>
                  <a:srgbClr val="000000"/>
                </a:solidFill>
                <a:latin typeface="Times" charset="0"/>
              </a:rPr>
              <a:t>4</a:t>
            </a:r>
            <a:r>
              <a:rPr lang="en-US" sz="2400" dirty="0">
                <a:solidFill>
                  <a:srgbClr val="000000"/>
                </a:solidFill>
                <a:latin typeface="Times" charset="0"/>
              </a:rPr>
              <a:t>	</a:t>
            </a:r>
            <a:r>
              <a:rPr lang="en-US" sz="2400" dirty="0">
                <a:solidFill>
                  <a:srgbClr val="000000"/>
                </a:solidFill>
                <a:latin typeface="CMR10" charset="0"/>
              </a:rPr>
              <a:t>=  </a:t>
            </a:r>
            <a:r>
              <a:rPr lang="en-US" sz="24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400" baseline="30000" dirty="0">
                <a:solidFill>
                  <a:srgbClr val="000000"/>
                </a:solidFill>
                <a:latin typeface="CMR10" charset="0"/>
              </a:rPr>
              <a:t>(</a:t>
            </a:r>
            <a:r>
              <a:rPr lang="en-US" sz="2400" baseline="30000" dirty="0">
                <a:solidFill>
                  <a:srgbClr val="000000"/>
                </a:solidFill>
                <a:latin typeface="Times" charset="0"/>
              </a:rPr>
              <a:t>4</a:t>
            </a:r>
            <a:r>
              <a:rPr lang="en-US" sz="2400" i="1" baseline="30000" dirty="0">
                <a:solidFill>
                  <a:srgbClr val="000000"/>
                </a:solidFill>
                <a:latin typeface="CMMI10" charset="0"/>
              </a:rPr>
              <a:t>/</a:t>
            </a:r>
            <a:r>
              <a:rPr lang="en-US" sz="2400" baseline="300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400" baseline="30000" dirty="0">
                <a:solidFill>
                  <a:srgbClr val="000000"/>
                </a:solidFill>
                <a:latin typeface="CMR10" charset="0"/>
              </a:rPr>
              <a:t>)</a:t>
            </a:r>
            <a:r>
              <a:rPr lang="en-US" sz="2400" baseline="30000" dirty="0">
                <a:solidFill>
                  <a:srgbClr val="000000"/>
                </a:solidFill>
                <a:latin typeface="Times" charset="0"/>
              </a:rPr>
              <a:t>2 </a:t>
            </a:r>
            <a:r>
              <a:rPr lang="en-US" sz="2400" dirty="0">
                <a:solidFill>
                  <a:srgbClr val="000000"/>
                </a:solidFill>
                <a:latin typeface="CMR10" charset="0"/>
              </a:rPr>
              <a:t>= (</a:t>
            </a:r>
            <a:r>
              <a:rPr lang="en-US" sz="24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400" baseline="30000" dirty="0">
                <a:solidFill>
                  <a:srgbClr val="000000"/>
                </a:solidFill>
                <a:latin typeface="Times" charset="0"/>
              </a:rPr>
              <a:t>4</a:t>
            </a:r>
            <a:r>
              <a:rPr lang="en-US" sz="2400" i="1" baseline="30000" dirty="0">
                <a:solidFill>
                  <a:srgbClr val="000000"/>
                </a:solidFill>
                <a:latin typeface="CMMI10" charset="0"/>
              </a:rPr>
              <a:t>/</a:t>
            </a:r>
            <a:r>
              <a:rPr lang="en-US" sz="2400" baseline="300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CMR10" charset="0"/>
              </a:rPr>
              <a:t>)</a:t>
            </a:r>
            <a:r>
              <a:rPr lang="en-US" sz="2400" baseline="30000" dirty="0">
                <a:solidFill>
                  <a:srgbClr val="000000"/>
                </a:solidFill>
                <a:latin typeface="Times" charset="0"/>
              </a:rPr>
              <a:t>2 </a:t>
            </a:r>
            <a:r>
              <a:rPr lang="en-US" sz="2400" dirty="0">
                <a:solidFill>
                  <a:srgbClr val="000000"/>
                </a:solidFill>
                <a:latin typeface="CMR10" charset="0"/>
              </a:rPr>
              <a:t>= (</a:t>
            </a:r>
            <a:r>
              <a:rPr lang="en-US" sz="24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400" baseline="300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CMR10" charset="0"/>
              </a:rPr>
              <a:t>)</a:t>
            </a:r>
            <a:r>
              <a:rPr lang="en-US" sz="2400" baseline="30000" dirty="0">
                <a:solidFill>
                  <a:srgbClr val="000000"/>
                </a:solidFill>
                <a:latin typeface="Times" charset="0"/>
              </a:rPr>
              <a:t>2 </a:t>
            </a:r>
            <a:r>
              <a:rPr lang="en-US" sz="2400" dirty="0">
                <a:solidFill>
                  <a:srgbClr val="000000"/>
                </a:solidFill>
                <a:latin typeface="CMR10" charset="0"/>
              </a:rPr>
              <a:t>= </a:t>
            </a:r>
            <a:r>
              <a:rPr lang="en-US" sz="2400" dirty="0">
                <a:solidFill>
                  <a:srgbClr val="000000"/>
                </a:solidFill>
                <a:latin typeface="Times" charset="0"/>
              </a:rPr>
              <a:t>4</a:t>
            </a:r>
            <a:r>
              <a:rPr lang="en-US" sz="2400" baseline="30000" dirty="0">
                <a:solidFill>
                  <a:srgbClr val="000000"/>
                </a:solidFill>
                <a:latin typeface="Times" charset="0"/>
              </a:rPr>
              <a:t>2 </a:t>
            </a:r>
            <a:r>
              <a:rPr lang="en-US" sz="2400" dirty="0">
                <a:solidFill>
                  <a:srgbClr val="000000"/>
                </a:solidFill>
                <a:latin typeface="CMR10" charset="0"/>
              </a:rPr>
              <a:t>= </a:t>
            </a:r>
            <a:r>
              <a:rPr lang="en-US" sz="2400" dirty="0">
                <a:solidFill>
                  <a:srgbClr val="000000"/>
                </a:solidFill>
                <a:latin typeface="Times" charset="0"/>
              </a:rPr>
              <a:t>16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4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400" baseline="30000" dirty="0">
                <a:solidFill>
                  <a:srgbClr val="000000"/>
                </a:solidFill>
                <a:latin typeface="Times" charset="0"/>
              </a:rPr>
              <a:t>5</a:t>
            </a:r>
            <a:r>
              <a:rPr lang="en-US" sz="2400" dirty="0">
                <a:solidFill>
                  <a:srgbClr val="000000"/>
                </a:solidFill>
                <a:latin typeface="Times" charset="0"/>
              </a:rPr>
              <a:t>	</a:t>
            </a:r>
            <a:r>
              <a:rPr lang="en-US" sz="2400" dirty="0">
                <a:solidFill>
                  <a:srgbClr val="000000"/>
                </a:solidFill>
                <a:latin typeface="CMR10" charset="0"/>
              </a:rPr>
              <a:t>=  </a:t>
            </a:r>
            <a:r>
              <a:rPr lang="en-US" sz="24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400" baseline="30000" dirty="0">
                <a:solidFill>
                  <a:srgbClr val="000000"/>
                </a:solidFill>
                <a:latin typeface="Times" charset="0"/>
              </a:rPr>
              <a:t>1</a:t>
            </a:r>
            <a:r>
              <a:rPr lang="en-US" sz="2400" baseline="30000" dirty="0">
                <a:solidFill>
                  <a:srgbClr val="000000"/>
                </a:solidFill>
                <a:latin typeface="CMR10" charset="0"/>
              </a:rPr>
              <a:t>+(</a:t>
            </a:r>
            <a:r>
              <a:rPr lang="en-US" sz="2400" baseline="30000" dirty="0">
                <a:solidFill>
                  <a:srgbClr val="000000"/>
                </a:solidFill>
                <a:latin typeface="Times" charset="0"/>
              </a:rPr>
              <a:t>4</a:t>
            </a:r>
            <a:r>
              <a:rPr lang="en-US" sz="2400" i="1" baseline="30000" dirty="0">
                <a:solidFill>
                  <a:srgbClr val="000000"/>
                </a:solidFill>
                <a:latin typeface="CMMI10" charset="0"/>
              </a:rPr>
              <a:t>/</a:t>
            </a:r>
            <a:r>
              <a:rPr lang="en-US" sz="2400" baseline="300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400" baseline="30000" dirty="0">
                <a:solidFill>
                  <a:srgbClr val="000000"/>
                </a:solidFill>
                <a:latin typeface="CMR10" charset="0"/>
              </a:rPr>
              <a:t>)</a:t>
            </a:r>
            <a:r>
              <a:rPr lang="en-US" sz="2400" baseline="30000" dirty="0">
                <a:solidFill>
                  <a:srgbClr val="000000"/>
                </a:solidFill>
                <a:latin typeface="Times" charset="0"/>
              </a:rPr>
              <a:t>2 </a:t>
            </a:r>
            <a:r>
              <a:rPr lang="en-US" sz="2400" dirty="0">
                <a:solidFill>
                  <a:srgbClr val="000000"/>
                </a:solidFill>
                <a:latin typeface="CMR10" charset="0"/>
              </a:rPr>
              <a:t>= </a:t>
            </a:r>
            <a:r>
              <a:rPr lang="en-US" sz="24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CMR10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400" baseline="30000" dirty="0">
                <a:solidFill>
                  <a:srgbClr val="000000"/>
                </a:solidFill>
                <a:latin typeface="Times" charset="0"/>
              </a:rPr>
              <a:t>4</a:t>
            </a:r>
            <a:r>
              <a:rPr lang="en-US" sz="2400" i="1" baseline="30000" dirty="0">
                <a:solidFill>
                  <a:srgbClr val="000000"/>
                </a:solidFill>
                <a:latin typeface="CMMI10" charset="0"/>
              </a:rPr>
              <a:t>/</a:t>
            </a:r>
            <a:r>
              <a:rPr lang="en-US" sz="2400" baseline="300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CMR10" charset="0"/>
              </a:rPr>
              <a:t>)</a:t>
            </a:r>
            <a:r>
              <a:rPr lang="en-US" sz="2400" baseline="30000" dirty="0">
                <a:solidFill>
                  <a:srgbClr val="000000"/>
                </a:solidFill>
                <a:latin typeface="Times" charset="0"/>
              </a:rPr>
              <a:t>2 </a:t>
            </a:r>
            <a:r>
              <a:rPr lang="en-US" sz="2400" dirty="0">
                <a:solidFill>
                  <a:srgbClr val="000000"/>
                </a:solidFill>
                <a:latin typeface="CMR10" charset="0"/>
              </a:rPr>
              <a:t>= </a:t>
            </a:r>
            <a:r>
              <a:rPr lang="en-US" sz="24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CMR10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400" baseline="300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CMR10" charset="0"/>
              </a:rPr>
              <a:t>)</a:t>
            </a:r>
            <a:r>
              <a:rPr lang="en-US" sz="2400" baseline="30000" dirty="0">
                <a:solidFill>
                  <a:srgbClr val="000000"/>
                </a:solidFill>
                <a:latin typeface="Times" charset="0"/>
              </a:rPr>
              <a:t>2 </a:t>
            </a:r>
            <a:r>
              <a:rPr lang="en-US" sz="2400" dirty="0">
                <a:solidFill>
                  <a:srgbClr val="000000"/>
                </a:solidFill>
                <a:latin typeface="CMR10" charset="0"/>
              </a:rPr>
              <a:t>= </a:t>
            </a:r>
            <a:r>
              <a:rPr lang="en-US" sz="24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CMR10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Times" charset="0"/>
              </a:rPr>
              <a:t>4</a:t>
            </a:r>
            <a:r>
              <a:rPr lang="en-US" sz="2400" baseline="300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CMR10" charset="0"/>
              </a:rPr>
              <a:t>) = </a:t>
            </a:r>
            <a:r>
              <a:rPr lang="en-US" sz="2400" dirty="0">
                <a:solidFill>
                  <a:srgbClr val="000000"/>
                </a:solidFill>
                <a:latin typeface="Times" charset="0"/>
              </a:rPr>
              <a:t>32</a:t>
            </a:r>
            <a:endParaRPr lang="en-US" sz="2400" dirty="0">
              <a:solidFill>
                <a:srgbClr val="000000"/>
              </a:solidFill>
              <a:latin typeface="CMR10" charset="0"/>
            </a:endParaRP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4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400" baseline="30000" dirty="0">
                <a:solidFill>
                  <a:srgbClr val="000000"/>
                </a:solidFill>
                <a:latin typeface="Times" charset="0"/>
              </a:rPr>
              <a:t>6</a:t>
            </a:r>
            <a:r>
              <a:rPr lang="en-US" sz="2400" dirty="0">
                <a:solidFill>
                  <a:srgbClr val="000000"/>
                </a:solidFill>
                <a:latin typeface="Times" charset="0"/>
              </a:rPr>
              <a:t>	</a:t>
            </a:r>
            <a:r>
              <a:rPr lang="en-US" sz="2400" dirty="0">
                <a:solidFill>
                  <a:srgbClr val="000000"/>
                </a:solidFill>
                <a:latin typeface="CMR10" charset="0"/>
              </a:rPr>
              <a:t>= </a:t>
            </a:r>
            <a:r>
              <a:rPr lang="en-US" sz="24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400" baseline="30000" dirty="0">
                <a:solidFill>
                  <a:srgbClr val="000000"/>
                </a:solidFill>
                <a:latin typeface="CMR10" charset="0"/>
              </a:rPr>
              <a:t>(</a:t>
            </a:r>
            <a:r>
              <a:rPr lang="en-US" sz="2400" baseline="30000" dirty="0">
                <a:solidFill>
                  <a:srgbClr val="000000"/>
                </a:solidFill>
                <a:latin typeface="Times" charset="0"/>
              </a:rPr>
              <a:t>6</a:t>
            </a:r>
            <a:r>
              <a:rPr lang="en-US" sz="2400" i="1" baseline="30000" dirty="0">
                <a:solidFill>
                  <a:srgbClr val="000000"/>
                </a:solidFill>
                <a:latin typeface="CMMI10" charset="0"/>
              </a:rPr>
              <a:t>/ </a:t>
            </a:r>
            <a:r>
              <a:rPr lang="en-US" sz="2400" baseline="30000" dirty="0">
                <a:solidFill>
                  <a:srgbClr val="000000"/>
                </a:solidFill>
                <a:latin typeface="Times" charset="0"/>
              </a:rPr>
              <a:t>2)2 </a:t>
            </a:r>
            <a:r>
              <a:rPr lang="en-US" sz="2400" dirty="0">
                <a:solidFill>
                  <a:srgbClr val="000000"/>
                </a:solidFill>
                <a:latin typeface="CMR10" charset="0"/>
              </a:rPr>
              <a:t>= (</a:t>
            </a:r>
            <a:r>
              <a:rPr lang="en-US" sz="24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400" baseline="30000" dirty="0">
                <a:solidFill>
                  <a:srgbClr val="000000"/>
                </a:solidFill>
                <a:latin typeface="Times" charset="0"/>
              </a:rPr>
              <a:t>6</a:t>
            </a:r>
            <a:r>
              <a:rPr lang="en-US" sz="2400" i="1" baseline="30000" dirty="0">
                <a:solidFill>
                  <a:srgbClr val="000000"/>
                </a:solidFill>
                <a:latin typeface="CMMI10" charset="0"/>
              </a:rPr>
              <a:t>/</a:t>
            </a:r>
            <a:r>
              <a:rPr lang="en-US" sz="2400" baseline="300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CMR10" charset="0"/>
              </a:rPr>
              <a:t>)</a:t>
            </a:r>
            <a:r>
              <a:rPr lang="en-US" sz="2400" baseline="30000" dirty="0">
                <a:solidFill>
                  <a:srgbClr val="000000"/>
                </a:solidFill>
                <a:latin typeface="Times" charset="0"/>
              </a:rPr>
              <a:t>2 </a:t>
            </a:r>
            <a:r>
              <a:rPr lang="en-US" sz="2400" dirty="0">
                <a:solidFill>
                  <a:srgbClr val="000000"/>
                </a:solidFill>
                <a:latin typeface="CMR10" charset="0"/>
              </a:rPr>
              <a:t>= (</a:t>
            </a:r>
            <a:r>
              <a:rPr lang="en-US" sz="24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400" baseline="30000" dirty="0">
                <a:solidFill>
                  <a:srgbClr val="000000"/>
                </a:solidFill>
                <a:latin typeface="Times" charset="0"/>
              </a:rPr>
              <a:t>3</a:t>
            </a:r>
            <a:r>
              <a:rPr lang="en-US" sz="2400" dirty="0">
                <a:solidFill>
                  <a:srgbClr val="000000"/>
                </a:solidFill>
                <a:latin typeface="CMR10" charset="0"/>
              </a:rPr>
              <a:t>)</a:t>
            </a:r>
            <a:r>
              <a:rPr lang="en-US" sz="2400" baseline="30000" dirty="0">
                <a:solidFill>
                  <a:srgbClr val="000000"/>
                </a:solidFill>
                <a:latin typeface="Times" charset="0"/>
              </a:rPr>
              <a:t>2 </a:t>
            </a:r>
            <a:r>
              <a:rPr lang="en-US" sz="2400" dirty="0">
                <a:solidFill>
                  <a:srgbClr val="000000"/>
                </a:solidFill>
                <a:latin typeface="CMR10" charset="0"/>
              </a:rPr>
              <a:t>= </a:t>
            </a:r>
            <a:r>
              <a:rPr lang="en-US" sz="2400" dirty="0">
                <a:solidFill>
                  <a:srgbClr val="000000"/>
                </a:solidFill>
                <a:latin typeface="Times" charset="0"/>
              </a:rPr>
              <a:t>8</a:t>
            </a:r>
            <a:r>
              <a:rPr lang="en-US" sz="2400" baseline="30000" dirty="0">
                <a:solidFill>
                  <a:srgbClr val="000000"/>
                </a:solidFill>
                <a:latin typeface="Times" charset="0"/>
              </a:rPr>
              <a:t>2 </a:t>
            </a:r>
            <a:r>
              <a:rPr lang="en-US" sz="2400" dirty="0">
                <a:solidFill>
                  <a:srgbClr val="000000"/>
                </a:solidFill>
                <a:latin typeface="CMR10" charset="0"/>
              </a:rPr>
              <a:t>= </a:t>
            </a:r>
            <a:r>
              <a:rPr lang="en-US" sz="2400" dirty="0">
                <a:solidFill>
                  <a:srgbClr val="000000"/>
                </a:solidFill>
                <a:latin typeface="Times" charset="0"/>
              </a:rPr>
              <a:t>64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4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400" baseline="30000" dirty="0">
                <a:solidFill>
                  <a:srgbClr val="000000"/>
                </a:solidFill>
                <a:latin typeface="Times" charset="0"/>
              </a:rPr>
              <a:t>7</a:t>
            </a:r>
            <a:r>
              <a:rPr lang="en-US" sz="2400" dirty="0">
                <a:solidFill>
                  <a:srgbClr val="000000"/>
                </a:solidFill>
                <a:latin typeface="Times" charset="0"/>
              </a:rPr>
              <a:t>	</a:t>
            </a:r>
            <a:r>
              <a:rPr lang="en-US" sz="2400" dirty="0">
                <a:solidFill>
                  <a:srgbClr val="000000"/>
                </a:solidFill>
                <a:latin typeface="CMR10" charset="0"/>
              </a:rPr>
              <a:t>= </a:t>
            </a:r>
            <a:r>
              <a:rPr lang="en-US" sz="24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400" baseline="30000" dirty="0">
                <a:solidFill>
                  <a:srgbClr val="000000"/>
                </a:solidFill>
                <a:latin typeface="Times" charset="0"/>
              </a:rPr>
              <a:t>1</a:t>
            </a:r>
            <a:r>
              <a:rPr lang="en-US" sz="2400" baseline="30000" dirty="0">
                <a:solidFill>
                  <a:srgbClr val="000000"/>
                </a:solidFill>
                <a:latin typeface="CMR10" charset="0"/>
              </a:rPr>
              <a:t>+(</a:t>
            </a:r>
            <a:r>
              <a:rPr lang="en-US" sz="2400" baseline="30000" dirty="0">
                <a:solidFill>
                  <a:srgbClr val="000000"/>
                </a:solidFill>
                <a:latin typeface="Times" charset="0"/>
              </a:rPr>
              <a:t>6</a:t>
            </a:r>
            <a:r>
              <a:rPr lang="en-US" sz="2400" i="1" baseline="30000" dirty="0">
                <a:solidFill>
                  <a:srgbClr val="000000"/>
                </a:solidFill>
                <a:latin typeface="CMMI10" charset="0"/>
              </a:rPr>
              <a:t>/</a:t>
            </a:r>
            <a:r>
              <a:rPr lang="en-US" sz="2400" baseline="300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400" baseline="30000" dirty="0">
                <a:solidFill>
                  <a:srgbClr val="000000"/>
                </a:solidFill>
                <a:latin typeface="CMR10" charset="0"/>
              </a:rPr>
              <a:t>)</a:t>
            </a:r>
            <a:r>
              <a:rPr lang="en-US" sz="2400" baseline="30000" dirty="0">
                <a:solidFill>
                  <a:srgbClr val="000000"/>
                </a:solidFill>
                <a:latin typeface="Times" charset="0"/>
              </a:rPr>
              <a:t>2 </a:t>
            </a:r>
            <a:r>
              <a:rPr lang="en-US" sz="2400" dirty="0">
                <a:solidFill>
                  <a:srgbClr val="000000"/>
                </a:solidFill>
                <a:latin typeface="CMR10" charset="0"/>
              </a:rPr>
              <a:t>= </a:t>
            </a:r>
            <a:r>
              <a:rPr lang="en-US" sz="24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CMR10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400" baseline="30000" dirty="0">
                <a:solidFill>
                  <a:srgbClr val="000000"/>
                </a:solidFill>
                <a:latin typeface="Times" charset="0"/>
              </a:rPr>
              <a:t>6</a:t>
            </a:r>
            <a:r>
              <a:rPr lang="en-US" sz="2400" i="1" baseline="30000" dirty="0">
                <a:solidFill>
                  <a:srgbClr val="000000"/>
                </a:solidFill>
                <a:latin typeface="CMMI10" charset="0"/>
              </a:rPr>
              <a:t>/</a:t>
            </a:r>
            <a:r>
              <a:rPr lang="en-US" sz="2400" baseline="300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CMR10" charset="0"/>
              </a:rPr>
              <a:t>)</a:t>
            </a:r>
            <a:r>
              <a:rPr lang="en-US" sz="2400" baseline="30000" dirty="0">
                <a:solidFill>
                  <a:srgbClr val="000000"/>
                </a:solidFill>
                <a:latin typeface="Times" charset="0"/>
              </a:rPr>
              <a:t>2 </a:t>
            </a:r>
            <a:r>
              <a:rPr lang="en-US" sz="2400" dirty="0">
                <a:solidFill>
                  <a:srgbClr val="000000"/>
                </a:solidFill>
                <a:latin typeface="CMR10" charset="0"/>
              </a:rPr>
              <a:t>= </a:t>
            </a:r>
            <a:r>
              <a:rPr lang="en-US" sz="24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CMR10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400" baseline="30000" dirty="0">
                <a:solidFill>
                  <a:srgbClr val="000000"/>
                </a:solidFill>
                <a:latin typeface="Times" charset="0"/>
              </a:rPr>
              <a:t>3</a:t>
            </a:r>
            <a:r>
              <a:rPr lang="en-US" sz="2400" dirty="0">
                <a:solidFill>
                  <a:srgbClr val="000000"/>
                </a:solidFill>
                <a:latin typeface="CMR10" charset="0"/>
              </a:rPr>
              <a:t>)</a:t>
            </a:r>
            <a:r>
              <a:rPr lang="en-US" sz="2400" baseline="30000" dirty="0">
                <a:solidFill>
                  <a:srgbClr val="000000"/>
                </a:solidFill>
                <a:latin typeface="Times" charset="0"/>
              </a:rPr>
              <a:t>2 </a:t>
            </a:r>
            <a:r>
              <a:rPr lang="en-US" sz="2400" dirty="0">
                <a:solidFill>
                  <a:srgbClr val="000000"/>
                </a:solidFill>
                <a:latin typeface="CMR10" charset="0"/>
              </a:rPr>
              <a:t>= </a:t>
            </a:r>
            <a:r>
              <a:rPr lang="en-US" sz="24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CMR10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Times" charset="0"/>
              </a:rPr>
              <a:t>8</a:t>
            </a:r>
            <a:r>
              <a:rPr lang="en-US" sz="2400" baseline="300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CMR10" charset="0"/>
              </a:rPr>
              <a:t>) = </a:t>
            </a:r>
            <a:r>
              <a:rPr lang="en-US" sz="2400" dirty="0">
                <a:solidFill>
                  <a:srgbClr val="000000"/>
                </a:solidFill>
                <a:latin typeface="Times" charset="0"/>
              </a:rPr>
              <a:t>128</a:t>
            </a:r>
            <a:endParaRPr lang="en-US" sz="2400" dirty="0">
              <a:latin typeface="Tahoma" charset="0"/>
            </a:endParaRPr>
          </a:p>
        </p:txBody>
      </p:sp>
      <p:graphicFrame>
        <p:nvGraphicFramePr>
          <p:cNvPr id="25605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4114800" y="2541588"/>
          <a:ext cx="5334000" cy="1344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19400" imgH="711200" progId="Equation.3">
                  <p:embed/>
                </p:oleObj>
              </mc:Choice>
              <mc:Fallback>
                <p:oleObj name="Equation" r:id="rId2" imgW="2819400" imgH="711200" progId="Equation.3">
                  <p:embed/>
                  <p:pic>
                    <p:nvPicPr>
                      <p:cNvPr id="2560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2541588"/>
                        <a:ext cx="5334000" cy="1344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6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Footer Placeholder 4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Recursion</a:t>
            </a:r>
          </a:p>
        </p:txBody>
      </p:sp>
      <p:sp>
        <p:nvSpPr>
          <p:cNvPr id="26626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F37CEF12-4ED6-0641-8F03-2B8A9824FBC7}" type="slidenum">
              <a:rPr lang="en-US" sz="1400"/>
              <a:pPr eaLnBrk="1" hangingPunct="1"/>
              <a:t>17</a:t>
            </a:fld>
            <a:endParaRPr lang="en-US" sz="1400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Recursive Squaring Method</a:t>
            </a:r>
          </a:p>
        </p:txBody>
      </p:sp>
      <p:sp>
        <p:nvSpPr>
          <p:cNvPr id="2662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362200" y="1905000"/>
            <a:ext cx="77724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400" b="1" dirty="0">
                <a:latin typeface="Tahoma" charset="0"/>
              </a:rPr>
              <a:t>Algorithm </a:t>
            </a:r>
            <a:r>
              <a:rPr lang="en-US" sz="2400" dirty="0">
                <a:solidFill>
                  <a:schemeClr val="tx2"/>
                </a:solidFill>
                <a:latin typeface="Tahoma" charset="0"/>
              </a:rPr>
              <a:t>Power</a:t>
            </a:r>
            <a:r>
              <a:rPr lang="en-US" sz="2400" dirty="0">
                <a:latin typeface="Tahoma" charset="0"/>
              </a:rPr>
              <a:t>(x, n):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400" b="1" dirty="0">
                <a:latin typeface="Tahoma" charset="0"/>
              </a:rPr>
              <a:t>      Input: </a:t>
            </a:r>
            <a:r>
              <a:rPr lang="en-US" sz="2400" dirty="0">
                <a:latin typeface="Tahoma" charset="0"/>
              </a:rPr>
              <a:t>A number x and integer n = 0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400" b="1" dirty="0">
                <a:latin typeface="Tahoma" charset="0"/>
              </a:rPr>
              <a:t>      Output: </a:t>
            </a:r>
            <a:r>
              <a:rPr lang="en-US" sz="2400" dirty="0">
                <a:latin typeface="Tahoma" charset="0"/>
              </a:rPr>
              <a:t>The value </a:t>
            </a:r>
            <a:r>
              <a:rPr lang="en-US" sz="2400" dirty="0" err="1">
                <a:latin typeface="Tahoma" charset="0"/>
              </a:rPr>
              <a:t>x</a:t>
            </a:r>
            <a:r>
              <a:rPr lang="en-US" sz="2400" baseline="30000" dirty="0" err="1">
                <a:latin typeface="Tahoma" charset="0"/>
              </a:rPr>
              <a:t>n</a:t>
            </a:r>
            <a:endParaRPr lang="en-US" sz="2400" baseline="30000" dirty="0">
              <a:latin typeface="Tahoma" charset="0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400" b="1" dirty="0">
                <a:latin typeface="Tahoma" charset="0"/>
              </a:rPr>
              <a:t>     if </a:t>
            </a:r>
            <a:r>
              <a:rPr lang="en-US" sz="2400" dirty="0">
                <a:latin typeface="Tahoma" charset="0"/>
              </a:rPr>
              <a:t>n = 0	</a:t>
            </a:r>
            <a:r>
              <a:rPr lang="en-US" sz="2400" b="1" dirty="0">
                <a:latin typeface="Tahoma" charset="0"/>
              </a:rPr>
              <a:t>then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400" b="1" dirty="0">
                <a:latin typeface="Tahoma" charset="0"/>
              </a:rPr>
              <a:t>		return </a:t>
            </a:r>
            <a:r>
              <a:rPr lang="en-US" sz="2400" dirty="0">
                <a:latin typeface="Tahoma" charset="0"/>
              </a:rPr>
              <a:t>1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400" b="1" dirty="0">
                <a:latin typeface="Tahoma" charset="0"/>
              </a:rPr>
              <a:t>     if </a:t>
            </a:r>
            <a:r>
              <a:rPr lang="en-US" sz="2400" dirty="0">
                <a:latin typeface="Tahoma" charset="0"/>
              </a:rPr>
              <a:t>n is odd </a:t>
            </a:r>
            <a:r>
              <a:rPr lang="en-US" sz="2400" b="1" dirty="0">
                <a:latin typeface="Tahoma" charset="0"/>
              </a:rPr>
              <a:t>then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400" dirty="0">
                <a:latin typeface="Tahoma" charset="0"/>
              </a:rPr>
              <a:t>		y  = </a:t>
            </a:r>
            <a:r>
              <a:rPr lang="en-US" sz="2400" dirty="0">
                <a:solidFill>
                  <a:schemeClr val="tx2"/>
                </a:solidFill>
                <a:latin typeface="Tahoma" charset="0"/>
              </a:rPr>
              <a:t>Power</a:t>
            </a:r>
            <a:r>
              <a:rPr lang="en-US" sz="2400" dirty="0">
                <a:latin typeface="Tahoma" charset="0"/>
              </a:rPr>
              <a:t>(x, (n - 1)/ 2)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400" b="1" dirty="0">
                <a:latin typeface="Tahoma" charset="0"/>
              </a:rPr>
              <a:t>		return </a:t>
            </a:r>
            <a:r>
              <a:rPr lang="en-US" sz="2400" dirty="0">
                <a:latin typeface="Tahoma" charset="0"/>
              </a:rPr>
              <a:t>x · y ·y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400" b="1" dirty="0">
                <a:latin typeface="Tahoma" charset="0"/>
              </a:rPr>
              <a:t>     else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400" dirty="0">
                <a:latin typeface="Tahoma" charset="0"/>
              </a:rPr>
              <a:t>		y = </a:t>
            </a:r>
            <a:r>
              <a:rPr lang="en-US" sz="2400" dirty="0">
                <a:solidFill>
                  <a:schemeClr val="tx2"/>
                </a:solidFill>
                <a:latin typeface="Tahoma" charset="0"/>
              </a:rPr>
              <a:t>Power</a:t>
            </a:r>
            <a:r>
              <a:rPr lang="en-US" sz="2400" dirty="0">
                <a:latin typeface="Tahoma" charset="0"/>
              </a:rPr>
              <a:t>(x, n/ 2)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400" b="1" dirty="0">
                <a:latin typeface="Tahoma" charset="0"/>
              </a:rPr>
              <a:t>		return </a:t>
            </a:r>
            <a:r>
              <a:rPr lang="en-US" sz="2400" dirty="0">
                <a:latin typeface="Tahoma" charset="0"/>
              </a:rPr>
              <a:t>y · y</a:t>
            </a:r>
          </a:p>
        </p:txBody>
      </p:sp>
      <p:sp>
        <p:nvSpPr>
          <p:cNvPr id="26629" name="Date Placeholder 5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Footer Placeholder 4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Recursion</a:t>
            </a:r>
          </a:p>
        </p:txBody>
      </p:sp>
      <p:sp>
        <p:nvSpPr>
          <p:cNvPr id="27650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4C8F5672-C8DD-3E47-B7D2-D36109E0E29A}" type="slidenum">
              <a:rPr lang="en-US" sz="1400"/>
              <a:pPr eaLnBrk="1" hangingPunct="1"/>
              <a:t>18</a:t>
            </a:fld>
            <a:endParaRPr lang="en-US" sz="140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>
                <a:latin typeface="Tahoma" charset="0"/>
              </a:rPr>
              <a:t>Analysis</a:t>
            </a:r>
          </a:p>
        </p:txBody>
      </p:sp>
      <p:sp>
        <p:nvSpPr>
          <p:cNvPr id="2765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362200" y="1905000"/>
            <a:ext cx="4724400" cy="4419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400" b="1" dirty="0">
                <a:latin typeface="Tahoma" charset="0"/>
              </a:rPr>
              <a:t>Algorithm </a:t>
            </a:r>
            <a:r>
              <a:rPr lang="en-US" sz="2400" dirty="0">
                <a:solidFill>
                  <a:schemeClr val="tx2"/>
                </a:solidFill>
                <a:latin typeface="Tahoma" charset="0"/>
              </a:rPr>
              <a:t>Power</a:t>
            </a:r>
            <a:r>
              <a:rPr lang="en-US" sz="2400" dirty="0">
                <a:latin typeface="Tahoma" charset="0"/>
              </a:rPr>
              <a:t>(x, n):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400" b="1" dirty="0">
                <a:latin typeface="Tahoma" charset="0"/>
              </a:rPr>
              <a:t>      Input: </a:t>
            </a:r>
            <a:r>
              <a:rPr lang="en-US" sz="2400" dirty="0">
                <a:latin typeface="Tahoma" charset="0"/>
              </a:rPr>
              <a:t>A number x and integer n = 0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400" b="1" dirty="0">
                <a:latin typeface="Tahoma" charset="0"/>
              </a:rPr>
              <a:t>      Output: </a:t>
            </a:r>
            <a:r>
              <a:rPr lang="en-US" sz="2400" dirty="0">
                <a:latin typeface="Tahoma" charset="0"/>
              </a:rPr>
              <a:t>The value </a:t>
            </a:r>
            <a:r>
              <a:rPr lang="en-US" sz="2400" dirty="0" err="1">
                <a:latin typeface="Tahoma" charset="0"/>
              </a:rPr>
              <a:t>x</a:t>
            </a:r>
            <a:r>
              <a:rPr lang="en-US" sz="2400" baseline="30000" dirty="0" err="1">
                <a:latin typeface="Tahoma" charset="0"/>
              </a:rPr>
              <a:t>n</a:t>
            </a:r>
            <a:endParaRPr lang="en-US" sz="2400" baseline="30000" dirty="0">
              <a:latin typeface="Tahoma" charset="0"/>
            </a:endParaRP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400" b="1" dirty="0">
                <a:latin typeface="Tahoma" charset="0"/>
              </a:rPr>
              <a:t>     if </a:t>
            </a:r>
            <a:r>
              <a:rPr lang="en-US" sz="2400" dirty="0">
                <a:latin typeface="Tahoma" charset="0"/>
              </a:rPr>
              <a:t>n = 0	</a:t>
            </a:r>
            <a:r>
              <a:rPr lang="en-US" sz="2400" b="1" dirty="0">
                <a:latin typeface="Tahoma" charset="0"/>
              </a:rPr>
              <a:t>then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400" b="1" dirty="0">
                <a:latin typeface="Tahoma" charset="0"/>
              </a:rPr>
              <a:t>		return </a:t>
            </a:r>
            <a:r>
              <a:rPr lang="en-US" sz="2400" dirty="0">
                <a:latin typeface="Tahoma" charset="0"/>
              </a:rPr>
              <a:t>1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400" b="1" dirty="0">
                <a:latin typeface="Tahoma" charset="0"/>
              </a:rPr>
              <a:t>     if </a:t>
            </a:r>
            <a:r>
              <a:rPr lang="en-US" sz="2400" dirty="0">
                <a:latin typeface="Tahoma" charset="0"/>
              </a:rPr>
              <a:t>n is odd </a:t>
            </a:r>
            <a:r>
              <a:rPr lang="en-US" sz="2400" b="1" dirty="0">
                <a:latin typeface="Tahoma" charset="0"/>
              </a:rPr>
              <a:t>then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400" dirty="0">
                <a:latin typeface="Tahoma" charset="0"/>
              </a:rPr>
              <a:t>		y  = </a:t>
            </a:r>
            <a:r>
              <a:rPr lang="en-US" sz="2400" dirty="0">
                <a:solidFill>
                  <a:schemeClr val="tx2"/>
                </a:solidFill>
                <a:latin typeface="Tahoma" charset="0"/>
              </a:rPr>
              <a:t>Power</a:t>
            </a:r>
            <a:r>
              <a:rPr lang="en-US" sz="2400" dirty="0">
                <a:latin typeface="Tahoma" charset="0"/>
              </a:rPr>
              <a:t>(x, (n - 1)/ 2)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400" b="1" dirty="0">
                <a:latin typeface="Tahoma" charset="0"/>
              </a:rPr>
              <a:t>		return </a:t>
            </a:r>
            <a:r>
              <a:rPr lang="en-US" sz="2400" dirty="0">
                <a:latin typeface="Tahoma" charset="0"/>
              </a:rPr>
              <a:t>x · y · y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400" b="1" dirty="0">
                <a:latin typeface="Tahoma" charset="0"/>
              </a:rPr>
              <a:t>     else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400" dirty="0">
                <a:latin typeface="Tahoma" charset="0"/>
              </a:rPr>
              <a:t>		y = </a:t>
            </a:r>
            <a:r>
              <a:rPr lang="en-US" sz="2400" dirty="0">
                <a:solidFill>
                  <a:schemeClr val="tx2"/>
                </a:solidFill>
                <a:latin typeface="Tahoma" charset="0"/>
              </a:rPr>
              <a:t>Power</a:t>
            </a:r>
            <a:r>
              <a:rPr lang="en-US" sz="2400" dirty="0">
                <a:latin typeface="Tahoma" charset="0"/>
              </a:rPr>
              <a:t>(x, n/ 2)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400" b="1" dirty="0">
                <a:latin typeface="Tahoma" charset="0"/>
              </a:rPr>
              <a:t>		return </a:t>
            </a:r>
            <a:r>
              <a:rPr lang="en-US" sz="2400" dirty="0">
                <a:latin typeface="Tahoma" charset="0"/>
              </a:rPr>
              <a:t>y · y</a:t>
            </a:r>
          </a:p>
        </p:txBody>
      </p:sp>
      <p:sp>
        <p:nvSpPr>
          <p:cNvPr id="12294" name="Line 4"/>
          <p:cNvSpPr>
            <a:spLocks noChangeShapeType="1"/>
          </p:cNvSpPr>
          <p:nvPr/>
        </p:nvSpPr>
        <p:spPr bwMode="auto">
          <a:xfrm>
            <a:off x="5562600" y="5029200"/>
            <a:ext cx="1676400" cy="685800"/>
          </a:xfrm>
          <a:prstGeom prst="line">
            <a:avLst/>
          </a:prstGeom>
          <a:noFill/>
          <a:ln w="38100">
            <a:solidFill>
              <a:schemeClr val="bg2">
                <a:lumMod val="75000"/>
              </a:schemeClr>
            </a:solidFill>
            <a:round/>
            <a:headEnd type="triangle" w="med" len="med"/>
            <a:tailEnd/>
          </a:ln>
        </p:spPr>
        <p:txBody>
          <a:bodyPr wrap="none"/>
          <a:lstStyle/>
          <a:p>
            <a:pPr>
              <a:defRPr/>
            </a:pPr>
            <a:endParaRPr lang="en-US">
              <a:solidFill>
                <a:schemeClr val="bg2">
                  <a:lumMod val="75000"/>
                </a:schemeClr>
              </a:solidFill>
              <a:latin typeface="Tahoma" pitchFamily="34" charset="0"/>
            </a:endParaRPr>
          </a:p>
        </p:txBody>
      </p:sp>
      <p:sp>
        <p:nvSpPr>
          <p:cNvPr id="12295" name="Text Box 5"/>
          <p:cNvSpPr txBox="1">
            <a:spLocks noChangeArrowheads="1"/>
          </p:cNvSpPr>
          <p:nvPr/>
        </p:nvSpPr>
        <p:spPr bwMode="auto">
          <a:xfrm>
            <a:off x="7239001" y="5029201"/>
            <a:ext cx="3063875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Comic Sans MS" pitchFamily="66" charset="0"/>
              </a:rPr>
              <a:t>It is important that we use a variable twice here rather than calling the method twice.</a:t>
            </a:r>
          </a:p>
        </p:txBody>
      </p:sp>
      <p:sp>
        <p:nvSpPr>
          <p:cNvPr id="27655" name="Text Box 7"/>
          <p:cNvSpPr txBox="1">
            <a:spLocks noChangeArrowheads="1"/>
          </p:cNvSpPr>
          <p:nvPr/>
        </p:nvSpPr>
        <p:spPr bwMode="auto">
          <a:xfrm>
            <a:off x="7239000" y="2514601"/>
            <a:ext cx="304800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>
                <a:solidFill>
                  <a:schemeClr val="tx2"/>
                </a:solidFill>
                <a:latin typeface="Comic Sans MS" charset="0"/>
              </a:rPr>
              <a:t>Each time we make a recursive call we halve the value of n; hence, we make log n recursive calls. That is, this method runs in O(log n) time.</a:t>
            </a:r>
          </a:p>
        </p:txBody>
      </p:sp>
      <p:sp>
        <p:nvSpPr>
          <p:cNvPr id="27656" name="Date Placeholder 9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  <p:sp>
        <p:nvSpPr>
          <p:cNvPr id="11" name="Line 4"/>
          <p:cNvSpPr>
            <a:spLocks noChangeShapeType="1"/>
          </p:cNvSpPr>
          <p:nvPr/>
        </p:nvSpPr>
        <p:spPr bwMode="auto">
          <a:xfrm flipV="1">
            <a:off x="5105400" y="5715000"/>
            <a:ext cx="2133600" cy="381000"/>
          </a:xfrm>
          <a:prstGeom prst="line">
            <a:avLst/>
          </a:prstGeom>
          <a:noFill/>
          <a:ln w="38100">
            <a:solidFill>
              <a:schemeClr val="bg2">
                <a:lumMod val="75000"/>
              </a:schemeClr>
            </a:solidFill>
            <a:round/>
            <a:headEnd type="triangle" w="med" len="med"/>
            <a:tailEnd/>
          </a:ln>
        </p:spPr>
        <p:txBody>
          <a:bodyPr wrap="none"/>
          <a:lstStyle/>
          <a:p>
            <a:pPr>
              <a:defRPr/>
            </a:pPr>
            <a:endParaRPr lang="en-US">
              <a:solidFill>
                <a:schemeClr val="bg2">
                  <a:lumMod val="75000"/>
                </a:schemeClr>
              </a:solidFill>
              <a:latin typeface="Tahoma" pitchFamily="34" charset="0"/>
            </a:endParaRPr>
          </a:p>
        </p:txBody>
      </p:sp>
      <p:sp>
        <p:nvSpPr>
          <p:cNvPr id="27658" name="Line 4"/>
          <p:cNvSpPr>
            <a:spLocks noChangeShapeType="1"/>
          </p:cNvSpPr>
          <p:nvPr/>
        </p:nvSpPr>
        <p:spPr bwMode="auto">
          <a:xfrm flipV="1">
            <a:off x="4648200" y="3429000"/>
            <a:ext cx="2514600" cy="990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659" name="Line 4"/>
          <p:cNvSpPr>
            <a:spLocks noChangeShapeType="1"/>
          </p:cNvSpPr>
          <p:nvPr/>
        </p:nvSpPr>
        <p:spPr bwMode="auto">
          <a:xfrm flipV="1">
            <a:off x="4114800" y="3429000"/>
            <a:ext cx="3048000" cy="1981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Tail recursion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20858"/>
            <a:ext cx="10972800" cy="5056142"/>
          </a:xfrm>
        </p:spPr>
        <p:txBody>
          <a:bodyPr>
            <a:noAutofit/>
          </a:bodyPr>
          <a:lstStyle/>
          <a:p>
            <a:r>
              <a:rPr lang="en-US" sz="2000" dirty="0"/>
              <a:t>Recursion is a useful tool for elegant, short algorithm definition</a:t>
            </a:r>
          </a:p>
          <a:p>
            <a:r>
              <a:rPr lang="en-US" sz="2000" dirty="0"/>
              <a:t>But costs memory to keep track of the state of each active recursive call.</a:t>
            </a:r>
          </a:p>
          <a:p>
            <a:r>
              <a:rPr lang="en-US" sz="2000" dirty="0"/>
              <a:t>Tail </a:t>
            </a:r>
            <a:r>
              <a:rPr lang="en-US" sz="2000" b="1" dirty="0"/>
              <a:t>recursion: </a:t>
            </a:r>
            <a:r>
              <a:rPr lang="en-US" sz="2000" dirty="0"/>
              <a:t>linear recursion is called as its very last operation.</a:t>
            </a:r>
          </a:p>
          <a:p>
            <a:r>
              <a:rPr lang="en-US" sz="2000" dirty="0"/>
              <a:t>Can convert a recursive algorithm into a non-recursive one, by iterating through the recursive calls rather than calling them explicitly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Algorithm</a:t>
            </a:r>
            <a:r>
              <a:rPr lang="en-US" sz="2000" dirty="0"/>
              <a:t> </a:t>
            </a:r>
            <a:r>
              <a:rPr lang="en-US" sz="2000" dirty="0" err="1"/>
              <a:t>IterativeReverseArray</a:t>
            </a:r>
            <a:r>
              <a:rPr lang="en-US" sz="2000" dirty="0"/>
              <a:t>(A, i, j)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	Input: </a:t>
            </a:r>
            <a:r>
              <a:rPr lang="en-US" sz="2000" dirty="0"/>
              <a:t>An integer array A, non-negative indices i and j</a:t>
            </a:r>
            <a:endParaRPr lang="en-US" sz="2000" dirty="0">
              <a:sym typeface="Symbol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sym typeface="Symbol"/>
              </a:rPr>
              <a:t>	Output: </a:t>
            </a:r>
            <a:r>
              <a:rPr lang="en-US" sz="2000" dirty="0">
                <a:sym typeface="Symbol"/>
              </a:rPr>
              <a:t>The reversal of elements in A starting at index </a:t>
            </a:r>
            <a:r>
              <a:rPr lang="en-US" sz="2000" dirty="0" err="1">
                <a:sym typeface="Symbol"/>
              </a:rPr>
              <a:t>i</a:t>
            </a:r>
            <a:r>
              <a:rPr lang="en-US" sz="2000" dirty="0">
                <a:sym typeface="Symbol"/>
              </a:rPr>
              <a:t> and ending at j</a:t>
            </a:r>
          </a:p>
          <a:p>
            <a:pPr marL="0" indent="0">
              <a:buNone/>
            </a:pPr>
            <a:r>
              <a:rPr lang="en-US" sz="2000" dirty="0">
                <a:sym typeface="Symbol"/>
              </a:rPr>
              <a:t>	</a:t>
            </a:r>
            <a:r>
              <a:rPr lang="en-US" sz="2000" b="1" dirty="0">
                <a:sym typeface="Symbol"/>
              </a:rPr>
              <a:t>while</a:t>
            </a:r>
            <a:r>
              <a:rPr lang="en-US" sz="2000" dirty="0">
                <a:sym typeface="Symbol"/>
              </a:rPr>
              <a:t> i&lt;j </a:t>
            </a:r>
            <a:r>
              <a:rPr lang="en-US" sz="2000" b="1" dirty="0">
                <a:sym typeface="Symbol"/>
              </a:rPr>
              <a:t>do</a:t>
            </a:r>
          </a:p>
          <a:p>
            <a:pPr marL="0" indent="0">
              <a:buNone/>
            </a:pPr>
            <a:r>
              <a:rPr lang="en-US" sz="2000" dirty="0">
                <a:sym typeface="Symbol"/>
              </a:rPr>
              <a:t>		Swap A[i] and A[j]</a:t>
            </a:r>
          </a:p>
          <a:p>
            <a:pPr marL="0" indent="0">
              <a:buNone/>
            </a:pPr>
            <a:r>
              <a:rPr lang="en-US" sz="2000" dirty="0"/>
              <a:t>		i </a:t>
            </a:r>
            <a:r>
              <a:rPr lang="en-US" sz="2000" dirty="0">
                <a:sym typeface="Symbol"/>
              </a:rPr>
              <a:t> i</a:t>
            </a:r>
            <a:r>
              <a:rPr lang="en-US" sz="2000" dirty="0"/>
              <a:t>+1</a:t>
            </a:r>
          </a:p>
          <a:p>
            <a:pPr marL="0" indent="0">
              <a:buNone/>
            </a:pPr>
            <a:r>
              <a:rPr lang="en-US" sz="2000" dirty="0"/>
              <a:t>		i </a:t>
            </a:r>
            <a:r>
              <a:rPr lang="en-US" sz="2000" dirty="0">
                <a:sym typeface="Symbol"/>
              </a:rPr>
              <a:t> j</a:t>
            </a:r>
            <a:r>
              <a:rPr lang="en-US" sz="2000" dirty="0"/>
              <a:t>-1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b="1" dirty="0"/>
              <a:t>return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047227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Puzzle of Rabbits Population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Suppose a newly-born pair of rabbits, one male, one female, are put in a field. </a:t>
            </a:r>
          </a:p>
          <a:p>
            <a:r>
              <a:rPr lang="en-US" sz="2400" dirty="0"/>
              <a:t>Rabbits are able to mate at the age of one month </a:t>
            </a:r>
          </a:p>
          <a:p>
            <a:r>
              <a:rPr lang="en-US" sz="2400" dirty="0"/>
              <a:t>At the end of its second month a female can produce another pair of rabbits. </a:t>
            </a:r>
          </a:p>
          <a:p>
            <a:r>
              <a:rPr lang="en-US" sz="2400" dirty="0"/>
              <a:t>Suppose that </a:t>
            </a:r>
          </a:p>
          <a:p>
            <a:pPr lvl="1"/>
            <a:r>
              <a:rPr lang="en-US" sz="2400" dirty="0"/>
              <a:t>our rabbits never die and </a:t>
            </a:r>
          </a:p>
          <a:p>
            <a:pPr lvl="1"/>
            <a:r>
              <a:rPr lang="en-US" sz="2400" dirty="0"/>
              <a:t>the female always produces one new pair every month from the second month on.</a:t>
            </a:r>
          </a:p>
          <a:p>
            <a:r>
              <a:rPr lang="en-US" sz="2400" dirty="0"/>
              <a:t>How many pairs will there be in one year ?</a:t>
            </a:r>
          </a:p>
        </p:txBody>
      </p:sp>
    </p:spTree>
    <p:extLst>
      <p:ext uri="{BB962C8B-B14F-4D97-AF65-F5344CB8AC3E}">
        <p14:creationId xmlns:p14="http://schemas.microsoft.com/office/powerpoint/2010/main" val="41832973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 descr="8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8431" r="-2843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40142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228600"/>
            <a:ext cx="8229600" cy="1143000"/>
          </a:xfrm>
        </p:spPr>
        <p:txBody>
          <a:bodyPr/>
          <a:lstStyle/>
          <a:p>
            <a:r>
              <a:rPr lang="en-US" dirty="0"/>
              <a:t>Binary recursion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/>
              <a:t>An algorithm that makes two recursive calls</a:t>
            </a:r>
          </a:p>
          <a:p>
            <a:r>
              <a:rPr lang="en-US" sz="2400" dirty="0"/>
              <a:t>Example: Fibonacci numbers</a:t>
            </a:r>
          </a:p>
          <a:p>
            <a:pPr marL="0" indent="0">
              <a:buNone/>
            </a:pPr>
            <a:r>
              <a:rPr lang="en-US" sz="2400" dirty="0"/>
              <a:t>	1, 1, 2, 3, 5, 8, ….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Algorithm</a:t>
            </a:r>
            <a:r>
              <a:rPr lang="en-US" sz="2400" dirty="0"/>
              <a:t> </a:t>
            </a:r>
            <a:r>
              <a:rPr lang="en-US" sz="2400" dirty="0" err="1"/>
              <a:t>BinaryFib</a:t>
            </a:r>
            <a:r>
              <a:rPr lang="en-US" sz="2400" dirty="0"/>
              <a:t>(k)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	Input: </a:t>
            </a:r>
            <a:r>
              <a:rPr lang="en-US" sz="2400" dirty="0"/>
              <a:t>Nonnegative integer k</a:t>
            </a:r>
            <a:endParaRPr lang="en-US" sz="2400" dirty="0">
              <a:sym typeface="Symbol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sym typeface="Symbol"/>
              </a:rPr>
              <a:t>	Output: </a:t>
            </a:r>
            <a:r>
              <a:rPr lang="en-US" sz="2400" dirty="0">
                <a:sym typeface="Symbol"/>
              </a:rPr>
              <a:t>the k-</a:t>
            </a:r>
            <a:r>
              <a:rPr lang="en-US" sz="2400" dirty="0" err="1">
                <a:sym typeface="Symbol"/>
              </a:rPr>
              <a:t>th</a:t>
            </a:r>
            <a:r>
              <a:rPr lang="en-US" sz="2400" dirty="0">
                <a:sym typeface="Symbol"/>
              </a:rPr>
              <a:t> Fibonacci number F</a:t>
            </a:r>
            <a:r>
              <a:rPr lang="en-US" sz="2400" baseline="-25000" dirty="0">
                <a:sym typeface="Symbol"/>
              </a:rPr>
              <a:t>k</a:t>
            </a:r>
            <a:r>
              <a:rPr lang="en-US" sz="2400" dirty="0">
                <a:sym typeface="Symbol"/>
              </a:rPr>
              <a:t>	</a:t>
            </a:r>
          </a:p>
          <a:p>
            <a:pPr marL="0" indent="0">
              <a:buNone/>
            </a:pPr>
            <a:r>
              <a:rPr lang="en-US" sz="2400" dirty="0">
                <a:sym typeface="Symbol"/>
              </a:rPr>
              <a:t>	</a:t>
            </a:r>
            <a:r>
              <a:rPr lang="en-US" sz="2400" b="1" dirty="0">
                <a:sym typeface="Symbol"/>
              </a:rPr>
              <a:t>if</a:t>
            </a:r>
            <a:r>
              <a:rPr lang="en-US" sz="2400" dirty="0">
                <a:sym typeface="Symbol"/>
              </a:rPr>
              <a:t> k≤1 then </a:t>
            </a:r>
          </a:p>
          <a:p>
            <a:pPr marL="0" indent="0">
              <a:buNone/>
            </a:pPr>
            <a:r>
              <a:rPr lang="en-US" sz="2400" dirty="0">
                <a:sym typeface="Symbol"/>
              </a:rPr>
              <a:t>		</a:t>
            </a:r>
            <a:r>
              <a:rPr lang="en-US" sz="2400" b="1" dirty="0">
                <a:sym typeface="Symbol"/>
              </a:rPr>
              <a:t>return</a:t>
            </a:r>
            <a:r>
              <a:rPr lang="en-US" sz="2400" dirty="0">
                <a:sym typeface="Symbol"/>
              </a:rPr>
              <a:t> k</a:t>
            </a:r>
          </a:p>
          <a:p>
            <a:pPr marL="0" indent="0">
              <a:buNone/>
            </a:pPr>
            <a:r>
              <a:rPr lang="en-US" sz="2400" b="1" dirty="0">
                <a:sym typeface="Symbol"/>
              </a:rPr>
              <a:t>	else</a:t>
            </a:r>
          </a:p>
          <a:p>
            <a:pPr marL="0" indent="0">
              <a:buNone/>
            </a:pPr>
            <a:r>
              <a:rPr lang="en-US" sz="2400" dirty="0">
                <a:sym typeface="Symbol"/>
              </a:rPr>
              <a:t>		</a:t>
            </a:r>
            <a:r>
              <a:rPr lang="en-US" sz="2400" b="1" dirty="0">
                <a:sym typeface="Symbol"/>
              </a:rPr>
              <a:t>return</a:t>
            </a:r>
            <a:r>
              <a:rPr lang="en-US" sz="2400" dirty="0">
                <a:sym typeface="Symbol"/>
              </a:rPr>
              <a:t> </a:t>
            </a:r>
            <a:r>
              <a:rPr lang="en-US" sz="2400" dirty="0" err="1">
                <a:sym typeface="Symbol"/>
              </a:rPr>
              <a:t>BinaryFib</a:t>
            </a:r>
            <a:r>
              <a:rPr lang="en-US" sz="2400" dirty="0">
                <a:sym typeface="Symbol"/>
              </a:rPr>
              <a:t>(k-1)+</a:t>
            </a:r>
            <a:r>
              <a:rPr lang="en-US" sz="2400" dirty="0" err="1">
                <a:sym typeface="Symbol"/>
              </a:rPr>
              <a:t>BinaryFib</a:t>
            </a:r>
            <a:r>
              <a:rPr lang="en-US" sz="2400" dirty="0">
                <a:sym typeface="Symbol"/>
              </a:rPr>
              <a:t>(k-2)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	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982030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Footer Placeholder 4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Recursion</a:t>
            </a:r>
          </a:p>
        </p:txBody>
      </p:sp>
      <p:sp>
        <p:nvSpPr>
          <p:cNvPr id="32770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A09DE9DB-F24F-FE42-A790-18BD8D233078}" type="slidenum">
              <a:rPr lang="en-US" sz="1400"/>
              <a:pPr eaLnBrk="1" hangingPunct="1"/>
              <a:t>23</a:t>
            </a:fld>
            <a:endParaRPr lang="en-US" sz="140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>
                <a:latin typeface="Tahoma" charset="0"/>
              </a:rPr>
              <a:t>Analysis</a:t>
            </a:r>
          </a:p>
        </p:txBody>
      </p:sp>
      <p:sp>
        <p:nvSpPr>
          <p:cNvPr id="3277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362200" y="1600200"/>
            <a:ext cx="7924800" cy="4648200"/>
          </a:xfrm>
        </p:spPr>
        <p:txBody>
          <a:bodyPr/>
          <a:lstStyle/>
          <a:p>
            <a:pPr eaLnBrk="1" hangingPunct="1"/>
            <a:r>
              <a:rPr lang="en-US" sz="2400">
                <a:latin typeface="Tahoma" charset="0"/>
              </a:rPr>
              <a:t>Let n</a:t>
            </a:r>
            <a:r>
              <a:rPr lang="en-US" sz="2400" baseline="-25000">
                <a:latin typeface="Tahoma" charset="0"/>
              </a:rPr>
              <a:t>k</a:t>
            </a:r>
            <a:r>
              <a:rPr lang="en-US" sz="2400">
                <a:latin typeface="Tahoma" charset="0"/>
              </a:rPr>
              <a:t> be the number of recursive calls by </a:t>
            </a:r>
            <a:r>
              <a:rPr lang="en-US" sz="2400">
                <a:solidFill>
                  <a:schemeClr val="tx2"/>
                </a:solidFill>
                <a:latin typeface="Tahoma" charset="0"/>
              </a:rPr>
              <a:t>BinaryFib</a:t>
            </a:r>
            <a:r>
              <a:rPr lang="en-US" sz="2400">
                <a:latin typeface="Tahoma" charset="0"/>
              </a:rPr>
              <a:t>(k)</a:t>
            </a:r>
          </a:p>
          <a:p>
            <a:pPr lvl="1" eaLnBrk="1" hangingPunct="1"/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0</a:t>
            </a:r>
            <a:r>
              <a:rPr lang="en-US" sz="2000">
                <a:latin typeface="Tahoma" charset="0"/>
              </a:rPr>
              <a:t> = 1	</a:t>
            </a:r>
          </a:p>
          <a:p>
            <a:pPr lvl="1" eaLnBrk="1" hangingPunct="1"/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1</a:t>
            </a:r>
            <a:r>
              <a:rPr lang="en-US" sz="2000">
                <a:latin typeface="Tahoma" charset="0"/>
              </a:rPr>
              <a:t> = 1	</a:t>
            </a:r>
          </a:p>
          <a:p>
            <a:pPr lvl="1" eaLnBrk="1" hangingPunct="1"/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2</a:t>
            </a:r>
            <a:r>
              <a:rPr lang="en-US" sz="2000">
                <a:latin typeface="Tahoma" charset="0"/>
              </a:rPr>
              <a:t> = </a:t>
            </a:r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1</a:t>
            </a:r>
            <a:r>
              <a:rPr lang="en-US" sz="2000">
                <a:latin typeface="Tahoma" charset="0"/>
              </a:rPr>
              <a:t> + </a:t>
            </a:r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0</a:t>
            </a:r>
            <a:r>
              <a:rPr lang="en-US" sz="2000">
                <a:latin typeface="Tahoma" charset="0"/>
              </a:rPr>
              <a:t> + 1 = 1 + 1 + 1 = 3	</a:t>
            </a:r>
          </a:p>
          <a:p>
            <a:pPr lvl="1" eaLnBrk="1" hangingPunct="1"/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3</a:t>
            </a:r>
            <a:r>
              <a:rPr lang="en-US" sz="2000">
                <a:latin typeface="Tahoma" charset="0"/>
              </a:rPr>
              <a:t> = </a:t>
            </a:r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2</a:t>
            </a:r>
            <a:r>
              <a:rPr lang="en-US" sz="2000">
                <a:latin typeface="Tahoma" charset="0"/>
              </a:rPr>
              <a:t> + </a:t>
            </a:r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1</a:t>
            </a:r>
            <a:r>
              <a:rPr lang="en-US" sz="2000">
                <a:latin typeface="Tahoma" charset="0"/>
              </a:rPr>
              <a:t> + 1 = 3 + 1 + 1 = 5	</a:t>
            </a:r>
          </a:p>
          <a:p>
            <a:pPr lvl="1" eaLnBrk="1" hangingPunct="1"/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4</a:t>
            </a:r>
            <a:r>
              <a:rPr lang="en-US" sz="2000">
                <a:latin typeface="Tahoma" charset="0"/>
              </a:rPr>
              <a:t> = </a:t>
            </a:r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3</a:t>
            </a:r>
            <a:r>
              <a:rPr lang="en-US" sz="2000">
                <a:latin typeface="Tahoma" charset="0"/>
              </a:rPr>
              <a:t> + </a:t>
            </a:r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2</a:t>
            </a:r>
            <a:r>
              <a:rPr lang="en-US" sz="2000">
                <a:latin typeface="Tahoma" charset="0"/>
              </a:rPr>
              <a:t> + 1 = 5 + 3 + 1 = 9	</a:t>
            </a:r>
          </a:p>
          <a:p>
            <a:pPr lvl="1" eaLnBrk="1" hangingPunct="1"/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5</a:t>
            </a:r>
            <a:r>
              <a:rPr lang="en-US" sz="2000">
                <a:latin typeface="Tahoma" charset="0"/>
              </a:rPr>
              <a:t> = </a:t>
            </a:r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4</a:t>
            </a:r>
            <a:r>
              <a:rPr lang="en-US" sz="2000">
                <a:latin typeface="Tahoma" charset="0"/>
              </a:rPr>
              <a:t> + </a:t>
            </a:r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3</a:t>
            </a:r>
            <a:r>
              <a:rPr lang="en-US" sz="2000">
                <a:latin typeface="Tahoma" charset="0"/>
              </a:rPr>
              <a:t> + 1 = 9 + 5 + 1 = 15	</a:t>
            </a:r>
          </a:p>
          <a:p>
            <a:pPr lvl="1" eaLnBrk="1" hangingPunct="1"/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6</a:t>
            </a:r>
            <a:r>
              <a:rPr lang="en-US" sz="2000">
                <a:latin typeface="Tahoma" charset="0"/>
              </a:rPr>
              <a:t> = </a:t>
            </a:r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5</a:t>
            </a:r>
            <a:r>
              <a:rPr lang="en-US" sz="2000">
                <a:latin typeface="Tahoma" charset="0"/>
              </a:rPr>
              <a:t> + </a:t>
            </a:r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4</a:t>
            </a:r>
            <a:r>
              <a:rPr lang="en-US" sz="2000">
                <a:latin typeface="Tahoma" charset="0"/>
              </a:rPr>
              <a:t> + 1 = 15 + 9 + 1 = 25	</a:t>
            </a:r>
          </a:p>
          <a:p>
            <a:pPr lvl="1" eaLnBrk="1" hangingPunct="1"/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7</a:t>
            </a:r>
            <a:r>
              <a:rPr lang="en-US" sz="2000">
                <a:latin typeface="Tahoma" charset="0"/>
              </a:rPr>
              <a:t> = </a:t>
            </a:r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6</a:t>
            </a:r>
            <a:r>
              <a:rPr lang="en-US" sz="2000">
                <a:latin typeface="Tahoma" charset="0"/>
              </a:rPr>
              <a:t> + </a:t>
            </a:r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5</a:t>
            </a:r>
            <a:r>
              <a:rPr lang="en-US" sz="2000">
                <a:latin typeface="Tahoma" charset="0"/>
              </a:rPr>
              <a:t> + 1 = 25 + 15 + 1 = 41	</a:t>
            </a:r>
          </a:p>
          <a:p>
            <a:pPr lvl="1" eaLnBrk="1" hangingPunct="1"/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8</a:t>
            </a:r>
            <a:r>
              <a:rPr lang="en-US" sz="2000">
                <a:latin typeface="Tahoma" charset="0"/>
              </a:rPr>
              <a:t> = </a:t>
            </a:r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7</a:t>
            </a:r>
            <a:r>
              <a:rPr lang="en-US" sz="2000">
                <a:latin typeface="Tahoma" charset="0"/>
              </a:rPr>
              <a:t> + </a:t>
            </a:r>
            <a:r>
              <a:rPr lang="en-US" sz="2000" i="1">
                <a:latin typeface="Tahoma" charset="0"/>
              </a:rPr>
              <a:t>n</a:t>
            </a:r>
            <a:r>
              <a:rPr lang="en-US" sz="2000" baseline="-25000">
                <a:latin typeface="Tahoma" charset="0"/>
              </a:rPr>
              <a:t>6</a:t>
            </a:r>
            <a:r>
              <a:rPr lang="en-US" sz="2000">
                <a:latin typeface="Tahoma" charset="0"/>
              </a:rPr>
              <a:t> + 1 = 41 + 25 + 1 = 67</a:t>
            </a:r>
            <a:r>
              <a:rPr lang="en-US" sz="2000" i="1">
                <a:latin typeface="Tahoma" charset="0"/>
              </a:rPr>
              <a:t>.</a:t>
            </a:r>
          </a:p>
          <a:p>
            <a:pPr eaLnBrk="1" hangingPunct="1"/>
            <a:r>
              <a:rPr lang="en-US" sz="2400">
                <a:latin typeface="Tahoma" charset="0"/>
              </a:rPr>
              <a:t>Note that n</a:t>
            </a:r>
            <a:r>
              <a:rPr lang="en-US" sz="2400" baseline="-25000">
                <a:latin typeface="Tahoma" charset="0"/>
              </a:rPr>
              <a:t>k</a:t>
            </a:r>
            <a:r>
              <a:rPr lang="en-US" sz="2400">
                <a:latin typeface="Tahoma" charset="0"/>
              </a:rPr>
              <a:t> at least doubles every other time</a:t>
            </a:r>
          </a:p>
          <a:p>
            <a:pPr eaLnBrk="1" hangingPunct="1"/>
            <a:r>
              <a:rPr lang="en-US" sz="2400">
                <a:latin typeface="Tahoma" charset="0"/>
              </a:rPr>
              <a:t>That is, n</a:t>
            </a:r>
            <a:r>
              <a:rPr lang="en-US" sz="2400" baseline="-25000">
                <a:latin typeface="Tahoma" charset="0"/>
              </a:rPr>
              <a:t>k</a:t>
            </a:r>
            <a:r>
              <a:rPr lang="en-US" sz="2400">
                <a:latin typeface="Tahoma" charset="0"/>
              </a:rPr>
              <a:t> &gt; 2</a:t>
            </a:r>
            <a:r>
              <a:rPr lang="en-US" sz="2400" baseline="30000">
                <a:latin typeface="Tahoma" charset="0"/>
              </a:rPr>
              <a:t>k/2</a:t>
            </a:r>
            <a:r>
              <a:rPr lang="en-US" sz="2400">
                <a:latin typeface="Tahoma" charset="0"/>
              </a:rPr>
              <a:t>. It is exponential!</a:t>
            </a:r>
          </a:p>
          <a:p>
            <a:pPr lvl="1" eaLnBrk="1" hangingPunct="1"/>
            <a:endParaRPr lang="en-US" sz="2000">
              <a:latin typeface="Tahoma" charset="0"/>
            </a:endParaRPr>
          </a:p>
        </p:txBody>
      </p:sp>
      <p:sp>
        <p:nvSpPr>
          <p:cNvPr id="32773" name="Date Placeholder 5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Footer Placeholder 4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Recursion</a:t>
            </a:r>
          </a:p>
        </p:txBody>
      </p:sp>
      <p:sp>
        <p:nvSpPr>
          <p:cNvPr id="33794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3E3A66DA-8637-914E-BB91-7E8F3B688738}" type="slidenum">
              <a:rPr lang="en-US" sz="1400"/>
              <a:pPr eaLnBrk="1" hangingPunct="1"/>
              <a:t>24</a:t>
            </a:fld>
            <a:endParaRPr lang="en-US" sz="140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A Better Fibonacci Algorithm </a:t>
            </a:r>
          </a:p>
        </p:txBody>
      </p:sp>
      <p:sp>
        <p:nvSpPr>
          <p:cNvPr id="3379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362200" y="1676400"/>
            <a:ext cx="7772400" cy="4648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dirty="0">
                <a:latin typeface="Tahoma" charset="0"/>
              </a:rPr>
              <a:t>Use linear recursion instead</a:t>
            </a:r>
          </a:p>
          <a:p>
            <a:pPr lvl="2" eaLnBrk="1" hangingPunct="1">
              <a:lnSpc>
                <a:spcPct val="80000"/>
              </a:lnSpc>
              <a:buFont typeface="Wingdings" charset="0"/>
              <a:buNone/>
            </a:pPr>
            <a:br>
              <a:rPr lang="en-US" b="1" dirty="0">
                <a:latin typeface="Tahoma" charset="0"/>
              </a:rPr>
            </a:br>
            <a:r>
              <a:rPr lang="en-US" b="1" dirty="0">
                <a:latin typeface="Tahoma" charset="0"/>
              </a:rPr>
              <a:t>Algorithm </a:t>
            </a:r>
            <a:r>
              <a:rPr lang="en-US" dirty="0" err="1">
                <a:solidFill>
                  <a:schemeClr val="tx2"/>
                </a:solidFill>
                <a:latin typeface="Tahoma" charset="0"/>
              </a:rPr>
              <a:t>LinearFibonacci</a:t>
            </a:r>
            <a:r>
              <a:rPr lang="en-US" dirty="0">
                <a:latin typeface="Tahoma" charset="0"/>
              </a:rPr>
              <a:t>(k):</a:t>
            </a:r>
          </a:p>
          <a:p>
            <a:pPr lvl="2" eaLnBrk="1" hangingPunct="1">
              <a:lnSpc>
                <a:spcPct val="80000"/>
              </a:lnSpc>
              <a:buFont typeface="Wingdings" charset="0"/>
              <a:buNone/>
            </a:pPr>
            <a:r>
              <a:rPr lang="en-US" b="1" dirty="0">
                <a:latin typeface="Tahoma" charset="0"/>
              </a:rPr>
              <a:t>      Input: </a:t>
            </a:r>
            <a:r>
              <a:rPr lang="en-US" dirty="0">
                <a:latin typeface="Tahoma" charset="0"/>
              </a:rPr>
              <a:t>A nonnegative integer k</a:t>
            </a:r>
          </a:p>
          <a:p>
            <a:pPr lvl="2" eaLnBrk="1" hangingPunct="1">
              <a:lnSpc>
                <a:spcPct val="80000"/>
              </a:lnSpc>
              <a:buFont typeface="Wingdings" charset="0"/>
              <a:buNone/>
            </a:pPr>
            <a:r>
              <a:rPr lang="en-US" b="1" dirty="0">
                <a:latin typeface="Tahoma" charset="0"/>
              </a:rPr>
              <a:t>      Output: </a:t>
            </a:r>
            <a:r>
              <a:rPr lang="en-US" dirty="0">
                <a:latin typeface="Tahoma" charset="0"/>
              </a:rPr>
              <a:t>Pair of Fibonacci numbers (</a:t>
            </a:r>
            <a:r>
              <a:rPr lang="en-US" dirty="0" err="1">
                <a:latin typeface="Tahoma" charset="0"/>
              </a:rPr>
              <a:t>F</a:t>
            </a:r>
            <a:r>
              <a:rPr lang="en-US" baseline="-25000" dirty="0" err="1">
                <a:latin typeface="Tahoma" charset="0"/>
              </a:rPr>
              <a:t>k</a:t>
            </a:r>
            <a:r>
              <a:rPr lang="en-US" baseline="-25000" dirty="0">
                <a:latin typeface="Tahoma" charset="0"/>
              </a:rPr>
              <a:t> </a:t>
            </a:r>
            <a:r>
              <a:rPr lang="en-US" dirty="0">
                <a:latin typeface="Tahoma" charset="0"/>
              </a:rPr>
              <a:t>, F</a:t>
            </a:r>
            <a:r>
              <a:rPr lang="en-US" baseline="-25000" dirty="0">
                <a:latin typeface="Tahoma" charset="0"/>
              </a:rPr>
              <a:t>k</a:t>
            </a:r>
            <a:r>
              <a:rPr lang="en-US" baseline="-25000" dirty="0">
                <a:latin typeface="Symbol" charset="0"/>
              </a:rPr>
              <a:t>-</a:t>
            </a:r>
            <a:r>
              <a:rPr lang="en-US" baseline="-25000" dirty="0">
                <a:latin typeface="Tahoma" charset="0"/>
              </a:rPr>
              <a:t>1</a:t>
            </a:r>
            <a:r>
              <a:rPr lang="en-US" dirty="0">
                <a:latin typeface="Tahoma" charset="0"/>
              </a:rPr>
              <a:t>)</a:t>
            </a:r>
          </a:p>
          <a:p>
            <a:pPr lvl="2" eaLnBrk="1" hangingPunct="1">
              <a:lnSpc>
                <a:spcPct val="80000"/>
              </a:lnSpc>
              <a:buFont typeface="Wingdings" charset="0"/>
              <a:buNone/>
            </a:pPr>
            <a:r>
              <a:rPr lang="en-US" b="1" dirty="0">
                <a:latin typeface="Tahoma" charset="0"/>
              </a:rPr>
              <a:t>     if </a:t>
            </a:r>
            <a:r>
              <a:rPr lang="en-US" dirty="0">
                <a:latin typeface="Tahoma" charset="0"/>
              </a:rPr>
              <a:t>k = 1 </a:t>
            </a:r>
            <a:r>
              <a:rPr lang="en-US" b="1" dirty="0">
                <a:latin typeface="Tahoma" charset="0"/>
              </a:rPr>
              <a:t>then</a:t>
            </a:r>
          </a:p>
          <a:p>
            <a:pPr lvl="2" eaLnBrk="1" hangingPunct="1">
              <a:lnSpc>
                <a:spcPct val="80000"/>
              </a:lnSpc>
              <a:buFont typeface="Wingdings" charset="0"/>
              <a:buNone/>
            </a:pPr>
            <a:r>
              <a:rPr lang="en-US" b="1" dirty="0">
                <a:latin typeface="Tahoma" charset="0"/>
              </a:rPr>
              <a:t>		return </a:t>
            </a:r>
            <a:r>
              <a:rPr lang="en-US" dirty="0">
                <a:latin typeface="Tahoma" charset="0"/>
              </a:rPr>
              <a:t>(k, 0)</a:t>
            </a:r>
          </a:p>
          <a:p>
            <a:pPr lvl="2" eaLnBrk="1" hangingPunct="1">
              <a:lnSpc>
                <a:spcPct val="80000"/>
              </a:lnSpc>
              <a:buFont typeface="Wingdings" charset="0"/>
              <a:buNone/>
            </a:pPr>
            <a:r>
              <a:rPr lang="en-US" b="1" dirty="0">
                <a:latin typeface="Tahoma" charset="0"/>
              </a:rPr>
              <a:t>     else</a:t>
            </a:r>
          </a:p>
          <a:p>
            <a:pPr lvl="2" eaLnBrk="1" hangingPunct="1">
              <a:lnSpc>
                <a:spcPct val="80000"/>
              </a:lnSpc>
              <a:buFont typeface="Wingdings" charset="0"/>
              <a:buNone/>
            </a:pPr>
            <a:r>
              <a:rPr lang="en-US" dirty="0">
                <a:latin typeface="Tahoma" charset="0"/>
              </a:rPr>
              <a:t>		(</a:t>
            </a:r>
            <a:r>
              <a:rPr lang="en-US" dirty="0" err="1">
                <a:latin typeface="Tahoma" charset="0"/>
              </a:rPr>
              <a:t>i</a:t>
            </a:r>
            <a:r>
              <a:rPr lang="en-US" dirty="0">
                <a:latin typeface="Tahoma" charset="0"/>
              </a:rPr>
              <a:t>,  j)  =  </a:t>
            </a:r>
            <a:r>
              <a:rPr lang="en-US" dirty="0" err="1">
                <a:solidFill>
                  <a:schemeClr val="tx2"/>
                </a:solidFill>
                <a:latin typeface="Tahoma" charset="0"/>
              </a:rPr>
              <a:t>LinearFibonacci</a:t>
            </a:r>
            <a:r>
              <a:rPr lang="en-US" dirty="0">
                <a:latin typeface="Tahoma" charset="0"/>
              </a:rPr>
              <a:t>(k </a:t>
            </a:r>
            <a:r>
              <a:rPr lang="en-US" dirty="0">
                <a:latin typeface="Symbol" charset="0"/>
              </a:rPr>
              <a:t>-</a:t>
            </a:r>
            <a:r>
              <a:rPr lang="en-US" dirty="0">
                <a:latin typeface="Tahoma" charset="0"/>
              </a:rPr>
              <a:t> 1)</a:t>
            </a:r>
          </a:p>
          <a:p>
            <a:pPr lvl="2" eaLnBrk="1" hangingPunct="1">
              <a:lnSpc>
                <a:spcPct val="80000"/>
              </a:lnSpc>
              <a:buFont typeface="Wingdings" charset="0"/>
              <a:buNone/>
            </a:pPr>
            <a:r>
              <a:rPr lang="en-US" b="1" dirty="0">
                <a:latin typeface="Tahoma" charset="0"/>
              </a:rPr>
              <a:t>		return </a:t>
            </a:r>
            <a:r>
              <a:rPr lang="en-US" dirty="0">
                <a:latin typeface="Tahoma" charset="0"/>
              </a:rPr>
              <a:t>(</a:t>
            </a:r>
            <a:r>
              <a:rPr lang="en-US" dirty="0" err="1">
                <a:latin typeface="Tahoma" charset="0"/>
              </a:rPr>
              <a:t>i</a:t>
            </a:r>
            <a:r>
              <a:rPr lang="en-US" dirty="0">
                <a:latin typeface="Tahoma" charset="0"/>
              </a:rPr>
              <a:t> +j, </a:t>
            </a:r>
            <a:r>
              <a:rPr lang="en-US" dirty="0" err="1">
                <a:latin typeface="Tahoma" charset="0"/>
              </a:rPr>
              <a:t>i</a:t>
            </a:r>
            <a:r>
              <a:rPr lang="en-US" dirty="0">
                <a:latin typeface="Tahoma" charset="0"/>
              </a:rPr>
              <a:t>)</a:t>
            </a:r>
            <a:br>
              <a:rPr lang="en-US" dirty="0">
                <a:latin typeface="Tahoma" charset="0"/>
              </a:rPr>
            </a:br>
            <a:endParaRPr lang="en-US" dirty="0">
              <a:latin typeface="Tahoma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800" i="1" dirty="0">
                <a:latin typeface="Tahoma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Tahoma" charset="0"/>
              </a:rPr>
              <a:t>LinearFibonacci</a:t>
            </a:r>
            <a:r>
              <a:rPr lang="en-US" sz="2800" dirty="0">
                <a:solidFill>
                  <a:schemeClr val="tx2"/>
                </a:solidFill>
                <a:latin typeface="Tahoma" charset="0"/>
              </a:rPr>
              <a:t> </a:t>
            </a:r>
            <a:r>
              <a:rPr lang="en-US" sz="2800" dirty="0">
                <a:latin typeface="Tahoma" charset="0"/>
              </a:rPr>
              <a:t>makes k</a:t>
            </a:r>
            <a:r>
              <a:rPr lang="en-US" sz="2800" dirty="0">
                <a:latin typeface="Symbol" charset="0"/>
              </a:rPr>
              <a:t>-</a:t>
            </a:r>
            <a:r>
              <a:rPr lang="en-US" sz="2800" dirty="0">
                <a:latin typeface="Tahoma" charset="0"/>
              </a:rPr>
              <a:t>1 recursive calls</a:t>
            </a:r>
          </a:p>
        </p:txBody>
      </p:sp>
      <p:sp>
        <p:nvSpPr>
          <p:cNvPr id="33797" name="Date Placeholder 5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Climb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You are climbing a stair case. </a:t>
            </a:r>
          </a:p>
          <a:p>
            <a:r>
              <a:rPr lang="en-US" sz="2400" dirty="0"/>
              <a:t>It takes n steps to reach the top.</a:t>
            </a:r>
          </a:p>
          <a:p>
            <a:r>
              <a:rPr lang="en-US" sz="2400" dirty="0"/>
              <a:t>Each time you can climb one or two steps.</a:t>
            </a:r>
          </a:p>
          <a:p>
            <a:r>
              <a:rPr lang="en-US" sz="2400" dirty="0"/>
              <a:t>How many distinct ways can you climb to the top?</a:t>
            </a:r>
          </a:p>
        </p:txBody>
      </p:sp>
    </p:spTree>
    <p:extLst>
      <p:ext uri="{BB962C8B-B14F-4D97-AF65-F5344CB8AC3E}">
        <p14:creationId xmlns:p14="http://schemas.microsoft.com/office/powerpoint/2010/main" val="40912333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1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447801"/>
            <a:ext cx="8001000" cy="260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prstDash val="sysDot"/>
                <a:round/>
                <a:headEnd/>
                <a:tailEnd/>
              </a14:hiddenLine>
            </a:ext>
          </a:extLst>
        </p:spPr>
      </p:pic>
      <p:sp>
        <p:nvSpPr>
          <p:cNvPr id="30722" name="Text Box 3"/>
          <p:cNvSpPr txBox="1">
            <a:spLocks noChangeArrowheads="1"/>
          </p:cNvSpPr>
          <p:nvPr/>
        </p:nvSpPr>
        <p:spPr bwMode="auto">
          <a:xfrm>
            <a:off x="3733800" y="457200"/>
            <a:ext cx="4572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altLang="zh-TW" dirty="0"/>
              <a:t>Tower of Hanoi</a:t>
            </a:r>
          </a:p>
        </p:txBody>
      </p:sp>
      <p:sp>
        <p:nvSpPr>
          <p:cNvPr id="30723" name="Text Box 4"/>
          <p:cNvSpPr txBox="1">
            <a:spLocks noChangeArrowheads="1"/>
          </p:cNvSpPr>
          <p:nvPr/>
        </p:nvSpPr>
        <p:spPr bwMode="auto">
          <a:xfrm>
            <a:off x="3733800" y="4648200"/>
            <a:ext cx="5364354" cy="461665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dirty="0">
                <a:latin typeface="+mj-lt"/>
              </a:rPr>
              <a:t>The goal is to move all the disks to post 3.</a:t>
            </a:r>
          </a:p>
        </p:txBody>
      </p:sp>
      <p:sp>
        <p:nvSpPr>
          <p:cNvPr id="30724" name="Text Box 5"/>
          <p:cNvSpPr txBox="1">
            <a:spLocks noChangeArrowheads="1"/>
          </p:cNvSpPr>
          <p:nvPr/>
        </p:nvSpPr>
        <p:spPr bwMode="auto">
          <a:xfrm>
            <a:off x="2209800" y="5410200"/>
            <a:ext cx="8943346" cy="46166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dirty="0">
                <a:latin typeface="+mj-lt"/>
              </a:rPr>
              <a:t>The rule is that a bigger disk cannot be placed on top of a smaller disk.</a:t>
            </a:r>
          </a:p>
        </p:txBody>
      </p:sp>
    </p:spTree>
    <p:extLst>
      <p:ext uri="{BB962C8B-B14F-4D97-AF65-F5344CB8AC3E}">
        <p14:creationId xmlns:p14="http://schemas.microsoft.com/office/powerpoint/2010/main" val="28217404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600200" y="2057400"/>
            <a:ext cx="1371600" cy="1066800"/>
            <a:chOff x="576" y="960"/>
            <a:chExt cx="1200" cy="864"/>
          </a:xfrm>
        </p:grpSpPr>
        <p:sp>
          <p:nvSpPr>
            <p:cNvPr id="31793" name="Rectangle 4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1794" name="Rectangle 5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sp>
        <p:nvSpPr>
          <p:cNvPr id="1161222" name="Rectangle 6"/>
          <p:cNvSpPr>
            <a:spLocks noChangeArrowheads="1"/>
          </p:cNvSpPr>
          <p:nvPr/>
        </p:nvSpPr>
        <p:spPr bwMode="auto">
          <a:xfrm>
            <a:off x="1828800" y="2743200"/>
            <a:ext cx="914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1223" name="Rectangle 7"/>
          <p:cNvSpPr>
            <a:spLocks noChangeArrowheads="1"/>
          </p:cNvSpPr>
          <p:nvPr/>
        </p:nvSpPr>
        <p:spPr bwMode="auto">
          <a:xfrm>
            <a:off x="1981200" y="243840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31749" name="Text Box 8"/>
          <p:cNvSpPr txBox="1">
            <a:spLocks noChangeArrowheads="1"/>
          </p:cNvSpPr>
          <p:nvPr/>
        </p:nvSpPr>
        <p:spPr bwMode="auto">
          <a:xfrm>
            <a:off x="4203700" y="1336676"/>
            <a:ext cx="41680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dirty="0">
                <a:latin typeface="+mj-lt"/>
              </a:rPr>
              <a:t>It is easy if we only have 2 disks.</a:t>
            </a: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3124200" y="2057400"/>
            <a:ext cx="1371600" cy="1066800"/>
            <a:chOff x="576" y="960"/>
            <a:chExt cx="1200" cy="864"/>
          </a:xfrm>
        </p:grpSpPr>
        <p:sp>
          <p:nvSpPr>
            <p:cNvPr id="31791" name="Rectangle 10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1792" name="Rectangle 11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4648200" y="2057400"/>
            <a:ext cx="1371600" cy="1066800"/>
            <a:chOff x="576" y="960"/>
            <a:chExt cx="1200" cy="864"/>
          </a:xfrm>
        </p:grpSpPr>
        <p:sp>
          <p:nvSpPr>
            <p:cNvPr id="31789" name="Rectangle 13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1790" name="Rectangle 14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6172200" y="2667000"/>
            <a:ext cx="1371600" cy="1066800"/>
            <a:chOff x="576" y="960"/>
            <a:chExt cx="1200" cy="864"/>
          </a:xfrm>
        </p:grpSpPr>
        <p:sp>
          <p:nvSpPr>
            <p:cNvPr id="31787" name="Rectangle 16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1788" name="Rectangle 17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sp>
        <p:nvSpPr>
          <p:cNvPr id="1161234" name="Rectangle 18"/>
          <p:cNvSpPr>
            <a:spLocks noChangeArrowheads="1"/>
          </p:cNvSpPr>
          <p:nvPr/>
        </p:nvSpPr>
        <p:spPr bwMode="auto">
          <a:xfrm>
            <a:off x="6400800" y="3352800"/>
            <a:ext cx="914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7696200" y="2667000"/>
            <a:ext cx="1371600" cy="1066800"/>
            <a:chOff x="576" y="960"/>
            <a:chExt cx="1200" cy="864"/>
          </a:xfrm>
        </p:grpSpPr>
        <p:sp>
          <p:nvSpPr>
            <p:cNvPr id="31785" name="Rectangle 20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1786" name="Rectangle 21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7" name="Group 22"/>
          <p:cNvGrpSpPr>
            <a:grpSpLocks/>
          </p:cNvGrpSpPr>
          <p:nvPr/>
        </p:nvGrpSpPr>
        <p:grpSpPr bwMode="auto">
          <a:xfrm>
            <a:off x="9220200" y="2667000"/>
            <a:ext cx="1371600" cy="1066800"/>
            <a:chOff x="576" y="960"/>
            <a:chExt cx="1200" cy="864"/>
          </a:xfrm>
        </p:grpSpPr>
        <p:sp>
          <p:nvSpPr>
            <p:cNvPr id="31783" name="Rectangle 23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1784" name="Rectangle 24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8" name="Group 25"/>
          <p:cNvGrpSpPr>
            <a:grpSpLocks/>
          </p:cNvGrpSpPr>
          <p:nvPr/>
        </p:nvGrpSpPr>
        <p:grpSpPr bwMode="auto">
          <a:xfrm>
            <a:off x="1600200" y="3886200"/>
            <a:ext cx="1371600" cy="1066800"/>
            <a:chOff x="576" y="960"/>
            <a:chExt cx="1200" cy="864"/>
          </a:xfrm>
        </p:grpSpPr>
        <p:sp>
          <p:nvSpPr>
            <p:cNvPr id="31781" name="Rectangle 26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1782" name="Rectangle 27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9" name="Group 28"/>
          <p:cNvGrpSpPr>
            <a:grpSpLocks/>
          </p:cNvGrpSpPr>
          <p:nvPr/>
        </p:nvGrpSpPr>
        <p:grpSpPr bwMode="auto">
          <a:xfrm>
            <a:off x="3124200" y="3886200"/>
            <a:ext cx="1371600" cy="1066800"/>
            <a:chOff x="576" y="960"/>
            <a:chExt cx="1200" cy="864"/>
          </a:xfrm>
        </p:grpSpPr>
        <p:sp>
          <p:nvSpPr>
            <p:cNvPr id="31779" name="Rectangle 29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1780" name="Rectangle 30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10" name="Group 31"/>
          <p:cNvGrpSpPr>
            <a:grpSpLocks/>
          </p:cNvGrpSpPr>
          <p:nvPr/>
        </p:nvGrpSpPr>
        <p:grpSpPr bwMode="auto">
          <a:xfrm>
            <a:off x="4648200" y="3886200"/>
            <a:ext cx="1371600" cy="1066800"/>
            <a:chOff x="576" y="960"/>
            <a:chExt cx="1200" cy="864"/>
          </a:xfrm>
        </p:grpSpPr>
        <p:sp>
          <p:nvSpPr>
            <p:cNvPr id="31777" name="Rectangle 32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1778" name="Rectangle 33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sp>
        <p:nvSpPr>
          <p:cNvPr id="1161250" name="Rectangle 34"/>
          <p:cNvSpPr>
            <a:spLocks noChangeArrowheads="1"/>
          </p:cNvSpPr>
          <p:nvPr/>
        </p:nvSpPr>
        <p:spPr bwMode="auto">
          <a:xfrm>
            <a:off x="8077200" y="335280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1251" name="Rectangle 35"/>
          <p:cNvSpPr>
            <a:spLocks noChangeArrowheads="1"/>
          </p:cNvSpPr>
          <p:nvPr/>
        </p:nvSpPr>
        <p:spPr bwMode="auto">
          <a:xfrm>
            <a:off x="4876800" y="4572000"/>
            <a:ext cx="914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1252" name="Rectangle 36"/>
          <p:cNvSpPr>
            <a:spLocks noChangeArrowheads="1"/>
          </p:cNvSpPr>
          <p:nvPr/>
        </p:nvSpPr>
        <p:spPr bwMode="auto">
          <a:xfrm>
            <a:off x="3505200" y="457200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grpSp>
        <p:nvGrpSpPr>
          <p:cNvPr id="11" name="Group 37"/>
          <p:cNvGrpSpPr>
            <a:grpSpLocks/>
          </p:cNvGrpSpPr>
          <p:nvPr/>
        </p:nvGrpSpPr>
        <p:grpSpPr bwMode="auto">
          <a:xfrm>
            <a:off x="6172200" y="4953000"/>
            <a:ext cx="1371600" cy="1066800"/>
            <a:chOff x="576" y="960"/>
            <a:chExt cx="1200" cy="864"/>
          </a:xfrm>
        </p:grpSpPr>
        <p:sp>
          <p:nvSpPr>
            <p:cNvPr id="31775" name="Rectangle 38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1776" name="Rectangle 39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12" name="Group 40"/>
          <p:cNvGrpSpPr>
            <a:grpSpLocks/>
          </p:cNvGrpSpPr>
          <p:nvPr/>
        </p:nvGrpSpPr>
        <p:grpSpPr bwMode="auto">
          <a:xfrm>
            <a:off x="7696200" y="4953000"/>
            <a:ext cx="1371600" cy="1066800"/>
            <a:chOff x="576" y="960"/>
            <a:chExt cx="1200" cy="864"/>
          </a:xfrm>
        </p:grpSpPr>
        <p:sp>
          <p:nvSpPr>
            <p:cNvPr id="31773" name="Rectangle 41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1774" name="Rectangle 42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13" name="Group 43"/>
          <p:cNvGrpSpPr>
            <a:grpSpLocks/>
          </p:cNvGrpSpPr>
          <p:nvPr/>
        </p:nvGrpSpPr>
        <p:grpSpPr bwMode="auto">
          <a:xfrm>
            <a:off x="9220200" y="4953000"/>
            <a:ext cx="1371600" cy="1066800"/>
            <a:chOff x="576" y="960"/>
            <a:chExt cx="1200" cy="864"/>
          </a:xfrm>
        </p:grpSpPr>
        <p:sp>
          <p:nvSpPr>
            <p:cNvPr id="31771" name="Rectangle 44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1772" name="Rectangle 45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sp>
        <p:nvSpPr>
          <p:cNvPr id="1161262" name="Rectangle 46"/>
          <p:cNvSpPr>
            <a:spLocks noChangeArrowheads="1"/>
          </p:cNvSpPr>
          <p:nvPr/>
        </p:nvSpPr>
        <p:spPr bwMode="auto">
          <a:xfrm>
            <a:off x="9448800" y="5638800"/>
            <a:ext cx="914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1263" name="Rectangle 47"/>
          <p:cNvSpPr>
            <a:spLocks noChangeArrowheads="1"/>
          </p:cNvSpPr>
          <p:nvPr/>
        </p:nvSpPr>
        <p:spPr bwMode="auto">
          <a:xfrm>
            <a:off x="9601200" y="533400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1264" name="Text Box 48"/>
          <p:cNvSpPr txBox="1">
            <a:spLocks noChangeArrowheads="1"/>
          </p:cNvSpPr>
          <p:nvPr/>
        </p:nvSpPr>
        <p:spPr bwMode="auto">
          <a:xfrm>
            <a:off x="3259138" y="5984876"/>
            <a:ext cx="23560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>
                <a:latin typeface="+mj-lt"/>
              </a:rPr>
              <a:t>A total of 3 steps.</a:t>
            </a:r>
          </a:p>
        </p:txBody>
      </p:sp>
      <p:sp>
        <p:nvSpPr>
          <p:cNvPr id="1161265" name="AutoShape 49"/>
          <p:cNvSpPr>
            <a:spLocks noChangeArrowheads="1"/>
          </p:cNvSpPr>
          <p:nvPr/>
        </p:nvSpPr>
        <p:spPr bwMode="auto">
          <a:xfrm rot="1857222">
            <a:off x="5829300" y="2362201"/>
            <a:ext cx="533400" cy="485775"/>
          </a:xfrm>
          <a:prstGeom prst="rightArrow">
            <a:avLst>
              <a:gd name="adj1" fmla="val 50000"/>
              <a:gd name="adj2" fmla="val 27451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1266" name="AutoShape 50"/>
          <p:cNvSpPr>
            <a:spLocks noChangeArrowheads="1"/>
          </p:cNvSpPr>
          <p:nvPr/>
        </p:nvSpPr>
        <p:spPr bwMode="auto">
          <a:xfrm rot="1857222">
            <a:off x="5791200" y="5076826"/>
            <a:ext cx="533400" cy="485775"/>
          </a:xfrm>
          <a:prstGeom prst="rightArrow">
            <a:avLst>
              <a:gd name="adj1" fmla="val 50000"/>
              <a:gd name="adj2" fmla="val 27451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1267" name="AutoShape 51"/>
          <p:cNvSpPr>
            <a:spLocks noChangeArrowheads="1"/>
          </p:cNvSpPr>
          <p:nvPr/>
        </p:nvSpPr>
        <p:spPr bwMode="auto">
          <a:xfrm rot="8800574">
            <a:off x="5829300" y="3810001"/>
            <a:ext cx="533400" cy="485775"/>
          </a:xfrm>
          <a:prstGeom prst="rightArrow">
            <a:avLst>
              <a:gd name="adj1" fmla="val 50000"/>
              <a:gd name="adj2" fmla="val 27451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52" name="Text Box 3">
            <a:extLst>
              <a:ext uri="{FF2B5EF4-FFF2-40B4-BE49-F238E27FC236}">
                <a16:creationId xmlns:a16="http://schemas.microsoft.com/office/drawing/2014/main" id="{6BF6E725-90A4-9649-BDE7-B86FA3E9FD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457200"/>
            <a:ext cx="4572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altLang="zh-TW" dirty="0"/>
              <a:t>Tower of Hanoi</a:t>
            </a:r>
          </a:p>
        </p:txBody>
      </p:sp>
    </p:spTree>
    <p:extLst>
      <p:ext uri="{BB962C8B-B14F-4D97-AF65-F5344CB8AC3E}">
        <p14:creationId xmlns:p14="http://schemas.microsoft.com/office/powerpoint/2010/main" val="2452134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1222" grpId="0" animBg="1"/>
      <p:bldP spid="1161223" grpId="0" animBg="1"/>
      <p:bldP spid="1161234" grpId="0" animBg="1"/>
      <p:bldP spid="1161250" grpId="0" animBg="1"/>
      <p:bldP spid="1161251" grpId="0" animBg="1"/>
      <p:bldP spid="1161252" grpId="0" animBg="1"/>
      <p:bldP spid="1161262" grpId="0" animBg="1"/>
      <p:bldP spid="1161263" grpId="0" animBg="1"/>
      <p:bldP spid="1161264" grpId="0"/>
      <p:bldP spid="1161265" grpId="0" animBg="1"/>
      <p:bldP spid="1161266" grpId="0" animBg="1"/>
      <p:bldP spid="116126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Group 3"/>
          <p:cNvGrpSpPr>
            <a:grpSpLocks/>
          </p:cNvGrpSpPr>
          <p:nvPr/>
        </p:nvGrpSpPr>
        <p:grpSpPr bwMode="auto">
          <a:xfrm>
            <a:off x="1600200" y="2057400"/>
            <a:ext cx="1371600" cy="1066800"/>
            <a:chOff x="576" y="960"/>
            <a:chExt cx="1200" cy="864"/>
          </a:xfrm>
        </p:grpSpPr>
        <p:sp>
          <p:nvSpPr>
            <p:cNvPr id="32822" name="Rectangle 4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2823" name="Rectangle 5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sp>
        <p:nvSpPr>
          <p:cNvPr id="32771" name="Rectangle 6"/>
          <p:cNvSpPr>
            <a:spLocks noChangeArrowheads="1"/>
          </p:cNvSpPr>
          <p:nvPr/>
        </p:nvSpPr>
        <p:spPr bwMode="auto">
          <a:xfrm>
            <a:off x="1828800" y="2743200"/>
            <a:ext cx="914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32772" name="Rectangle 7"/>
          <p:cNvSpPr>
            <a:spLocks noChangeArrowheads="1"/>
          </p:cNvSpPr>
          <p:nvPr/>
        </p:nvSpPr>
        <p:spPr bwMode="auto">
          <a:xfrm>
            <a:off x="1981200" y="243840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32773" name="Text Box 8"/>
          <p:cNvSpPr txBox="1">
            <a:spLocks noChangeArrowheads="1"/>
          </p:cNvSpPr>
          <p:nvPr/>
        </p:nvSpPr>
        <p:spPr bwMode="auto">
          <a:xfrm>
            <a:off x="4203701" y="1336676"/>
            <a:ext cx="50618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dirty="0">
                <a:latin typeface="+mj-lt"/>
              </a:rPr>
              <a:t>It is not difficult if we only have 3 disks.</a:t>
            </a:r>
          </a:p>
        </p:txBody>
      </p:sp>
      <p:grpSp>
        <p:nvGrpSpPr>
          <p:cNvPr id="32774" name="Group 9"/>
          <p:cNvGrpSpPr>
            <a:grpSpLocks/>
          </p:cNvGrpSpPr>
          <p:nvPr/>
        </p:nvGrpSpPr>
        <p:grpSpPr bwMode="auto">
          <a:xfrm>
            <a:off x="3124200" y="2057400"/>
            <a:ext cx="1371600" cy="1066800"/>
            <a:chOff x="576" y="960"/>
            <a:chExt cx="1200" cy="864"/>
          </a:xfrm>
        </p:grpSpPr>
        <p:sp>
          <p:nvSpPr>
            <p:cNvPr id="32820" name="Rectangle 10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2821" name="Rectangle 11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32775" name="Group 12"/>
          <p:cNvGrpSpPr>
            <a:grpSpLocks/>
          </p:cNvGrpSpPr>
          <p:nvPr/>
        </p:nvGrpSpPr>
        <p:grpSpPr bwMode="auto">
          <a:xfrm>
            <a:off x="4648200" y="2057400"/>
            <a:ext cx="1371600" cy="1066800"/>
            <a:chOff x="576" y="960"/>
            <a:chExt cx="1200" cy="864"/>
          </a:xfrm>
        </p:grpSpPr>
        <p:sp>
          <p:nvSpPr>
            <p:cNvPr id="32818" name="Rectangle 13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2819" name="Rectangle 14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6172200" y="2667000"/>
            <a:ext cx="1371600" cy="1066800"/>
            <a:chOff x="576" y="960"/>
            <a:chExt cx="1200" cy="864"/>
          </a:xfrm>
        </p:grpSpPr>
        <p:sp>
          <p:nvSpPr>
            <p:cNvPr id="32816" name="Rectangle 16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2817" name="Rectangle 17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sp>
        <p:nvSpPr>
          <p:cNvPr id="1162258" name="Rectangle 18"/>
          <p:cNvSpPr>
            <a:spLocks noChangeArrowheads="1"/>
          </p:cNvSpPr>
          <p:nvPr/>
        </p:nvSpPr>
        <p:spPr bwMode="auto">
          <a:xfrm>
            <a:off x="6400800" y="3352800"/>
            <a:ext cx="914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7696200" y="2667000"/>
            <a:ext cx="1371600" cy="1066800"/>
            <a:chOff x="576" y="960"/>
            <a:chExt cx="1200" cy="864"/>
          </a:xfrm>
        </p:grpSpPr>
        <p:sp>
          <p:nvSpPr>
            <p:cNvPr id="32814" name="Rectangle 20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2815" name="Rectangle 21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7" name="Group 22"/>
          <p:cNvGrpSpPr>
            <a:grpSpLocks/>
          </p:cNvGrpSpPr>
          <p:nvPr/>
        </p:nvGrpSpPr>
        <p:grpSpPr bwMode="auto">
          <a:xfrm>
            <a:off x="9220200" y="2667000"/>
            <a:ext cx="1371600" cy="1066800"/>
            <a:chOff x="576" y="960"/>
            <a:chExt cx="1200" cy="864"/>
          </a:xfrm>
        </p:grpSpPr>
        <p:sp>
          <p:nvSpPr>
            <p:cNvPr id="32812" name="Rectangle 23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2813" name="Rectangle 24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8" name="Group 25"/>
          <p:cNvGrpSpPr>
            <a:grpSpLocks/>
          </p:cNvGrpSpPr>
          <p:nvPr/>
        </p:nvGrpSpPr>
        <p:grpSpPr bwMode="auto">
          <a:xfrm>
            <a:off x="1600200" y="3886200"/>
            <a:ext cx="1371600" cy="1066800"/>
            <a:chOff x="576" y="960"/>
            <a:chExt cx="1200" cy="864"/>
          </a:xfrm>
        </p:grpSpPr>
        <p:sp>
          <p:nvSpPr>
            <p:cNvPr id="32810" name="Rectangle 26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2811" name="Rectangle 27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9" name="Group 28"/>
          <p:cNvGrpSpPr>
            <a:grpSpLocks/>
          </p:cNvGrpSpPr>
          <p:nvPr/>
        </p:nvGrpSpPr>
        <p:grpSpPr bwMode="auto">
          <a:xfrm>
            <a:off x="3124200" y="3886200"/>
            <a:ext cx="1371600" cy="1066800"/>
            <a:chOff x="576" y="960"/>
            <a:chExt cx="1200" cy="864"/>
          </a:xfrm>
        </p:grpSpPr>
        <p:sp>
          <p:nvSpPr>
            <p:cNvPr id="32808" name="Rectangle 29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2809" name="Rectangle 30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10" name="Group 31"/>
          <p:cNvGrpSpPr>
            <a:grpSpLocks/>
          </p:cNvGrpSpPr>
          <p:nvPr/>
        </p:nvGrpSpPr>
        <p:grpSpPr bwMode="auto">
          <a:xfrm>
            <a:off x="4648200" y="3886200"/>
            <a:ext cx="1371600" cy="1066800"/>
            <a:chOff x="576" y="960"/>
            <a:chExt cx="1200" cy="864"/>
          </a:xfrm>
        </p:grpSpPr>
        <p:sp>
          <p:nvSpPr>
            <p:cNvPr id="32806" name="Rectangle 32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2807" name="Rectangle 33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sp>
        <p:nvSpPr>
          <p:cNvPr id="1162274" name="Rectangle 34"/>
          <p:cNvSpPr>
            <a:spLocks noChangeArrowheads="1"/>
          </p:cNvSpPr>
          <p:nvPr/>
        </p:nvSpPr>
        <p:spPr bwMode="auto">
          <a:xfrm>
            <a:off x="6553200" y="304800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2275" name="Rectangle 35"/>
          <p:cNvSpPr>
            <a:spLocks noChangeArrowheads="1"/>
          </p:cNvSpPr>
          <p:nvPr/>
        </p:nvSpPr>
        <p:spPr bwMode="auto">
          <a:xfrm>
            <a:off x="1828800" y="4572000"/>
            <a:ext cx="914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2276" name="Rectangle 36"/>
          <p:cNvSpPr>
            <a:spLocks noChangeArrowheads="1"/>
          </p:cNvSpPr>
          <p:nvPr/>
        </p:nvSpPr>
        <p:spPr bwMode="auto">
          <a:xfrm>
            <a:off x="3505200" y="457200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grpSp>
        <p:nvGrpSpPr>
          <p:cNvPr id="11" name="Group 37"/>
          <p:cNvGrpSpPr>
            <a:grpSpLocks/>
          </p:cNvGrpSpPr>
          <p:nvPr/>
        </p:nvGrpSpPr>
        <p:grpSpPr bwMode="auto">
          <a:xfrm>
            <a:off x="6172200" y="4953000"/>
            <a:ext cx="1371600" cy="1066800"/>
            <a:chOff x="576" y="960"/>
            <a:chExt cx="1200" cy="864"/>
          </a:xfrm>
        </p:grpSpPr>
        <p:sp>
          <p:nvSpPr>
            <p:cNvPr id="32804" name="Rectangle 38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2805" name="Rectangle 39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12" name="Group 40"/>
          <p:cNvGrpSpPr>
            <a:grpSpLocks/>
          </p:cNvGrpSpPr>
          <p:nvPr/>
        </p:nvGrpSpPr>
        <p:grpSpPr bwMode="auto">
          <a:xfrm>
            <a:off x="7696200" y="4953000"/>
            <a:ext cx="1371600" cy="1066800"/>
            <a:chOff x="576" y="960"/>
            <a:chExt cx="1200" cy="864"/>
          </a:xfrm>
        </p:grpSpPr>
        <p:sp>
          <p:nvSpPr>
            <p:cNvPr id="32802" name="Rectangle 41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2803" name="Rectangle 42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13" name="Group 43"/>
          <p:cNvGrpSpPr>
            <a:grpSpLocks/>
          </p:cNvGrpSpPr>
          <p:nvPr/>
        </p:nvGrpSpPr>
        <p:grpSpPr bwMode="auto">
          <a:xfrm>
            <a:off x="9220200" y="4953000"/>
            <a:ext cx="1371600" cy="1066800"/>
            <a:chOff x="576" y="960"/>
            <a:chExt cx="1200" cy="864"/>
          </a:xfrm>
        </p:grpSpPr>
        <p:sp>
          <p:nvSpPr>
            <p:cNvPr id="32800" name="Rectangle 44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2801" name="Rectangle 45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sp>
        <p:nvSpPr>
          <p:cNvPr id="1162286" name="Rectangle 46"/>
          <p:cNvSpPr>
            <a:spLocks noChangeArrowheads="1"/>
          </p:cNvSpPr>
          <p:nvPr/>
        </p:nvSpPr>
        <p:spPr bwMode="auto">
          <a:xfrm>
            <a:off x="6400800" y="5638800"/>
            <a:ext cx="914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2287" name="Rectangle 47"/>
          <p:cNvSpPr>
            <a:spLocks noChangeArrowheads="1"/>
          </p:cNvSpPr>
          <p:nvPr/>
        </p:nvSpPr>
        <p:spPr bwMode="auto">
          <a:xfrm>
            <a:off x="8077200" y="563880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2288" name="Text Box 48"/>
          <p:cNvSpPr txBox="1">
            <a:spLocks noChangeArrowheads="1"/>
          </p:cNvSpPr>
          <p:nvPr/>
        </p:nvSpPr>
        <p:spPr bwMode="auto">
          <a:xfrm>
            <a:off x="3048000" y="6034088"/>
            <a:ext cx="291175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>
                <a:latin typeface="+mj-lt"/>
              </a:rPr>
              <a:t>Continue in next page</a:t>
            </a:r>
          </a:p>
        </p:txBody>
      </p:sp>
      <p:sp>
        <p:nvSpPr>
          <p:cNvPr id="32792" name="Rectangle 49"/>
          <p:cNvSpPr>
            <a:spLocks noChangeArrowheads="1"/>
          </p:cNvSpPr>
          <p:nvPr/>
        </p:nvSpPr>
        <p:spPr bwMode="auto">
          <a:xfrm>
            <a:off x="2133600" y="21336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2290" name="Rectangle 50"/>
          <p:cNvSpPr>
            <a:spLocks noChangeArrowheads="1"/>
          </p:cNvSpPr>
          <p:nvPr/>
        </p:nvSpPr>
        <p:spPr bwMode="auto">
          <a:xfrm>
            <a:off x="9753600" y="33528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2291" name="Rectangle 51"/>
          <p:cNvSpPr>
            <a:spLocks noChangeArrowheads="1"/>
          </p:cNvSpPr>
          <p:nvPr/>
        </p:nvSpPr>
        <p:spPr bwMode="auto">
          <a:xfrm>
            <a:off x="5181600" y="45720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2292" name="AutoShape 52"/>
          <p:cNvSpPr>
            <a:spLocks noChangeArrowheads="1"/>
          </p:cNvSpPr>
          <p:nvPr/>
        </p:nvSpPr>
        <p:spPr bwMode="auto">
          <a:xfrm rot="1857222">
            <a:off x="5829300" y="2362201"/>
            <a:ext cx="533400" cy="485775"/>
          </a:xfrm>
          <a:prstGeom prst="rightArrow">
            <a:avLst>
              <a:gd name="adj1" fmla="val 50000"/>
              <a:gd name="adj2" fmla="val 27451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2293" name="AutoShape 53"/>
          <p:cNvSpPr>
            <a:spLocks noChangeArrowheads="1"/>
          </p:cNvSpPr>
          <p:nvPr/>
        </p:nvSpPr>
        <p:spPr bwMode="auto">
          <a:xfrm rot="1857222">
            <a:off x="5791200" y="5076826"/>
            <a:ext cx="533400" cy="485775"/>
          </a:xfrm>
          <a:prstGeom prst="rightArrow">
            <a:avLst>
              <a:gd name="adj1" fmla="val 50000"/>
              <a:gd name="adj2" fmla="val 27451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2294" name="AutoShape 54"/>
          <p:cNvSpPr>
            <a:spLocks noChangeArrowheads="1"/>
          </p:cNvSpPr>
          <p:nvPr/>
        </p:nvSpPr>
        <p:spPr bwMode="auto">
          <a:xfrm rot="8800574">
            <a:off x="5829300" y="3810001"/>
            <a:ext cx="533400" cy="485775"/>
          </a:xfrm>
          <a:prstGeom prst="rightArrow">
            <a:avLst>
              <a:gd name="adj1" fmla="val 50000"/>
              <a:gd name="adj2" fmla="val 27451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2295" name="Rectangle 55"/>
          <p:cNvSpPr>
            <a:spLocks noChangeArrowheads="1"/>
          </p:cNvSpPr>
          <p:nvPr/>
        </p:nvSpPr>
        <p:spPr bwMode="auto">
          <a:xfrm>
            <a:off x="8229600" y="53340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2296" name="AutoShape 56"/>
          <p:cNvSpPr>
            <a:spLocks noChangeArrowheads="1"/>
          </p:cNvSpPr>
          <p:nvPr/>
        </p:nvSpPr>
        <p:spPr bwMode="auto">
          <a:xfrm rot="8800574">
            <a:off x="5791200" y="6143626"/>
            <a:ext cx="533400" cy="485775"/>
          </a:xfrm>
          <a:prstGeom prst="rightArrow">
            <a:avLst>
              <a:gd name="adj1" fmla="val 50000"/>
              <a:gd name="adj2" fmla="val 27451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57" name="Text Box 3">
            <a:extLst>
              <a:ext uri="{FF2B5EF4-FFF2-40B4-BE49-F238E27FC236}">
                <a16:creationId xmlns:a16="http://schemas.microsoft.com/office/drawing/2014/main" id="{4618315A-A464-114D-A851-DAB6DBC49F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457200"/>
            <a:ext cx="4572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altLang="zh-TW" dirty="0"/>
              <a:t>Tower of Hanoi</a:t>
            </a:r>
          </a:p>
        </p:txBody>
      </p:sp>
    </p:spTree>
    <p:extLst>
      <p:ext uri="{BB962C8B-B14F-4D97-AF65-F5344CB8AC3E}">
        <p14:creationId xmlns:p14="http://schemas.microsoft.com/office/powerpoint/2010/main" val="2223138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2258" grpId="0" animBg="1"/>
      <p:bldP spid="1162274" grpId="0" animBg="1"/>
      <p:bldP spid="1162275" grpId="0" animBg="1"/>
      <p:bldP spid="1162276" grpId="0" animBg="1"/>
      <p:bldP spid="1162286" grpId="0" animBg="1"/>
      <p:bldP spid="1162287" grpId="0" animBg="1"/>
      <p:bldP spid="1162288" grpId="0"/>
      <p:bldP spid="1162290" grpId="0" animBg="1"/>
      <p:bldP spid="1162291" grpId="0" animBg="1"/>
      <p:bldP spid="1162292" grpId="0" animBg="1"/>
      <p:bldP spid="1162293" grpId="0" animBg="1"/>
      <p:bldP spid="1162294" grpId="0" animBg="1"/>
      <p:bldP spid="1162295" grpId="0" animBg="1"/>
      <p:bldP spid="116229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600200" y="2057400"/>
            <a:ext cx="1371600" cy="1066800"/>
            <a:chOff x="576" y="960"/>
            <a:chExt cx="1200" cy="864"/>
          </a:xfrm>
        </p:grpSpPr>
        <p:sp>
          <p:nvSpPr>
            <p:cNvPr id="33845" name="Rectangle 4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3846" name="Rectangle 5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sp>
        <p:nvSpPr>
          <p:cNvPr id="33795" name="Text Box 6"/>
          <p:cNvSpPr txBox="1">
            <a:spLocks noChangeArrowheads="1"/>
          </p:cNvSpPr>
          <p:nvPr/>
        </p:nvSpPr>
        <p:spPr bwMode="auto">
          <a:xfrm>
            <a:off x="4203701" y="1336676"/>
            <a:ext cx="50618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>
                <a:latin typeface="+mj-lt"/>
              </a:rPr>
              <a:t>It is not difficult if we only have 3 disks.</a:t>
            </a:r>
          </a:p>
        </p:txBody>
      </p: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3124200" y="2057400"/>
            <a:ext cx="1371600" cy="1066800"/>
            <a:chOff x="576" y="960"/>
            <a:chExt cx="1200" cy="864"/>
          </a:xfrm>
        </p:grpSpPr>
        <p:sp>
          <p:nvSpPr>
            <p:cNvPr id="33843" name="Rectangle 8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3844" name="Rectangle 9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4648200" y="2057400"/>
            <a:ext cx="1371600" cy="1066800"/>
            <a:chOff x="576" y="960"/>
            <a:chExt cx="1200" cy="864"/>
          </a:xfrm>
        </p:grpSpPr>
        <p:sp>
          <p:nvSpPr>
            <p:cNvPr id="33841" name="Rectangle 11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3842" name="Rectangle 12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5" name="Group 13"/>
          <p:cNvGrpSpPr>
            <a:grpSpLocks/>
          </p:cNvGrpSpPr>
          <p:nvPr/>
        </p:nvGrpSpPr>
        <p:grpSpPr bwMode="auto">
          <a:xfrm>
            <a:off x="6172200" y="2667000"/>
            <a:ext cx="1371600" cy="1066800"/>
            <a:chOff x="576" y="960"/>
            <a:chExt cx="1200" cy="864"/>
          </a:xfrm>
        </p:grpSpPr>
        <p:sp>
          <p:nvSpPr>
            <p:cNvPr id="33839" name="Rectangle 14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3840" name="Rectangle 15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6" name="Group 16"/>
          <p:cNvGrpSpPr>
            <a:grpSpLocks/>
          </p:cNvGrpSpPr>
          <p:nvPr/>
        </p:nvGrpSpPr>
        <p:grpSpPr bwMode="auto">
          <a:xfrm>
            <a:off x="7696200" y="2667000"/>
            <a:ext cx="1371600" cy="1066800"/>
            <a:chOff x="576" y="960"/>
            <a:chExt cx="1200" cy="864"/>
          </a:xfrm>
        </p:grpSpPr>
        <p:sp>
          <p:nvSpPr>
            <p:cNvPr id="33837" name="Rectangle 17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3838" name="Rectangle 18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7" name="Group 19"/>
          <p:cNvGrpSpPr>
            <a:grpSpLocks/>
          </p:cNvGrpSpPr>
          <p:nvPr/>
        </p:nvGrpSpPr>
        <p:grpSpPr bwMode="auto">
          <a:xfrm>
            <a:off x="9220200" y="2667000"/>
            <a:ext cx="1371600" cy="1066800"/>
            <a:chOff x="576" y="960"/>
            <a:chExt cx="1200" cy="864"/>
          </a:xfrm>
        </p:grpSpPr>
        <p:sp>
          <p:nvSpPr>
            <p:cNvPr id="33835" name="Rectangle 20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3836" name="Rectangle 21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8" name="Group 22"/>
          <p:cNvGrpSpPr>
            <a:grpSpLocks/>
          </p:cNvGrpSpPr>
          <p:nvPr/>
        </p:nvGrpSpPr>
        <p:grpSpPr bwMode="auto">
          <a:xfrm>
            <a:off x="1600200" y="3886200"/>
            <a:ext cx="1371600" cy="1066800"/>
            <a:chOff x="576" y="960"/>
            <a:chExt cx="1200" cy="864"/>
          </a:xfrm>
        </p:grpSpPr>
        <p:sp>
          <p:nvSpPr>
            <p:cNvPr id="33833" name="Rectangle 23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3834" name="Rectangle 24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9" name="Group 25"/>
          <p:cNvGrpSpPr>
            <a:grpSpLocks/>
          </p:cNvGrpSpPr>
          <p:nvPr/>
        </p:nvGrpSpPr>
        <p:grpSpPr bwMode="auto">
          <a:xfrm>
            <a:off x="3124200" y="3886200"/>
            <a:ext cx="1371600" cy="1066800"/>
            <a:chOff x="576" y="960"/>
            <a:chExt cx="1200" cy="864"/>
          </a:xfrm>
        </p:grpSpPr>
        <p:sp>
          <p:nvSpPr>
            <p:cNvPr id="33831" name="Rectangle 26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3832" name="Rectangle 27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4648200" y="3886200"/>
            <a:ext cx="1371600" cy="1066800"/>
            <a:chOff x="576" y="960"/>
            <a:chExt cx="1200" cy="864"/>
          </a:xfrm>
        </p:grpSpPr>
        <p:sp>
          <p:nvSpPr>
            <p:cNvPr id="33829" name="Rectangle 29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3830" name="Rectangle 30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sp>
        <p:nvSpPr>
          <p:cNvPr id="1163295" name="Rectangle 31"/>
          <p:cNvSpPr>
            <a:spLocks noChangeArrowheads="1"/>
          </p:cNvSpPr>
          <p:nvPr/>
        </p:nvSpPr>
        <p:spPr bwMode="auto">
          <a:xfrm>
            <a:off x="8077200" y="335280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3296" name="Rectangle 32"/>
          <p:cNvSpPr>
            <a:spLocks noChangeArrowheads="1"/>
          </p:cNvSpPr>
          <p:nvPr/>
        </p:nvSpPr>
        <p:spPr bwMode="auto">
          <a:xfrm>
            <a:off x="4876800" y="4572000"/>
            <a:ext cx="914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3297" name="Rectangle 33"/>
          <p:cNvSpPr>
            <a:spLocks noChangeArrowheads="1"/>
          </p:cNvSpPr>
          <p:nvPr/>
        </p:nvSpPr>
        <p:spPr bwMode="auto">
          <a:xfrm>
            <a:off x="5029200" y="426720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grpSp>
        <p:nvGrpSpPr>
          <p:cNvPr id="11" name="Group 34"/>
          <p:cNvGrpSpPr>
            <a:grpSpLocks/>
          </p:cNvGrpSpPr>
          <p:nvPr/>
        </p:nvGrpSpPr>
        <p:grpSpPr bwMode="auto">
          <a:xfrm>
            <a:off x="6172200" y="4953000"/>
            <a:ext cx="1371600" cy="1066800"/>
            <a:chOff x="576" y="960"/>
            <a:chExt cx="1200" cy="864"/>
          </a:xfrm>
        </p:grpSpPr>
        <p:sp>
          <p:nvSpPr>
            <p:cNvPr id="33827" name="Rectangle 35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3828" name="Rectangle 36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12" name="Group 37"/>
          <p:cNvGrpSpPr>
            <a:grpSpLocks/>
          </p:cNvGrpSpPr>
          <p:nvPr/>
        </p:nvGrpSpPr>
        <p:grpSpPr bwMode="auto">
          <a:xfrm>
            <a:off x="7696200" y="4953000"/>
            <a:ext cx="1371600" cy="1066800"/>
            <a:chOff x="576" y="960"/>
            <a:chExt cx="1200" cy="864"/>
          </a:xfrm>
        </p:grpSpPr>
        <p:sp>
          <p:nvSpPr>
            <p:cNvPr id="33825" name="Rectangle 38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3826" name="Rectangle 39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13" name="Group 40"/>
          <p:cNvGrpSpPr>
            <a:grpSpLocks/>
          </p:cNvGrpSpPr>
          <p:nvPr/>
        </p:nvGrpSpPr>
        <p:grpSpPr bwMode="auto">
          <a:xfrm>
            <a:off x="9220200" y="4953000"/>
            <a:ext cx="1371600" cy="1066800"/>
            <a:chOff x="576" y="960"/>
            <a:chExt cx="1200" cy="864"/>
          </a:xfrm>
        </p:grpSpPr>
        <p:sp>
          <p:nvSpPr>
            <p:cNvPr id="33823" name="Rectangle 41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3824" name="Rectangle 42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sp>
        <p:nvSpPr>
          <p:cNvPr id="1163307" name="Rectangle 43"/>
          <p:cNvSpPr>
            <a:spLocks noChangeArrowheads="1"/>
          </p:cNvSpPr>
          <p:nvPr/>
        </p:nvSpPr>
        <p:spPr bwMode="auto">
          <a:xfrm>
            <a:off x="9448800" y="5638800"/>
            <a:ext cx="914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3308" name="Rectangle 44"/>
          <p:cNvSpPr>
            <a:spLocks noChangeArrowheads="1"/>
          </p:cNvSpPr>
          <p:nvPr/>
        </p:nvSpPr>
        <p:spPr bwMode="auto">
          <a:xfrm>
            <a:off x="9601200" y="533400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3309" name="Text Box 45"/>
          <p:cNvSpPr txBox="1">
            <a:spLocks noChangeArrowheads="1"/>
          </p:cNvSpPr>
          <p:nvPr/>
        </p:nvSpPr>
        <p:spPr bwMode="auto">
          <a:xfrm>
            <a:off x="3048000" y="6034088"/>
            <a:ext cx="292548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>
                <a:latin typeface="+mj-lt"/>
              </a:rPr>
              <a:t>A total of seven steps.</a:t>
            </a:r>
          </a:p>
        </p:txBody>
      </p:sp>
      <p:sp>
        <p:nvSpPr>
          <p:cNvPr id="1163310" name="Rectangle 46"/>
          <p:cNvSpPr>
            <a:spLocks noChangeArrowheads="1"/>
          </p:cNvSpPr>
          <p:nvPr/>
        </p:nvSpPr>
        <p:spPr bwMode="auto">
          <a:xfrm>
            <a:off x="3657600" y="24384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3311" name="Rectangle 47"/>
          <p:cNvSpPr>
            <a:spLocks noChangeArrowheads="1"/>
          </p:cNvSpPr>
          <p:nvPr/>
        </p:nvSpPr>
        <p:spPr bwMode="auto">
          <a:xfrm>
            <a:off x="6705600" y="33528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3312" name="Rectangle 48"/>
          <p:cNvSpPr>
            <a:spLocks noChangeArrowheads="1"/>
          </p:cNvSpPr>
          <p:nvPr/>
        </p:nvSpPr>
        <p:spPr bwMode="auto">
          <a:xfrm>
            <a:off x="3657600" y="45720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3313" name="AutoShape 49"/>
          <p:cNvSpPr>
            <a:spLocks noChangeArrowheads="1"/>
          </p:cNvSpPr>
          <p:nvPr/>
        </p:nvSpPr>
        <p:spPr bwMode="auto">
          <a:xfrm rot="1857222">
            <a:off x="5829300" y="2362201"/>
            <a:ext cx="533400" cy="485775"/>
          </a:xfrm>
          <a:prstGeom prst="rightArrow">
            <a:avLst>
              <a:gd name="adj1" fmla="val 50000"/>
              <a:gd name="adj2" fmla="val 27451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3314" name="AutoShape 50"/>
          <p:cNvSpPr>
            <a:spLocks noChangeArrowheads="1"/>
          </p:cNvSpPr>
          <p:nvPr/>
        </p:nvSpPr>
        <p:spPr bwMode="auto">
          <a:xfrm rot="1857222">
            <a:off x="5791200" y="5076826"/>
            <a:ext cx="533400" cy="485775"/>
          </a:xfrm>
          <a:prstGeom prst="rightArrow">
            <a:avLst>
              <a:gd name="adj1" fmla="val 50000"/>
              <a:gd name="adj2" fmla="val 27451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3315" name="AutoShape 51"/>
          <p:cNvSpPr>
            <a:spLocks noChangeArrowheads="1"/>
          </p:cNvSpPr>
          <p:nvPr/>
        </p:nvSpPr>
        <p:spPr bwMode="auto">
          <a:xfrm rot="8800574">
            <a:off x="5829300" y="3810001"/>
            <a:ext cx="533400" cy="485775"/>
          </a:xfrm>
          <a:prstGeom prst="rightArrow">
            <a:avLst>
              <a:gd name="adj1" fmla="val 50000"/>
              <a:gd name="adj2" fmla="val 27451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3316" name="Rectangle 52"/>
          <p:cNvSpPr>
            <a:spLocks noChangeArrowheads="1"/>
          </p:cNvSpPr>
          <p:nvPr/>
        </p:nvSpPr>
        <p:spPr bwMode="auto">
          <a:xfrm>
            <a:off x="9753600" y="50292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3317" name="Rectangle 53"/>
          <p:cNvSpPr>
            <a:spLocks noChangeArrowheads="1"/>
          </p:cNvSpPr>
          <p:nvPr/>
        </p:nvSpPr>
        <p:spPr bwMode="auto">
          <a:xfrm>
            <a:off x="4876800" y="2743200"/>
            <a:ext cx="914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3318" name="Rectangle 54"/>
          <p:cNvSpPr>
            <a:spLocks noChangeArrowheads="1"/>
          </p:cNvSpPr>
          <p:nvPr/>
        </p:nvSpPr>
        <p:spPr bwMode="auto">
          <a:xfrm>
            <a:off x="3505200" y="274320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3319" name="Rectangle 55"/>
          <p:cNvSpPr>
            <a:spLocks noChangeArrowheads="1"/>
          </p:cNvSpPr>
          <p:nvPr/>
        </p:nvSpPr>
        <p:spPr bwMode="auto">
          <a:xfrm>
            <a:off x="9448800" y="3352800"/>
            <a:ext cx="914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56" name="Text Box 3">
            <a:extLst>
              <a:ext uri="{FF2B5EF4-FFF2-40B4-BE49-F238E27FC236}">
                <a16:creationId xmlns:a16="http://schemas.microsoft.com/office/drawing/2014/main" id="{9BC2E477-A300-344B-9C66-CE023C75B9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457200"/>
            <a:ext cx="4572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altLang="zh-TW" dirty="0"/>
              <a:t>Tower of Hanoi</a:t>
            </a:r>
          </a:p>
        </p:txBody>
      </p:sp>
    </p:spTree>
    <p:extLst>
      <p:ext uri="{BB962C8B-B14F-4D97-AF65-F5344CB8AC3E}">
        <p14:creationId xmlns:p14="http://schemas.microsoft.com/office/powerpoint/2010/main" val="3203792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3295" grpId="0" animBg="1"/>
      <p:bldP spid="1163296" grpId="0" animBg="1"/>
      <p:bldP spid="1163297" grpId="0" animBg="1"/>
      <p:bldP spid="1163307" grpId="0" animBg="1"/>
      <p:bldP spid="1163308" grpId="0" animBg="1"/>
      <p:bldP spid="1163309" grpId="0"/>
      <p:bldP spid="1163310" grpId="0" animBg="1"/>
      <p:bldP spid="1163311" grpId="0" animBg="1"/>
      <p:bldP spid="1163312" grpId="0" animBg="1"/>
      <p:bldP spid="1163313" grpId="0" animBg="1"/>
      <p:bldP spid="1163314" grpId="0" animBg="1"/>
      <p:bldP spid="1163315" grpId="0" animBg="1"/>
      <p:bldP spid="1163316" grpId="0" animBg="1"/>
      <p:bldP spid="1163317" grpId="0" animBg="1"/>
      <p:bldP spid="1163318" grpId="0" animBg="1"/>
      <p:bldP spid="116331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3" descr="Tower_of_Hanoi_4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373188"/>
            <a:ext cx="8382000" cy="327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9" name="Text Box 4"/>
          <p:cNvSpPr txBox="1">
            <a:spLocks noChangeArrowheads="1"/>
          </p:cNvSpPr>
          <p:nvPr/>
        </p:nvSpPr>
        <p:spPr bwMode="auto">
          <a:xfrm>
            <a:off x="3505200" y="5410200"/>
            <a:ext cx="6091476" cy="461665"/>
          </a:xfrm>
          <a:prstGeom prst="rect">
            <a:avLst/>
          </a:prstGeom>
          <a:solidFill>
            <a:srgbClr val="FFFF66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dirty="0">
                <a:latin typeface="+mj-lt"/>
              </a:rPr>
              <a:t>Can you write a program to solve this problem?</a:t>
            </a:r>
          </a:p>
        </p:txBody>
      </p:sp>
      <p:sp>
        <p:nvSpPr>
          <p:cNvPr id="1164293" name="Text Box 5"/>
          <p:cNvSpPr txBox="1">
            <a:spLocks noChangeArrowheads="1"/>
          </p:cNvSpPr>
          <p:nvPr/>
        </p:nvSpPr>
        <p:spPr bwMode="auto">
          <a:xfrm>
            <a:off x="5029200" y="6172200"/>
            <a:ext cx="2381293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>
                <a:latin typeface="+mj-lt"/>
              </a:rPr>
              <a:t>Think recursively!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9712E7A0-90E9-8B4E-A278-55014CAED7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457200"/>
            <a:ext cx="4572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altLang="zh-TW" dirty="0"/>
              <a:t>Tower of Hanoi</a:t>
            </a:r>
          </a:p>
        </p:txBody>
      </p:sp>
    </p:spTree>
    <p:extLst>
      <p:ext uri="{BB962C8B-B14F-4D97-AF65-F5344CB8AC3E}">
        <p14:creationId xmlns:p14="http://schemas.microsoft.com/office/powerpoint/2010/main" val="3748597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429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42" name="Group 3"/>
          <p:cNvGrpSpPr>
            <a:grpSpLocks/>
          </p:cNvGrpSpPr>
          <p:nvPr/>
        </p:nvGrpSpPr>
        <p:grpSpPr bwMode="auto">
          <a:xfrm>
            <a:off x="1600200" y="2057400"/>
            <a:ext cx="1371600" cy="1066800"/>
            <a:chOff x="576" y="960"/>
            <a:chExt cx="1200" cy="864"/>
          </a:xfrm>
        </p:grpSpPr>
        <p:sp>
          <p:nvSpPr>
            <p:cNvPr id="35900" name="Rectangle 4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5901" name="Rectangle 5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35843" name="Group 6"/>
          <p:cNvGrpSpPr>
            <a:grpSpLocks/>
          </p:cNvGrpSpPr>
          <p:nvPr/>
        </p:nvGrpSpPr>
        <p:grpSpPr bwMode="auto">
          <a:xfrm>
            <a:off x="3124200" y="2057400"/>
            <a:ext cx="1371600" cy="1066800"/>
            <a:chOff x="576" y="960"/>
            <a:chExt cx="1200" cy="864"/>
          </a:xfrm>
        </p:grpSpPr>
        <p:sp>
          <p:nvSpPr>
            <p:cNvPr id="35898" name="Rectangle 7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5899" name="Rectangle 8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35844" name="Group 9"/>
          <p:cNvGrpSpPr>
            <a:grpSpLocks/>
          </p:cNvGrpSpPr>
          <p:nvPr/>
        </p:nvGrpSpPr>
        <p:grpSpPr bwMode="auto">
          <a:xfrm>
            <a:off x="4648200" y="2057400"/>
            <a:ext cx="1371600" cy="1066800"/>
            <a:chOff x="576" y="960"/>
            <a:chExt cx="1200" cy="864"/>
          </a:xfrm>
        </p:grpSpPr>
        <p:sp>
          <p:nvSpPr>
            <p:cNvPr id="35896" name="Rectangle 10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5897" name="Rectangle 11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6172200" y="2667000"/>
            <a:ext cx="1371600" cy="1066800"/>
            <a:chOff x="576" y="960"/>
            <a:chExt cx="1200" cy="864"/>
          </a:xfrm>
        </p:grpSpPr>
        <p:sp>
          <p:nvSpPr>
            <p:cNvPr id="35894" name="Rectangle 13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5895" name="Rectangle 14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6" name="Group 15"/>
          <p:cNvGrpSpPr>
            <a:grpSpLocks/>
          </p:cNvGrpSpPr>
          <p:nvPr/>
        </p:nvGrpSpPr>
        <p:grpSpPr bwMode="auto">
          <a:xfrm>
            <a:off x="7696200" y="2667000"/>
            <a:ext cx="1371600" cy="1066800"/>
            <a:chOff x="576" y="960"/>
            <a:chExt cx="1200" cy="864"/>
          </a:xfrm>
        </p:grpSpPr>
        <p:sp>
          <p:nvSpPr>
            <p:cNvPr id="35892" name="Rectangle 16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5893" name="Rectangle 17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7" name="Group 18"/>
          <p:cNvGrpSpPr>
            <a:grpSpLocks/>
          </p:cNvGrpSpPr>
          <p:nvPr/>
        </p:nvGrpSpPr>
        <p:grpSpPr bwMode="auto">
          <a:xfrm>
            <a:off x="9220200" y="2667000"/>
            <a:ext cx="1371600" cy="1066800"/>
            <a:chOff x="576" y="960"/>
            <a:chExt cx="1200" cy="864"/>
          </a:xfrm>
        </p:grpSpPr>
        <p:sp>
          <p:nvSpPr>
            <p:cNvPr id="35890" name="Rectangle 19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5891" name="Rectangle 20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8" name="Group 21"/>
          <p:cNvGrpSpPr>
            <a:grpSpLocks/>
          </p:cNvGrpSpPr>
          <p:nvPr/>
        </p:nvGrpSpPr>
        <p:grpSpPr bwMode="auto">
          <a:xfrm>
            <a:off x="1600200" y="3886200"/>
            <a:ext cx="1371600" cy="1066800"/>
            <a:chOff x="576" y="960"/>
            <a:chExt cx="1200" cy="864"/>
          </a:xfrm>
        </p:grpSpPr>
        <p:sp>
          <p:nvSpPr>
            <p:cNvPr id="35888" name="Rectangle 22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5889" name="Rectangle 23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9" name="Group 24"/>
          <p:cNvGrpSpPr>
            <a:grpSpLocks/>
          </p:cNvGrpSpPr>
          <p:nvPr/>
        </p:nvGrpSpPr>
        <p:grpSpPr bwMode="auto">
          <a:xfrm>
            <a:off x="3124200" y="3886200"/>
            <a:ext cx="1371600" cy="1066800"/>
            <a:chOff x="576" y="960"/>
            <a:chExt cx="1200" cy="864"/>
          </a:xfrm>
        </p:grpSpPr>
        <p:sp>
          <p:nvSpPr>
            <p:cNvPr id="35886" name="Rectangle 25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5887" name="Rectangle 26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10" name="Group 27"/>
          <p:cNvGrpSpPr>
            <a:grpSpLocks/>
          </p:cNvGrpSpPr>
          <p:nvPr/>
        </p:nvGrpSpPr>
        <p:grpSpPr bwMode="auto">
          <a:xfrm>
            <a:off x="4648200" y="3886200"/>
            <a:ext cx="1371600" cy="1066800"/>
            <a:chOff x="576" y="960"/>
            <a:chExt cx="1200" cy="864"/>
          </a:xfrm>
        </p:grpSpPr>
        <p:sp>
          <p:nvSpPr>
            <p:cNvPr id="35884" name="Rectangle 28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5885" name="Rectangle 29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sp>
        <p:nvSpPr>
          <p:cNvPr id="1165342" name="Rectangle 30"/>
          <p:cNvSpPr>
            <a:spLocks noChangeArrowheads="1"/>
          </p:cNvSpPr>
          <p:nvPr/>
        </p:nvSpPr>
        <p:spPr bwMode="auto">
          <a:xfrm>
            <a:off x="8077200" y="335280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5343" name="Rectangle 31"/>
          <p:cNvSpPr>
            <a:spLocks noChangeArrowheads="1"/>
          </p:cNvSpPr>
          <p:nvPr/>
        </p:nvSpPr>
        <p:spPr bwMode="auto">
          <a:xfrm>
            <a:off x="4876800" y="4572000"/>
            <a:ext cx="914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5344" name="Rectangle 32"/>
          <p:cNvSpPr>
            <a:spLocks noChangeArrowheads="1"/>
          </p:cNvSpPr>
          <p:nvPr/>
        </p:nvSpPr>
        <p:spPr bwMode="auto">
          <a:xfrm>
            <a:off x="3505200" y="457200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grpSp>
        <p:nvGrpSpPr>
          <p:cNvPr id="11" name="Group 33"/>
          <p:cNvGrpSpPr>
            <a:grpSpLocks/>
          </p:cNvGrpSpPr>
          <p:nvPr/>
        </p:nvGrpSpPr>
        <p:grpSpPr bwMode="auto">
          <a:xfrm>
            <a:off x="6172200" y="4953000"/>
            <a:ext cx="1371600" cy="1066800"/>
            <a:chOff x="576" y="960"/>
            <a:chExt cx="1200" cy="864"/>
          </a:xfrm>
        </p:grpSpPr>
        <p:sp>
          <p:nvSpPr>
            <p:cNvPr id="35882" name="Rectangle 34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5883" name="Rectangle 35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12" name="Group 36"/>
          <p:cNvGrpSpPr>
            <a:grpSpLocks/>
          </p:cNvGrpSpPr>
          <p:nvPr/>
        </p:nvGrpSpPr>
        <p:grpSpPr bwMode="auto">
          <a:xfrm>
            <a:off x="7696200" y="4953000"/>
            <a:ext cx="1371600" cy="1066800"/>
            <a:chOff x="576" y="960"/>
            <a:chExt cx="1200" cy="864"/>
          </a:xfrm>
        </p:grpSpPr>
        <p:sp>
          <p:nvSpPr>
            <p:cNvPr id="35880" name="Rectangle 37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5881" name="Rectangle 38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13" name="Group 39"/>
          <p:cNvGrpSpPr>
            <a:grpSpLocks/>
          </p:cNvGrpSpPr>
          <p:nvPr/>
        </p:nvGrpSpPr>
        <p:grpSpPr bwMode="auto">
          <a:xfrm>
            <a:off x="9220200" y="4953000"/>
            <a:ext cx="1371600" cy="1066800"/>
            <a:chOff x="576" y="960"/>
            <a:chExt cx="1200" cy="864"/>
          </a:xfrm>
        </p:grpSpPr>
        <p:sp>
          <p:nvSpPr>
            <p:cNvPr id="35878" name="Rectangle 40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5879" name="Rectangle 41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sp>
        <p:nvSpPr>
          <p:cNvPr id="35857" name="Rectangle 42"/>
          <p:cNvSpPr>
            <a:spLocks noChangeArrowheads="1"/>
          </p:cNvSpPr>
          <p:nvPr/>
        </p:nvSpPr>
        <p:spPr bwMode="auto">
          <a:xfrm>
            <a:off x="2133600" y="21336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5355" name="Rectangle 43"/>
          <p:cNvSpPr>
            <a:spLocks noChangeArrowheads="1"/>
          </p:cNvSpPr>
          <p:nvPr/>
        </p:nvSpPr>
        <p:spPr bwMode="auto">
          <a:xfrm>
            <a:off x="8229600" y="30480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5356" name="Rectangle 44"/>
          <p:cNvSpPr>
            <a:spLocks noChangeArrowheads="1"/>
          </p:cNvSpPr>
          <p:nvPr/>
        </p:nvSpPr>
        <p:spPr bwMode="auto">
          <a:xfrm>
            <a:off x="3657600" y="42672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5357" name="AutoShape 45"/>
          <p:cNvSpPr>
            <a:spLocks noChangeArrowheads="1"/>
          </p:cNvSpPr>
          <p:nvPr/>
        </p:nvSpPr>
        <p:spPr bwMode="auto">
          <a:xfrm rot="1857222">
            <a:off x="5829300" y="2362201"/>
            <a:ext cx="533400" cy="485775"/>
          </a:xfrm>
          <a:prstGeom prst="rightArrow">
            <a:avLst>
              <a:gd name="adj1" fmla="val 50000"/>
              <a:gd name="adj2" fmla="val 27451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5358" name="AutoShape 46"/>
          <p:cNvSpPr>
            <a:spLocks noChangeArrowheads="1"/>
          </p:cNvSpPr>
          <p:nvPr/>
        </p:nvSpPr>
        <p:spPr bwMode="auto">
          <a:xfrm rot="1857222">
            <a:off x="5791200" y="5076826"/>
            <a:ext cx="533400" cy="485775"/>
          </a:xfrm>
          <a:prstGeom prst="rightArrow">
            <a:avLst>
              <a:gd name="adj1" fmla="val 50000"/>
              <a:gd name="adj2" fmla="val 27451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5359" name="AutoShape 47"/>
          <p:cNvSpPr>
            <a:spLocks noChangeArrowheads="1"/>
          </p:cNvSpPr>
          <p:nvPr/>
        </p:nvSpPr>
        <p:spPr bwMode="auto">
          <a:xfrm rot="8800574">
            <a:off x="5829300" y="3810001"/>
            <a:ext cx="533400" cy="485775"/>
          </a:xfrm>
          <a:prstGeom prst="rightArrow">
            <a:avLst>
              <a:gd name="adj1" fmla="val 50000"/>
              <a:gd name="adj2" fmla="val 27451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35863" name="Rectangle 48"/>
          <p:cNvSpPr>
            <a:spLocks noChangeArrowheads="1"/>
          </p:cNvSpPr>
          <p:nvPr/>
        </p:nvSpPr>
        <p:spPr bwMode="auto">
          <a:xfrm>
            <a:off x="1828800" y="2743200"/>
            <a:ext cx="914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35864" name="Rectangle 49"/>
          <p:cNvSpPr>
            <a:spLocks noChangeArrowheads="1"/>
          </p:cNvSpPr>
          <p:nvPr/>
        </p:nvSpPr>
        <p:spPr bwMode="auto">
          <a:xfrm>
            <a:off x="1981200" y="243840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5362" name="Rectangle 50"/>
          <p:cNvSpPr>
            <a:spLocks noChangeArrowheads="1"/>
          </p:cNvSpPr>
          <p:nvPr/>
        </p:nvSpPr>
        <p:spPr bwMode="auto">
          <a:xfrm>
            <a:off x="6400800" y="3352800"/>
            <a:ext cx="914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35866" name="Text Box 51"/>
          <p:cNvSpPr txBox="1">
            <a:spLocks noChangeArrowheads="1"/>
          </p:cNvSpPr>
          <p:nvPr/>
        </p:nvSpPr>
        <p:spPr bwMode="auto">
          <a:xfrm>
            <a:off x="3440114" y="1141414"/>
            <a:ext cx="5194242" cy="814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2000" dirty="0">
                <a:latin typeface="+mj-lt"/>
              </a:rPr>
              <a:t>Suppose you already have a program for 3 disks.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sz="2000" dirty="0">
                <a:latin typeface="+mj-lt"/>
              </a:rPr>
              <a:t>Can you use it to solve 4 disks?</a:t>
            </a:r>
          </a:p>
        </p:txBody>
      </p:sp>
      <p:sp>
        <p:nvSpPr>
          <p:cNvPr id="35867" name="Rectangle 52"/>
          <p:cNvSpPr>
            <a:spLocks noChangeArrowheads="1"/>
          </p:cNvSpPr>
          <p:nvPr/>
        </p:nvSpPr>
        <p:spPr bwMode="auto">
          <a:xfrm>
            <a:off x="2209800" y="1828800"/>
            <a:ext cx="152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5365" name="Rectangle 53"/>
          <p:cNvSpPr>
            <a:spLocks noChangeArrowheads="1"/>
          </p:cNvSpPr>
          <p:nvPr/>
        </p:nvSpPr>
        <p:spPr bwMode="auto">
          <a:xfrm>
            <a:off x="8305800" y="2743200"/>
            <a:ext cx="152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5366" name="Text Box 54"/>
          <p:cNvSpPr txBox="1">
            <a:spLocks noChangeArrowheads="1"/>
          </p:cNvSpPr>
          <p:nvPr/>
        </p:nvSpPr>
        <p:spPr bwMode="auto">
          <a:xfrm>
            <a:off x="7100297" y="1647815"/>
            <a:ext cx="3650358" cy="1015663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2000" dirty="0">
                <a:latin typeface="+mj-lt"/>
              </a:rPr>
              <a:t>In order to move the largest disk,</a:t>
            </a:r>
          </a:p>
          <a:p>
            <a:pPr eaLnBrk="1" hangingPunct="1"/>
            <a:r>
              <a:rPr lang="en-US" altLang="zh-TW" sz="2000" dirty="0">
                <a:latin typeface="+mj-lt"/>
              </a:rPr>
              <a:t>move the top 3 disks first,</a:t>
            </a:r>
          </a:p>
          <a:p>
            <a:pPr eaLnBrk="1" hangingPunct="1"/>
            <a:r>
              <a:rPr lang="en-US" altLang="zh-TW" sz="2000" dirty="0">
                <a:latin typeface="+mj-lt"/>
              </a:rPr>
              <a:t>and the program for 3 disks.</a:t>
            </a:r>
          </a:p>
        </p:txBody>
      </p:sp>
      <p:sp>
        <p:nvSpPr>
          <p:cNvPr id="1165367" name="Rectangle 55"/>
          <p:cNvSpPr>
            <a:spLocks noChangeArrowheads="1"/>
          </p:cNvSpPr>
          <p:nvPr/>
        </p:nvSpPr>
        <p:spPr bwMode="auto">
          <a:xfrm>
            <a:off x="3733800" y="3962400"/>
            <a:ext cx="152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5368" name="Text Box 56"/>
          <p:cNvSpPr txBox="1">
            <a:spLocks noChangeArrowheads="1"/>
          </p:cNvSpPr>
          <p:nvPr/>
        </p:nvSpPr>
        <p:spPr bwMode="auto">
          <a:xfrm>
            <a:off x="2889293" y="3507330"/>
            <a:ext cx="3043462" cy="40011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2000" dirty="0">
                <a:latin typeface="+mj-lt"/>
              </a:rPr>
              <a:t>Then move the largest disk.</a:t>
            </a:r>
          </a:p>
        </p:txBody>
      </p:sp>
      <p:sp>
        <p:nvSpPr>
          <p:cNvPr id="1165369" name="Text Box 57"/>
          <p:cNvSpPr txBox="1">
            <a:spLocks noChangeArrowheads="1"/>
          </p:cNvSpPr>
          <p:nvPr/>
        </p:nvSpPr>
        <p:spPr bwMode="auto">
          <a:xfrm>
            <a:off x="6858000" y="4044950"/>
            <a:ext cx="3626827" cy="707886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2000" dirty="0">
                <a:latin typeface="+mj-lt"/>
              </a:rPr>
              <a:t>Then use the program to move</a:t>
            </a:r>
          </a:p>
          <a:p>
            <a:pPr eaLnBrk="1" hangingPunct="1"/>
            <a:r>
              <a:rPr lang="en-US" altLang="zh-TW" sz="2000" dirty="0">
                <a:latin typeface="+mj-lt"/>
              </a:rPr>
              <a:t>the 3 disks from pole 2 to pole 3.</a:t>
            </a:r>
          </a:p>
        </p:txBody>
      </p:sp>
      <p:sp>
        <p:nvSpPr>
          <p:cNvPr id="1165370" name="Rectangle 58"/>
          <p:cNvSpPr>
            <a:spLocks noChangeArrowheads="1"/>
          </p:cNvSpPr>
          <p:nvPr/>
        </p:nvSpPr>
        <p:spPr bwMode="auto">
          <a:xfrm>
            <a:off x="9753600" y="50292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5371" name="Rectangle 59"/>
          <p:cNvSpPr>
            <a:spLocks noChangeArrowheads="1"/>
          </p:cNvSpPr>
          <p:nvPr/>
        </p:nvSpPr>
        <p:spPr bwMode="auto">
          <a:xfrm>
            <a:off x="9448800" y="5638800"/>
            <a:ext cx="914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5372" name="Rectangle 60"/>
          <p:cNvSpPr>
            <a:spLocks noChangeArrowheads="1"/>
          </p:cNvSpPr>
          <p:nvPr/>
        </p:nvSpPr>
        <p:spPr bwMode="auto">
          <a:xfrm>
            <a:off x="9601200" y="533400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5373" name="Rectangle 61"/>
          <p:cNvSpPr>
            <a:spLocks noChangeArrowheads="1"/>
          </p:cNvSpPr>
          <p:nvPr/>
        </p:nvSpPr>
        <p:spPr bwMode="auto">
          <a:xfrm>
            <a:off x="9829800" y="4724400"/>
            <a:ext cx="152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5374" name="Text Box 62"/>
          <p:cNvSpPr txBox="1">
            <a:spLocks noChangeArrowheads="1"/>
          </p:cNvSpPr>
          <p:nvPr/>
        </p:nvSpPr>
        <p:spPr bwMode="auto">
          <a:xfrm>
            <a:off x="2064848" y="5537123"/>
            <a:ext cx="3858107" cy="814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2000" dirty="0">
                <a:latin typeface="+mj-lt"/>
              </a:rPr>
              <a:t>Since the program requires 7 steps,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sz="2000" dirty="0">
                <a:latin typeface="+mj-lt"/>
              </a:rPr>
              <a:t>the total number of steps is 15.</a:t>
            </a:r>
          </a:p>
        </p:txBody>
      </p:sp>
      <p:sp>
        <p:nvSpPr>
          <p:cNvPr id="63" name="Text Box 3">
            <a:extLst>
              <a:ext uri="{FF2B5EF4-FFF2-40B4-BE49-F238E27FC236}">
                <a16:creationId xmlns:a16="http://schemas.microsoft.com/office/drawing/2014/main" id="{DA74FBC7-9BA4-0047-BDC9-99D3B898D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457200"/>
            <a:ext cx="4572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altLang="zh-TW" dirty="0"/>
              <a:t>Tower of Hanoi</a:t>
            </a:r>
          </a:p>
        </p:txBody>
      </p:sp>
    </p:spTree>
    <p:extLst>
      <p:ext uri="{BB962C8B-B14F-4D97-AF65-F5344CB8AC3E}">
        <p14:creationId xmlns:p14="http://schemas.microsoft.com/office/powerpoint/2010/main" val="44249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5342" grpId="0" animBg="1"/>
      <p:bldP spid="1165343" grpId="0" animBg="1"/>
      <p:bldP spid="1165344" grpId="0" animBg="1"/>
      <p:bldP spid="1165355" grpId="0" animBg="1"/>
      <p:bldP spid="1165356" grpId="0" animBg="1"/>
      <p:bldP spid="1165357" grpId="0" animBg="1"/>
      <p:bldP spid="1165358" grpId="0" animBg="1"/>
      <p:bldP spid="1165359" grpId="0" animBg="1"/>
      <p:bldP spid="1165362" grpId="0" animBg="1"/>
      <p:bldP spid="1165365" grpId="0" animBg="1"/>
      <p:bldP spid="1165366" grpId="0" animBg="1"/>
      <p:bldP spid="1165367" grpId="0" animBg="1"/>
      <p:bldP spid="1165368" grpId="0" animBg="1"/>
      <p:bldP spid="1165369" grpId="0" animBg="1"/>
      <p:bldP spid="1165370" grpId="0" animBg="1"/>
      <p:bldP spid="1165371" grpId="0" animBg="1"/>
      <p:bldP spid="1165372" grpId="0" animBg="1"/>
      <p:bldP spid="1165373" grpId="0" animBg="1"/>
      <p:bldP spid="116537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66" name="Group 3"/>
          <p:cNvGrpSpPr>
            <a:grpSpLocks/>
          </p:cNvGrpSpPr>
          <p:nvPr/>
        </p:nvGrpSpPr>
        <p:grpSpPr bwMode="auto">
          <a:xfrm>
            <a:off x="1600200" y="2057400"/>
            <a:ext cx="1371600" cy="1066800"/>
            <a:chOff x="576" y="960"/>
            <a:chExt cx="1200" cy="864"/>
          </a:xfrm>
        </p:grpSpPr>
        <p:sp>
          <p:nvSpPr>
            <p:cNvPr id="36917" name="Rectangle 4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6918" name="Rectangle 5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36867" name="Group 6"/>
          <p:cNvGrpSpPr>
            <a:grpSpLocks/>
          </p:cNvGrpSpPr>
          <p:nvPr/>
        </p:nvGrpSpPr>
        <p:grpSpPr bwMode="auto">
          <a:xfrm>
            <a:off x="3124200" y="2057400"/>
            <a:ext cx="1371600" cy="1066800"/>
            <a:chOff x="576" y="960"/>
            <a:chExt cx="1200" cy="864"/>
          </a:xfrm>
        </p:grpSpPr>
        <p:sp>
          <p:nvSpPr>
            <p:cNvPr id="36915" name="Rectangle 7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6916" name="Rectangle 8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36868" name="Group 9"/>
          <p:cNvGrpSpPr>
            <a:grpSpLocks/>
          </p:cNvGrpSpPr>
          <p:nvPr/>
        </p:nvGrpSpPr>
        <p:grpSpPr bwMode="auto">
          <a:xfrm>
            <a:off x="4648200" y="2057400"/>
            <a:ext cx="1371600" cy="1066800"/>
            <a:chOff x="576" y="960"/>
            <a:chExt cx="1200" cy="864"/>
          </a:xfrm>
        </p:grpSpPr>
        <p:sp>
          <p:nvSpPr>
            <p:cNvPr id="36913" name="Rectangle 10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6914" name="Rectangle 11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6172200" y="2667000"/>
            <a:ext cx="1371600" cy="1066800"/>
            <a:chOff x="576" y="960"/>
            <a:chExt cx="1200" cy="864"/>
          </a:xfrm>
        </p:grpSpPr>
        <p:sp>
          <p:nvSpPr>
            <p:cNvPr id="36911" name="Rectangle 13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6912" name="Rectangle 14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6" name="Group 15"/>
          <p:cNvGrpSpPr>
            <a:grpSpLocks/>
          </p:cNvGrpSpPr>
          <p:nvPr/>
        </p:nvGrpSpPr>
        <p:grpSpPr bwMode="auto">
          <a:xfrm>
            <a:off x="7696200" y="2667000"/>
            <a:ext cx="1371600" cy="1066800"/>
            <a:chOff x="576" y="960"/>
            <a:chExt cx="1200" cy="864"/>
          </a:xfrm>
        </p:grpSpPr>
        <p:sp>
          <p:nvSpPr>
            <p:cNvPr id="36909" name="Rectangle 16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6910" name="Rectangle 17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7" name="Group 18"/>
          <p:cNvGrpSpPr>
            <a:grpSpLocks/>
          </p:cNvGrpSpPr>
          <p:nvPr/>
        </p:nvGrpSpPr>
        <p:grpSpPr bwMode="auto">
          <a:xfrm>
            <a:off x="9220200" y="2667000"/>
            <a:ext cx="1371600" cy="1066800"/>
            <a:chOff x="576" y="960"/>
            <a:chExt cx="1200" cy="864"/>
          </a:xfrm>
        </p:grpSpPr>
        <p:sp>
          <p:nvSpPr>
            <p:cNvPr id="36907" name="Rectangle 19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6908" name="Rectangle 20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8" name="Group 21"/>
          <p:cNvGrpSpPr>
            <a:grpSpLocks/>
          </p:cNvGrpSpPr>
          <p:nvPr/>
        </p:nvGrpSpPr>
        <p:grpSpPr bwMode="auto">
          <a:xfrm>
            <a:off x="1600200" y="3886200"/>
            <a:ext cx="1371600" cy="1066800"/>
            <a:chOff x="576" y="960"/>
            <a:chExt cx="1200" cy="864"/>
          </a:xfrm>
        </p:grpSpPr>
        <p:sp>
          <p:nvSpPr>
            <p:cNvPr id="36905" name="Rectangle 22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6906" name="Rectangle 23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9" name="Group 24"/>
          <p:cNvGrpSpPr>
            <a:grpSpLocks/>
          </p:cNvGrpSpPr>
          <p:nvPr/>
        </p:nvGrpSpPr>
        <p:grpSpPr bwMode="auto">
          <a:xfrm>
            <a:off x="3124200" y="3886200"/>
            <a:ext cx="1371600" cy="1066800"/>
            <a:chOff x="576" y="960"/>
            <a:chExt cx="1200" cy="864"/>
          </a:xfrm>
        </p:grpSpPr>
        <p:sp>
          <p:nvSpPr>
            <p:cNvPr id="36903" name="Rectangle 25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6904" name="Rectangle 26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10" name="Group 27"/>
          <p:cNvGrpSpPr>
            <a:grpSpLocks/>
          </p:cNvGrpSpPr>
          <p:nvPr/>
        </p:nvGrpSpPr>
        <p:grpSpPr bwMode="auto">
          <a:xfrm>
            <a:off x="4648200" y="3886200"/>
            <a:ext cx="1371600" cy="1066800"/>
            <a:chOff x="576" y="960"/>
            <a:chExt cx="1200" cy="864"/>
          </a:xfrm>
        </p:grpSpPr>
        <p:sp>
          <p:nvSpPr>
            <p:cNvPr id="36901" name="Rectangle 28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6902" name="Rectangle 29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sp>
        <p:nvSpPr>
          <p:cNvPr id="1166366" name="Rectangle 30"/>
          <p:cNvSpPr>
            <a:spLocks noChangeArrowheads="1"/>
          </p:cNvSpPr>
          <p:nvPr/>
        </p:nvSpPr>
        <p:spPr bwMode="auto">
          <a:xfrm>
            <a:off x="4876800" y="4572000"/>
            <a:ext cx="914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grpSp>
        <p:nvGrpSpPr>
          <p:cNvPr id="11" name="Group 31"/>
          <p:cNvGrpSpPr>
            <a:grpSpLocks/>
          </p:cNvGrpSpPr>
          <p:nvPr/>
        </p:nvGrpSpPr>
        <p:grpSpPr bwMode="auto">
          <a:xfrm>
            <a:off x="6172200" y="4953000"/>
            <a:ext cx="1371600" cy="1066800"/>
            <a:chOff x="576" y="960"/>
            <a:chExt cx="1200" cy="864"/>
          </a:xfrm>
        </p:grpSpPr>
        <p:sp>
          <p:nvSpPr>
            <p:cNvPr id="36899" name="Rectangle 32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6900" name="Rectangle 33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12" name="Group 34"/>
          <p:cNvGrpSpPr>
            <a:grpSpLocks/>
          </p:cNvGrpSpPr>
          <p:nvPr/>
        </p:nvGrpSpPr>
        <p:grpSpPr bwMode="auto">
          <a:xfrm>
            <a:off x="7696200" y="4953000"/>
            <a:ext cx="1371600" cy="1066800"/>
            <a:chOff x="576" y="960"/>
            <a:chExt cx="1200" cy="864"/>
          </a:xfrm>
        </p:grpSpPr>
        <p:sp>
          <p:nvSpPr>
            <p:cNvPr id="36897" name="Rectangle 35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6898" name="Rectangle 36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grpSp>
        <p:nvGrpSpPr>
          <p:cNvPr id="13" name="Group 37"/>
          <p:cNvGrpSpPr>
            <a:grpSpLocks/>
          </p:cNvGrpSpPr>
          <p:nvPr/>
        </p:nvGrpSpPr>
        <p:grpSpPr bwMode="auto">
          <a:xfrm>
            <a:off x="9220200" y="4953000"/>
            <a:ext cx="1371600" cy="1066800"/>
            <a:chOff x="576" y="960"/>
            <a:chExt cx="1200" cy="864"/>
          </a:xfrm>
        </p:grpSpPr>
        <p:sp>
          <p:nvSpPr>
            <p:cNvPr id="36895" name="Rectangle 38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  <p:sp>
          <p:nvSpPr>
            <p:cNvPr id="36896" name="Rectangle 39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TW"/>
            </a:p>
          </p:txBody>
        </p:sp>
      </p:grpSp>
      <p:sp>
        <p:nvSpPr>
          <p:cNvPr id="1166376" name="AutoShape 40"/>
          <p:cNvSpPr>
            <a:spLocks noChangeArrowheads="1"/>
          </p:cNvSpPr>
          <p:nvPr/>
        </p:nvSpPr>
        <p:spPr bwMode="auto">
          <a:xfrm rot="1857222">
            <a:off x="5829300" y="2362201"/>
            <a:ext cx="533400" cy="485775"/>
          </a:xfrm>
          <a:prstGeom prst="rightArrow">
            <a:avLst>
              <a:gd name="adj1" fmla="val 50000"/>
              <a:gd name="adj2" fmla="val 27451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6377" name="AutoShape 41"/>
          <p:cNvSpPr>
            <a:spLocks noChangeArrowheads="1"/>
          </p:cNvSpPr>
          <p:nvPr/>
        </p:nvSpPr>
        <p:spPr bwMode="auto">
          <a:xfrm rot="1857222">
            <a:off x="5791200" y="5076826"/>
            <a:ext cx="533400" cy="485775"/>
          </a:xfrm>
          <a:prstGeom prst="rightArrow">
            <a:avLst>
              <a:gd name="adj1" fmla="val 50000"/>
              <a:gd name="adj2" fmla="val 27451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6378" name="AutoShape 42"/>
          <p:cNvSpPr>
            <a:spLocks noChangeArrowheads="1"/>
          </p:cNvSpPr>
          <p:nvPr/>
        </p:nvSpPr>
        <p:spPr bwMode="auto">
          <a:xfrm rot="8800574">
            <a:off x="5829300" y="3810001"/>
            <a:ext cx="533400" cy="485775"/>
          </a:xfrm>
          <a:prstGeom prst="rightArrow">
            <a:avLst>
              <a:gd name="adj1" fmla="val 50000"/>
              <a:gd name="adj2" fmla="val 27451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36882" name="Rectangle 43"/>
          <p:cNvSpPr>
            <a:spLocks noChangeArrowheads="1"/>
          </p:cNvSpPr>
          <p:nvPr/>
        </p:nvSpPr>
        <p:spPr bwMode="auto">
          <a:xfrm>
            <a:off x="1828800" y="2743200"/>
            <a:ext cx="914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6380" name="Rectangle 44"/>
          <p:cNvSpPr>
            <a:spLocks noChangeArrowheads="1"/>
          </p:cNvSpPr>
          <p:nvPr/>
        </p:nvSpPr>
        <p:spPr bwMode="auto">
          <a:xfrm>
            <a:off x="6400800" y="3352800"/>
            <a:ext cx="914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36884" name="Text Box 45"/>
          <p:cNvSpPr txBox="1">
            <a:spLocks noChangeArrowheads="1"/>
          </p:cNvSpPr>
          <p:nvPr/>
        </p:nvSpPr>
        <p:spPr bwMode="auto">
          <a:xfrm>
            <a:off x="4283076" y="1141413"/>
            <a:ext cx="338881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2000" dirty="0">
                <a:latin typeface="+mj-lt"/>
              </a:rPr>
              <a:t>This recursion is true for any n.</a:t>
            </a:r>
          </a:p>
        </p:txBody>
      </p:sp>
      <p:sp>
        <p:nvSpPr>
          <p:cNvPr id="1166382" name="Text Box 46"/>
          <p:cNvSpPr txBox="1">
            <a:spLocks noChangeArrowheads="1"/>
          </p:cNvSpPr>
          <p:nvPr/>
        </p:nvSpPr>
        <p:spPr bwMode="auto">
          <a:xfrm>
            <a:off x="7077626" y="1608773"/>
            <a:ext cx="3862468" cy="1015663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2000" dirty="0">
                <a:latin typeface="+mj-lt"/>
              </a:rPr>
              <a:t>In order to move the largest disk,</a:t>
            </a:r>
          </a:p>
          <a:p>
            <a:pPr eaLnBrk="1" hangingPunct="1"/>
            <a:r>
              <a:rPr lang="en-US" altLang="zh-TW" sz="2000" dirty="0">
                <a:latin typeface="+mj-lt"/>
              </a:rPr>
              <a:t>move the top n-1 disks first,</a:t>
            </a:r>
          </a:p>
          <a:p>
            <a:pPr eaLnBrk="1" hangingPunct="1"/>
            <a:r>
              <a:rPr lang="en-US" altLang="zh-TW" sz="2000" dirty="0">
                <a:latin typeface="+mj-lt"/>
              </a:rPr>
              <a:t>and use the program for n-1 disks.</a:t>
            </a:r>
          </a:p>
        </p:txBody>
      </p:sp>
      <p:sp>
        <p:nvSpPr>
          <p:cNvPr id="1166383" name="Text Box 47"/>
          <p:cNvSpPr txBox="1">
            <a:spLocks noChangeArrowheads="1"/>
          </p:cNvSpPr>
          <p:nvPr/>
        </p:nvSpPr>
        <p:spPr bwMode="auto">
          <a:xfrm>
            <a:off x="3047141" y="3403316"/>
            <a:ext cx="3043462" cy="40011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2000" dirty="0">
                <a:latin typeface="+mj-lt"/>
              </a:rPr>
              <a:t>Then move the largest disk.</a:t>
            </a:r>
          </a:p>
        </p:txBody>
      </p:sp>
      <p:sp>
        <p:nvSpPr>
          <p:cNvPr id="1166384" name="Text Box 48"/>
          <p:cNvSpPr txBox="1">
            <a:spLocks noChangeArrowheads="1"/>
          </p:cNvSpPr>
          <p:nvPr/>
        </p:nvSpPr>
        <p:spPr bwMode="auto">
          <a:xfrm>
            <a:off x="6858000" y="4044950"/>
            <a:ext cx="4131837" cy="707886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2000" dirty="0">
                <a:latin typeface="+mj-lt"/>
              </a:rPr>
              <a:t>Then use the program again to move</a:t>
            </a:r>
          </a:p>
          <a:p>
            <a:pPr eaLnBrk="1" hangingPunct="1"/>
            <a:r>
              <a:rPr lang="en-US" altLang="zh-TW" sz="2000" dirty="0">
                <a:latin typeface="+mj-lt"/>
              </a:rPr>
              <a:t>the n-1 disks from pole 2 to pole 3.</a:t>
            </a:r>
          </a:p>
        </p:txBody>
      </p:sp>
      <p:sp>
        <p:nvSpPr>
          <p:cNvPr id="1166385" name="Rectangle 49"/>
          <p:cNvSpPr>
            <a:spLocks noChangeArrowheads="1"/>
          </p:cNvSpPr>
          <p:nvPr/>
        </p:nvSpPr>
        <p:spPr bwMode="auto">
          <a:xfrm>
            <a:off x="9448800" y="5638800"/>
            <a:ext cx="914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36889" name="AutoShape 50"/>
          <p:cNvSpPr>
            <a:spLocks noChangeArrowheads="1"/>
          </p:cNvSpPr>
          <p:nvPr/>
        </p:nvSpPr>
        <p:spPr bwMode="auto">
          <a:xfrm>
            <a:off x="1981200" y="2133600"/>
            <a:ext cx="609600" cy="6096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6387" name="AutoShape 51"/>
          <p:cNvSpPr>
            <a:spLocks noChangeArrowheads="1"/>
          </p:cNvSpPr>
          <p:nvPr/>
        </p:nvSpPr>
        <p:spPr bwMode="auto">
          <a:xfrm>
            <a:off x="8077200" y="3048000"/>
            <a:ext cx="609600" cy="6096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6388" name="AutoShape 52"/>
          <p:cNvSpPr>
            <a:spLocks noChangeArrowheads="1"/>
          </p:cNvSpPr>
          <p:nvPr/>
        </p:nvSpPr>
        <p:spPr bwMode="auto">
          <a:xfrm>
            <a:off x="3505200" y="4267200"/>
            <a:ext cx="609600" cy="6096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6389" name="AutoShape 53"/>
          <p:cNvSpPr>
            <a:spLocks noChangeArrowheads="1"/>
          </p:cNvSpPr>
          <p:nvPr/>
        </p:nvSpPr>
        <p:spPr bwMode="auto">
          <a:xfrm>
            <a:off x="9601200" y="5029200"/>
            <a:ext cx="609600" cy="6096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TW"/>
          </a:p>
        </p:txBody>
      </p:sp>
      <p:sp>
        <p:nvSpPr>
          <p:cNvPr id="1166390" name="Text Box 54"/>
          <p:cNvSpPr txBox="1">
            <a:spLocks noChangeArrowheads="1"/>
          </p:cNvSpPr>
          <p:nvPr/>
        </p:nvSpPr>
        <p:spPr bwMode="auto">
          <a:xfrm>
            <a:off x="1752601" y="5334001"/>
            <a:ext cx="4047262" cy="814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2000">
                <a:latin typeface="+mj-lt"/>
              </a:rPr>
              <a:t>Since the program requires r</a:t>
            </a:r>
            <a:r>
              <a:rPr lang="en-US" altLang="zh-TW" sz="2000" baseline="-25000">
                <a:latin typeface="+mj-lt"/>
              </a:rPr>
              <a:t>n-1</a:t>
            </a:r>
            <a:r>
              <a:rPr lang="en-US" altLang="zh-TW" sz="2000">
                <a:latin typeface="+mj-lt"/>
              </a:rPr>
              <a:t> steps,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sz="2000">
                <a:latin typeface="+mj-lt"/>
              </a:rPr>
              <a:t>the total number of steps is 2r</a:t>
            </a:r>
            <a:r>
              <a:rPr lang="en-US" altLang="zh-TW" sz="2000" baseline="-25000">
                <a:latin typeface="+mj-lt"/>
              </a:rPr>
              <a:t>n-1</a:t>
            </a:r>
            <a:r>
              <a:rPr lang="en-US" altLang="zh-TW" sz="2000">
                <a:latin typeface="+mj-lt"/>
              </a:rPr>
              <a:t> + 1.</a:t>
            </a:r>
          </a:p>
        </p:txBody>
      </p:sp>
      <p:sp>
        <p:nvSpPr>
          <p:cNvPr id="1166391" name="Text Box 55"/>
          <p:cNvSpPr txBox="1">
            <a:spLocks noChangeArrowheads="1"/>
          </p:cNvSpPr>
          <p:nvPr/>
        </p:nvSpPr>
        <p:spPr bwMode="auto">
          <a:xfrm>
            <a:off x="3060701" y="6186489"/>
            <a:ext cx="1444625" cy="376237"/>
          </a:xfrm>
          <a:prstGeom prst="rect">
            <a:avLst/>
          </a:prstGeom>
          <a:solidFill>
            <a:srgbClr val="FFCCFF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/>
              <a:t>r</a:t>
            </a:r>
            <a:r>
              <a:rPr lang="en-US" altLang="zh-TW" sz="1800" baseline="-25000"/>
              <a:t>n</a:t>
            </a:r>
            <a:r>
              <a:rPr lang="en-US" altLang="zh-TW" sz="1800"/>
              <a:t> = 2r</a:t>
            </a:r>
            <a:r>
              <a:rPr lang="en-US" altLang="zh-TW" sz="1800" baseline="-25000"/>
              <a:t>n-1</a:t>
            </a:r>
            <a:r>
              <a:rPr lang="en-US" altLang="zh-TW" sz="1800"/>
              <a:t> + 1</a:t>
            </a:r>
          </a:p>
        </p:txBody>
      </p:sp>
      <p:sp>
        <p:nvSpPr>
          <p:cNvPr id="56" name="Text Box 3">
            <a:extLst>
              <a:ext uri="{FF2B5EF4-FFF2-40B4-BE49-F238E27FC236}">
                <a16:creationId xmlns:a16="http://schemas.microsoft.com/office/drawing/2014/main" id="{8A630C4B-F728-7448-BE83-528BAF94E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457200"/>
            <a:ext cx="4572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altLang="zh-TW" dirty="0"/>
              <a:t>Tower of Hanoi</a:t>
            </a:r>
          </a:p>
        </p:txBody>
      </p:sp>
    </p:spTree>
    <p:extLst>
      <p:ext uri="{BB962C8B-B14F-4D97-AF65-F5344CB8AC3E}">
        <p14:creationId xmlns:p14="http://schemas.microsoft.com/office/powerpoint/2010/main" val="3786086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6366" grpId="0" animBg="1"/>
      <p:bldP spid="1166376" grpId="0" animBg="1"/>
      <p:bldP spid="1166377" grpId="0" animBg="1"/>
      <p:bldP spid="1166378" grpId="0" animBg="1"/>
      <p:bldP spid="1166380" grpId="0" animBg="1"/>
      <p:bldP spid="1166382" grpId="0" animBg="1"/>
      <p:bldP spid="1166383" grpId="0" animBg="1"/>
      <p:bldP spid="1166384" grpId="0" animBg="1"/>
      <p:bldP spid="1166385" grpId="0" animBg="1"/>
      <p:bldP spid="1166387" grpId="0" animBg="1"/>
      <p:bldP spid="1166388" grpId="0" animBg="1"/>
      <p:bldP spid="1166389" grpId="0" animBg="1"/>
      <p:bldP spid="1166390" grpId="0"/>
      <p:bldP spid="116639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ext Box 2"/>
          <p:cNvSpPr txBox="1">
            <a:spLocks noChangeArrowheads="1"/>
          </p:cNvSpPr>
          <p:nvPr/>
        </p:nvSpPr>
        <p:spPr bwMode="auto">
          <a:xfrm>
            <a:off x="4580732" y="457200"/>
            <a:ext cx="3030536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defRPr kumimoji="1" sz="2400"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Comic Sans MS" charset="0"/>
                <a:ea typeface="ＭＳ Ｐゴシック" charset="0"/>
              </a:defRPr>
            </a:lvl9pPr>
          </a:lstStyle>
          <a:p>
            <a:r>
              <a:rPr lang="en-US" altLang="zh-TW" dirty="0"/>
              <a:t>Follow up</a:t>
            </a:r>
          </a:p>
        </p:txBody>
      </p:sp>
      <p:sp>
        <p:nvSpPr>
          <p:cNvPr id="37890" name="Text Box 56"/>
          <p:cNvSpPr txBox="1">
            <a:spLocks noChangeArrowheads="1"/>
          </p:cNvSpPr>
          <p:nvPr/>
        </p:nvSpPr>
        <p:spPr bwMode="auto">
          <a:xfrm>
            <a:off x="544132" y="1447800"/>
            <a:ext cx="11103735" cy="2693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342900" indent="-342900"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+mj-lt"/>
              </a:rPr>
              <a:t>If we have a constraint that a disk cannot move between pole 1 and pole 3, how many steps are needed in this case?</a:t>
            </a:r>
          </a:p>
          <a:p>
            <a:pPr marL="342900" indent="-342900"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+mj-lt"/>
              </a:rPr>
              <a:t>Can we use fewer steps if we have 4 poles?</a:t>
            </a:r>
          </a:p>
          <a:p>
            <a:pPr marL="342900" indent="-342900"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TW" dirty="0">
              <a:latin typeface="+mj-lt"/>
            </a:endParaRPr>
          </a:p>
          <a:p>
            <a:pPr eaLnBrk="1" hangingPunct="1"/>
            <a:endParaRPr lang="en-US" altLang="zh-TW" dirty="0">
              <a:latin typeface="+mj-lt"/>
            </a:endParaRPr>
          </a:p>
          <a:p>
            <a:pPr eaLnBrk="1" hangingPunct="1"/>
            <a:endParaRPr lang="en-US" altLang="zh-TW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065467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20858"/>
            <a:ext cx="10972800" cy="5056142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en-US" sz="2400" dirty="0"/>
              <a:t>Use recursion to write a Java method for determining if a string s has more vowels than consonants.</a:t>
            </a:r>
          </a:p>
          <a:p>
            <a:pPr marL="514350" indent="-514350">
              <a:buAutoNum type="arabicPeriod"/>
            </a:pPr>
            <a:r>
              <a:rPr lang="en-US" sz="2400" dirty="0"/>
              <a:t>Write a recursive Java method that takes a character string s and outputs its reverse. So for example, the reverse of “</a:t>
            </a:r>
            <a:r>
              <a:rPr lang="en-US" sz="2400" dirty="0" err="1"/>
              <a:t>pots&amp;pans</a:t>
            </a:r>
            <a:r>
              <a:rPr lang="en-US" sz="2400" dirty="0"/>
              <a:t>” would be “</a:t>
            </a:r>
            <a:r>
              <a:rPr lang="en-US" sz="2400" dirty="0" err="1"/>
              <a:t>snap&amp;stop</a:t>
            </a:r>
            <a:r>
              <a:rPr lang="en-US" sz="2400" dirty="0"/>
              <a:t>”.</a:t>
            </a:r>
          </a:p>
          <a:p>
            <a:pPr marL="514350" indent="-514350">
              <a:buAutoNum type="arabicPeriod"/>
            </a:pPr>
            <a:r>
              <a:rPr lang="en-US" sz="2400" dirty="0"/>
              <a:t>Write a recursive Java method that will rearrange an array of </a:t>
            </a:r>
            <a:r>
              <a:rPr lang="en-US" sz="2400" b="1" dirty="0" err="1"/>
              <a:t>int</a:t>
            </a:r>
            <a:r>
              <a:rPr lang="en-US" sz="2400" dirty="0"/>
              <a:t> values so that all the even values appear before all the odd values.</a:t>
            </a:r>
          </a:p>
          <a:p>
            <a:pPr marL="514350" indent="-514350">
              <a:buAutoNum type="arabicPeriod"/>
            </a:pPr>
            <a:r>
              <a:rPr lang="en-US" sz="2400" dirty="0"/>
              <a:t>Write a recursive Java method that determines if a string s is a palindrome, that is, it is equal to its reverse. For example, “racecar” is a palindrome, but “</a:t>
            </a:r>
            <a:r>
              <a:rPr lang="en-US" sz="2400" dirty="0" err="1"/>
              <a:t>monmouth</a:t>
            </a:r>
            <a:r>
              <a:rPr lang="en-US" sz="2400" dirty="0"/>
              <a:t>” is not.</a:t>
            </a:r>
          </a:p>
          <a:p>
            <a:pPr marL="514350" indent="-514350">
              <a:buAutoNum type="arabicPeriod"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165016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ext Box 2"/>
          <p:cNvSpPr txBox="1">
            <a:spLocks noChangeArrowheads="1"/>
          </p:cNvSpPr>
          <p:nvPr/>
        </p:nvSpPr>
        <p:spPr bwMode="auto">
          <a:xfrm>
            <a:off x="5116514" y="457200"/>
            <a:ext cx="1893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b="1">
                <a:solidFill>
                  <a:srgbClr val="003366"/>
                </a:solidFill>
              </a:rPr>
              <a:t>Merge Sort</a:t>
            </a:r>
          </a:p>
        </p:txBody>
      </p:sp>
      <p:sp>
        <p:nvSpPr>
          <p:cNvPr id="38914" name="Text Box 3"/>
          <p:cNvSpPr txBox="1">
            <a:spLocks noChangeArrowheads="1"/>
          </p:cNvSpPr>
          <p:nvPr/>
        </p:nvSpPr>
        <p:spPr bwMode="auto">
          <a:xfrm>
            <a:off x="1281970" y="1295400"/>
            <a:ext cx="7669087" cy="73885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 dirty="0"/>
              <a:t>Given a sequence of n numbers,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sz="1800" dirty="0"/>
              <a:t>how many steps are required to sort them into non-decreasing order?</a:t>
            </a:r>
          </a:p>
        </p:txBody>
      </p:sp>
      <p:sp>
        <p:nvSpPr>
          <p:cNvPr id="1167364" name="Text Box 4"/>
          <p:cNvSpPr txBox="1">
            <a:spLocks noChangeArrowheads="1"/>
          </p:cNvSpPr>
          <p:nvPr/>
        </p:nvSpPr>
        <p:spPr bwMode="auto">
          <a:xfrm>
            <a:off x="1304195" y="2320925"/>
            <a:ext cx="837320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 dirty="0"/>
              <a:t>One way to sort the number is called the “bubble sort”, in which every step we search for the smallest number, and move it to the front.</a:t>
            </a:r>
          </a:p>
        </p:txBody>
      </p:sp>
      <p:sp>
        <p:nvSpPr>
          <p:cNvPr id="1167365" name="Text Box 5"/>
          <p:cNvSpPr txBox="1">
            <a:spLocks noChangeArrowheads="1"/>
          </p:cNvSpPr>
          <p:nvPr/>
        </p:nvSpPr>
        <p:spPr bwMode="auto">
          <a:xfrm>
            <a:off x="1297846" y="4476482"/>
            <a:ext cx="7366119" cy="738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/>
              <a:t>Every time it will search to the end to find the smallest number,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sz="1800"/>
              <a:t>and the algorithm takes roughly n+(n-1)+(n-2)+…+1 = n(n+1)/2 steps.</a:t>
            </a:r>
          </a:p>
        </p:txBody>
      </p:sp>
      <p:sp>
        <p:nvSpPr>
          <p:cNvPr id="1167366" name="Text Box 6"/>
          <p:cNvSpPr txBox="1">
            <a:spLocks noChangeArrowheads="1"/>
          </p:cNvSpPr>
          <p:nvPr/>
        </p:nvSpPr>
        <p:spPr bwMode="auto">
          <a:xfrm>
            <a:off x="1281970" y="3409682"/>
            <a:ext cx="55895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/>
              <a:t>This algorithm could take up to roughly n</a:t>
            </a:r>
            <a:r>
              <a:rPr lang="en-US" altLang="zh-TW" sz="1800" baseline="30000"/>
              <a:t>2</a:t>
            </a:r>
            <a:r>
              <a:rPr lang="en-US" altLang="zh-TW" sz="1800"/>
              <a:t>/2 steps.</a:t>
            </a:r>
          </a:p>
        </p:txBody>
      </p:sp>
      <p:sp>
        <p:nvSpPr>
          <p:cNvPr id="1167367" name="Text Box 7"/>
          <p:cNvSpPr txBox="1">
            <a:spLocks noChangeArrowheads="1"/>
          </p:cNvSpPr>
          <p:nvPr/>
        </p:nvSpPr>
        <p:spPr bwMode="auto">
          <a:xfrm>
            <a:off x="1297845" y="3943082"/>
            <a:ext cx="6953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 dirty="0"/>
              <a:t>For example, if we are given the reverse sequence n,n-1,n-2,…,1.</a:t>
            </a:r>
          </a:p>
        </p:txBody>
      </p:sp>
      <p:sp>
        <p:nvSpPr>
          <p:cNvPr id="1167368" name="Text Box 8"/>
          <p:cNvSpPr txBox="1">
            <a:spLocks noChangeArrowheads="1"/>
          </p:cNvSpPr>
          <p:nvPr/>
        </p:nvSpPr>
        <p:spPr bwMode="auto">
          <a:xfrm>
            <a:off x="1305783" y="5508356"/>
            <a:ext cx="3802062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/>
              <a:t>Can we design a faster algorithm?</a:t>
            </a:r>
          </a:p>
        </p:txBody>
      </p:sp>
      <p:sp>
        <p:nvSpPr>
          <p:cNvPr id="1167369" name="Text Box 9"/>
          <p:cNvSpPr txBox="1">
            <a:spLocks noChangeArrowheads="1"/>
          </p:cNvSpPr>
          <p:nvPr/>
        </p:nvSpPr>
        <p:spPr bwMode="auto">
          <a:xfrm>
            <a:off x="6006370" y="5508356"/>
            <a:ext cx="2082800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/>
              <a:t>Think recursively!</a:t>
            </a:r>
          </a:p>
        </p:txBody>
      </p:sp>
    </p:spTree>
    <p:extLst>
      <p:ext uri="{BB962C8B-B14F-4D97-AF65-F5344CB8AC3E}">
        <p14:creationId xmlns:p14="http://schemas.microsoft.com/office/powerpoint/2010/main" val="2054742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64" grpId="0"/>
      <p:bldP spid="1167365" grpId="0"/>
      <p:bldP spid="1167366" grpId="0"/>
      <p:bldP spid="1167367" grpId="0"/>
      <p:bldP spid="1167368" grpId="0" animBg="1"/>
      <p:bldP spid="116736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ext Box 2"/>
          <p:cNvSpPr txBox="1">
            <a:spLocks noChangeArrowheads="1"/>
          </p:cNvSpPr>
          <p:nvPr/>
        </p:nvSpPr>
        <p:spPr bwMode="auto">
          <a:xfrm>
            <a:off x="5116514" y="457200"/>
            <a:ext cx="1893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b="1">
                <a:solidFill>
                  <a:srgbClr val="003366"/>
                </a:solidFill>
              </a:rPr>
              <a:t>Merge Sort</a:t>
            </a:r>
          </a:p>
        </p:txBody>
      </p:sp>
      <p:sp>
        <p:nvSpPr>
          <p:cNvPr id="1168387" name="Text Box 3"/>
          <p:cNvSpPr txBox="1">
            <a:spLocks noChangeArrowheads="1"/>
          </p:cNvSpPr>
          <p:nvPr/>
        </p:nvSpPr>
        <p:spPr bwMode="auto">
          <a:xfrm>
            <a:off x="3178176" y="1295400"/>
            <a:ext cx="5813425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/>
              <a:t>Suppose we have a program to sort n/2 numbers.</a:t>
            </a:r>
          </a:p>
          <a:p>
            <a:pPr eaLnBrk="1" hangingPunct="1"/>
            <a:endParaRPr lang="en-US" altLang="zh-TW" sz="1800"/>
          </a:p>
          <a:p>
            <a:pPr eaLnBrk="1" hangingPunct="1"/>
            <a:r>
              <a:rPr lang="en-US" altLang="zh-TW" sz="1800"/>
              <a:t>We can use it to sort n numbers in the following way.</a:t>
            </a:r>
          </a:p>
        </p:txBody>
      </p:sp>
      <p:sp>
        <p:nvSpPr>
          <p:cNvPr id="1168388" name="Text Box 4"/>
          <p:cNvSpPr txBox="1">
            <a:spLocks noChangeArrowheads="1"/>
          </p:cNvSpPr>
          <p:nvPr/>
        </p:nvSpPr>
        <p:spPr bwMode="auto">
          <a:xfrm>
            <a:off x="5191125" y="2590800"/>
            <a:ext cx="1752600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/>
              <a:t>3 8 4 7 2 1 6 5</a:t>
            </a:r>
          </a:p>
        </p:txBody>
      </p:sp>
      <p:sp>
        <p:nvSpPr>
          <p:cNvPr id="1168389" name="Text Box 5"/>
          <p:cNvSpPr txBox="1">
            <a:spLocks noChangeArrowheads="1"/>
          </p:cNvSpPr>
          <p:nvPr/>
        </p:nvSpPr>
        <p:spPr bwMode="auto">
          <a:xfrm>
            <a:off x="3067050" y="3275014"/>
            <a:ext cx="600075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/>
              <a:t>Divide the sequence into two halves.</a:t>
            </a:r>
          </a:p>
          <a:p>
            <a:pPr eaLnBrk="1" hangingPunct="1"/>
            <a:endParaRPr lang="en-US" altLang="zh-TW" sz="1800"/>
          </a:p>
          <a:p>
            <a:pPr eaLnBrk="1" hangingPunct="1"/>
            <a:r>
              <a:rPr lang="en-US" altLang="zh-TW" sz="1800"/>
              <a:t>Use the program to sort the two halves independently.</a:t>
            </a:r>
          </a:p>
        </p:txBody>
      </p:sp>
      <p:sp>
        <p:nvSpPr>
          <p:cNvPr id="1168390" name="Text Box 6"/>
          <p:cNvSpPr txBox="1">
            <a:spLocks noChangeArrowheads="1"/>
          </p:cNvSpPr>
          <p:nvPr/>
        </p:nvSpPr>
        <p:spPr bwMode="auto">
          <a:xfrm>
            <a:off x="4648201" y="4495800"/>
            <a:ext cx="957263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/>
              <a:t>3 4 7 8</a:t>
            </a:r>
          </a:p>
        </p:txBody>
      </p:sp>
      <p:sp>
        <p:nvSpPr>
          <p:cNvPr id="1168391" name="Text Box 7"/>
          <p:cNvSpPr txBox="1">
            <a:spLocks noChangeArrowheads="1"/>
          </p:cNvSpPr>
          <p:nvPr/>
        </p:nvSpPr>
        <p:spPr bwMode="auto">
          <a:xfrm>
            <a:off x="6461125" y="4495800"/>
            <a:ext cx="920750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/>
              <a:t>1 2 5 6</a:t>
            </a:r>
          </a:p>
        </p:txBody>
      </p:sp>
      <p:sp>
        <p:nvSpPr>
          <p:cNvPr id="1168392" name="Text Box 8"/>
          <p:cNvSpPr txBox="1">
            <a:spLocks noChangeArrowheads="1"/>
          </p:cNvSpPr>
          <p:nvPr/>
        </p:nvSpPr>
        <p:spPr bwMode="auto">
          <a:xfrm>
            <a:off x="2667000" y="5240339"/>
            <a:ext cx="6944530" cy="738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/>
              <a:t>With these two sorted sequences of n/2 numbers,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sz="1800"/>
              <a:t>we can merge them into a sorted sequence of n numbers easily!</a:t>
            </a:r>
          </a:p>
        </p:txBody>
      </p:sp>
    </p:spTree>
    <p:extLst>
      <p:ext uri="{BB962C8B-B14F-4D97-AF65-F5344CB8AC3E}">
        <p14:creationId xmlns:p14="http://schemas.microsoft.com/office/powerpoint/2010/main" val="219506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8387" grpId="0"/>
      <p:bldP spid="1168388" grpId="0" animBg="1"/>
      <p:bldP spid="1168389" grpId="0"/>
      <p:bldP spid="1168390" grpId="0" animBg="1"/>
      <p:bldP spid="1168391" grpId="0" animBg="1"/>
      <p:bldP spid="116839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ext Box 2"/>
          <p:cNvSpPr txBox="1">
            <a:spLocks noChangeArrowheads="1"/>
          </p:cNvSpPr>
          <p:nvPr/>
        </p:nvSpPr>
        <p:spPr bwMode="auto">
          <a:xfrm>
            <a:off x="5116514" y="457200"/>
            <a:ext cx="1893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b="1">
                <a:solidFill>
                  <a:srgbClr val="003366"/>
                </a:solidFill>
              </a:rPr>
              <a:t>Merge Sort</a:t>
            </a:r>
          </a:p>
        </p:txBody>
      </p:sp>
      <p:sp>
        <p:nvSpPr>
          <p:cNvPr id="40962" name="Text Box 3"/>
          <p:cNvSpPr txBox="1">
            <a:spLocks noChangeArrowheads="1"/>
          </p:cNvSpPr>
          <p:nvPr/>
        </p:nvSpPr>
        <p:spPr bwMode="auto">
          <a:xfrm>
            <a:off x="2803525" y="1219201"/>
            <a:ext cx="6564618" cy="115435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/>
              <a:t>Claim.  Suppose we have two sorted sequence of </a:t>
            </a:r>
            <a:r>
              <a:rPr lang="en-US" altLang="zh-TW" sz="1800">
                <a:solidFill>
                  <a:srgbClr val="008000"/>
                </a:solidFill>
              </a:rPr>
              <a:t>k</a:t>
            </a:r>
            <a:r>
              <a:rPr lang="en-US" altLang="zh-TW" sz="1800"/>
              <a:t> numbers.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sz="1800"/>
              <a:t>	We can merge them into a sorted sequence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sz="1800"/>
              <a:t>	of </a:t>
            </a:r>
            <a:r>
              <a:rPr lang="en-US" altLang="zh-TW" sz="1800">
                <a:solidFill>
                  <a:srgbClr val="008000"/>
                </a:solidFill>
              </a:rPr>
              <a:t>2k</a:t>
            </a:r>
            <a:r>
              <a:rPr lang="en-US" altLang="zh-TW" sz="1800"/>
              <a:t> numbers in </a:t>
            </a:r>
            <a:r>
              <a:rPr lang="en-US" altLang="zh-TW" sz="1800">
                <a:solidFill>
                  <a:srgbClr val="008000"/>
                </a:solidFill>
              </a:rPr>
              <a:t>2k</a:t>
            </a:r>
            <a:r>
              <a:rPr lang="en-US" altLang="zh-TW" sz="1800"/>
              <a:t> steps.</a:t>
            </a:r>
          </a:p>
        </p:txBody>
      </p:sp>
      <p:sp>
        <p:nvSpPr>
          <p:cNvPr id="1169412" name="Text Box 4"/>
          <p:cNvSpPr txBox="1">
            <a:spLocks noChangeArrowheads="1"/>
          </p:cNvSpPr>
          <p:nvPr/>
        </p:nvSpPr>
        <p:spPr bwMode="auto">
          <a:xfrm>
            <a:off x="2803526" y="2784476"/>
            <a:ext cx="2093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/>
              <a:t>Proof by example:</a:t>
            </a:r>
          </a:p>
        </p:txBody>
      </p:sp>
      <p:sp>
        <p:nvSpPr>
          <p:cNvPr id="1169413" name="Text Box 5"/>
          <p:cNvSpPr txBox="1">
            <a:spLocks noChangeArrowheads="1"/>
          </p:cNvSpPr>
          <p:nvPr/>
        </p:nvSpPr>
        <p:spPr bwMode="auto">
          <a:xfrm>
            <a:off x="3581401" y="3429000"/>
            <a:ext cx="1476375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/>
              <a:t>3 5 7 8 9 10</a:t>
            </a:r>
          </a:p>
        </p:txBody>
      </p:sp>
      <p:sp>
        <p:nvSpPr>
          <p:cNvPr id="1169414" name="Text Box 6"/>
          <p:cNvSpPr txBox="1">
            <a:spLocks noChangeArrowheads="1"/>
          </p:cNvSpPr>
          <p:nvPr/>
        </p:nvSpPr>
        <p:spPr bwMode="auto">
          <a:xfrm>
            <a:off x="6521450" y="3443289"/>
            <a:ext cx="1506538" cy="37623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/>
              <a:t>1 2 4 6 11 12</a:t>
            </a:r>
          </a:p>
        </p:txBody>
      </p:sp>
      <p:sp>
        <p:nvSpPr>
          <p:cNvPr id="1169415" name="Line 7"/>
          <p:cNvSpPr>
            <a:spLocks noChangeShapeType="1"/>
          </p:cNvSpPr>
          <p:nvPr/>
        </p:nvSpPr>
        <p:spPr bwMode="auto">
          <a:xfrm flipV="1">
            <a:off x="3733800" y="3886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9416" name="Line 8"/>
          <p:cNvSpPr>
            <a:spLocks noChangeShapeType="1"/>
          </p:cNvSpPr>
          <p:nvPr/>
        </p:nvSpPr>
        <p:spPr bwMode="auto">
          <a:xfrm flipV="1">
            <a:off x="6629400" y="3886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9417" name="Text Box 9"/>
          <p:cNvSpPr txBox="1">
            <a:spLocks noChangeArrowheads="1"/>
          </p:cNvSpPr>
          <p:nvPr/>
        </p:nvSpPr>
        <p:spPr bwMode="auto">
          <a:xfrm>
            <a:off x="2901951" y="4478339"/>
            <a:ext cx="6378669" cy="738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/>
              <a:t>To decide the smallest number in the two sequences,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sz="1800"/>
              <a:t>we just need to look at the “heads” of the two sequences.</a:t>
            </a:r>
          </a:p>
        </p:txBody>
      </p:sp>
      <p:sp>
        <p:nvSpPr>
          <p:cNvPr id="1169418" name="Text Box 10"/>
          <p:cNvSpPr txBox="1">
            <a:spLocks noChangeArrowheads="1"/>
          </p:cNvSpPr>
          <p:nvPr/>
        </p:nvSpPr>
        <p:spPr bwMode="auto">
          <a:xfrm>
            <a:off x="2438401" y="5638800"/>
            <a:ext cx="7307263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/>
              <a:t>So, in one step, we can extend the sorted sequence by one number.</a:t>
            </a:r>
          </a:p>
          <a:p>
            <a:pPr eaLnBrk="1" hangingPunct="1"/>
            <a:endParaRPr lang="en-US" altLang="zh-TW" sz="1800"/>
          </a:p>
          <a:p>
            <a:pPr eaLnBrk="1" hangingPunct="1"/>
            <a:r>
              <a:rPr lang="en-US" altLang="zh-TW" sz="1800"/>
              <a:t>So the total number of steps for </a:t>
            </a:r>
            <a:r>
              <a:rPr lang="en-US" altLang="zh-TW" sz="1800">
                <a:solidFill>
                  <a:srgbClr val="008000"/>
                </a:solidFill>
              </a:rPr>
              <a:t>2k</a:t>
            </a:r>
            <a:r>
              <a:rPr lang="en-US" altLang="zh-TW" sz="1800"/>
              <a:t> numbers is </a:t>
            </a:r>
            <a:r>
              <a:rPr lang="en-US" altLang="zh-TW" sz="1800">
                <a:solidFill>
                  <a:srgbClr val="008000"/>
                </a:solidFill>
              </a:rPr>
              <a:t>2k</a:t>
            </a:r>
            <a:r>
              <a:rPr lang="en-US" altLang="zh-TW" sz="18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9592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4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9412" grpId="0"/>
      <p:bldP spid="1169413" grpId="0" animBg="1"/>
      <p:bldP spid="1169414" grpId="0" animBg="1"/>
      <p:bldP spid="1169415" grpId="0" animBg="1"/>
      <p:bldP spid="1169416" grpId="0" animBg="1"/>
      <p:bldP spid="116941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ext Box 2"/>
          <p:cNvSpPr txBox="1">
            <a:spLocks noChangeArrowheads="1"/>
          </p:cNvSpPr>
          <p:nvPr/>
        </p:nvSpPr>
        <p:spPr bwMode="auto">
          <a:xfrm>
            <a:off x="5116514" y="457200"/>
            <a:ext cx="1893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b="1">
                <a:solidFill>
                  <a:srgbClr val="003366"/>
                </a:solidFill>
              </a:rPr>
              <a:t>Merge Sort</a:t>
            </a:r>
          </a:p>
        </p:txBody>
      </p:sp>
      <p:sp>
        <p:nvSpPr>
          <p:cNvPr id="41986" name="Text Box 3"/>
          <p:cNvSpPr txBox="1">
            <a:spLocks noChangeArrowheads="1"/>
          </p:cNvSpPr>
          <p:nvPr/>
        </p:nvSpPr>
        <p:spPr bwMode="auto">
          <a:xfrm>
            <a:off x="2286001" y="1143000"/>
            <a:ext cx="1476375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>
                <a:solidFill>
                  <a:srgbClr val="A50021"/>
                </a:solidFill>
              </a:rPr>
              <a:t>3</a:t>
            </a:r>
            <a:r>
              <a:rPr lang="en-US" altLang="zh-TW" sz="1800"/>
              <a:t> 5 7 8 9 10</a:t>
            </a:r>
          </a:p>
        </p:txBody>
      </p:sp>
      <p:sp>
        <p:nvSpPr>
          <p:cNvPr id="41987" name="Text Box 4"/>
          <p:cNvSpPr txBox="1">
            <a:spLocks noChangeArrowheads="1"/>
          </p:cNvSpPr>
          <p:nvPr/>
        </p:nvSpPr>
        <p:spPr bwMode="auto">
          <a:xfrm>
            <a:off x="4191000" y="1157289"/>
            <a:ext cx="1506538" cy="37623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>
                <a:solidFill>
                  <a:srgbClr val="A50021"/>
                </a:solidFill>
              </a:rPr>
              <a:t>1</a:t>
            </a:r>
            <a:r>
              <a:rPr lang="en-US" altLang="zh-TW" sz="1800"/>
              <a:t> 2 4 6 11 12</a:t>
            </a:r>
          </a:p>
        </p:txBody>
      </p:sp>
      <p:sp>
        <p:nvSpPr>
          <p:cNvPr id="41988" name="Text Box 5"/>
          <p:cNvSpPr txBox="1">
            <a:spLocks noChangeArrowheads="1"/>
          </p:cNvSpPr>
          <p:nvPr/>
        </p:nvSpPr>
        <p:spPr bwMode="auto">
          <a:xfrm>
            <a:off x="6477001" y="1147763"/>
            <a:ext cx="37004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/>
              <a:t>1                                                  </a:t>
            </a:r>
          </a:p>
        </p:txBody>
      </p:sp>
      <p:sp>
        <p:nvSpPr>
          <p:cNvPr id="41989" name="Line 6"/>
          <p:cNvSpPr>
            <a:spLocks noChangeShapeType="1"/>
          </p:cNvSpPr>
          <p:nvPr/>
        </p:nvSpPr>
        <p:spPr bwMode="auto">
          <a:xfrm>
            <a:off x="6096000" y="914400"/>
            <a:ext cx="0" cy="571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0439" name="Text Box 7"/>
          <p:cNvSpPr txBox="1">
            <a:spLocks noChangeArrowheads="1"/>
          </p:cNvSpPr>
          <p:nvPr/>
        </p:nvSpPr>
        <p:spPr bwMode="auto">
          <a:xfrm>
            <a:off x="2286001" y="1600200"/>
            <a:ext cx="1476375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>
                <a:solidFill>
                  <a:srgbClr val="A50021"/>
                </a:solidFill>
              </a:rPr>
              <a:t>3</a:t>
            </a:r>
            <a:r>
              <a:rPr lang="en-US" altLang="zh-TW" sz="1800"/>
              <a:t> 5 7 8 9 10</a:t>
            </a:r>
          </a:p>
        </p:txBody>
      </p:sp>
      <p:sp>
        <p:nvSpPr>
          <p:cNvPr id="1170440" name="Text Box 8"/>
          <p:cNvSpPr txBox="1">
            <a:spLocks noChangeArrowheads="1"/>
          </p:cNvSpPr>
          <p:nvPr/>
        </p:nvSpPr>
        <p:spPr bwMode="auto">
          <a:xfrm>
            <a:off x="4191000" y="1614489"/>
            <a:ext cx="1506538" cy="37623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/>
              <a:t>1 </a:t>
            </a:r>
            <a:r>
              <a:rPr lang="en-US" altLang="zh-TW" sz="1800">
                <a:solidFill>
                  <a:srgbClr val="A50021"/>
                </a:solidFill>
              </a:rPr>
              <a:t>2</a:t>
            </a:r>
            <a:r>
              <a:rPr lang="en-US" altLang="zh-TW" sz="1800"/>
              <a:t> 4 6 11 12</a:t>
            </a:r>
          </a:p>
        </p:txBody>
      </p:sp>
      <p:sp>
        <p:nvSpPr>
          <p:cNvPr id="1170441" name="Text Box 9"/>
          <p:cNvSpPr txBox="1">
            <a:spLocks noChangeArrowheads="1"/>
          </p:cNvSpPr>
          <p:nvPr/>
        </p:nvSpPr>
        <p:spPr bwMode="auto">
          <a:xfrm>
            <a:off x="2286001" y="2057400"/>
            <a:ext cx="1476375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>
                <a:solidFill>
                  <a:srgbClr val="A50021"/>
                </a:solidFill>
              </a:rPr>
              <a:t>3</a:t>
            </a:r>
            <a:r>
              <a:rPr lang="en-US" altLang="zh-TW" sz="1800"/>
              <a:t> 5 7 8 9 10</a:t>
            </a:r>
          </a:p>
        </p:txBody>
      </p:sp>
      <p:sp>
        <p:nvSpPr>
          <p:cNvPr id="1170442" name="Text Box 10"/>
          <p:cNvSpPr txBox="1">
            <a:spLocks noChangeArrowheads="1"/>
          </p:cNvSpPr>
          <p:nvPr/>
        </p:nvSpPr>
        <p:spPr bwMode="auto">
          <a:xfrm>
            <a:off x="4191000" y="2071689"/>
            <a:ext cx="1506538" cy="37623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>
                <a:solidFill>
                  <a:schemeClr val="tx2"/>
                </a:solidFill>
              </a:rPr>
              <a:t>1</a:t>
            </a:r>
            <a:r>
              <a:rPr lang="en-US" altLang="zh-TW" sz="1800"/>
              <a:t> 2 </a:t>
            </a:r>
            <a:r>
              <a:rPr lang="en-US" altLang="zh-TW" sz="1800">
                <a:solidFill>
                  <a:srgbClr val="A50021"/>
                </a:solidFill>
              </a:rPr>
              <a:t>4</a:t>
            </a:r>
            <a:r>
              <a:rPr lang="en-US" altLang="zh-TW" sz="1800"/>
              <a:t> 6 11 12</a:t>
            </a:r>
          </a:p>
        </p:txBody>
      </p:sp>
      <p:sp>
        <p:nvSpPr>
          <p:cNvPr id="1170443" name="Text Box 11"/>
          <p:cNvSpPr txBox="1">
            <a:spLocks noChangeArrowheads="1"/>
          </p:cNvSpPr>
          <p:nvPr/>
        </p:nvSpPr>
        <p:spPr bwMode="auto">
          <a:xfrm>
            <a:off x="2286001" y="2524125"/>
            <a:ext cx="1476375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>
                <a:solidFill>
                  <a:schemeClr val="tx2"/>
                </a:solidFill>
              </a:rPr>
              <a:t>3</a:t>
            </a:r>
            <a:r>
              <a:rPr lang="en-US" altLang="zh-TW" sz="1800"/>
              <a:t> </a:t>
            </a:r>
            <a:r>
              <a:rPr lang="en-US" altLang="zh-TW" sz="1800">
                <a:solidFill>
                  <a:srgbClr val="A50021"/>
                </a:solidFill>
              </a:rPr>
              <a:t>5</a:t>
            </a:r>
            <a:r>
              <a:rPr lang="en-US" altLang="zh-TW" sz="1800"/>
              <a:t> 7 8 9 10</a:t>
            </a:r>
          </a:p>
        </p:txBody>
      </p:sp>
      <p:sp>
        <p:nvSpPr>
          <p:cNvPr id="1170444" name="Text Box 12"/>
          <p:cNvSpPr txBox="1">
            <a:spLocks noChangeArrowheads="1"/>
          </p:cNvSpPr>
          <p:nvPr/>
        </p:nvSpPr>
        <p:spPr bwMode="auto">
          <a:xfrm>
            <a:off x="4191000" y="2538414"/>
            <a:ext cx="1506538" cy="37623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>
                <a:solidFill>
                  <a:schemeClr val="tx2"/>
                </a:solidFill>
              </a:rPr>
              <a:t>1</a:t>
            </a:r>
            <a:r>
              <a:rPr lang="en-US" altLang="zh-TW" sz="1800"/>
              <a:t> 2 </a:t>
            </a:r>
            <a:r>
              <a:rPr lang="en-US" altLang="zh-TW" sz="1800">
                <a:solidFill>
                  <a:srgbClr val="A50021"/>
                </a:solidFill>
              </a:rPr>
              <a:t>4</a:t>
            </a:r>
            <a:r>
              <a:rPr lang="en-US" altLang="zh-TW" sz="1800"/>
              <a:t> 6 11 12</a:t>
            </a:r>
          </a:p>
        </p:txBody>
      </p:sp>
      <p:sp>
        <p:nvSpPr>
          <p:cNvPr id="1170445" name="Text Box 13"/>
          <p:cNvSpPr txBox="1">
            <a:spLocks noChangeArrowheads="1"/>
          </p:cNvSpPr>
          <p:nvPr/>
        </p:nvSpPr>
        <p:spPr bwMode="auto">
          <a:xfrm>
            <a:off x="2286001" y="2971800"/>
            <a:ext cx="1476375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>
                <a:solidFill>
                  <a:schemeClr val="tx2"/>
                </a:solidFill>
              </a:rPr>
              <a:t>3</a:t>
            </a:r>
            <a:r>
              <a:rPr lang="en-US" altLang="zh-TW" sz="1800"/>
              <a:t> </a:t>
            </a:r>
            <a:r>
              <a:rPr lang="en-US" altLang="zh-TW" sz="1800">
                <a:solidFill>
                  <a:srgbClr val="A50021"/>
                </a:solidFill>
              </a:rPr>
              <a:t>5</a:t>
            </a:r>
            <a:r>
              <a:rPr lang="en-US" altLang="zh-TW" sz="1800"/>
              <a:t> 7 8 9 10</a:t>
            </a:r>
          </a:p>
        </p:txBody>
      </p:sp>
      <p:sp>
        <p:nvSpPr>
          <p:cNvPr id="1170446" name="Text Box 14"/>
          <p:cNvSpPr txBox="1">
            <a:spLocks noChangeArrowheads="1"/>
          </p:cNvSpPr>
          <p:nvPr/>
        </p:nvSpPr>
        <p:spPr bwMode="auto">
          <a:xfrm>
            <a:off x="4191000" y="2986089"/>
            <a:ext cx="1506538" cy="37623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>
                <a:solidFill>
                  <a:schemeClr val="tx2"/>
                </a:solidFill>
              </a:rPr>
              <a:t>1</a:t>
            </a:r>
            <a:r>
              <a:rPr lang="en-US" altLang="zh-TW" sz="1800"/>
              <a:t> 2 4 </a:t>
            </a:r>
            <a:r>
              <a:rPr lang="en-US" altLang="zh-TW" sz="1800">
                <a:solidFill>
                  <a:srgbClr val="A50021"/>
                </a:solidFill>
              </a:rPr>
              <a:t>6</a:t>
            </a:r>
            <a:r>
              <a:rPr lang="en-US" altLang="zh-TW" sz="1800"/>
              <a:t> 11 12</a:t>
            </a:r>
          </a:p>
        </p:txBody>
      </p:sp>
      <p:sp>
        <p:nvSpPr>
          <p:cNvPr id="1170447" name="Text Box 15"/>
          <p:cNvSpPr txBox="1">
            <a:spLocks noChangeArrowheads="1"/>
          </p:cNvSpPr>
          <p:nvPr/>
        </p:nvSpPr>
        <p:spPr bwMode="auto">
          <a:xfrm>
            <a:off x="2286001" y="3438525"/>
            <a:ext cx="1476375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>
                <a:solidFill>
                  <a:schemeClr val="tx2"/>
                </a:solidFill>
              </a:rPr>
              <a:t>3</a:t>
            </a:r>
            <a:r>
              <a:rPr lang="en-US" altLang="zh-TW" sz="1800"/>
              <a:t> 5 </a:t>
            </a:r>
            <a:r>
              <a:rPr lang="en-US" altLang="zh-TW" sz="1800">
                <a:solidFill>
                  <a:srgbClr val="A50021"/>
                </a:solidFill>
              </a:rPr>
              <a:t>7</a:t>
            </a:r>
            <a:r>
              <a:rPr lang="en-US" altLang="zh-TW" sz="1800"/>
              <a:t> 8 9 10</a:t>
            </a:r>
          </a:p>
        </p:txBody>
      </p:sp>
      <p:sp>
        <p:nvSpPr>
          <p:cNvPr id="1170448" name="Text Box 16"/>
          <p:cNvSpPr txBox="1">
            <a:spLocks noChangeArrowheads="1"/>
          </p:cNvSpPr>
          <p:nvPr/>
        </p:nvSpPr>
        <p:spPr bwMode="auto">
          <a:xfrm>
            <a:off x="4191000" y="3452814"/>
            <a:ext cx="1506538" cy="37623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>
                <a:solidFill>
                  <a:schemeClr val="tx2"/>
                </a:solidFill>
              </a:rPr>
              <a:t>1</a:t>
            </a:r>
            <a:r>
              <a:rPr lang="en-US" altLang="zh-TW" sz="1800"/>
              <a:t> 2 4 </a:t>
            </a:r>
            <a:r>
              <a:rPr lang="en-US" altLang="zh-TW" sz="1800">
                <a:solidFill>
                  <a:srgbClr val="A50021"/>
                </a:solidFill>
              </a:rPr>
              <a:t>6</a:t>
            </a:r>
            <a:r>
              <a:rPr lang="en-US" altLang="zh-TW" sz="1800"/>
              <a:t> 11 12</a:t>
            </a:r>
          </a:p>
        </p:txBody>
      </p:sp>
      <p:sp>
        <p:nvSpPr>
          <p:cNvPr id="1170449" name="Text Box 17"/>
          <p:cNvSpPr txBox="1">
            <a:spLocks noChangeArrowheads="1"/>
          </p:cNvSpPr>
          <p:nvPr/>
        </p:nvSpPr>
        <p:spPr bwMode="auto">
          <a:xfrm>
            <a:off x="2286001" y="3886200"/>
            <a:ext cx="1476375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>
                <a:solidFill>
                  <a:schemeClr val="tx2"/>
                </a:solidFill>
              </a:rPr>
              <a:t>3</a:t>
            </a:r>
            <a:r>
              <a:rPr lang="en-US" altLang="zh-TW" sz="1800"/>
              <a:t> 5 </a:t>
            </a:r>
            <a:r>
              <a:rPr lang="en-US" altLang="zh-TW" sz="1800">
                <a:solidFill>
                  <a:srgbClr val="A50021"/>
                </a:solidFill>
              </a:rPr>
              <a:t>7</a:t>
            </a:r>
            <a:r>
              <a:rPr lang="en-US" altLang="zh-TW" sz="1800"/>
              <a:t> 8 9 10</a:t>
            </a:r>
          </a:p>
        </p:txBody>
      </p:sp>
      <p:sp>
        <p:nvSpPr>
          <p:cNvPr id="1170450" name="Text Box 18"/>
          <p:cNvSpPr txBox="1">
            <a:spLocks noChangeArrowheads="1"/>
          </p:cNvSpPr>
          <p:nvPr/>
        </p:nvSpPr>
        <p:spPr bwMode="auto">
          <a:xfrm>
            <a:off x="4191000" y="3900489"/>
            <a:ext cx="1506538" cy="37623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>
                <a:solidFill>
                  <a:schemeClr val="tx2"/>
                </a:solidFill>
              </a:rPr>
              <a:t>1</a:t>
            </a:r>
            <a:r>
              <a:rPr lang="en-US" altLang="zh-TW" sz="1800"/>
              <a:t> 2 4 6 </a:t>
            </a:r>
            <a:r>
              <a:rPr lang="en-US" altLang="zh-TW" sz="1800">
                <a:solidFill>
                  <a:srgbClr val="A50021"/>
                </a:solidFill>
              </a:rPr>
              <a:t>11</a:t>
            </a:r>
            <a:r>
              <a:rPr lang="en-US" altLang="zh-TW" sz="1800"/>
              <a:t> 12</a:t>
            </a:r>
          </a:p>
        </p:txBody>
      </p:sp>
      <p:sp>
        <p:nvSpPr>
          <p:cNvPr id="1170451" name="Text Box 19"/>
          <p:cNvSpPr txBox="1">
            <a:spLocks noChangeArrowheads="1"/>
          </p:cNvSpPr>
          <p:nvPr/>
        </p:nvSpPr>
        <p:spPr bwMode="auto">
          <a:xfrm>
            <a:off x="2286001" y="4352925"/>
            <a:ext cx="1476375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>
                <a:solidFill>
                  <a:schemeClr val="tx2"/>
                </a:solidFill>
              </a:rPr>
              <a:t>3</a:t>
            </a:r>
            <a:r>
              <a:rPr lang="en-US" altLang="zh-TW" sz="1800"/>
              <a:t> 5 7 </a:t>
            </a:r>
            <a:r>
              <a:rPr lang="en-US" altLang="zh-TW" sz="1800">
                <a:solidFill>
                  <a:srgbClr val="A50021"/>
                </a:solidFill>
              </a:rPr>
              <a:t>8</a:t>
            </a:r>
            <a:r>
              <a:rPr lang="en-US" altLang="zh-TW" sz="1800"/>
              <a:t> 9 10</a:t>
            </a:r>
          </a:p>
        </p:txBody>
      </p:sp>
      <p:sp>
        <p:nvSpPr>
          <p:cNvPr id="1170452" name="Text Box 20"/>
          <p:cNvSpPr txBox="1">
            <a:spLocks noChangeArrowheads="1"/>
          </p:cNvSpPr>
          <p:nvPr/>
        </p:nvSpPr>
        <p:spPr bwMode="auto">
          <a:xfrm>
            <a:off x="4191000" y="4367214"/>
            <a:ext cx="1506538" cy="37623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>
                <a:solidFill>
                  <a:schemeClr val="tx2"/>
                </a:solidFill>
              </a:rPr>
              <a:t>1</a:t>
            </a:r>
            <a:r>
              <a:rPr lang="en-US" altLang="zh-TW" sz="1800"/>
              <a:t> 2 4 6 </a:t>
            </a:r>
            <a:r>
              <a:rPr lang="en-US" altLang="zh-TW" sz="1800">
                <a:solidFill>
                  <a:srgbClr val="A50021"/>
                </a:solidFill>
              </a:rPr>
              <a:t>11</a:t>
            </a:r>
            <a:r>
              <a:rPr lang="en-US" altLang="zh-TW" sz="1800"/>
              <a:t> 12</a:t>
            </a:r>
          </a:p>
        </p:txBody>
      </p:sp>
      <p:sp>
        <p:nvSpPr>
          <p:cNvPr id="1170453" name="Text Box 21"/>
          <p:cNvSpPr txBox="1">
            <a:spLocks noChangeArrowheads="1"/>
          </p:cNvSpPr>
          <p:nvPr/>
        </p:nvSpPr>
        <p:spPr bwMode="auto">
          <a:xfrm>
            <a:off x="2286001" y="4800600"/>
            <a:ext cx="1476375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>
                <a:solidFill>
                  <a:schemeClr val="tx2"/>
                </a:solidFill>
              </a:rPr>
              <a:t>3</a:t>
            </a:r>
            <a:r>
              <a:rPr lang="en-US" altLang="zh-TW" sz="1800"/>
              <a:t> 5 7 8 </a:t>
            </a:r>
            <a:r>
              <a:rPr lang="en-US" altLang="zh-TW" sz="1800">
                <a:solidFill>
                  <a:srgbClr val="A50021"/>
                </a:solidFill>
              </a:rPr>
              <a:t>9</a:t>
            </a:r>
            <a:r>
              <a:rPr lang="en-US" altLang="zh-TW" sz="1800"/>
              <a:t> 10</a:t>
            </a:r>
          </a:p>
        </p:txBody>
      </p:sp>
      <p:sp>
        <p:nvSpPr>
          <p:cNvPr id="1170454" name="Text Box 22"/>
          <p:cNvSpPr txBox="1">
            <a:spLocks noChangeArrowheads="1"/>
          </p:cNvSpPr>
          <p:nvPr/>
        </p:nvSpPr>
        <p:spPr bwMode="auto">
          <a:xfrm>
            <a:off x="4191000" y="4814889"/>
            <a:ext cx="1506538" cy="37623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>
                <a:solidFill>
                  <a:schemeClr val="tx2"/>
                </a:solidFill>
              </a:rPr>
              <a:t>1</a:t>
            </a:r>
            <a:r>
              <a:rPr lang="en-US" altLang="zh-TW" sz="1800"/>
              <a:t> 2 4 6 </a:t>
            </a:r>
            <a:r>
              <a:rPr lang="en-US" altLang="zh-TW" sz="1800">
                <a:solidFill>
                  <a:srgbClr val="A50021"/>
                </a:solidFill>
              </a:rPr>
              <a:t>11</a:t>
            </a:r>
            <a:r>
              <a:rPr lang="en-US" altLang="zh-TW" sz="1800"/>
              <a:t> 12</a:t>
            </a:r>
          </a:p>
        </p:txBody>
      </p:sp>
      <p:sp>
        <p:nvSpPr>
          <p:cNvPr id="1170455" name="Text Box 23"/>
          <p:cNvSpPr txBox="1">
            <a:spLocks noChangeArrowheads="1"/>
          </p:cNvSpPr>
          <p:nvPr/>
        </p:nvSpPr>
        <p:spPr bwMode="auto">
          <a:xfrm>
            <a:off x="2286001" y="5257800"/>
            <a:ext cx="1476375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>
                <a:solidFill>
                  <a:schemeClr val="tx2"/>
                </a:solidFill>
              </a:rPr>
              <a:t>3</a:t>
            </a:r>
            <a:r>
              <a:rPr lang="en-US" altLang="zh-TW" sz="1800"/>
              <a:t> 5 7 8 9 </a:t>
            </a:r>
            <a:r>
              <a:rPr lang="en-US" altLang="zh-TW" sz="1800">
                <a:solidFill>
                  <a:srgbClr val="A50021"/>
                </a:solidFill>
              </a:rPr>
              <a:t>10</a:t>
            </a:r>
          </a:p>
        </p:txBody>
      </p:sp>
      <p:sp>
        <p:nvSpPr>
          <p:cNvPr id="1170456" name="Text Box 24"/>
          <p:cNvSpPr txBox="1">
            <a:spLocks noChangeArrowheads="1"/>
          </p:cNvSpPr>
          <p:nvPr/>
        </p:nvSpPr>
        <p:spPr bwMode="auto">
          <a:xfrm>
            <a:off x="4191000" y="5272089"/>
            <a:ext cx="1506538" cy="37623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>
                <a:solidFill>
                  <a:schemeClr val="tx2"/>
                </a:solidFill>
              </a:rPr>
              <a:t>1</a:t>
            </a:r>
            <a:r>
              <a:rPr lang="en-US" altLang="zh-TW" sz="1800"/>
              <a:t> 2 4 6 </a:t>
            </a:r>
            <a:r>
              <a:rPr lang="en-US" altLang="zh-TW" sz="1800">
                <a:solidFill>
                  <a:srgbClr val="A50021"/>
                </a:solidFill>
              </a:rPr>
              <a:t>11</a:t>
            </a:r>
            <a:r>
              <a:rPr lang="en-US" altLang="zh-TW" sz="1800"/>
              <a:t> 12</a:t>
            </a:r>
          </a:p>
        </p:txBody>
      </p:sp>
      <p:sp>
        <p:nvSpPr>
          <p:cNvPr id="1170457" name="Text Box 25"/>
          <p:cNvSpPr txBox="1">
            <a:spLocks noChangeArrowheads="1"/>
          </p:cNvSpPr>
          <p:nvPr/>
        </p:nvSpPr>
        <p:spPr bwMode="auto">
          <a:xfrm>
            <a:off x="2286001" y="5715000"/>
            <a:ext cx="1476375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>
                <a:solidFill>
                  <a:schemeClr val="tx2"/>
                </a:solidFill>
              </a:rPr>
              <a:t>3</a:t>
            </a:r>
            <a:r>
              <a:rPr lang="en-US" altLang="zh-TW" sz="1800"/>
              <a:t> 5 7 8 9 10</a:t>
            </a:r>
          </a:p>
        </p:txBody>
      </p:sp>
      <p:sp>
        <p:nvSpPr>
          <p:cNvPr id="1170458" name="Text Box 26"/>
          <p:cNvSpPr txBox="1">
            <a:spLocks noChangeArrowheads="1"/>
          </p:cNvSpPr>
          <p:nvPr/>
        </p:nvSpPr>
        <p:spPr bwMode="auto">
          <a:xfrm>
            <a:off x="4191000" y="5729289"/>
            <a:ext cx="1506538" cy="37623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>
                <a:solidFill>
                  <a:schemeClr val="tx2"/>
                </a:solidFill>
              </a:rPr>
              <a:t>1</a:t>
            </a:r>
            <a:r>
              <a:rPr lang="en-US" altLang="zh-TW" sz="1800"/>
              <a:t> 2 4 6 </a:t>
            </a:r>
            <a:r>
              <a:rPr lang="en-US" altLang="zh-TW" sz="1800">
                <a:solidFill>
                  <a:srgbClr val="A50021"/>
                </a:solidFill>
              </a:rPr>
              <a:t>11</a:t>
            </a:r>
            <a:r>
              <a:rPr lang="en-US" altLang="zh-TW" sz="1800"/>
              <a:t> </a:t>
            </a:r>
            <a:r>
              <a:rPr lang="en-US" altLang="zh-TW" sz="1800">
                <a:solidFill>
                  <a:schemeClr val="tx2"/>
                </a:solidFill>
              </a:rPr>
              <a:t>12</a:t>
            </a:r>
          </a:p>
        </p:txBody>
      </p:sp>
      <p:sp>
        <p:nvSpPr>
          <p:cNvPr id="1170459" name="Text Box 27"/>
          <p:cNvSpPr txBox="1">
            <a:spLocks noChangeArrowheads="1"/>
          </p:cNvSpPr>
          <p:nvPr/>
        </p:nvSpPr>
        <p:spPr bwMode="auto">
          <a:xfrm>
            <a:off x="2286001" y="6172200"/>
            <a:ext cx="1476375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>
                <a:solidFill>
                  <a:schemeClr val="tx2"/>
                </a:solidFill>
              </a:rPr>
              <a:t>3</a:t>
            </a:r>
            <a:r>
              <a:rPr lang="en-US" altLang="zh-TW" sz="1800"/>
              <a:t> 5 7 8 9 10</a:t>
            </a:r>
          </a:p>
        </p:txBody>
      </p:sp>
      <p:sp>
        <p:nvSpPr>
          <p:cNvPr id="1170460" name="Text Box 28"/>
          <p:cNvSpPr txBox="1">
            <a:spLocks noChangeArrowheads="1"/>
          </p:cNvSpPr>
          <p:nvPr/>
        </p:nvSpPr>
        <p:spPr bwMode="auto">
          <a:xfrm>
            <a:off x="4191000" y="6186489"/>
            <a:ext cx="1506538" cy="37623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>
                <a:solidFill>
                  <a:schemeClr val="tx2"/>
                </a:solidFill>
              </a:rPr>
              <a:t>1</a:t>
            </a:r>
            <a:r>
              <a:rPr lang="en-US" altLang="zh-TW" sz="1800"/>
              <a:t> 2 4 6 11 </a:t>
            </a:r>
            <a:r>
              <a:rPr lang="en-US" altLang="zh-TW" sz="1800">
                <a:solidFill>
                  <a:srgbClr val="A50021"/>
                </a:solidFill>
              </a:rPr>
              <a:t>12</a:t>
            </a:r>
          </a:p>
        </p:txBody>
      </p:sp>
      <p:sp>
        <p:nvSpPr>
          <p:cNvPr id="1170461" name="Text Box 29"/>
          <p:cNvSpPr txBox="1">
            <a:spLocks noChangeArrowheads="1"/>
          </p:cNvSpPr>
          <p:nvPr/>
        </p:nvSpPr>
        <p:spPr bwMode="auto">
          <a:xfrm>
            <a:off x="6477000" y="1604963"/>
            <a:ext cx="3733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/>
              <a:t>1  2                                                </a:t>
            </a:r>
          </a:p>
        </p:txBody>
      </p:sp>
      <p:sp>
        <p:nvSpPr>
          <p:cNvPr id="1170462" name="Text Box 30"/>
          <p:cNvSpPr txBox="1">
            <a:spLocks noChangeArrowheads="1"/>
          </p:cNvSpPr>
          <p:nvPr/>
        </p:nvSpPr>
        <p:spPr bwMode="auto">
          <a:xfrm>
            <a:off x="6477000" y="2062163"/>
            <a:ext cx="41163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/>
              <a:t>1  2  3                                                </a:t>
            </a:r>
          </a:p>
        </p:txBody>
      </p:sp>
      <p:sp>
        <p:nvSpPr>
          <p:cNvPr id="1170463" name="Text Box 31"/>
          <p:cNvSpPr txBox="1">
            <a:spLocks noChangeArrowheads="1"/>
          </p:cNvSpPr>
          <p:nvPr/>
        </p:nvSpPr>
        <p:spPr bwMode="auto">
          <a:xfrm>
            <a:off x="6477000" y="2519363"/>
            <a:ext cx="1143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/>
              <a:t>1  2  3  4                                                </a:t>
            </a:r>
          </a:p>
        </p:txBody>
      </p:sp>
      <p:sp>
        <p:nvSpPr>
          <p:cNvPr id="1170464" name="Text Box 32"/>
          <p:cNvSpPr txBox="1">
            <a:spLocks noChangeArrowheads="1"/>
          </p:cNvSpPr>
          <p:nvPr/>
        </p:nvSpPr>
        <p:spPr bwMode="auto">
          <a:xfrm>
            <a:off x="6477000" y="3433763"/>
            <a:ext cx="2057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/>
              <a:t>1  2  3  4  5  6                                                </a:t>
            </a:r>
          </a:p>
        </p:txBody>
      </p:sp>
      <p:sp>
        <p:nvSpPr>
          <p:cNvPr id="1170465" name="Text Box 33"/>
          <p:cNvSpPr txBox="1">
            <a:spLocks noChangeArrowheads="1"/>
          </p:cNvSpPr>
          <p:nvPr/>
        </p:nvSpPr>
        <p:spPr bwMode="auto">
          <a:xfrm>
            <a:off x="6477000" y="3890963"/>
            <a:ext cx="2209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/>
              <a:t>1  2  3  4  5  6  7                                 </a:t>
            </a:r>
          </a:p>
        </p:txBody>
      </p:sp>
      <p:sp>
        <p:nvSpPr>
          <p:cNvPr id="1170466" name="Text Box 34"/>
          <p:cNvSpPr txBox="1">
            <a:spLocks noChangeArrowheads="1"/>
          </p:cNvSpPr>
          <p:nvPr/>
        </p:nvSpPr>
        <p:spPr bwMode="auto">
          <a:xfrm>
            <a:off x="6477000" y="4348163"/>
            <a:ext cx="24257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/>
              <a:t>1  2  3  4  5  6  7  8   </a:t>
            </a:r>
          </a:p>
        </p:txBody>
      </p:sp>
      <p:sp>
        <p:nvSpPr>
          <p:cNvPr id="1170467" name="Text Box 35"/>
          <p:cNvSpPr txBox="1">
            <a:spLocks noChangeArrowheads="1"/>
          </p:cNvSpPr>
          <p:nvPr/>
        </p:nvSpPr>
        <p:spPr bwMode="auto">
          <a:xfrm>
            <a:off x="6477000" y="4805363"/>
            <a:ext cx="27701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/>
              <a:t>1  2  3  4  5  6  7  8  9    </a:t>
            </a:r>
          </a:p>
        </p:txBody>
      </p:sp>
      <p:sp>
        <p:nvSpPr>
          <p:cNvPr id="1170468" name="Text Box 36"/>
          <p:cNvSpPr txBox="1">
            <a:spLocks noChangeArrowheads="1"/>
          </p:cNvSpPr>
          <p:nvPr/>
        </p:nvSpPr>
        <p:spPr bwMode="auto">
          <a:xfrm>
            <a:off x="6477000" y="2986088"/>
            <a:ext cx="1524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/>
              <a:t>1  2  3  4  5                                               </a:t>
            </a:r>
          </a:p>
        </p:txBody>
      </p:sp>
      <p:sp>
        <p:nvSpPr>
          <p:cNvPr id="1170469" name="Text Box 37"/>
          <p:cNvSpPr txBox="1">
            <a:spLocks noChangeArrowheads="1"/>
          </p:cNvSpPr>
          <p:nvPr/>
        </p:nvSpPr>
        <p:spPr bwMode="auto">
          <a:xfrm>
            <a:off x="6477001" y="5272088"/>
            <a:ext cx="3013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/>
              <a:t>1  2  3  4  5  6  7  8  9  10  </a:t>
            </a:r>
          </a:p>
        </p:txBody>
      </p:sp>
      <p:sp>
        <p:nvSpPr>
          <p:cNvPr id="1170470" name="Text Box 38"/>
          <p:cNvSpPr txBox="1">
            <a:spLocks noChangeArrowheads="1"/>
          </p:cNvSpPr>
          <p:nvPr/>
        </p:nvSpPr>
        <p:spPr bwMode="auto">
          <a:xfrm>
            <a:off x="6477001" y="5715001"/>
            <a:ext cx="32877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/>
              <a:t>1  2  3  4  5  6  7  8  9  10  11 </a:t>
            </a:r>
          </a:p>
        </p:txBody>
      </p:sp>
      <p:sp>
        <p:nvSpPr>
          <p:cNvPr id="1170471" name="Text Box 39"/>
          <p:cNvSpPr txBox="1">
            <a:spLocks noChangeArrowheads="1"/>
          </p:cNvSpPr>
          <p:nvPr/>
        </p:nvSpPr>
        <p:spPr bwMode="auto">
          <a:xfrm>
            <a:off x="6477001" y="6186488"/>
            <a:ext cx="36671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/>
              <a:t>1  2  3  4  5  6  7  8  9  10  11  12 </a:t>
            </a:r>
          </a:p>
        </p:txBody>
      </p:sp>
    </p:spTree>
    <p:extLst>
      <p:ext uri="{BB962C8B-B14F-4D97-AF65-F5344CB8AC3E}">
        <p14:creationId xmlns:p14="http://schemas.microsoft.com/office/powerpoint/2010/main" val="2296745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0439" grpId="0" animBg="1"/>
      <p:bldP spid="1170440" grpId="0" animBg="1"/>
      <p:bldP spid="1170441" grpId="0" animBg="1"/>
      <p:bldP spid="1170442" grpId="0" animBg="1"/>
      <p:bldP spid="1170443" grpId="0" animBg="1"/>
      <p:bldP spid="1170444" grpId="0" animBg="1"/>
      <p:bldP spid="1170445" grpId="0" animBg="1"/>
      <p:bldP spid="1170446" grpId="0" animBg="1"/>
      <p:bldP spid="1170447" grpId="0" animBg="1"/>
      <p:bldP spid="1170448" grpId="0" animBg="1"/>
      <p:bldP spid="1170449" grpId="0" animBg="1"/>
      <p:bldP spid="1170450" grpId="0" animBg="1"/>
      <p:bldP spid="1170451" grpId="0" animBg="1"/>
      <p:bldP spid="1170452" grpId="0" animBg="1"/>
      <p:bldP spid="1170453" grpId="0" animBg="1"/>
      <p:bldP spid="1170454" grpId="0" animBg="1"/>
      <p:bldP spid="1170455" grpId="0" animBg="1"/>
      <p:bldP spid="1170456" grpId="0" animBg="1"/>
      <p:bldP spid="1170457" grpId="0" animBg="1"/>
      <p:bldP spid="1170458" grpId="0" animBg="1"/>
      <p:bldP spid="1170459" grpId="0" animBg="1"/>
      <p:bldP spid="1170460" grpId="0" animBg="1"/>
      <p:bldP spid="1170461" grpId="0"/>
      <p:bldP spid="1170462" grpId="0"/>
      <p:bldP spid="1170463" grpId="0"/>
      <p:bldP spid="1170464" grpId="0"/>
      <p:bldP spid="1170465" grpId="0"/>
      <p:bldP spid="1170466" grpId="0"/>
      <p:bldP spid="1170467" grpId="0"/>
      <p:bldP spid="1170468" grpId="0"/>
      <p:bldP spid="1170469" grpId="0"/>
      <p:bldP spid="1170470" grpId="0"/>
      <p:bldP spid="117047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ext Box 2"/>
          <p:cNvSpPr txBox="1">
            <a:spLocks noChangeArrowheads="1"/>
          </p:cNvSpPr>
          <p:nvPr/>
        </p:nvSpPr>
        <p:spPr bwMode="auto">
          <a:xfrm>
            <a:off x="5116514" y="457200"/>
            <a:ext cx="1893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b="1">
                <a:solidFill>
                  <a:srgbClr val="003366"/>
                </a:solidFill>
              </a:rPr>
              <a:t>Merge Sort</a:t>
            </a:r>
          </a:p>
        </p:txBody>
      </p:sp>
      <p:sp>
        <p:nvSpPr>
          <p:cNvPr id="43010" name="Text Box 3"/>
          <p:cNvSpPr txBox="1">
            <a:spLocks noChangeArrowheads="1"/>
          </p:cNvSpPr>
          <p:nvPr/>
        </p:nvSpPr>
        <p:spPr bwMode="auto">
          <a:xfrm>
            <a:off x="2803525" y="1219201"/>
            <a:ext cx="6564618" cy="115435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/>
              <a:t>Claim.  Suppose we have two sorted sequence of </a:t>
            </a:r>
            <a:r>
              <a:rPr lang="en-US" altLang="zh-TW" sz="1800">
                <a:solidFill>
                  <a:srgbClr val="008000"/>
                </a:solidFill>
              </a:rPr>
              <a:t>k</a:t>
            </a:r>
            <a:r>
              <a:rPr lang="en-US" altLang="zh-TW" sz="1800"/>
              <a:t> numbers.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sz="1800"/>
              <a:t>	We can merge them into a sorted sequence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sz="1800"/>
              <a:t>	of </a:t>
            </a:r>
            <a:r>
              <a:rPr lang="en-US" altLang="zh-TW" sz="1800">
                <a:solidFill>
                  <a:srgbClr val="008000"/>
                </a:solidFill>
              </a:rPr>
              <a:t>2k</a:t>
            </a:r>
            <a:r>
              <a:rPr lang="en-US" altLang="zh-TW" sz="1800"/>
              <a:t> numbers in </a:t>
            </a:r>
            <a:r>
              <a:rPr lang="en-US" altLang="zh-TW" sz="1800">
                <a:solidFill>
                  <a:srgbClr val="008000"/>
                </a:solidFill>
              </a:rPr>
              <a:t>2k</a:t>
            </a:r>
            <a:r>
              <a:rPr lang="en-US" altLang="zh-TW" sz="1800"/>
              <a:t> steps.</a:t>
            </a:r>
          </a:p>
        </p:txBody>
      </p:sp>
      <p:sp>
        <p:nvSpPr>
          <p:cNvPr id="1171460" name="Text Box 4"/>
          <p:cNvSpPr txBox="1">
            <a:spLocks noChangeArrowheads="1"/>
          </p:cNvSpPr>
          <p:nvPr/>
        </p:nvSpPr>
        <p:spPr bwMode="auto">
          <a:xfrm>
            <a:off x="2879725" y="2860675"/>
            <a:ext cx="5683250" cy="311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/>
              <a:t>Suppose we can sort k numbers in T</a:t>
            </a:r>
            <a:r>
              <a:rPr lang="en-US" altLang="zh-TW" sz="1800" baseline="-25000"/>
              <a:t>k</a:t>
            </a:r>
            <a:r>
              <a:rPr lang="en-US" altLang="zh-TW" sz="1800"/>
              <a:t> steps.</a:t>
            </a:r>
          </a:p>
          <a:p>
            <a:pPr eaLnBrk="1" hangingPunct="1"/>
            <a:endParaRPr lang="en-US" altLang="zh-TW" sz="1800"/>
          </a:p>
          <a:p>
            <a:pPr eaLnBrk="1" hangingPunct="1"/>
            <a:r>
              <a:rPr lang="en-US" altLang="zh-TW" sz="1800"/>
              <a:t>Then we can sort 2k numbers in 2T</a:t>
            </a:r>
            <a:r>
              <a:rPr lang="en-US" altLang="zh-TW" sz="1800" baseline="-25000"/>
              <a:t>k</a:t>
            </a:r>
            <a:r>
              <a:rPr lang="en-US" altLang="zh-TW" sz="1800"/>
              <a:t> + 2k steps.</a:t>
            </a:r>
          </a:p>
          <a:p>
            <a:pPr eaLnBrk="1" hangingPunct="1"/>
            <a:endParaRPr lang="en-US" altLang="zh-TW" sz="1800"/>
          </a:p>
          <a:p>
            <a:pPr eaLnBrk="1" hangingPunct="1"/>
            <a:r>
              <a:rPr lang="en-US" altLang="zh-TW" sz="1800"/>
              <a:t>Therefore, T</a:t>
            </a:r>
            <a:r>
              <a:rPr lang="en-US" altLang="zh-TW" sz="1800" baseline="-25000"/>
              <a:t>2k</a:t>
            </a:r>
            <a:r>
              <a:rPr lang="en-US" altLang="zh-TW" sz="1800"/>
              <a:t> = 2T</a:t>
            </a:r>
            <a:r>
              <a:rPr lang="en-US" altLang="zh-TW" sz="1800" baseline="-25000"/>
              <a:t>k</a:t>
            </a:r>
            <a:r>
              <a:rPr lang="en-US" altLang="zh-TW" sz="1800"/>
              <a:t> + 2k.</a:t>
            </a:r>
          </a:p>
          <a:p>
            <a:pPr eaLnBrk="1" hangingPunct="1"/>
            <a:endParaRPr lang="en-US" altLang="zh-TW" sz="1800"/>
          </a:p>
          <a:p>
            <a:pPr eaLnBrk="1" hangingPunct="1"/>
            <a:r>
              <a:rPr lang="en-US" altLang="zh-TW" sz="1800"/>
              <a:t>If we solve this recurrence (which we will do later),</a:t>
            </a:r>
          </a:p>
          <a:p>
            <a:pPr eaLnBrk="1" hangingPunct="1"/>
            <a:endParaRPr lang="en-US" altLang="zh-TW" sz="1800"/>
          </a:p>
          <a:p>
            <a:pPr eaLnBrk="1" hangingPunct="1"/>
            <a:r>
              <a:rPr lang="en-US" altLang="zh-TW" sz="1800"/>
              <a:t>then we see that T</a:t>
            </a:r>
            <a:r>
              <a:rPr lang="en-US" altLang="zh-TW" sz="1800" baseline="-25000"/>
              <a:t>2n</a:t>
            </a:r>
            <a:r>
              <a:rPr lang="en-US" altLang="zh-TW" sz="1800"/>
              <a:t> ≈ n log</a:t>
            </a:r>
            <a:r>
              <a:rPr lang="en-US" altLang="zh-TW" sz="1800" baseline="-25000"/>
              <a:t>2</a:t>
            </a:r>
            <a:r>
              <a:rPr lang="en-US" altLang="zh-TW" sz="1800"/>
              <a:t> n.</a:t>
            </a:r>
          </a:p>
          <a:p>
            <a:pPr eaLnBrk="1" hangingPunct="1"/>
            <a:endParaRPr lang="en-US" altLang="zh-TW" sz="1800"/>
          </a:p>
          <a:p>
            <a:pPr eaLnBrk="1" hangingPunct="1"/>
            <a:r>
              <a:rPr lang="en-US" altLang="zh-TW" sz="1800"/>
              <a:t>This is significantly faster than bubble sort!</a:t>
            </a:r>
          </a:p>
        </p:txBody>
      </p:sp>
    </p:spTree>
    <p:extLst>
      <p:ext uri="{BB962C8B-B14F-4D97-AF65-F5344CB8AC3E}">
        <p14:creationId xmlns:p14="http://schemas.microsoft.com/office/powerpoint/2010/main" val="2037389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4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4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4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4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ext Box 2"/>
          <p:cNvSpPr txBox="1">
            <a:spLocks noChangeArrowheads="1"/>
          </p:cNvSpPr>
          <p:nvPr/>
        </p:nvSpPr>
        <p:spPr bwMode="auto">
          <a:xfrm>
            <a:off x="5438776" y="457200"/>
            <a:ext cx="1266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b="1">
                <a:solidFill>
                  <a:srgbClr val="003366"/>
                </a:solidFill>
              </a:rPr>
              <a:t>Remark</a:t>
            </a:r>
          </a:p>
        </p:txBody>
      </p:sp>
      <p:sp>
        <p:nvSpPr>
          <p:cNvPr id="44034" name="Text Box 5"/>
          <p:cNvSpPr txBox="1">
            <a:spLocks noChangeArrowheads="1"/>
          </p:cNvSpPr>
          <p:nvPr/>
        </p:nvSpPr>
        <p:spPr bwMode="auto">
          <a:xfrm>
            <a:off x="2362200" y="1524000"/>
            <a:ext cx="744855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zh-TW" sz="1800"/>
              <a:t>This is one example of a “divide and conquer” algorithm.</a:t>
            </a:r>
          </a:p>
          <a:p>
            <a:pPr eaLnBrk="1" hangingPunct="1"/>
            <a:endParaRPr lang="en-US" altLang="zh-TW" sz="1800"/>
          </a:p>
          <a:p>
            <a:pPr eaLnBrk="1" hangingPunct="1"/>
            <a:r>
              <a:rPr lang="en-US" altLang="zh-TW" sz="1800"/>
              <a:t>This idea is very powerful.</a:t>
            </a:r>
          </a:p>
          <a:p>
            <a:pPr eaLnBrk="1" hangingPunct="1"/>
            <a:endParaRPr lang="en-US" altLang="zh-TW" sz="1800"/>
          </a:p>
          <a:p>
            <a:pPr eaLnBrk="1" hangingPunct="1"/>
            <a:r>
              <a:rPr lang="en-US" altLang="zh-TW" sz="1800"/>
              <a:t>It can be used to design faster algorithms for some basic problems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sz="1800"/>
              <a:t>such as integer multiplications, matrix multiplications, etc.</a:t>
            </a:r>
          </a:p>
          <a:p>
            <a:pPr eaLnBrk="1" hangingPunct="1">
              <a:lnSpc>
                <a:spcPct val="150000"/>
              </a:lnSpc>
            </a:pPr>
            <a:endParaRPr lang="en-US" altLang="zh-TW" sz="1800"/>
          </a:p>
        </p:txBody>
      </p:sp>
    </p:spTree>
    <p:extLst>
      <p:ext uri="{BB962C8B-B14F-4D97-AF65-F5344CB8AC3E}">
        <p14:creationId xmlns:p14="http://schemas.microsoft.com/office/powerpoint/2010/main" val="16195461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input{c:/latex-macros/texpoint.sty}&#10;&#10;\begin{document}&#10;%\begin{center}&#10;\unitlength=0.6pt&#10;\begin{picture}(600,190)(0,-30)&#10;% \put(0,-30){\dashbox(600,190){}} % bounding box&#10;&#10;\put(99,0){\dashbox(2,140){}}&#10;\put(99,140){\framebox(2,20){}}&#10;\put(30,0){\framebox(140,20){}}&#10;\put(40,20){\framebox(120,20){}}&#10;\put(50,40){\framebox(100,20){}}&#10;\put(60,60){\framebox(80,20){}}&#10;\put(70,80){\framebox(60,20){}}&#10;\put(80,100){\framebox(40,20){}}&#10;\put(90,120){\framebox(20,20){}}&#10;\put(299,0){\framebox(2,160){}}&#10;\put(499,0){\framebox(2,160){}}&#10;\put(0,-5){\framebox(600,5){}}&#10;\put(100,-20){\makebox(0,0){Post \#1}}&#10;\put(300,-20){\makebox(0,0){Post \#2}}&#10;\put(500,-20){\makebox(0,0){Post \#3}}&#10;\end{picture}&#10;&#10;\end{document}"/>
  <p:tag name="FILENAME" val="TP_tmp"/>
  <p:tag name="FORMAT" val="emf"/>
  <p:tag name="RES" val="1200"/>
  <p:tag name="BLEND" val="0"/>
  <p:tag name="TRANSPARENT" val="0"/>
  <p:tag name="TBUG" val="0"/>
  <p:tag name="ALLOWFS" val="1"/>
  <p:tag name="MAGNIFICATION" val="2002"/>
  <p:tag name="ORIGWIDTH" val="362"/>
  <p:tag name="PICTUREFILESIZE" val="3888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9595</TotalTime>
  <Words>3042</Words>
  <Application>Microsoft Macintosh PowerPoint</Application>
  <PresentationFormat>Widescreen</PresentationFormat>
  <Paragraphs>395</Paragraphs>
  <Slides>40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2" baseType="lpstr">
      <vt:lpstr>CMMI10</vt:lpstr>
      <vt:lpstr>CMR10</vt:lpstr>
      <vt:lpstr>Times</vt:lpstr>
      <vt:lpstr>Arial</vt:lpstr>
      <vt:lpstr>Calibri</vt:lpstr>
      <vt:lpstr>Century Gothic</vt:lpstr>
      <vt:lpstr>Comic Sans MS</vt:lpstr>
      <vt:lpstr>Symbol</vt:lpstr>
      <vt:lpstr>Tahoma</vt:lpstr>
      <vt:lpstr>Wingdings</vt:lpstr>
      <vt:lpstr>Office Theme</vt:lpstr>
      <vt:lpstr>Equation</vt:lpstr>
      <vt:lpstr>CS-205 Data Structure and Algorithms  6. Recursion</vt:lpstr>
      <vt:lpstr>The Recursion Pattern</vt:lpstr>
      <vt:lpstr>Content of a Recursive Method</vt:lpstr>
      <vt:lpstr>Binary Search</vt:lpstr>
      <vt:lpstr>Visualizing Binary Search</vt:lpstr>
      <vt:lpstr>Analyzing Binary Search</vt:lpstr>
      <vt:lpstr>Recursion</vt:lpstr>
      <vt:lpstr>recursiveFactorial(int 5)</vt:lpstr>
      <vt:lpstr>Linear Recursion</vt:lpstr>
      <vt:lpstr>Linear recursion</vt:lpstr>
      <vt:lpstr>Example of Linear Recursion</vt:lpstr>
      <vt:lpstr>Linear recursion</vt:lpstr>
      <vt:lpstr>Reversing an Array</vt:lpstr>
      <vt:lpstr>Defining Arguments for Recursion</vt:lpstr>
      <vt:lpstr>Computing Powers</vt:lpstr>
      <vt:lpstr>Recursive Squaring</vt:lpstr>
      <vt:lpstr>Recursive Squaring Method</vt:lpstr>
      <vt:lpstr>Analysis</vt:lpstr>
      <vt:lpstr>Tail recursion</vt:lpstr>
      <vt:lpstr>Puzzle of Rabbits Population</vt:lpstr>
      <vt:lpstr>PowerPoint Presentation</vt:lpstr>
      <vt:lpstr>Binary recursion</vt:lpstr>
      <vt:lpstr>Analysis</vt:lpstr>
      <vt:lpstr>A Better Fibonacci Algorithm </vt:lpstr>
      <vt:lpstr>Climb steps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Exercises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CS-305 Data Structure and Algorithms  1. Java Primer</dc:title>
  <dc:creator>Wang, Jiacun</dc:creator>
  <cp:lastModifiedBy>Qu, Weihao</cp:lastModifiedBy>
  <cp:revision>119</cp:revision>
  <cp:lastPrinted>2012-07-07T18:59:06Z</cp:lastPrinted>
  <dcterms:created xsi:type="dcterms:W3CDTF">2006-08-16T00:00:00Z</dcterms:created>
  <dcterms:modified xsi:type="dcterms:W3CDTF">2025-01-18T19:20:22Z</dcterms:modified>
</cp:coreProperties>
</file>