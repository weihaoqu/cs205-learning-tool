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80" r:id="rId2"/>
    <p:sldId id="257" r:id="rId3"/>
    <p:sldId id="292" r:id="rId4"/>
    <p:sldId id="293" r:id="rId5"/>
    <p:sldId id="294" r:id="rId6"/>
    <p:sldId id="258" r:id="rId7"/>
    <p:sldId id="295" r:id="rId8"/>
    <p:sldId id="296" r:id="rId9"/>
    <p:sldId id="259" r:id="rId10"/>
    <p:sldId id="297" r:id="rId11"/>
    <p:sldId id="266" r:id="rId12"/>
    <p:sldId id="267" r:id="rId13"/>
    <p:sldId id="260" r:id="rId14"/>
    <p:sldId id="298" r:id="rId15"/>
    <p:sldId id="299" r:id="rId16"/>
    <p:sldId id="261" r:id="rId17"/>
    <p:sldId id="282" r:id="rId18"/>
    <p:sldId id="262" r:id="rId19"/>
    <p:sldId id="264" r:id="rId20"/>
    <p:sldId id="265" r:id="rId21"/>
    <p:sldId id="268" r:id="rId22"/>
    <p:sldId id="269" r:id="rId23"/>
    <p:sldId id="270" r:id="rId24"/>
    <p:sldId id="272" r:id="rId25"/>
    <p:sldId id="273" r:id="rId26"/>
    <p:sldId id="274" r:id="rId27"/>
    <p:sldId id="275" r:id="rId28"/>
    <p:sldId id="277" r:id="rId29"/>
    <p:sldId id="279" r:id="rId30"/>
    <p:sldId id="283" r:id="rId31"/>
    <p:sldId id="284" r:id="rId32"/>
    <p:sldId id="285" r:id="rId33"/>
    <p:sldId id="286" r:id="rId34"/>
    <p:sldId id="287" r:id="rId35"/>
    <p:sldId id="300" r:id="rId36"/>
    <p:sldId id="271" r:id="rId37"/>
    <p:sldId id="301" r:id="rId38"/>
    <p:sldId id="276" r:id="rId39"/>
    <p:sldId id="302" r:id="rId40"/>
    <p:sldId id="303" r:id="rId41"/>
    <p:sldId id="278" r:id="rId42"/>
    <p:sldId id="304" r:id="rId43"/>
    <p:sldId id="305" r:id="rId44"/>
    <p:sldId id="306" r:id="rId45"/>
    <p:sldId id="307" r:id="rId46"/>
    <p:sldId id="308" r:id="rId47"/>
    <p:sldId id="281" r:id="rId48"/>
    <p:sldId id="288" r:id="rId49"/>
    <p:sldId id="289" r:id="rId50"/>
    <p:sldId id="290" r:id="rId51"/>
    <p:sldId id="291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047"/>
    <p:restoredTop sz="94638"/>
  </p:normalViewPr>
  <p:slideViewPr>
    <p:cSldViewPr>
      <p:cViewPr>
        <p:scale>
          <a:sx n="110" d="100"/>
          <a:sy n="110" d="100"/>
        </p:scale>
        <p:origin x="1816" y="5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34833-5180-C44C-B137-073B69A4EA5B}" type="datetimeFigureOut">
              <a:rPr lang="en-US" smtClean="0"/>
              <a:t>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9A7CA-C612-214D-8D51-D4B9CF5B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7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5134516-A4FF-E840-951C-010A2BB09342}" type="slidenum">
              <a:rPr lang="en-US" sz="1300"/>
              <a:pPr eaLnBrk="1" hangingPunct="1"/>
              <a:t>7</a:t>
            </a:fld>
            <a:endParaRPr 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9A7CA-C612-214D-8D51-D4B9CF5B958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1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ED4CFC6-59AA-A34E-AB31-8BF0790D2E61}" type="slidenum">
              <a:rPr lang="en-US" sz="1300"/>
              <a:pPr eaLnBrk="1" hangingPunct="1"/>
              <a:t>38</a:t>
            </a:fld>
            <a:endParaRPr lang="en-US" sz="130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924D2A4-1858-0942-ABB8-66A018322166}" type="slidenum">
              <a:rPr lang="en-US" sz="1300"/>
              <a:pPr eaLnBrk="1" hangingPunct="1"/>
              <a:t>46</a:t>
            </a:fld>
            <a:endParaRPr lang="en-US" sz="130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6515" tIns="48257" rIns="96515" bIns="48257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8688C-2390-0D49-9F8E-3DC9737E0E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1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Chart.xls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Microsoft_Excel_Chart1.xls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990601"/>
            <a:ext cx="9296400" cy="2609850"/>
          </a:xfrm>
        </p:spPr>
        <p:txBody>
          <a:bodyPr>
            <a:normAutofit/>
          </a:bodyPr>
          <a:lstStyle/>
          <a:p>
            <a:r>
              <a:rPr lang="en-US" dirty="0"/>
              <a:t>CS-205 Data Structure and Algorithms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5. Analysis of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648200"/>
            <a:ext cx="8534400" cy="1752600"/>
          </a:xfrm>
        </p:spPr>
        <p:txBody>
          <a:bodyPr/>
          <a:lstStyle/>
          <a:p>
            <a:r>
              <a:rPr lang="en-US" dirty="0" err="1"/>
              <a:t>Weihao</a:t>
            </a:r>
            <a:r>
              <a:rPr lang="en-US" dirty="0"/>
              <a:t> Qu</a:t>
            </a:r>
          </a:p>
          <a:p>
            <a:r>
              <a:rPr lang="en-US" dirty="0"/>
              <a:t>Monmouth University</a:t>
            </a:r>
          </a:p>
        </p:txBody>
      </p:sp>
    </p:spTree>
    <p:extLst>
      <p:ext uri="{BB962C8B-B14F-4D97-AF65-F5344CB8AC3E}">
        <p14:creationId xmlns:p14="http://schemas.microsoft.com/office/powerpoint/2010/main" val="175649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study of relationship between the running time of an algorithm with respect to the size of the input.</a:t>
            </a:r>
          </a:p>
          <a:p>
            <a:r>
              <a:rPr lang="en-US" sz="2400" dirty="0"/>
              <a:t>Characterize the algorithm’s running time as a function of the input size.</a:t>
            </a:r>
          </a:p>
          <a:p>
            <a:r>
              <a:rPr lang="en-US" sz="2400" dirty="0"/>
              <a:t>Can measure the running time of the algorithm, if the algorithm has been implemented.</a:t>
            </a:r>
          </a:p>
          <a:p>
            <a:r>
              <a:rPr lang="en-US" sz="2400" dirty="0"/>
              <a:t>There are system calls that are built into the programming languages or operating systems.</a:t>
            </a:r>
          </a:p>
          <a:p>
            <a:pPr marL="0" indent="0">
              <a:buNone/>
            </a:pPr>
            <a:r>
              <a:rPr lang="en-US" sz="2400" dirty="0"/>
              <a:t>	System. currentTimeMillis().</a:t>
            </a:r>
          </a:p>
          <a:p>
            <a:r>
              <a:rPr lang="en-US" sz="2400" dirty="0"/>
              <a:t>Run many experiments with varying input size.</a:t>
            </a:r>
          </a:p>
          <a:p>
            <a:r>
              <a:rPr lang="en-US" sz="2400" dirty="0"/>
              <a:t>Perform a statistical analysis that seeks to fit the best function.</a:t>
            </a:r>
          </a:p>
        </p:txBody>
      </p:sp>
    </p:spTree>
    <p:extLst>
      <p:ext uri="{BB962C8B-B14F-4D97-AF65-F5344CB8AC3E}">
        <p14:creationId xmlns:p14="http://schemas.microsoft.com/office/powerpoint/2010/main" val="185234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12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967690A-97FD-FC44-9997-A670E4E08793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Running Time</a:t>
            </a:r>
          </a:p>
        </p:txBody>
      </p:sp>
      <p:sp>
        <p:nvSpPr>
          <p:cNvPr id="112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676400"/>
            <a:ext cx="441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Most algorithms transform input objects into output objects.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The running time of an algorithm typically grows with the input size.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Average case time is often difficult to determine.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We focus on the worst case running time.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Easier to analyze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Crucial to applications such as games, finance and robotics</a:t>
            </a:r>
          </a:p>
        </p:txBody>
      </p:sp>
      <p:graphicFrame>
        <p:nvGraphicFramePr>
          <p:cNvPr id="11269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6248400" y="1676401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3733800" imgH="3733800" progId="MSGraph.Chart.8">
                  <p:embed followColorScheme="full"/>
                </p:oleObj>
              </mc:Choice>
              <mc:Fallback>
                <p:oleObj name="Chart" r:id="rId2" imgW="3733800" imgH="3733800" progId="MSGraph.Chart.8">
                  <p:embed followColorScheme="full"/>
                  <p:pic>
                    <p:nvPicPr>
                      <p:cNvPr id="112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676401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22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3688B5A-A147-A646-AF09-9A7E7C2586AE}" type="slidenum">
              <a:rPr lang="en-US" sz="1400"/>
              <a:pPr eaLnBrk="1" hangingPunct="1"/>
              <a:t>4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ahoma" charset="0"/>
              </a:rPr>
              <a:t>Experimental </a:t>
            </a:r>
            <a:br>
              <a:rPr lang="en-US" dirty="0">
                <a:latin typeface="Tahoma" charset="0"/>
              </a:rPr>
            </a:br>
            <a:r>
              <a:rPr lang="en-US" dirty="0">
                <a:latin typeface="Tahoma" charset="0"/>
              </a:rPr>
              <a:t>Studies</a:t>
            </a:r>
          </a:p>
        </p:txBody>
      </p:sp>
      <p:sp>
        <p:nvSpPr>
          <p:cNvPr id="122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600200"/>
            <a:ext cx="3581400" cy="357394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Write a program implementing the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Run the program with inputs of varying size and composition, noting the time needed: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Plot the results</a:t>
            </a:r>
          </a:p>
        </p:txBody>
      </p:sp>
      <p:sp>
        <p:nvSpPr>
          <p:cNvPr id="1229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98" y="5105400"/>
            <a:ext cx="8920003" cy="1295400"/>
          </a:xfrm>
          <a:prstGeom prst="rect">
            <a:avLst/>
          </a:prstGeom>
        </p:spPr>
      </p:pic>
      <p:graphicFrame>
        <p:nvGraphicFramePr>
          <p:cNvPr id="12293" name="Object 4"/>
          <p:cNvGraphicFramePr>
            <a:graphicFrameLocks noGrp="1" noChangeAspect="1"/>
          </p:cNvGraphicFramePr>
          <p:nvPr>
            <p:ph type="chart" sz="half" idx="2"/>
            <p:extLst>
              <p:ext uri="{D42A27DB-BD31-4B8C-83A1-F6EECF244321}">
                <p14:modId xmlns:p14="http://schemas.microsoft.com/office/powerpoint/2010/main" val="996598536"/>
              </p:ext>
            </p:extLst>
          </p:nvPr>
        </p:nvGraphicFramePr>
        <p:xfrm>
          <a:off x="6574078" y="712285"/>
          <a:ext cx="4824413" cy="506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191000" imgH="4127500" progId="MSGraph.Chart.8">
                  <p:embed followColorScheme="full"/>
                </p:oleObj>
              </mc:Choice>
              <mc:Fallback>
                <p:oleObj name="Chart" r:id="rId3" imgW="4191000" imgH="4127500" progId="MSGraph.Chart.8">
                  <p:embed followColorScheme="full"/>
                  <p:pic>
                    <p:nvPicPr>
                      <p:cNvPr id="122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4078" y="712285"/>
                        <a:ext cx="4824413" cy="5063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49B7914-5DCF-2D47-BA11-0C89E3B3A4FB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Limitations of Experiments</a:t>
            </a:r>
          </a:p>
        </p:txBody>
      </p:sp>
      <p:sp>
        <p:nvSpPr>
          <p:cNvPr id="1331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9050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It is necessary to implement the algorithm, which may be difficult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Results may not be indicative of the running time on other inputs not included in the experiment. 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In order to compare two algorithms, the same hardware and software environments must be used</a:t>
            </a:r>
          </a:p>
        </p:txBody>
      </p:sp>
      <p:sp>
        <p:nvSpPr>
          <p:cNvPr id="13317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pic>
        <p:nvPicPr>
          <p:cNvPr id="13318" name="Picture 3" descr="skd188257sd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7" y="5006975"/>
            <a:ext cx="1916113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Without running many experiments, we can analyze algorithms at a high level.</a:t>
            </a:r>
          </a:p>
          <a:p>
            <a:r>
              <a:rPr lang="en-US" sz="2400" dirty="0"/>
              <a:t>Take into account all possible inputs.</a:t>
            </a:r>
          </a:p>
          <a:p>
            <a:r>
              <a:rPr lang="en-US" sz="2400" dirty="0"/>
              <a:t>Compare the relative efficiency of any two algorithms.</a:t>
            </a:r>
          </a:p>
          <a:p>
            <a:r>
              <a:rPr lang="en-US" sz="2400" dirty="0"/>
              <a:t>Perform analysis on high-level pseudo code, and not on particular implementations.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062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84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26E93DD-1F55-5649-850E-A44994A583C8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Seven Important Functions</a:t>
            </a:r>
          </a:p>
        </p:txBody>
      </p:sp>
      <p:sp>
        <p:nvSpPr>
          <p:cNvPr id="51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524000"/>
            <a:ext cx="36576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400" dirty="0"/>
              <a:t>Seven functions that often appear in algorithm analysis: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/>
              <a:t>Constant </a:t>
            </a:r>
            <a:r>
              <a:rPr lang="en-US" sz="2000" dirty="0">
                <a:sym typeface="Symbol" pitchFamily="18" charset="2"/>
              </a:rPr>
              <a:t>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1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/>
              <a:t>Logarithmic </a:t>
            </a:r>
            <a:r>
              <a:rPr lang="en-US" sz="2000" dirty="0">
                <a:sym typeface="Symbol" pitchFamily="18" charset="2"/>
              </a:rPr>
              <a:t> log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n</a:t>
            </a:r>
            <a:endParaRPr lang="en-US" sz="2000" dirty="0"/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/>
              <a:t>Linear </a:t>
            </a:r>
            <a:r>
              <a:rPr lang="en-US" sz="2000" dirty="0">
                <a:sym typeface="Symbol" pitchFamily="18" charset="2"/>
              </a:rPr>
              <a:t>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/>
              <a:t>N-Log-N </a:t>
            </a:r>
            <a:r>
              <a:rPr lang="en-US" sz="2000" dirty="0">
                <a:sym typeface="Symbol" pitchFamily="18" charset="2"/>
              </a:rPr>
              <a:t>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n </a:t>
            </a:r>
            <a:r>
              <a:rPr lang="en-US" sz="2000" dirty="0">
                <a:sym typeface="Symbol" pitchFamily="18" charset="2"/>
              </a:rPr>
              <a:t>log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/>
              <a:t>Quadratic </a:t>
            </a:r>
            <a:r>
              <a:rPr lang="en-US" sz="2000" dirty="0">
                <a:sym typeface="Symbol" pitchFamily="18" charset="2"/>
              </a:rPr>
              <a:t>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000" baseline="30000" dirty="0">
                <a:latin typeface="Times New Roman" pitchFamily="18" charset="0"/>
                <a:sym typeface="Symbol" pitchFamily="18" charset="2"/>
              </a:rPr>
              <a:t>2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/>
              <a:t>Cubic </a:t>
            </a:r>
            <a:r>
              <a:rPr lang="en-US" sz="2000" dirty="0">
                <a:sym typeface="Symbol" pitchFamily="18" charset="2"/>
              </a:rPr>
              <a:t>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000" baseline="30000" dirty="0">
                <a:latin typeface="Times New Roman" pitchFamily="18" charset="0"/>
                <a:sym typeface="Symbol" pitchFamily="18" charset="2"/>
              </a:rPr>
              <a:t>3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/>
              <a:t>Exponential </a:t>
            </a:r>
            <a:r>
              <a:rPr lang="en-US" sz="2000" dirty="0">
                <a:sym typeface="Symbol" pitchFamily="18" charset="2"/>
              </a:rPr>
              <a:t> 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endParaRPr lang="en-US" sz="2000" b="1" baseline="300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400" dirty="0"/>
              <a:t>In a log-log chart, the slope of the line corresponds to the growth rate</a:t>
            </a:r>
          </a:p>
        </p:txBody>
      </p:sp>
      <p:graphicFrame>
        <p:nvGraphicFramePr>
          <p:cNvPr id="18437" name="Object 8"/>
          <p:cNvGraphicFramePr>
            <a:graphicFrameLocks noChangeAspect="1"/>
          </p:cNvGraphicFramePr>
          <p:nvPr/>
        </p:nvGraphicFramePr>
        <p:xfrm>
          <a:off x="5334001" y="1600201"/>
          <a:ext cx="5133975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1744900" imgH="24079200" progId="Excel.Chart.8">
                  <p:embed followColorScheme="full"/>
                </p:oleObj>
              </mc:Choice>
              <mc:Fallback>
                <p:oleObj name="Chart" r:id="rId3" imgW="41744900" imgH="24079200" progId="Excel.Chart.8">
                  <p:embed followColorScheme="full"/>
                  <p:pic>
                    <p:nvPicPr>
                      <p:cNvPr id="1843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1600201"/>
                        <a:ext cx="5133975" cy="471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latin typeface="Tahoma" charset="0"/>
              </a:rPr>
              <a:t>Functions Graphed </a:t>
            </a:r>
            <a:br>
              <a:rPr lang="en-US" sz="4000">
                <a:latin typeface="Tahoma" charset="0"/>
              </a:rPr>
            </a:br>
            <a:r>
              <a:rPr lang="en-US" sz="4000">
                <a:latin typeface="Tahoma" charset="0"/>
              </a:rPr>
              <a:t>Using </a:t>
            </a:r>
            <a:r>
              <a:rPr lang="ja-JP" altLang="en-US" sz="4000">
                <a:latin typeface="Tahoma" charset="0"/>
              </a:rPr>
              <a:t>“</a:t>
            </a:r>
            <a:r>
              <a:rPr lang="en-US" sz="4000">
                <a:latin typeface="Tahoma" charset="0"/>
              </a:rPr>
              <a:t>Normal</a:t>
            </a:r>
            <a:r>
              <a:rPr lang="ja-JP" altLang="en-US" sz="4000">
                <a:latin typeface="Tahoma" charset="0"/>
              </a:rPr>
              <a:t>”</a:t>
            </a:r>
            <a:r>
              <a:rPr lang="en-US" sz="4000">
                <a:latin typeface="Tahoma" charset="0"/>
              </a:rPr>
              <a:t> Scale</a:t>
            </a:r>
          </a:p>
        </p:txBody>
      </p:sp>
      <p:sp>
        <p:nvSpPr>
          <p:cNvPr id="20482" name="Date Placeholder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C00000"/>
                </a:solidFill>
              </a:rPr>
              <a:t>© 2014 Goodrich, Tamassia, Goldwasser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3B4FDFE-C1B0-BB44-B31F-B4DFEDEB958D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grpSp>
        <p:nvGrpSpPr>
          <p:cNvPr id="20485" name="Group 29"/>
          <p:cNvGrpSpPr>
            <a:grpSpLocks/>
          </p:cNvGrpSpPr>
          <p:nvPr/>
        </p:nvGrpSpPr>
        <p:grpSpPr bwMode="auto">
          <a:xfrm>
            <a:off x="7772400" y="1476375"/>
            <a:ext cx="3048000" cy="1616075"/>
            <a:chOff x="2743200" y="4343400"/>
            <a:chExt cx="3048000" cy="1616075"/>
          </a:xfrm>
        </p:grpSpPr>
        <p:pic>
          <p:nvPicPr>
            <p:cNvPr id="20504" name="Content Placeholder 3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815"/>
            <a:stretch>
              <a:fillRect/>
            </a:stretch>
          </p:blipFill>
          <p:spPr bwMode="auto">
            <a:xfrm>
              <a:off x="2743200" y="4343400"/>
              <a:ext cx="3048000" cy="161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Text Box 1034"/>
            <p:cNvSpPr txBox="1">
              <a:spLocks noChangeArrowheads="1"/>
            </p:cNvSpPr>
            <p:nvPr/>
          </p:nvSpPr>
          <p:spPr bwMode="auto">
            <a:xfrm>
              <a:off x="3886200" y="5029200"/>
              <a:ext cx="14622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/>
                <a:t>g(n) = 2</a:t>
              </a:r>
              <a:r>
                <a:rPr lang="en-US" baseline="30000" dirty="0"/>
                <a:t>n</a:t>
              </a:r>
              <a:endParaRPr lang="en-US" dirty="0"/>
            </a:p>
          </p:txBody>
        </p:sp>
      </p:grpSp>
      <p:grpSp>
        <p:nvGrpSpPr>
          <p:cNvPr id="20486" name="Group 26"/>
          <p:cNvGrpSpPr>
            <a:grpSpLocks/>
          </p:cNvGrpSpPr>
          <p:nvPr/>
        </p:nvGrpSpPr>
        <p:grpSpPr bwMode="auto">
          <a:xfrm>
            <a:off x="1981200" y="1524000"/>
            <a:ext cx="2819400" cy="1219200"/>
            <a:chOff x="838200" y="1752600"/>
            <a:chExt cx="2819400" cy="1219200"/>
          </a:xfrm>
        </p:grpSpPr>
        <p:pic>
          <p:nvPicPr>
            <p:cNvPr id="20502" name="Content Placeholder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00"/>
            <a:stretch>
              <a:fillRect/>
            </a:stretch>
          </p:blipFill>
          <p:spPr bwMode="auto">
            <a:xfrm>
              <a:off x="838200" y="1752600"/>
              <a:ext cx="2819400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3" name="Text Box 1035"/>
            <p:cNvSpPr txBox="1">
              <a:spLocks noChangeArrowheads="1"/>
            </p:cNvSpPr>
            <p:nvPr/>
          </p:nvSpPr>
          <p:spPr bwMode="auto">
            <a:xfrm>
              <a:off x="1371600" y="2071687"/>
              <a:ext cx="13484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1</a:t>
              </a:r>
            </a:p>
          </p:txBody>
        </p:sp>
      </p:grpSp>
      <p:grpSp>
        <p:nvGrpSpPr>
          <p:cNvPr id="20487" name="Group 27"/>
          <p:cNvGrpSpPr>
            <a:grpSpLocks/>
          </p:cNvGrpSpPr>
          <p:nvPr/>
        </p:nvGrpSpPr>
        <p:grpSpPr bwMode="auto">
          <a:xfrm>
            <a:off x="1981200" y="3092450"/>
            <a:ext cx="2971800" cy="1371600"/>
            <a:chOff x="762000" y="3124200"/>
            <a:chExt cx="2971800" cy="1371600"/>
          </a:xfrm>
        </p:grpSpPr>
        <p:pic>
          <p:nvPicPr>
            <p:cNvPr id="20500" name="Content Placeholder 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00"/>
            <a:stretch>
              <a:fillRect/>
            </a:stretch>
          </p:blipFill>
          <p:spPr bwMode="auto">
            <a:xfrm>
              <a:off x="762000" y="3124200"/>
              <a:ext cx="2971800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1" name="Text Box 1036"/>
            <p:cNvSpPr txBox="1">
              <a:spLocks noChangeArrowheads="1"/>
            </p:cNvSpPr>
            <p:nvPr/>
          </p:nvSpPr>
          <p:spPr bwMode="auto">
            <a:xfrm>
              <a:off x="1295400" y="3810000"/>
              <a:ext cx="168828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lg n</a:t>
              </a:r>
            </a:p>
          </p:txBody>
        </p:sp>
      </p:grpSp>
      <p:pic>
        <p:nvPicPr>
          <p:cNvPr id="13" name="Content Placeholder 3"/>
          <p:cNvPicPr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18182"/>
          <a:stretch>
            <a:fillRect/>
          </a:stretch>
        </p:blipFill>
        <p:spPr bwMode="auto">
          <a:xfrm>
            <a:off x="4953000" y="1524000"/>
            <a:ext cx="2743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9" name="Text Box 1037"/>
          <p:cNvSpPr txBox="1">
            <a:spLocks noChangeArrowheads="1"/>
          </p:cNvSpPr>
          <p:nvPr/>
        </p:nvSpPr>
        <p:spPr bwMode="auto">
          <a:xfrm>
            <a:off x="5334001" y="1524001"/>
            <a:ext cx="1955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g(n) = n lg n</a:t>
            </a:r>
          </a:p>
        </p:txBody>
      </p:sp>
      <p:grpSp>
        <p:nvGrpSpPr>
          <p:cNvPr id="20490" name="Group 28"/>
          <p:cNvGrpSpPr>
            <a:grpSpLocks/>
          </p:cNvGrpSpPr>
          <p:nvPr/>
        </p:nvGrpSpPr>
        <p:grpSpPr bwMode="auto">
          <a:xfrm>
            <a:off x="1981200" y="4814888"/>
            <a:ext cx="2895600" cy="1585912"/>
            <a:chOff x="304800" y="4343400"/>
            <a:chExt cx="2895600" cy="1585913"/>
          </a:xfrm>
        </p:grpSpPr>
        <p:pic>
          <p:nvPicPr>
            <p:cNvPr id="20498" name="Content Placeholder 3"/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79"/>
            <a:stretch>
              <a:fillRect/>
            </a:stretch>
          </p:blipFill>
          <p:spPr bwMode="auto">
            <a:xfrm>
              <a:off x="304800" y="4343400"/>
              <a:ext cx="2895600" cy="1585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9" name="Text Box 1038"/>
            <p:cNvSpPr txBox="1">
              <a:spLocks noChangeArrowheads="1"/>
            </p:cNvSpPr>
            <p:nvPr/>
          </p:nvSpPr>
          <p:spPr bwMode="auto">
            <a:xfrm>
              <a:off x="838200" y="4648200"/>
              <a:ext cx="13516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/>
                <a:t>g(n) = n</a:t>
              </a:r>
            </a:p>
          </p:txBody>
        </p:sp>
      </p:grpSp>
      <p:grpSp>
        <p:nvGrpSpPr>
          <p:cNvPr id="20491" name="Group 31"/>
          <p:cNvGrpSpPr>
            <a:grpSpLocks/>
          </p:cNvGrpSpPr>
          <p:nvPr/>
        </p:nvGrpSpPr>
        <p:grpSpPr bwMode="auto">
          <a:xfrm>
            <a:off x="4953000" y="3124200"/>
            <a:ext cx="3124200" cy="1676400"/>
            <a:chOff x="5943600" y="3124200"/>
            <a:chExt cx="3124200" cy="1676400"/>
          </a:xfrm>
        </p:grpSpPr>
        <p:pic>
          <p:nvPicPr>
            <p:cNvPr id="14" name="Content Placeholder 3"/>
            <p:cNvPicPr>
              <a:picLocks noChangeArrowheads="1"/>
            </p:cNvPicPr>
            <p:nvPr/>
          </p:nvPicPr>
          <p:blipFill>
            <a:blip r:embed="rId7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t="23919"/>
            <a:stretch>
              <a:fillRect/>
            </a:stretch>
          </p:blipFill>
          <p:spPr bwMode="auto">
            <a:xfrm>
              <a:off x="5943600" y="3124200"/>
              <a:ext cx="3124200" cy="167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497" name="Text Box 1039"/>
            <p:cNvSpPr txBox="1">
              <a:spLocks noChangeArrowheads="1"/>
            </p:cNvSpPr>
            <p:nvPr/>
          </p:nvSpPr>
          <p:spPr bwMode="auto">
            <a:xfrm>
              <a:off x="6629400" y="3390900"/>
              <a:ext cx="14638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n</a:t>
              </a:r>
              <a:r>
                <a:rPr lang="en-US" baseline="30000"/>
                <a:t>2</a:t>
              </a:r>
              <a:endParaRPr lang="en-US"/>
            </a:p>
          </p:txBody>
        </p:sp>
      </p:grpSp>
      <p:grpSp>
        <p:nvGrpSpPr>
          <p:cNvPr id="20492" name="Group 30"/>
          <p:cNvGrpSpPr>
            <a:grpSpLocks/>
          </p:cNvGrpSpPr>
          <p:nvPr/>
        </p:nvGrpSpPr>
        <p:grpSpPr bwMode="auto">
          <a:xfrm>
            <a:off x="4953000" y="5029200"/>
            <a:ext cx="2819400" cy="1371600"/>
            <a:chOff x="5943600" y="5029200"/>
            <a:chExt cx="2819400" cy="1371600"/>
          </a:xfrm>
        </p:grpSpPr>
        <p:pic>
          <p:nvPicPr>
            <p:cNvPr id="15" name="Content Placeholder 3"/>
            <p:cNvPicPr>
              <a:picLocks noChangeArrowheads="1"/>
            </p:cNvPicPr>
            <p:nvPr/>
          </p:nvPicPr>
          <p:blipFill>
            <a:blip r:embed="rId8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t="18182"/>
            <a:stretch>
              <a:fillRect/>
            </a:stretch>
          </p:blipFill>
          <p:spPr bwMode="auto">
            <a:xfrm>
              <a:off x="5943600" y="5029200"/>
              <a:ext cx="2819400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495" name="Text Box 1040"/>
            <p:cNvSpPr txBox="1">
              <a:spLocks noChangeArrowheads="1"/>
            </p:cNvSpPr>
            <p:nvPr/>
          </p:nvSpPr>
          <p:spPr bwMode="auto">
            <a:xfrm>
              <a:off x="6632575" y="5334000"/>
              <a:ext cx="14638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n</a:t>
              </a:r>
              <a:r>
                <a:rPr lang="en-US" baseline="30000"/>
                <a:t>3</a:t>
              </a:r>
              <a:endParaRPr lang="en-US"/>
            </a:p>
          </p:txBody>
        </p:sp>
      </p:grp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9105900" y="5715000"/>
            <a:ext cx="2819400" cy="646113"/>
          </a:xfrm>
          <a:prstGeom prst="rect">
            <a:avLst/>
          </a:prstGeom>
          <a:gradFill rotWithShape="1">
            <a:gsLst>
              <a:gs pos="0">
                <a:srgbClr val="BDBDBD"/>
              </a:gs>
              <a:gs pos="80000">
                <a:srgbClr val="F7F7F7"/>
              </a:gs>
              <a:gs pos="100000">
                <a:srgbClr val="F8F8F8"/>
              </a:gs>
            </a:gsLst>
            <a:lin ang="16200000"/>
          </a:gradFill>
          <a:ln w="9525">
            <a:solidFill>
              <a:srgbClr val="F9F9F9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Slide by Matt Stallmann included with permission.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24399"/>
          </a:xfrm>
        </p:spPr>
        <p:txBody>
          <a:bodyPr>
            <a:noAutofit/>
          </a:bodyPr>
          <a:lstStyle/>
          <a:p>
            <a:r>
              <a:rPr lang="en-US" sz="2400" dirty="0"/>
              <a:t>Consider </a:t>
            </a:r>
            <a:r>
              <a:rPr lang="en-US" sz="2400" b="1" dirty="0"/>
              <a:t>primitive</a:t>
            </a:r>
            <a:r>
              <a:rPr lang="en-US" sz="2400" dirty="0"/>
              <a:t> operations to be low-level instructions with a constant execution time.</a:t>
            </a:r>
          </a:p>
          <a:p>
            <a:r>
              <a:rPr lang="en-US" sz="2400" dirty="0"/>
              <a:t>Thus, all we have to do is to count the number of primitive operations.</a:t>
            </a:r>
          </a:p>
          <a:p>
            <a:r>
              <a:rPr lang="en-US" sz="2400" dirty="0"/>
              <a:t>Primitive operations:</a:t>
            </a:r>
          </a:p>
          <a:p>
            <a:pPr lvl="1"/>
            <a:r>
              <a:rPr lang="en-US" sz="2400" dirty="0"/>
              <a:t>Assign a value to a variable.</a:t>
            </a:r>
          </a:p>
          <a:p>
            <a:pPr lvl="1"/>
            <a:r>
              <a:rPr lang="en-US" sz="2400" dirty="0"/>
              <a:t>Call a method.</a:t>
            </a:r>
          </a:p>
          <a:p>
            <a:pPr lvl="1"/>
            <a:r>
              <a:rPr lang="en-US" sz="2400" dirty="0"/>
              <a:t>Perform an arithmetic operation.</a:t>
            </a:r>
          </a:p>
          <a:p>
            <a:pPr lvl="1"/>
            <a:r>
              <a:rPr lang="en-US" sz="2400" dirty="0"/>
              <a:t>Compare two numbers.</a:t>
            </a:r>
          </a:p>
          <a:p>
            <a:pPr lvl="1"/>
            <a:r>
              <a:rPr lang="en-US" sz="2400" dirty="0"/>
              <a:t>Index into an array.</a:t>
            </a:r>
          </a:p>
          <a:p>
            <a:pPr lvl="1"/>
            <a:r>
              <a:rPr lang="en-US" sz="2400" dirty="0"/>
              <a:t>Follow an object reference.</a:t>
            </a:r>
          </a:p>
          <a:p>
            <a:pPr lvl="1"/>
            <a:r>
              <a:rPr lang="en-US" sz="2400" dirty="0"/>
              <a:t>Return from a method.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8069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253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8B05BDF-C091-0B4F-AB02-4952210E5E38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9248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Counting Primitive Operations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524000"/>
            <a:ext cx="8153400" cy="9906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ahoma" charset="0"/>
              </a:rPr>
              <a:t>By inspecting the pseudocode, we can determine the maximum number of primitive operations executed by an algorithm, as a function of the input size</a:t>
            </a:r>
          </a:p>
        </p:txBody>
      </p:sp>
      <p:sp>
        <p:nvSpPr>
          <p:cNvPr id="22533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22534" name="Content Placeholder 1" descr="Rectangle: Click to edit Master text styles&#10;Second level&#10;Third level&#10;Fourth level&#10;Fifth level"/>
          <p:cNvSpPr>
            <a:spLocks noGrp="1"/>
          </p:cNvSpPr>
          <p:nvPr>
            <p:ph sz="half" idx="2"/>
          </p:nvPr>
        </p:nvSpPr>
        <p:spPr>
          <a:xfrm>
            <a:off x="2514600" y="5181600"/>
            <a:ext cx="7543800" cy="1143000"/>
          </a:xfrm>
        </p:spPr>
        <p:txBody>
          <a:bodyPr/>
          <a:lstStyle/>
          <a:p>
            <a:r>
              <a:rPr lang="en-US" dirty="0">
                <a:latin typeface="Tahoma" charset="0"/>
              </a:rPr>
              <a:t>Step 3: 2 ops, 4: 2 ops, 5: 2n ops, </a:t>
            </a:r>
            <a:br>
              <a:rPr lang="en-US" dirty="0">
                <a:latin typeface="Tahoma" charset="0"/>
              </a:rPr>
            </a:br>
            <a:r>
              <a:rPr lang="en-US" dirty="0">
                <a:latin typeface="Tahoma" charset="0"/>
              </a:rPr>
              <a:t>6: 2n ops, 7: 0 to n ops, 8: 1 op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67" r="877"/>
          <a:stretch/>
        </p:blipFill>
        <p:spPr>
          <a:xfrm>
            <a:off x="1688633" y="2554572"/>
            <a:ext cx="8979368" cy="27032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355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FF57EA9-1C78-BB4E-9131-D9088A9594A7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Estimating Running Time</a:t>
            </a: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752600"/>
            <a:ext cx="8305800" cy="46482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Algorithm </a:t>
            </a:r>
            <a:r>
              <a:rPr lang="en-US" dirty="0" err="1">
                <a:solidFill>
                  <a:srgbClr val="BE2D00"/>
                </a:solidFill>
                <a:latin typeface="Tahoma" charset="0"/>
              </a:rPr>
              <a:t>arrayMax</a:t>
            </a:r>
            <a:r>
              <a:rPr lang="en-US" dirty="0">
                <a:solidFill>
                  <a:srgbClr val="BE2D00"/>
                </a:solidFill>
                <a:latin typeface="Tahoma" charset="0"/>
              </a:rPr>
              <a:t> </a:t>
            </a:r>
            <a:r>
              <a:rPr lang="en-US" dirty="0">
                <a:latin typeface="Tahoma" charset="0"/>
              </a:rPr>
              <a:t>executes </a:t>
            </a:r>
            <a:r>
              <a:rPr lang="en-US" dirty="0">
                <a:latin typeface="Times New Roman" charset="0"/>
                <a:sym typeface="Symbol" charset="0"/>
              </a:rPr>
              <a:t>5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 </a:t>
            </a:r>
            <a:r>
              <a:rPr lang="en-US" dirty="0">
                <a:latin typeface="Tahoma" charset="0"/>
              </a:rPr>
              <a:t>primitive operations in the worst case, </a:t>
            </a:r>
            <a:r>
              <a:rPr lang="en-US" dirty="0">
                <a:latin typeface="Times New Roman" charset="0"/>
                <a:sym typeface="Symbol" charset="0"/>
              </a:rPr>
              <a:t>4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 </a:t>
            </a:r>
            <a:r>
              <a:rPr lang="en-US" dirty="0">
                <a:latin typeface="Tahoma" charset="0"/>
              </a:rPr>
              <a:t>in the best case.  Define:</a:t>
            </a:r>
          </a:p>
          <a:p>
            <a:pPr lvl="1" eaLnBrk="1" hangingPunct="1">
              <a:buSzTx/>
              <a:buFont typeface="Times New Roman" charset="0"/>
              <a:buNone/>
            </a:pPr>
            <a:r>
              <a:rPr lang="en-US" b="1" i="1" dirty="0">
                <a:latin typeface="Times New Roman" charset="0"/>
              </a:rPr>
              <a:t>a</a:t>
            </a:r>
            <a:r>
              <a:rPr lang="en-US" dirty="0">
                <a:latin typeface="Tahoma" charset="0"/>
              </a:rPr>
              <a:t>	= Time taken by the fastest primitive operation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i="1" dirty="0">
                <a:latin typeface="Times New Roman" charset="0"/>
              </a:rPr>
              <a:t>b</a:t>
            </a:r>
            <a:r>
              <a:rPr lang="en-US" dirty="0">
                <a:latin typeface="Tahoma" charset="0"/>
              </a:rPr>
              <a:t> 	= Time taken by the slowest primitive operation</a:t>
            </a:r>
          </a:p>
          <a:p>
            <a:pPr eaLnBrk="1" hangingPunct="1"/>
            <a:r>
              <a:rPr lang="en-US" dirty="0">
                <a:latin typeface="Tahoma" charset="0"/>
              </a:rPr>
              <a:t>Let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be worst-case time of </a:t>
            </a:r>
            <a:r>
              <a:rPr lang="en-US" dirty="0" err="1">
                <a:solidFill>
                  <a:srgbClr val="BE2D00"/>
                </a:solidFill>
                <a:latin typeface="Tahoma" charset="0"/>
              </a:rPr>
              <a:t>arrayMax</a:t>
            </a:r>
            <a:r>
              <a:rPr lang="en-US" dirty="0">
                <a:latin typeface="Tahoma" charset="0"/>
              </a:rPr>
              <a:t>.</a:t>
            </a:r>
            <a:r>
              <a:rPr lang="en-US" dirty="0">
                <a:solidFill>
                  <a:srgbClr val="BE2D00"/>
                </a:solidFill>
                <a:latin typeface="Tahoma" charset="0"/>
              </a:rPr>
              <a:t> </a:t>
            </a:r>
            <a:r>
              <a:rPr lang="en-US" dirty="0">
                <a:latin typeface="Tahoma" charset="0"/>
              </a:rPr>
              <a:t>Then</a:t>
            </a:r>
            <a:br>
              <a:rPr lang="en-US" dirty="0">
                <a:latin typeface="Tahoma" charset="0"/>
              </a:rPr>
            </a:br>
            <a:r>
              <a:rPr lang="en-US" dirty="0">
                <a:latin typeface="Tahoma" charset="0"/>
              </a:rPr>
              <a:t>		</a:t>
            </a:r>
            <a:r>
              <a:rPr lang="en-US" b="1" i="1" dirty="0">
                <a:latin typeface="Times New Roman" charset="0"/>
                <a:sym typeface="Symbol" charset="0"/>
              </a:rPr>
              <a:t>a </a:t>
            </a:r>
            <a:r>
              <a:rPr lang="en-US" dirty="0">
                <a:latin typeface="Times New Roman" charset="0"/>
                <a:sym typeface="Symbol" charset="0"/>
              </a:rPr>
              <a:t>(4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5) </a:t>
            </a:r>
            <a:r>
              <a:rPr lang="en-US" dirty="0">
                <a:latin typeface="Symbol" charset="0"/>
                <a:sym typeface="Symbol" charset="0"/>
              </a:rPr>
              <a:t>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</a:t>
            </a:r>
            <a:r>
              <a:rPr lang="en-US" dirty="0">
                <a:latin typeface="Tahoma" charset="0"/>
              </a:rPr>
              <a:t> </a:t>
            </a:r>
            <a:r>
              <a:rPr lang="en-US" b="1" i="1" dirty="0">
                <a:latin typeface="Times New Roman" charset="0"/>
                <a:sym typeface="Symbol" charset="0"/>
              </a:rPr>
              <a:t>b</a:t>
            </a:r>
            <a:r>
              <a:rPr lang="en-US" dirty="0">
                <a:latin typeface="Times New Roman" charset="0"/>
                <a:sym typeface="Symbol" charset="0"/>
              </a:rPr>
              <a:t>(5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5)</a:t>
            </a:r>
          </a:p>
          <a:p>
            <a:pPr eaLnBrk="1" hangingPunct="1"/>
            <a:r>
              <a:rPr lang="en-US" dirty="0">
                <a:latin typeface="Tahoma" charset="0"/>
              </a:rPr>
              <a:t>Hence, the running time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is bounded by two linear functions</a:t>
            </a:r>
            <a:endParaRPr lang="en-US" dirty="0">
              <a:latin typeface="Tahoma" charset="0"/>
              <a:sym typeface="Symbol" charset="0"/>
            </a:endParaRPr>
          </a:p>
        </p:txBody>
      </p:sp>
      <p:graphicFrame>
        <p:nvGraphicFramePr>
          <p:cNvPr id="23557" name="Object 1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056748"/>
              </p:ext>
            </p:extLst>
          </p:nvPr>
        </p:nvGraphicFramePr>
        <p:xfrm>
          <a:off x="9196387" y="457200"/>
          <a:ext cx="1724025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946759" imgH="2630112" progId="MS_ClipArt_Gallery.2">
                  <p:embed/>
                </p:oleObj>
              </mc:Choice>
              <mc:Fallback>
                <p:oleObj name="Clip" r:id="rId2" imgW="2946759" imgH="2630112" progId="MS_ClipArt_Gallery.2">
                  <p:embed/>
                  <p:pic>
                    <p:nvPicPr>
                      <p:cNvPr id="23557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6387" y="457200"/>
                        <a:ext cx="1724025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FF70767-B581-BD48-B5EC-D1B0A9EA0617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Growth Rate of Running Time</a:t>
            </a:r>
          </a:p>
        </p:txBody>
      </p:sp>
      <p:sp>
        <p:nvSpPr>
          <p:cNvPr id="2458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905000"/>
            <a:ext cx="7620000" cy="44196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Changing the hardware/ software environment </a:t>
            </a:r>
          </a:p>
          <a:p>
            <a:pPr lvl="1" eaLnBrk="1" hangingPunct="1"/>
            <a:r>
              <a:rPr lang="en-US" dirty="0">
                <a:latin typeface="Tahoma" charset="0"/>
              </a:rPr>
              <a:t>Affects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by a constant factor, but</a:t>
            </a:r>
          </a:p>
          <a:p>
            <a:pPr lvl="1" eaLnBrk="1" hangingPunct="1"/>
            <a:r>
              <a:rPr lang="en-US" dirty="0">
                <a:latin typeface="Tahoma" charset="0"/>
              </a:rPr>
              <a:t>Does not alter the growth rate of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endParaRPr lang="en-US" dirty="0">
              <a:latin typeface="Tahoma" charset="0"/>
            </a:endParaRPr>
          </a:p>
          <a:p>
            <a:pPr eaLnBrk="1" hangingPunct="1"/>
            <a:r>
              <a:rPr lang="en-US" dirty="0">
                <a:latin typeface="Tahoma" charset="0"/>
              </a:rPr>
              <a:t>The linear growth rate of the running time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is an intrinsic property of algorithm </a:t>
            </a:r>
            <a:r>
              <a:rPr lang="en-US" dirty="0" err="1">
                <a:solidFill>
                  <a:srgbClr val="BE2D00"/>
                </a:solidFill>
                <a:latin typeface="Tahoma" charset="0"/>
              </a:rPr>
              <a:t>arrayMax</a:t>
            </a:r>
            <a:endParaRPr lang="en-US" dirty="0">
              <a:latin typeface="Tahoma" charset="0"/>
            </a:endParaRPr>
          </a:p>
        </p:txBody>
      </p:sp>
      <p:graphicFrame>
        <p:nvGraphicFramePr>
          <p:cNvPr id="24581" name="Object 4"/>
          <p:cNvGraphicFramePr>
            <a:graphicFrameLocks noChangeAspect="1"/>
          </p:cNvGraphicFramePr>
          <p:nvPr/>
        </p:nvGraphicFramePr>
        <p:xfrm>
          <a:off x="8153400" y="4800600"/>
          <a:ext cx="205740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60618" imgH="3423719" progId="MS_ClipArt_Gallery.2">
                  <p:embed/>
                </p:oleObj>
              </mc:Choice>
              <mc:Fallback>
                <p:oleObj name="Clip" r:id="rId2" imgW="3660618" imgH="3423719" progId="MS_ClipArt_Gallery.2">
                  <p:embed/>
                  <p:pic>
                    <p:nvPicPr>
                      <p:cNvPr id="2458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4800600"/>
                        <a:ext cx="2057400" cy="1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compute the average case, we need to compute expected running times based on a given input distribution, which means that we look at a posteriori probability distribution.</a:t>
            </a:r>
          </a:p>
          <a:p>
            <a:r>
              <a:rPr lang="en-US" sz="2400" dirty="0"/>
              <a:t>This requires a sophisticated probability theory.</a:t>
            </a:r>
          </a:p>
          <a:p>
            <a:r>
              <a:rPr lang="en-US" sz="2400" dirty="0"/>
              <a:t>Instead, we look at </a:t>
            </a:r>
            <a:r>
              <a:rPr lang="en-US" sz="2400" b="1" dirty="0"/>
              <a:t>worst case running times</a:t>
            </a:r>
            <a:r>
              <a:rPr lang="en-US" sz="2400" dirty="0"/>
              <a:t>.</a:t>
            </a:r>
          </a:p>
          <a:p>
            <a:r>
              <a:rPr lang="en-US" sz="2400" dirty="0"/>
              <a:t>Another advantage of a worst case is that the algorithm will do well on every input.</a:t>
            </a:r>
          </a:p>
        </p:txBody>
      </p:sp>
    </p:spTree>
    <p:extLst>
      <p:ext uri="{BB962C8B-B14F-4D97-AF65-F5344CB8AC3E}">
        <p14:creationId xmlns:p14="http://schemas.microsoft.com/office/powerpoint/2010/main" val="2250910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br>
              <a:rPr lang="en-US" sz="4000">
                <a:latin typeface="Tahoma" charset="0"/>
              </a:rPr>
            </a:br>
            <a:r>
              <a:rPr lang="en-US" sz="4000">
                <a:latin typeface="Tahoma" charset="0"/>
              </a:rPr>
              <a:t>Comparison of Two Algorithms</a:t>
            </a:r>
          </a:p>
        </p:txBody>
      </p:sp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>
                <a:solidFill>
                  <a:srgbClr val="C00000"/>
                </a:solidFill>
              </a:rPr>
              <a:t>© 2014 Goodrich, Tamassia, Goldwasser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641021B-C16C-2D42-87A1-CBCBE51331D1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26628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467600" y="228601"/>
            <a:ext cx="2819400" cy="646113"/>
          </a:xfrm>
          <a:prstGeom prst="rect">
            <a:avLst/>
          </a:prstGeom>
          <a:gradFill rotWithShape="1">
            <a:gsLst>
              <a:gs pos="0">
                <a:srgbClr val="BDBDBD"/>
              </a:gs>
              <a:gs pos="80000">
                <a:srgbClr val="F7F7F7"/>
              </a:gs>
              <a:gs pos="100000">
                <a:srgbClr val="F8F8F8"/>
              </a:gs>
            </a:gsLst>
            <a:lin ang="16200000"/>
          </a:gradFill>
          <a:ln w="9525">
            <a:solidFill>
              <a:srgbClr val="F9F9F9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Slide by Matt Stallmann included with permission.</a:t>
            </a:r>
          </a:p>
        </p:txBody>
      </p:sp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4" y="1752600"/>
            <a:ext cx="4156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6400800" y="1752601"/>
            <a:ext cx="297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/>
              <a:t>insertion sort is</a:t>
            </a:r>
          </a:p>
          <a:p>
            <a:r>
              <a:rPr lang="en-US" sz="2000"/>
              <a:t>	n</a:t>
            </a:r>
            <a:r>
              <a:rPr lang="en-US" sz="2000" baseline="30000"/>
              <a:t>2</a:t>
            </a:r>
            <a:r>
              <a:rPr lang="en-US" sz="2000"/>
              <a:t> / 4</a:t>
            </a:r>
          </a:p>
        </p:txBody>
      </p:sp>
      <p:sp>
        <p:nvSpPr>
          <p:cNvPr id="26632" name="Rectangle 9"/>
          <p:cNvSpPr>
            <a:spLocks noChangeArrowheads="1"/>
          </p:cNvSpPr>
          <p:nvPr/>
        </p:nvSpPr>
        <p:spPr bwMode="auto">
          <a:xfrm>
            <a:off x="6400801" y="2466976"/>
            <a:ext cx="2276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/>
              <a:t>merge sort is</a:t>
            </a:r>
          </a:p>
          <a:p>
            <a:r>
              <a:rPr lang="en-US" sz="2000"/>
              <a:t>	2 n lg n</a:t>
            </a:r>
            <a:endParaRPr lang="en-US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6400800" y="3152776"/>
            <a:ext cx="3108736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sort a million items?</a:t>
            </a:r>
          </a:p>
          <a:p>
            <a:r>
              <a:rPr lang="en-US"/>
              <a:t>	</a:t>
            </a:r>
            <a:r>
              <a:rPr lang="en-US" sz="2000"/>
              <a:t>insertion sort takes</a:t>
            </a:r>
          </a:p>
          <a:p>
            <a:r>
              <a:rPr lang="en-US" sz="2000"/>
              <a:t> 	roughly </a:t>
            </a:r>
            <a:r>
              <a:rPr lang="en-US" sz="2000">
                <a:solidFill>
                  <a:srgbClr val="C00000"/>
                </a:solidFill>
              </a:rPr>
              <a:t>70 hours</a:t>
            </a:r>
          </a:p>
          <a:p>
            <a:r>
              <a:rPr lang="en-US" sz="2000"/>
              <a:t>while</a:t>
            </a:r>
          </a:p>
          <a:p>
            <a:r>
              <a:rPr lang="en-US" sz="2000"/>
              <a:t>	merge sort takes</a:t>
            </a:r>
          </a:p>
          <a:p>
            <a:r>
              <a:rPr lang="en-US" sz="2000"/>
              <a:t>	roughly </a:t>
            </a:r>
            <a:r>
              <a:rPr lang="en-US" sz="2000">
                <a:solidFill>
                  <a:srgbClr val="C00000"/>
                </a:solidFill>
              </a:rPr>
              <a:t>40 seconds</a:t>
            </a:r>
          </a:p>
        </p:txBody>
      </p:sp>
      <p:sp>
        <p:nvSpPr>
          <p:cNvPr id="26634" name="Rectangle 11"/>
          <p:cNvSpPr>
            <a:spLocks noChangeArrowheads="1"/>
          </p:cNvSpPr>
          <p:nvPr/>
        </p:nvSpPr>
        <p:spPr bwMode="auto">
          <a:xfrm>
            <a:off x="6400800" y="5334001"/>
            <a:ext cx="366055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This is a slow machine, but if</a:t>
            </a:r>
          </a:p>
          <a:p>
            <a:r>
              <a:rPr lang="en-US" sz="2000"/>
              <a:t>100 x as fast then it</a:t>
            </a:r>
            <a:r>
              <a:rPr lang="ja-JP" altLang="en-US" sz="2000"/>
              <a:t>’</a:t>
            </a:r>
            <a:r>
              <a:rPr lang="en-US" altLang="ja-JP" sz="2000"/>
              <a:t>s </a:t>
            </a:r>
            <a:r>
              <a:rPr lang="en-US" altLang="ja-JP" sz="2000">
                <a:solidFill>
                  <a:srgbClr val="C00000"/>
                </a:solidFill>
              </a:rPr>
              <a:t>40 minutes</a:t>
            </a:r>
          </a:p>
          <a:p>
            <a:r>
              <a:rPr lang="en-US" sz="2000"/>
              <a:t>versus less than </a:t>
            </a:r>
            <a:r>
              <a:rPr lang="en-US" sz="2000">
                <a:solidFill>
                  <a:srgbClr val="C00000"/>
                </a:solidFill>
              </a:rPr>
              <a:t>0.5 seconds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C3C1A05-BC94-7D45-B6F7-861F4350EBBC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Constant Factors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905000"/>
            <a:ext cx="3276600" cy="41148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The growth rate is not affected by</a:t>
            </a:r>
          </a:p>
          <a:p>
            <a:pPr lvl="1" eaLnBrk="1" hangingPunct="1"/>
            <a:r>
              <a:rPr lang="en-US" sz="2000">
                <a:latin typeface="Tahoma" charset="0"/>
              </a:rPr>
              <a:t>constant factors or </a:t>
            </a:r>
          </a:p>
          <a:p>
            <a:pPr lvl="1" eaLnBrk="1" hangingPunct="1"/>
            <a:r>
              <a:rPr lang="en-US" sz="2000">
                <a:latin typeface="Tahoma" charset="0"/>
              </a:rPr>
              <a:t>lower-order terms</a:t>
            </a:r>
          </a:p>
          <a:p>
            <a:pPr eaLnBrk="1" hangingPunct="1"/>
            <a:r>
              <a:rPr lang="en-US" sz="2400">
                <a:latin typeface="Tahoma" charset="0"/>
              </a:rPr>
              <a:t>Examples</a:t>
            </a:r>
          </a:p>
          <a:p>
            <a:pPr lvl="1" eaLnBrk="1" hangingPunct="1"/>
            <a:r>
              <a:rPr lang="en-US" sz="2000">
                <a:latin typeface="Times New Roman" charset="0"/>
                <a:sym typeface="Symbol" charset="0"/>
              </a:rPr>
              <a:t>10</a:t>
            </a:r>
            <a:r>
              <a:rPr lang="en-US" sz="2000" baseline="30000">
                <a:latin typeface="Times New Roman" charset="0"/>
                <a:sym typeface="Symbol" charset="0"/>
              </a:rPr>
              <a:t>2</a:t>
            </a:r>
            <a:r>
              <a:rPr lang="en-US" sz="2000" b="1" i="1">
                <a:latin typeface="Times New Roman" charset="0"/>
                <a:sym typeface="Symbol" charset="0"/>
              </a:rPr>
              <a:t>n</a:t>
            </a:r>
            <a:r>
              <a:rPr lang="en-US" sz="2000" b="1">
                <a:latin typeface="Times New Roman" charset="0"/>
                <a:sym typeface="Symbol" charset="0"/>
              </a:rPr>
              <a:t> </a:t>
            </a:r>
            <a:r>
              <a:rPr lang="en-US" sz="2000" b="1">
                <a:latin typeface="Symbol" charset="0"/>
                <a:sym typeface="Symbol" charset="0"/>
              </a:rPr>
              <a:t>+</a:t>
            </a:r>
            <a:r>
              <a:rPr lang="en-US" sz="2000" b="1">
                <a:latin typeface="Times New Roman" charset="0"/>
                <a:sym typeface="Symbol" charset="0"/>
              </a:rPr>
              <a:t> </a:t>
            </a:r>
            <a:r>
              <a:rPr lang="en-US" sz="2000">
                <a:latin typeface="Times New Roman" charset="0"/>
                <a:sym typeface="Symbol" charset="0"/>
              </a:rPr>
              <a:t>10</a:t>
            </a:r>
            <a:r>
              <a:rPr lang="en-US" sz="2000" baseline="30000">
                <a:latin typeface="Times New Roman" charset="0"/>
                <a:sym typeface="Symbol" charset="0"/>
              </a:rPr>
              <a:t>5</a:t>
            </a:r>
            <a:r>
              <a:rPr lang="en-US" sz="2000">
                <a:latin typeface="Times New Roman" charset="0"/>
                <a:sym typeface="Symbol" charset="0"/>
              </a:rPr>
              <a:t> </a:t>
            </a:r>
            <a:r>
              <a:rPr lang="en-US" sz="2000">
                <a:latin typeface="Tahoma" charset="0"/>
              </a:rPr>
              <a:t>is a linear function</a:t>
            </a:r>
          </a:p>
          <a:p>
            <a:pPr lvl="1" eaLnBrk="1" hangingPunct="1"/>
            <a:r>
              <a:rPr lang="en-US" sz="2000">
                <a:latin typeface="Times New Roman" charset="0"/>
                <a:sym typeface="Symbol" charset="0"/>
              </a:rPr>
              <a:t>10</a:t>
            </a:r>
            <a:r>
              <a:rPr lang="en-US" sz="2000" baseline="30000">
                <a:latin typeface="Times New Roman" charset="0"/>
                <a:sym typeface="Symbol" charset="0"/>
              </a:rPr>
              <a:t>5</a:t>
            </a:r>
            <a:r>
              <a:rPr lang="en-US" sz="2000" b="1" i="1">
                <a:latin typeface="Times New Roman" charset="0"/>
                <a:sym typeface="Symbol" charset="0"/>
              </a:rPr>
              <a:t>n</a:t>
            </a:r>
            <a:r>
              <a:rPr lang="en-US" sz="2000" baseline="30000">
                <a:latin typeface="Times New Roman" charset="0"/>
                <a:sym typeface="Symbol" charset="0"/>
              </a:rPr>
              <a:t>2</a:t>
            </a:r>
            <a:r>
              <a:rPr lang="en-US" sz="2000">
                <a:latin typeface="Times New Roman" charset="0"/>
                <a:sym typeface="Symbol" charset="0"/>
              </a:rPr>
              <a:t> </a:t>
            </a:r>
            <a:r>
              <a:rPr lang="en-US" sz="2000" b="1">
                <a:latin typeface="Symbol" charset="0"/>
                <a:sym typeface="Symbol" charset="0"/>
              </a:rPr>
              <a:t>+</a:t>
            </a:r>
            <a:r>
              <a:rPr lang="en-US" sz="2000">
                <a:latin typeface="Times New Roman" charset="0"/>
                <a:sym typeface="Symbol" charset="0"/>
              </a:rPr>
              <a:t> 10</a:t>
            </a:r>
            <a:r>
              <a:rPr lang="en-US" sz="2000" baseline="30000">
                <a:latin typeface="Times New Roman" charset="0"/>
                <a:sym typeface="Symbol" charset="0"/>
              </a:rPr>
              <a:t>8</a:t>
            </a:r>
            <a:r>
              <a:rPr lang="en-US" sz="2000" b="1" i="1">
                <a:latin typeface="Times New Roman" charset="0"/>
                <a:sym typeface="Symbol" charset="0"/>
              </a:rPr>
              <a:t>n</a:t>
            </a:r>
            <a:r>
              <a:rPr lang="en-US" sz="2000">
                <a:latin typeface="Times New Roman" charset="0"/>
                <a:sym typeface="Symbol" charset="0"/>
              </a:rPr>
              <a:t> </a:t>
            </a:r>
            <a:r>
              <a:rPr lang="en-US" sz="2000">
                <a:latin typeface="Tahoma" charset="0"/>
              </a:rPr>
              <a:t>is a quadratic function</a:t>
            </a:r>
          </a:p>
          <a:p>
            <a:pPr eaLnBrk="1" hangingPunct="1"/>
            <a:endParaRPr lang="en-US" sz="2400">
              <a:latin typeface="Tahoma" charset="0"/>
            </a:endParaRPr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155001"/>
              </p:ext>
            </p:extLst>
          </p:nvPr>
        </p:nvGraphicFramePr>
        <p:xfrm>
          <a:off x="6064170" y="1524000"/>
          <a:ext cx="530542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8663900" imgH="16522700" progId="Excel.Chart.8">
                  <p:embed followColorScheme="full"/>
                </p:oleObj>
              </mc:Choice>
              <mc:Fallback>
                <p:oleObj name="Chart" r:id="rId2" imgW="28663900" imgH="16522700" progId="Excel.Chart.8">
                  <p:embed followColorScheme="full"/>
                  <p:pic>
                    <p:nvPicPr>
                      <p:cNvPr id="2765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170" y="1524000"/>
                        <a:ext cx="5305425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134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We analyze algorithms written in pseudo code and estimate the number of primitive operations executed up to a constant factor.</a:t>
            </a:r>
          </a:p>
          <a:p>
            <a:r>
              <a:rPr lang="en-US" sz="2400" dirty="0"/>
              <a:t>In particular, we focus on the </a:t>
            </a:r>
            <a:r>
              <a:rPr lang="en-US" sz="2400" b="1" dirty="0"/>
              <a:t>growth rate </a:t>
            </a:r>
            <a:r>
              <a:rPr lang="en-US" sz="2400" dirty="0"/>
              <a:t>of the running time as a function of the input size n (a big picture approach).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b="1" dirty="0"/>
              <a:t>Big-Oh Notation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f(n) is O(g(n)) if there is a real constant c &gt; 0 and an integer constant n</a:t>
            </a:r>
            <a:r>
              <a:rPr lang="en-US" sz="2400" baseline="-25000" dirty="0"/>
              <a:t>0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</a:t>
            </a:r>
            <a:r>
              <a:rPr lang="en-US" sz="2400" dirty="0"/>
              <a:t>1 such that f(n) ≤ cg(n), for n </a:t>
            </a:r>
            <a:r>
              <a:rPr lang="en-US" sz="2400" dirty="0">
                <a:sym typeface="Symbol"/>
              </a:rPr>
              <a:t> n</a:t>
            </a:r>
            <a:r>
              <a:rPr lang="en-US" sz="2400" baseline="-25000" dirty="0">
                <a:sym typeface="Symbol"/>
              </a:rPr>
              <a:t>0.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This definition is referred to as the “big-Oh” notation.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532174"/>
              </p:ext>
            </p:extLst>
          </p:nvPr>
        </p:nvGraphicFramePr>
        <p:xfrm>
          <a:off x="6242050" y="25908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42050" y="2590800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6284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0A0C-0127-1EB3-4AF3-78741048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Big-Oh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6BB6A-64E1-6169-5D0D-5362F2054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76400"/>
            <a:ext cx="7772400" cy="454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16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i="1" dirty="0"/>
              <a:t>	Is the function 8n – 2   O(n)?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First, we need to find a real constant c&gt;0 and n</a:t>
            </a:r>
            <a:r>
              <a:rPr lang="en-US" sz="2400" baseline="-25000" dirty="0"/>
              <a:t>0</a:t>
            </a:r>
            <a:r>
              <a:rPr lang="en-US" sz="2400" baseline="-25000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1</a:t>
            </a:r>
            <a:r>
              <a:rPr lang="en-US" sz="2400" dirty="0"/>
              <a:t>, such that 8n – 2 ≤ cn for every integer n </a:t>
            </a:r>
            <a:r>
              <a:rPr lang="en-US" sz="2400" dirty="0">
                <a:sym typeface="Symbol"/>
              </a:rPr>
              <a:t> </a:t>
            </a:r>
            <a:r>
              <a:rPr lang="en-US" sz="2400" dirty="0"/>
              <a:t>n</a:t>
            </a:r>
            <a:r>
              <a:rPr lang="en-US" sz="2400" baseline="-25000" dirty="0"/>
              <a:t>0</a:t>
            </a:r>
            <a:r>
              <a:rPr lang="en-US" sz="2400" dirty="0"/>
              <a:t>.</a:t>
            </a:r>
          </a:p>
          <a:p>
            <a:r>
              <a:rPr lang="en-US" sz="2400" dirty="0"/>
              <a:t>One choice is c = 8 and n</a:t>
            </a:r>
            <a:r>
              <a:rPr lang="en-US" sz="2400" baseline="-25000" dirty="0"/>
              <a:t>0</a:t>
            </a:r>
            <a:r>
              <a:rPr lang="en-US" sz="2400" dirty="0"/>
              <a:t> = 1</a:t>
            </a:r>
          </a:p>
          <a:p>
            <a:r>
              <a:rPr lang="en-US" sz="2400" dirty="0"/>
              <a:t>Any real number c </a:t>
            </a:r>
            <a:r>
              <a:rPr lang="en-US" sz="2400" dirty="0">
                <a:sym typeface="Symbol"/>
              </a:rPr>
              <a:t> 8</a:t>
            </a:r>
            <a:r>
              <a:rPr lang="en-US" sz="2400" dirty="0"/>
              <a:t> and n</a:t>
            </a:r>
            <a:r>
              <a:rPr lang="en-US" sz="2400" baseline="-25000" dirty="0"/>
              <a:t>0 </a:t>
            </a:r>
            <a:r>
              <a:rPr lang="en-US" sz="2400" dirty="0"/>
              <a:t>= 1 will work.</a:t>
            </a:r>
          </a:p>
          <a:p>
            <a:endParaRPr lang="en-US" sz="2400" dirty="0"/>
          </a:p>
          <a:p>
            <a:r>
              <a:rPr lang="en-US" sz="2400" dirty="0"/>
              <a:t>This big-Oh is asymptotic because f(n) ≤ g(n) as n grows to infinity.</a:t>
            </a:r>
          </a:p>
          <a:p>
            <a:r>
              <a:rPr lang="en-US" sz="2400" dirty="0"/>
              <a:t>This relationship holds to a constant factor n </a:t>
            </a:r>
            <a:r>
              <a:rPr lang="en-US" sz="2400" dirty="0">
                <a:sym typeface="Symbol"/>
              </a:rPr>
              <a:t> </a:t>
            </a:r>
            <a:r>
              <a:rPr lang="en-US" sz="2400" dirty="0"/>
              <a:t>n</a:t>
            </a:r>
            <a:r>
              <a:rPr lang="en-US" sz="2400" baseline="-25000" dirty="0"/>
              <a:t>0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83994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9906000" cy="4800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i="1" dirty="0"/>
              <a:t>Write an algorithm that computes the maximum value in an array.</a:t>
            </a:r>
          </a:p>
          <a:p>
            <a:pPr marL="0" indent="0" algn="ctr">
              <a:buNone/>
            </a:pPr>
            <a:endParaRPr lang="en-US" sz="2400" dirty="0"/>
          </a:p>
          <a:p>
            <a:r>
              <a:rPr lang="en-US" sz="2400" dirty="0"/>
              <a:t>What is the big-Oh of this algorithm?</a:t>
            </a:r>
          </a:p>
          <a:p>
            <a:r>
              <a:rPr lang="en-US" sz="2400" dirty="0"/>
              <a:t>Simplifications in the big-Oh notation</a:t>
            </a:r>
          </a:p>
          <a:p>
            <a:pPr lvl="1"/>
            <a:r>
              <a:rPr lang="en-US" sz="2400" dirty="0"/>
              <a:t>ignore constant factors and lower order terms in the big-Oh natation.</a:t>
            </a:r>
          </a:p>
          <a:p>
            <a:r>
              <a:rPr lang="en-US" sz="2400" dirty="0"/>
              <a:t>For example, consider the following polynomial:</a:t>
            </a:r>
          </a:p>
          <a:p>
            <a:pPr marL="0" indent="0">
              <a:buNone/>
            </a:pPr>
            <a:r>
              <a:rPr lang="en-US" sz="2400" dirty="0"/>
              <a:t>	5n</a:t>
            </a:r>
            <a:r>
              <a:rPr lang="en-US" sz="2400" baseline="30000" dirty="0"/>
              <a:t>4 </a:t>
            </a:r>
            <a:r>
              <a:rPr lang="en-US" sz="2400" dirty="0"/>
              <a:t>+3n</a:t>
            </a:r>
            <a:r>
              <a:rPr lang="en-US" sz="2400" baseline="30000" dirty="0"/>
              <a:t>3 </a:t>
            </a:r>
            <a:r>
              <a:rPr lang="en-US" sz="2400" dirty="0"/>
              <a:t>+ 2n</a:t>
            </a:r>
            <a:r>
              <a:rPr lang="en-US" sz="2400" baseline="30000" dirty="0"/>
              <a:t>2 </a:t>
            </a:r>
            <a:r>
              <a:rPr lang="en-US" sz="2400" dirty="0"/>
              <a:t>+4n + 1 ≤ (5 + 3 +2 +4 +1)n</a:t>
            </a:r>
            <a:r>
              <a:rPr lang="en-US" sz="2400" baseline="30000" dirty="0"/>
              <a:t>4  </a:t>
            </a:r>
            <a:r>
              <a:rPr lang="en-US" sz="2400" dirty="0"/>
              <a:t>= cn</a:t>
            </a:r>
            <a:r>
              <a:rPr lang="en-US" sz="2400" baseline="30000" dirty="0"/>
              <a:t>4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			for c = 15 when n </a:t>
            </a:r>
            <a:r>
              <a:rPr lang="en-US" sz="2400" dirty="0">
                <a:sym typeface="Symbol"/>
              </a:rPr>
              <a:t> </a:t>
            </a:r>
            <a:r>
              <a:rPr lang="en-US" sz="2400" dirty="0"/>
              <a:t>n</a:t>
            </a:r>
            <a:r>
              <a:rPr lang="en-US" sz="2400" baseline="-25000" dirty="0"/>
              <a:t>0 </a:t>
            </a:r>
            <a:r>
              <a:rPr lang="en-US" sz="2400" dirty="0"/>
              <a:t>= 1.</a:t>
            </a:r>
          </a:p>
          <a:p>
            <a:r>
              <a:rPr lang="en-US" sz="2400" dirty="0"/>
              <a:t>So we can conclude the polynomial to be O(n</a:t>
            </a:r>
            <a:r>
              <a:rPr lang="en-US" sz="2400" baseline="30000" dirty="0"/>
              <a:t>4</a:t>
            </a:r>
            <a:r>
              <a:rPr lang="en-US" sz="2400" dirty="0"/>
              <a:t>)  ignoring the other details.</a:t>
            </a:r>
          </a:p>
        </p:txBody>
      </p:sp>
    </p:spTree>
    <p:extLst>
      <p:ext uri="{BB962C8B-B14F-4D97-AF65-F5344CB8AC3E}">
        <p14:creationId xmlns:p14="http://schemas.microsoft.com/office/powerpoint/2010/main" val="253681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fact, we can generalize the growth of any polynomial function.</a:t>
            </a:r>
          </a:p>
          <a:p>
            <a:r>
              <a:rPr lang="en-US" sz="2400" dirty="0"/>
              <a:t>If f(n) is a polynomial of degree d, i.e. </a:t>
            </a:r>
          </a:p>
          <a:p>
            <a:pPr marL="0" indent="0">
              <a:buNone/>
            </a:pPr>
            <a:r>
              <a:rPr lang="en-US" sz="2400" dirty="0"/>
              <a:t>		f(n) = a</a:t>
            </a:r>
            <a:r>
              <a:rPr lang="en-US" sz="2400" baseline="-25000" dirty="0"/>
              <a:t>0 </a:t>
            </a:r>
            <a:r>
              <a:rPr lang="en-US" sz="2400" dirty="0"/>
              <a:t> + </a:t>
            </a:r>
            <a:r>
              <a:rPr lang="en-US" sz="2400" baseline="-25000" dirty="0"/>
              <a:t> </a:t>
            </a:r>
            <a:r>
              <a:rPr lang="en-US" sz="2400" dirty="0"/>
              <a:t> a</a:t>
            </a:r>
            <a:r>
              <a:rPr lang="en-US" sz="2400" baseline="-25000" dirty="0"/>
              <a:t>1</a:t>
            </a:r>
            <a:r>
              <a:rPr lang="en-US" sz="2400" dirty="0"/>
              <a:t> n + … +</a:t>
            </a:r>
            <a:r>
              <a:rPr lang="en-US" sz="2400" baseline="-25000" dirty="0"/>
              <a:t> </a:t>
            </a:r>
            <a:r>
              <a:rPr lang="en-US" sz="2400" dirty="0"/>
              <a:t> </a:t>
            </a:r>
            <a:r>
              <a:rPr lang="en-US" sz="2400" dirty="0" err="1"/>
              <a:t>a</a:t>
            </a:r>
            <a:r>
              <a:rPr lang="en-US" sz="2400" baseline="-25000" dirty="0" err="1"/>
              <a:t>d</a:t>
            </a:r>
            <a:r>
              <a:rPr lang="en-US" sz="2400" dirty="0" err="1"/>
              <a:t>n</a:t>
            </a:r>
            <a:r>
              <a:rPr lang="en-US" sz="2400" baseline="30000" dirty="0" err="1"/>
              <a:t>d</a:t>
            </a:r>
            <a:endParaRPr lang="en-US" sz="2400" baseline="-25000" dirty="0"/>
          </a:p>
          <a:p>
            <a:pPr marL="0" indent="0">
              <a:buNone/>
            </a:pPr>
            <a:r>
              <a:rPr lang="en-US" sz="2400" dirty="0"/>
              <a:t>	and a</a:t>
            </a:r>
            <a:r>
              <a:rPr lang="en-US" sz="2400" baseline="-25000" dirty="0"/>
              <a:t>d</a:t>
            </a:r>
            <a:r>
              <a:rPr lang="en-US" sz="2400" dirty="0"/>
              <a:t> &gt; 0, </a:t>
            </a:r>
          </a:p>
          <a:p>
            <a:pPr marL="0" indent="0">
              <a:buNone/>
            </a:pPr>
            <a:r>
              <a:rPr lang="en-US" sz="2400" dirty="0"/>
              <a:t>       then f(n) is O(</a:t>
            </a:r>
            <a:r>
              <a:rPr lang="en-US" sz="2400" dirty="0" err="1"/>
              <a:t>n</a:t>
            </a:r>
            <a:r>
              <a:rPr lang="en-US" sz="2400" baseline="30000" dirty="0" err="1"/>
              <a:t>d</a:t>
            </a:r>
            <a:r>
              <a:rPr lang="en-US" sz="2400" dirty="0"/>
              <a:t>).  </a:t>
            </a:r>
          </a:p>
          <a:p>
            <a:r>
              <a:rPr lang="en-US" sz="2400" dirty="0"/>
              <a:t>Prove that the above is true.</a:t>
            </a:r>
          </a:p>
          <a:p>
            <a:r>
              <a:rPr lang="en-US" sz="2400" dirty="0"/>
              <a:t>Prove that 5n</a:t>
            </a:r>
            <a:r>
              <a:rPr lang="en-US" sz="2400" baseline="30000" dirty="0"/>
              <a:t>2</a:t>
            </a:r>
            <a:r>
              <a:rPr lang="en-US" sz="2400" dirty="0"/>
              <a:t> + 3nlogn + 2n + 5 is o(n</a:t>
            </a:r>
            <a:r>
              <a:rPr lang="en-US" sz="2400" baseline="30000" dirty="0"/>
              <a:t>2</a:t>
            </a:r>
            <a:r>
              <a:rPr lang="en-US" sz="2400" dirty="0"/>
              <a:t>).</a:t>
            </a:r>
          </a:p>
          <a:p>
            <a:r>
              <a:rPr lang="en-US" sz="2400" dirty="0"/>
              <a:t>Prove that 3logn + 2 is O(</a:t>
            </a:r>
            <a:r>
              <a:rPr lang="en-US" sz="2400" dirty="0" err="1"/>
              <a:t>logn</a:t>
            </a:r>
            <a:r>
              <a:rPr lang="en-US" sz="2400" dirty="0"/>
              <a:t>)</a:t>
            </a:r>
          </a:p>
          <a:p>
            <a:r>
              <a:rPr lang="en-US" sz="2400" dirty="0"/>
              <a:t>Prove that 2</a:t>
            </a:r>
            <a:r>
              <a:rPr lang="en-US" sz="2400" baseline="30000" dirty="0"/>
              <a:t>n+2 </a:t>
            </a:r>
            <a:r>
              <a:rPr lang="en-US" sz="2400" dirty="0"/>
              <a:t> is O(2</a:t>
            </a:r>
            <a:r>
              <a:rPr lang="en-US" sz="2400" baseline="30000" dirty="0"/>
              <a:t>n</a:t>
            </a:r>
            <a:r>
              <a:rPr lang="en-US" sz="2400" dirty="0"/>
              <a:t>)</a:t>
            </a:r>
          </a:p>
          <a:p>
            <a:r>
              <a:rPr lang="en-US" sz="2400" dirty="0"/>
              <a:t>Prove that 2n + 100 logn is O(n)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2839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discuss the seven most important functions to analyze algorithms.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(1) The constant function.</a:t>
            </a:r>
          </a:p>
          <a:p>
            <a:pPr marL="0" indent="0">
              <a:buNone/>
            </a:pPr>
            <a:r>
              <a:rPr lang="en-US" sz="2400" dirty="0"/>
              <a:t>		f(n) = c</a:t>
            </a:r>
          </a:p>
          <a:p>
            <a:pPr marL="0" indent="0">
              <a:buNone/>
            </a:pPr>
            <a:r>
              <a:rPr lang="en-US" sz="2400" dirty="0"/>
              <a:t>	where c is some constant.</a:t>
            </a:r>
          </a:p>
          <a:p>
            <a:pPr lvl="1"/>
            <a:r>
              <a:rPr lang="en-US" sz="2400" dirty="0"/>
              <a:t>The value of c does not vary, regardless of the value of n.</a:t>
            </a:r>
          </a:p>
          <a:p>
            <a:pPr lvl="1"/>
            <a:r>
              <a:rPr lang="en-US" sz="2400" dirty="0"/>
              <a:t>The most fundamental constant function is g(n) = 1.</a:t>
            </a:r>
          </a:p>
          <a:p>
            <a:pPr lvl="1"/>
            <a:r>
              <a:rPr lang="en-US" sz="2400" dirty="0"/>
              <a:t>All other constants c can be viewed as c times g(n), i.e.</a:t>
            </a:r>
          </a:p>
          <a:p>
            <a:pPr marL="457200" lvl="1" indent="0">
              <a:buNone/>
            </a:pPr>
            <a:r>
              <a:rPr lang="en-US" sz="2400" dirty="0"/>
              <a:t>		f(n) =cg(n)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7403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Logarithmic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(2) The Logarithmic Function.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f(n) = log</a:t>
            </a:r>
            <a:r>
              <a:rPr lang="en-US" sz="2400" baseline="-25000" dirty="0"/>
              <a:t>b</a:t>
            </a:r>
            <a:r>
              <a:rPr lang="en-US" sz="2400" dirty="0"/>
              <a:t>n, for some constant b &gt; 1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400" dirty="0"/>
              <a:t>x = log</a:t>
            </a:r>
            <a:r>
              <a:rPr lang="en-US" sz="2400" baseline="-25000" dirty="0"/>
              <a:t>b</a:t>
            </a:r>
            <a:r>
              <a:rPr lang="en-US" sz="2400" dirty="0"/>
              <a:t>n if and only if b</a:t>
            </a:r>
            <a:r>
              <a:rPr lang="en-US" sz="2400" baseline="30000" dirty="0"/>
              <a:t>x  </a:t>
            </a:r>
            <a:r>
              <a:rPr lang="en-US" sz="2400" dirty="0"/>
              <a:t>= n. </a:t>
            </a:r>
          </a:p>
          <a:p>
            <a:pPr lvl="1"/>
            <a:r>
              <a:rPr lang="en-US" sz="2400" dirty="0"/>
              <a:t>By convention, we assume a log of base 2.</a:t>
            </a:r>
          </a:p>
          <a:p>
            <a:pPr lvl="1"/>
            <a:r>
              <a:rPr lang="en-US" sz="2400" dirty="0"/>
              <a:t>logn =log</a:t>
            </a:r>
            <a:r>
              <a:rPr lang="en-US" sz="2400" baseline="-25000" dirty="0"/>
              <a:t>2</a:t>
            </a:r>
            <a:r>
              <a:rPr lang="en-US" sz="2400" dirty="0"/>
              <a:t>n  </a:t>
            </a:r>
          </a:p>
        </p:txBody>
      </p:sp>
    </p:spTree>
    <p:extLst>
      <p:ext uri="{BB962C8B-B14F-4D97-AF65-F5344CB8AC3E}">
        <p14:creationId xmlns:p14="http://schemas.microsoft.com/office/powerpoint/2010/main" val="2069923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Logarithmic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Assume real number a &gt; 0, b &gt; 1, c &gt; 0, d &gt; 1   below.</a:t>
            </a:r>
          </a:p>
          <a:p>
            <a:pPr lvl="1"/>
            <a:r>
              <a:rPr lang="en-US" sz="2400" dirty="0"/>
              <a:t>log</a:t>
            </a:r>
            <a:r>
              <a:rPr lang="en-US" sz="2400" baseline="-25000" dirty="0"/>
              <a:t>b</a:t>
            </a:r>
            <a:r>
              <a:rPr lang="en-US" sz="2400" dirty="0"/>
              <a:t>ac = log</a:t>
            </a:r>
            <a:r>
              <a:rPr lang="en-US" sz="2400" baseline="-25000" dirty="0"/>
              <a:t>b</a:t>
            </a:r>
            <a:r>
              <a:rPr lang="en-US" sz="2400" dirty="0"/>
              <a:t>a + log</a:t>
            </a:r>
            <a:r>
              <a:rPr lang="en-US" sz="2400" baseline="-25000" dirty="0"/>
              <a:t>b</a:t>
            </a:r>
            <a:r>
              <a:rPr lang="en-US" sz="2400" dirty="0"/>
              <a:t>c</a:t>
            </a:r>
          </a:p>
          <a:p>
            <a:pPr lvl="1"/>
            <a:r>
              <a:rPr lang="en-US" sz="2400" dirty="0"/>
              <a:t>log</a:t>
            </a:r>
            <a:r>
              <a:rPr lang="en-US" sz="2400" baseline="-25000" dirty="0"/>
              <a:t>b</a:t>
            </a:r>
            <a:r>
              <a:rPr lang="en-US" sz="2400" dirty="0"/>
              <a:t>(a/c) =log</a:t>
            </a:r>
            <a:r>
              <a:rPr lang="en-US" sz="2400" baseline="-25000" dirty="0"/>
              <a:t>b</a:t>
            </a:r>
            <a:r>
              <a:rPr lang="en-US" sz="2400" dirty="0"/>
              <a:t>a – log</a:t>
            </a:r>
            <a:r>
              <a:rPr lang="en-US" sz="2400" baseline="-25000" dirty="0"/>
              <a:t>b</a:t>
            </a:r>
            <a:r>
              <a:rPr lang="en-US" sz="2400" dirty="0"/>
              <a:t>c</a:t>
            </a:r>
          </a:p>
          <a:p>
            <a:pPr lvl="1"/>
            <a:r>
              <a:rPr lang="en-US" sz="2400" dirty="0"/>
              <a:t>log</a:t>
            </a:r>
            <a:r>
              <a:rPr lang="en-US" sz="2400" baseline="-25000" dirty="0"/>
              <a:t>b</a:t>
            </a:r>
            <a:r>
              <a:rPr lang="en-US" sz="2400" dirty="0"/>
              <a:t>a</a:t>
            </a:r>
            <a:r>
              <a:rPr lang="en-US" sz="2400" baseline="30000" dirty="0"/>
              <a:t>c </a:t>
            </a:r>
            <a:r>
              <a:rPr lang="en-US" sz="2400" dirty="0"/>
              <a:t> = clog</a:t>
            </a:r>
            <a:r>
              <a:rPr lang="en-US" sz="2400" baseline="-25000" dirty="0"/>
              <a:t>b</a:t>
            </a:r>
            <a:r>
              <a:rPr lang="en-US" sz="2400" dirty="0"/>
              <a:t>a</a:t>
            </a:r>
          </a:p>
          <a:p>
            <a:r>
              <a:rPr lang="en-US" sz="2400" dirty="0"/>
              <a:t>Notation: log</a:t>
            </a:r>
            <a:r>
              <a:rPr lang="en-US" sz="2400" baseline="30000" dirty="0"/>
              <a:t>c</a:t>
            </a:r>
            <a:r>
              <a:rPr lang="en-US" sz="2400" dirty="0"/>
              <a:t>n to denote (logn)</a:t>
            </a:r>
            <a:r>
              <a:rPr lang="en-US" sz="2400" baseline="300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69975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(3) The linear function f(n) = n </a:t>
            </a:r>
          </a:p>
          <a:p>
            <a:pPr lvl="1"/>
            <a:r>
              <a:rPr lang="en-US" sz="2400" dirty="0"/>
              <a:t>Time proportion to the number of elements</a:t>
            </a:r>
          </a:p>
          <a:p>
            <a:pPr lvl="1"/>
            <a:r>
              <a:rPr lang="en-US" sz="2400" dirty="0"/>
              <a:t>For example, going through an array of n elements, requires n comparisons.</a:t>
            </a:r>
          </a:p>
          <a:p>
            <a:pPr lvl="1"/>
            <a:r>
              <a:rPr lang="en-US" sz="2400" dirty="0"/>
              <a:t>This is the best running time to process a collection of n objects outside of the computer memory (read in n objects).</a:t>
            </a:r>
          </a:p>
        </p:txBody>
      </p:sp>
    </p:spTree>
    <p:extLst>
      <p:ext uri="{BB962C8B-B14F-4D97-AF65-F5344CB8AC3E}">
        <p14:creationId xmlns:p14="http://schemas.microsoft.com/office/powerpoint/2010/main" val="1466113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N-Log-N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(4) The n-log-n function f(n) = nlogn   </a:t>
            </a:r>
          </a:p>
          <a:p>
            <a:pPr lvl="1"/>
            <a:r>
              <a:rPr lang="en-US" sz="2400" dirty="0"/>
              <a:t>n times logn.</a:t>
            </a:r>
          </a:p>
          <a:p>
            <a:pPr lvl="1"/>
            <a:r>
              <a:rPr lang="en-US" sz="2400" dirty="0"/>
              <a:t>This class of algorithms takes a little longer than the linear function, but a lot faster then the quadratic function.</a:t>
            </a:r>
          </a:p>
        </p:txBody>
      </p:sp>
    </p:spTree>
    <p:extLst>
      <p:ext uri="{BB962C8B-B14F-4D97-AF65-F5344CB8AC3E}">
        <p14:creationId xmlns:p14="http://schemas.microsoft.com/office/powerpoint/2010/main" val="2043611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(5) The quadratic function f(n) = n</a:t>
            </a:r>
            <a:r>
              <a:rPr lang="en-US" sz="2400" baseline="30000" dirty="0"/>
              <a:t>2</a:t>
            </a:r>
            <a:r>
              <a:rPr lang="en-US" sz="2400" dirty="0"/>
              <a:t> = n*n</a:t>
            </a:r>
          </a:p>
          <a:p>
            <a:pPr lvl="1"/>
            <a:r>
              <a:rPr lang="en-US" sz="2400" dirty="0"/>
              <a:t>Quadratic function appear in nested loops: the outer loop has n elements and the inner loop has n elements.</a:t>
            </a:r>
          </a:p>
          <a:p>
            <a:pPr lvl="1"/>
            <a:r>
              <a:rPr lang="en-US" sz="2400" dirty="0"/>
              <a:t>Quadratic function occur in nested loops where the operations inside the nested loop increases monotonically.</a:t>
            </a:r>
          </a:p>
          <a:p>
            <a:pPr lvl="1"/>
            <a:r>
              <a:rPr lang="en-US" sz="2400" dirty="0"/>
              <a:t> 1 + 2 + 3 + … + (n - 2) + (n - 1) + n</a:t>
            </a:r>
          </a:p>
          <a:p>
            <a:pPr lvl="1"/>
            <a:r>
              <a:rPr lang="en-US" sz="2400" dirty="0"/>
              <a:t>For any integer n </a:t>
            </a:r>
            <a:r>
              <a:rPr lang="en-US" sz="2400" dirty="0">
                <a:sym typeface="Symbol"/>
              </a:rPr>
              <a:t> 1,</a:t>
            </a:r>
          </a:p>
          <a:p>
            <a:pPr marL="400050" lvl="1" indent="0">
              <a:buNone/>
            </a:pPr>
            <a:r>
              <a:rPr lang="en-US" sz="2400" dirty="0">
                <a:sym typeface="Symbol"/>
              </a:rPr>
              <a:t>    	1 + 2 + 3…+ (n - 2) + (n - 1) + n = n(n + 1)/2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1255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143000"/>
          </a:xfrm>
        </p:spPr>
        <p:txBody>
          <a:bodyPr/>
          <a:lstStyle/>
          <a:p>
            <a:r>
              <a:rPr lang="en-US" dirty="0"/>
              <a:t>Other Polynomials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(6) The cubic function f(n) = n</a:t>
            </a:r>
            <a:r>
              <a:rPr lang="en-US" sz="2400" baseline="30000" dirty="0"/>
              <a:t>3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Polynomials.</a:t>
            </a:r>
          </a:p>
          <a:p>
            <a:pPr lvl="1"/>
            <a:r>
              <a:rPr lang="en-US" sz="2400" dirty="0"/>
              <a:t>Polynomials are functions of the form:</a:t>
            </a:r>
          </a:p>
          <a:p>
            <a:pPr lvl="1"/>
            <a:r>
              <a:rPr lang="en-US" sz="2400" dirty="0"/>
              <a:t>f(n) = a</a:t>
            </a:r>
            <a:r>
              <a:rPr lang="en-US" sz="2400" baseline="-25000" dirty="0"/>
              <a:t>0</a:t>
            </a:r>
            <a:r>
              <a:rPr lang="en-US" sz="2400" dirty="0"/>
              <a:t> + a</a:t>
            </a:r>
            <a:r>
              <a:rPr lang="en-US" sz="2400" baseline="-25000" dirty="0"/>
              <a:t>1</a:t>
            </a:r>
            <a:r>
              <a:rPr lang="en-US" sz="2400" dirty="0"/>
              <a:t>n + a</a:t>
            </a:r>
            <a:r>
              <a:rPr lang="en-US" sz="2400" baseline="-25000" dirty="0"/>
              <a:t>2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+ a</a:t>
            </a:r>
            <a:r>
              <a:rPr lang="en-US" sz="2400" baseline="-25000" dirty="0"/>
              <a:t>3</a:t>
            </a:r>
            <a:r>
              <a:rPr lang="en-US" sz="2400" dirty="0"/>
              <a:t>n</a:t>
            </a:r>
            <a:r>
              <a:rPr lang="en-US" sz="2400" baseline="30000" dirty="0"/>
              <a:t>3</a:t>
            </a:r>
            <a:r>
              <a:rPr lang="en-US" sz="2400" dirty="0"/>
              <a:t> + a</a:t>
            </a:r>
            <a:r>
              <a:rPr lang="en-US" sz="2400" baseline="-25000" dirty="0"/>
              <a:t>3</a:t>
            </a:r>
            <a:r>
              <a:rPr lang="en-US" sz="2400" dirty="0"/>
              <a:t>n</a:t>
            </a:r>
            <a:r>
              <a:rPr lang="en-US" sz="2400" baseline="30000" dirty="0"/>
              <a:t>3</a:t>
            </a:r>
            <a:r>
              <a:rPr lang="en-US" sz="2400" dirty="0"/>
              <a:t> + … + </a:t>
            </a:r>
            <a:r>
              <a:rPr lang="en-US" sz="2400" dirty="0" err="1"/>
              <a:t>a</a:t>
            </a:r>
            <a:r>
              <a:rPr lang="en-US" sz="2400" baseline="-25000" dirty="0" err="1"/>
              <a:t>d</a:t>
            </a:r>
            <a:r>
              <a:rPr lang="en-US" sz="2400" dirty="0" err="1"/>
              <a:t>n</a:t>
            </a:r>
            <a:r>
              <a:rPr lang="en-US" sz="2400" baseline="30000" dirty="0" err="1"/>
              <a:t>d</a:t>
            </a:r>
            <a:r>
              <a:rPr lang="en-US" sz="2400" dirty="0"/>
              <a:t>, where a</a:t>
            </a:r>
            <a:r>
              <a:rPr lang="en-US" sz="2400" baseline="-25000" dirty="0"/>
              <a:t>0</a:t>
            </a:r>
            <a:r>
              <a:rPr lang="en-US" sz="2400" dirty="0"/>
              <a:t>, a</a:t>
            </a:r>
            <a:r>
              <a:rPr lang="en-US" sz="2400" baseline="-25000" dirty="0"/>
              <a:t>1</a:t>
            </a:r>
            <a:r>
              <a:rPr lang="en-US" sz="2400" dirty="0"/>
              <a:t>, …a</a:t>
            </a:r>
            <a:r>
              <a:rPr lang="en-US" sz="2400" baseline="-25000" dirty="0"/>
              <a:t>d</a:t>
            </a:r>
            <a:r>
              <a:rPr lang="en-US" sz="2400" dirty="0"/>
              <a:t> are </a:t>
            </a:r>
            <a:r>
              <a:rPr lang="en-US" sz="2400" b="1" dirty="0"/>
              <a:t>coefficients</a:t>
            </a:r>
            <a:r>
              <a:rPr lang="en-US" sz="2400" dirty="0"/>
              <a:t> (constants) of the polynomial and a</a:t>
            </a:r>
            <a:r>
              <a:rPr lang="en-US" sz="2400" baseline="-25000" dirty="0"/>
              <a:t>d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 0.</a:t>
            </a:r>
            <a:r>
              <a:rPr lang="en-US" sz="2400" dirty="0"/>
              <a:t>  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degree</a:t>
            </a:r>
            <a:r>
              <a:rPr lang="en-US" sz="2400" dirty="0"/>
              <a:t> of the Polynomial is d, the coefficient of the highest power in the polynomials.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1787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(7) The exponential function f(n) = b</a:t>
            </a:r>
            <a:r>
              <a:rPr lang="en-US" sz="2200" baseline="30000" dirty="0"/>
              <a:t>n</a:t>
            </a:r>
          </a:p>
          <a:p>
            <a:pPr lvl="1"/>
            <a:r>
              <a:rPr lang="en-US" sz="2200" dirty="0"/>
              <a:t>Where b is a positive constant called the base and n is the </a:t>
            </a:r>
            <a:r>
              <a:rPr lang="en-US" sz="2200" b="1" dirty="0"/>
              <a:t>exponent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Some transformation rules.</a:t>
            </a:r>
          </a:p>
          <a:p>
            <a:pPr lvl="1"/>
            <a:r>
              <a:rPr lang="en-US" sz="2200" dirty="0"/>
              <a:t>(b</a:t>
            </a:r>
            <a:r>
              <a:rPr lang="en-US" sz="2200" baseline="30000" dirty="0"/>
              <a:t>a</a:t>
            </a:r>
            <a:r>
              <a:rPr lang="en-US" sz="2200" dirty="0"/>
              <a:t> )</a:t>
            </a:r>
            <a:r>
              <a:rPr lang="en-US" sz="2200" baseline="30000" dirty="0"/>
              <a:t>c</a:t>
            </a:r>
            <a:r>
              <a:rPr lang="en-US" sz="2200" dirty="0"/>
              <a:t> =b</a:t>
            </a:r>
            <a:r>
              <a:rPr lang="en-US" sz="2200" baseline="30000" dirty="0"/>
              <a:t>ac</a:t>
            </a:r>
            <a:r>
              <a:rPr lang="en-US" sz="2200" dirty="0"/>
              <a:t>   </a:t>
            </a:r>
            <a:endParaRPr lang="en-US" sz="2200" baseline="30000" dirty="0"/>
          </a:p>
          <a:p>
            <a:pPr lvl="1"/>
            <a:r>
              <a:rPr lang="en-US" sz="2200" dirty="0"/>
              <a:t>b</a:t>
            </a:r>
            <a:r>
              <a:rPr lang="en-US" sz="2200" baseline="30000" dirty="0"/>
              <a:t>a</a:t>
            </a:r>
            <a:r>
              <a:rPr lang="en-US" sz="2200" dirty="0"/>
              <a:t>b</a:t>
            </a:r>
            <a:r>
              <a:rPr lang="en-US" sz="2200" baseline="30000" dirty="0"/>
              <a:t>c </a:t>
            </a:r>
            <a:r>
              <a:rPr lang="en-US" sz="2200" dirty="0"/>
              <a:t> = b</a:t>
            </a:r>
            <a:r>
              <a:rPr lang="en-US" sz="2200" baseline="30000" dirty="0"/>
              <a:t>a+c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b</a:t>
            </a:r>
            <a:r>
              <a:rPr lang="en-US" sz="2200" baseline="30000" dirty="0"/>
              <a:t>a</a:t>
            </a:r>
            <a:r>
              <a:rPr lang="en-US" sz="2200" dirty="0"/>
              <a:t>/</a:t>
            </a:r>
            <a:r>
              <a:rPr lang="en-US" sz="2200" dirty="0" err="1"/>
              <a:t>b</a:t>
            </a:r>
            <a:r>
              <a:rPr lang="en-US" sz="2200" baseline="30000" dirty="0" err="1"/>
              <a:t>c</a:t>
            </a:r>
            <a:r>
              <a:rPr lang="en-US" sz="2200" baseline="30000" dirty="0"/>
              <a:t> </a:t>
            </a:r>
            <a:r>
              <a:rPr lang="en-US" sz="2200" dirty="0"/>
              <a:t> = b</a:t>
            </a:r>
            <a:r>
              <a:rPr lang="en-US" sz="2200" baseline="30000" dirty="0"/>
              <a:t>a-c</a:t>
            </a:r>
            <a:r>
              <a:rPr lang="en-US" sz="2200" dirty="0"/>
              <a:t> </a:t>
            </a:r>
            <a:endParaRPr lang="en-US" sz="2200" baseline="30000" dirty="0"/>
          </a:p>
          <a:p>
            <a:r>
              <a:rPr lang="en-US" sz="2200" dirty="0"/>
              <a:t>Example: Geometric sums</a:t>
            </a:r>
          </a:p>
          <a:p>
            <a:pPr lvl="1"/>
            <a:r>
              <a:rPr lang="en-US" sz="2200" dirty="0"/>
              <a:t>For any integer n </a:t>
            </a:r>
            <a:r>
              <a:rPr lang="en-US" sz="2200" dirty="0">
                <a:sym typeface="Symbol"/>
              </a:rPr>
              <a:t> 0, a &gt; 0 and a  1, </a:t>
            </a:r>
            <a:r>
              <a:rPr lang="en-US" sz="2200" baseline="30000" dirty="0">
                <a:sym typeface="Symbol"/>
              </a:rPr>
              <a:t>n</a:t>
            </a:r>
            <a:r>
              <a:rPr lang="en-US" sz="2200" baseline="-25000" dirty="0">
                <a:sym typeface="Symbol"/>
              </a:rPr>
              <a:t>i=0</a:t>
            </a:r>
            <a:r>
              <a:rPr lang="en-US" sz="2200" dirty="0">
                <a:sym typeface="Symbol"/>
              </a:rPr>
              <a:t> a</a:t>
            </a:r>
            <a:r>
              <a:rPr lang="en-US" sz="2200" baseline="30000" dirty="0">
                <a:sym typeface="Symbol"/>
              </a:rPr>
              <a:t>i</a:t>
            </a:r>
            <a:r>
              <a:rPr lang="en-US" sz="2200" dirty="0">
                <a:sym typeface="Symbol"/>
              </a:rPr>
              <a:t> = 1 + a + a</a:t>
            </a:r>
            <a:r>
              <a:rPr lang="en-US" sz="2200" baseline="30000" dirty="0">
                <a:sym typeface="Symbol"/>
              </a:rPr>
              <a:t>2</a:t>
            </a:r>
            <a:r>
              <a:rPr lang="en-US" sz="2200" dirty="0">
                <a:sym typeface="Symbol"/>
              </a:rPr>
              <a:t> + … + a</a:t>
            </a:r>
            <a:r>
              <a:rPr lang="en-US" sz="2200" baseline="30000" dirty="0">
                <a:sym typeface="Symbol"/>
              </a:rPr>
              <a:t>n</a:t>
            </a:r>
            <a:endParaRPr lang="en-US" sz="2200" baseline="30000" dirty="0"/>
          </a:p>
          <a:p>
            <a:pPr lvl="1"/>
            <a:r>
              <a:rPr lang="en-US" sz="2200" dirty="0"/>
              <a:t>Equals (a</a:t>
            </a:r>
            <a:r>
              <a:rPr lang="en-US" sz="2200" baseline="30000" dirty="0"/>
              <a:t>n+1</a:t>
            </a:r>
            <a:r>
              <a:rPr lang="en-US" sz="2200" dirty="0"/>
              <a:t> – 1)/ (a - 1)</a:t>
            </a:r>
          </a:p>
          <a:p>
            <a:pPr lvl="1"/>
            <a:r>
              <a:rPr lang="en-US" sz="2200" dirty="0"/>
              <a:t>Thus, 1 + 2 +…+ 2</a:t>
            </a:r>
            <a:r>
              <a:rPr lang="en-US" sz="2200" baseline="30000" dirty="0"/>
              <a:t>n-1</a:t>
            </a:r>
            <a:r>
              <a:rPr lang="en-US" sz="2200" dirty="0"/>
              <a:t> = 2</a:t>
            </a:r>
            <a:r>
              <a:rPr lang="en-US" sz="2200" baseline="30000" dirty="0"/>
              <a:t>n</a:t>
            </a:r>
            <a:r>
              <a:rPr lang="en-US" sz="2200" dirty="0"/>
              <a:t> - 1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99950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growth rates of the classes of functions.</a:t>
            </a:r>
          </a:p>
          <a:p>
            <a:pPr lvl="1"/>
            <a:r>
              <a:rPr lang="en-US" sz="2400" dirty="0"/>
              <a:t>constant: 1</a:t>
            </a:r>
          </a:p>
          <a:p>
            <a:pPr lvl="1"/>
            <a:r>
              <a:rPr lang="en-US" sz="2400" dirty="0"/>
              <a:t>logarithm: logn</a:t>
            </a:r>
          </a:p>
          <a:p>
            <a:pPr lvl="1"/>
            <a:r>
              <a:rPr lang="en-US" sz="2400" dirty="0"/>
              <a:t>linear: n</a:t>
            </a:r>
          </a:p>
          <a:p>
            <a:pPr lvl="1"/>
            <a:r>
              <a:rPr lang="en-US" sz="2400" dirty="0"/>
              <a:t>n-log-n: nlogn</a:t>
            </a:r>
          </a:p>
          <a:p>
            <a:pPr lvl="1"/>
            <a:r>
              <a:rPr lang="en-US" sz="2400" dirty="0"/>
              <a:t>quadratic: n</a:t>
            </a:r>
            <a:r>
              <a:rPr lang="en-US" sz="2400" baseline="30000" dirty="0"/>
              <a:t>2</a:t>
            </a:r>
          </a:p>
          <a:p>
            <a:pPr lvl="1"/>
            <a:r>
              <a:rPr lang="en-US" sz="2400" dirty="0"/>
              <a:t>cubic: n</a:t>
            </a:r>
            <a:r>
              <a:rPr lang="en-US" sz="2400" baseline="30000" dirty="0"/>
              <a:t>3</a:t>
            </a:r>
          </a:p>
          <a:p>
            <a:pPr lvl="1"/>
            <a:r>
              <a:rPr lang="en-US" sz="2400" dirty="0"/>
              <a:t>exponential: d</a:t>
            </a:r>
            <a:r>
              <a:rPr lang="en-US" sz="2400" baseline="30000" dirty="0"/>
              <a:t>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3147BE-9BD9-A602-8FBA-1D1E0528F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286000"/>
            <a:ext cx="837923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64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C244-4C2C-C22B-B1C6-56D63FAC4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6D19-34D1-BFCC-44EB-985E1C21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0514D-97F3-5089-2E36-AEFE781A6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growth rates of the classes of functions.</a:t>
            </a:r>
          </a:p>
          <a:p>
            <a:pPr lvl="1"/>
            <a:r>
              <a:rPr lang="en-US" sz="2400" dirty="0"/>
              <a:t>constant: 1</a:t>
            </a:r>
          </a:p>
          <a:p>
            <a:pPr lvl="1"/>
            <a:r>
              <a:rPr lang="en-US" sz="2400" dirty="0"/>
              <a:t>logarithm: logn</a:t>
            </a:r>
          </a:p>
          <a:p>
            <a:pPr lvl="1"/>
            <a:r>
              <a:rPr lang="en-US" sz="2400" dirty="0"/>
              <a:t>linear: n</a:t>
            </a:r>
          </a:p>
          <a:p>
            <a:pPr lvl="1"/>
            <a:r>
              <a:rPr lang="en-US" sz="2400" dirty="0"/>
              <a:t>n-log-n: nlogn</a:t>
            </a:r>
          </a:p>
          <a:p>
            <a:pPr lvl="1"/>
            <a:r>
              <a:rPr lang="en-US" sz="2400" dirty="0"/>
              <a:t>quadratic: n</a:t>
            </a:r>
            <a:r>
              <a:rPr lang="en-US" sz="2400" baseline="30000" dirty="0"/>
              <a:t>2</a:t>
            </a:r>
          </a:p>
          <a:p>
            <a:pPr lvl="1"/>
            <a:r>
              <a:rPr lang="en-US" sz="2400" dirty="0"/>
              <a:t>cubic: n</a:t>
            </a:r>
            <a:r>
              <a:rPr lang="en-US" sz="2400" baseline="30000" dirty="0"/>
              <a:t>3</a:t>
            </a:r>
          </a:p>
          <a:p>
            <a:pPr lvl="1"/>
            <a:r>
              <a:rPr lang="en-US" sz="2400" dirty="0"/>
              <a:t>exponential: d</a:t>
            </a:r>
            <a:r>
              <a:rPr lang="en-US" sz="2400" baseline="30000" dirty="0"/>
              <a:t>n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E4B51-2567-DCBD-F7AD-C9A274872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6286"/>
            <a:ext cx="9601200" cy="683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4C2CA3-8E0C-AE9E-0742-9C9C2ACD9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400"/>
            <a:ext cx="9601200" cy="683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18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53EE-83B4-18E6-8AE9-449FB81A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71D5-FD55-9244-BD62-5997312E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E6366C7-4FBA-B85B-10D2-A6D64AF9F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2" y="1981200"/>
            <a:ext cx="12098718" cy="3685381"/>
          </a:xfrm>
        </p:spPr>
      </p:pic>
    </p:spTree>
    <p:extLst>
      <p:ext uri="{BB962C8B-B14F-4D97-AF65-F5344CB8AC3E}">
        <p14:creationId xmlns:p14="http://schemas.microsoft.com/office/powerpoint/2010/main" val="3104046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333DB-BF9A-DAC3-90CE-CB10998D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BD1C-4CE1-3AB8-039B-A16FDDF9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65C2AF-4C86-F259-64C4-62A7735D7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183084"/>
            <a:ext cx="8382000" cy="5072837"/>
          </a:xfrm>
        </p:spPr>
      </p:pic>
    </p:spTree>
    <p:extLst>
      <p:ext uri="{BB962C8B-B14F-4D97-AF65-F5344CB8AC3E}">
        <p14:creationId xmlns:p14="http://schemas.microsoft.com/office/powerpoint/2010/main" val="248108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E34F-C676-604A-6530-944D900F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5123-7CE0-43A8-CC25-1616AAB4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979242-F620-4509-E917-3916710B7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395867"/>
            <a:ext cx="6400800" cy="4743956"/>
          </a:xfrm>
        </p:spPr>
      </p:pic>
    </p:spTree>
    <p:extLst>
      <p:ext uri="{BB962C8B-B14F-4D97-AF65-F5344CB8AC3E}">
        <p14:creationId xmlns:p14="http://schemas.microsoft.com/office/powerpoint/2010/main" val="3715083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701C-7C36-2DE2-FE18-D0753F23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8BDE-C5B6-CDD4-701F-B3DA3770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28CB0A-AF27-0EDF-485E-7AF4F77AF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417638"/>
            <a:ext cx="7795678" cy="4221162"/>
          </a:xfrm>
        </p:spPr>
      </p:pic>
    </p:spTree>
    <p:extLst>
      <p:ext uri="{BB962C8B-B14F-4D97-AF65-F5344CB8AC3E}">
        <p14:creationId xmlns:p14="http://schemas.microsoft.com/office/powerpoint/2010/main" val="1116478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/>
              <a:t>Analysis of Algorithms</a:t>
            </a:r>
          </a:p>
        </p:txBody>
      </p:sp>
      <p:sp>
        <p:nvSpPr>
          <p:cNvPr id="3072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081CD07-4CD9-3644-8D29-823D2ECC1E70}" type="slidenum">
              <a:rPr lang="en-US" sz="1400"/>
              <a:pPr eaLnBrk="1" hangingPunct="1"/>
              <a:t>35</a:t>
            </a:fld>
            <a:endParaRPr lang="en-US" sz="1400" dirty="0"/>
          </a:p>
        </p:txBody>
      </p:sp>
      <p:sp>
        <p:nvSpPr>
          <p:cNvPr id="30723" name="Rectangle 1026"/>
          <p:cNvSpPr>
            <a:spLocks noChangeArrowheads="1"/>
          </p:cNvSpPr>
          <p:nvPr/>
        </p:nvSpPr>
        <p:spPr bwMode="auto">
          <a:xfrm>
            <a:off x="1905000" y="5334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chemeClr val="tx2"/>
                </a:solidFill>
              </a:rPr>
              <a:t>More Big-Oh Examples</a:t>
            </a:r>
          </a:p>
        </p:txBody>
      </p:sp>
      <p:sp>
        <p:nvSpPr>
          <p:cNvPr id="30724" name="Rectangle 1027"/>
          <p:cNvSpPr>
            <a:spLocks noChangeArrowheads="1"/>
          </p:cNvSpPr>
          <p:nvPr/>
        </p:nvSpPr>
        <p:spPr bwMode="auto">
          <a:xfrm>
            <a:off x="2209800" y="14478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14350" indent="-514350">
              <a:spcBef>
                <a:spcPct val="20000"/>
              </a:spcBef>
              <a:buSzPct val="75000"/>
              <a:buFont typeface="Wingdings" charset="2"/>
              <a:buChar char="q"/>
            </a:pPr>
            <a:r>
              <a:rPr lang="en-US" sz="2800" dirty="0"/>
              <a:t>7n - 2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Blip>
                <a:blip r:embed="rId2"/>
              </a:buBlip>
            </a:pPr>
            <a:endParaRPr lang="en-US" sz="2800" dirty="0"/>
          </a:p>
        </p:txBody>
      </p:sp>
      <p:sp>
        <p:nvSpPr>
          <p:cNvPr id="39940" name="Rectangle 1028"/>
          <p:cNvSpPr>
            <a:spLocks noChangeArrowheads="1"/>
          </p:cNvSpPr>
          <p:nvPr/>
        </p:nvSpPr>
        <p:spPr bwMode="auto">
          <a:xfrm>
            <a:off x="2011364" y="1930400"/>
            <a:ext cx="781843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/>
              <a:t>7n-2 is O(n)</a:t>
            </a: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/>
              <a:t>need c &gt; 0 and 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>
                <a:sym typeface="Symbol" charset="0"/>
              </a:rPr>
              <a:t> 1 such that</a:t>
            </a:r>
            <a:r>
              <a:rPr lang="en-US" sz="2000" dirty="0"/>
              <a:t> 7 n - 2 </a:t>
            </a:r>
            <a:r>
              <a:rPr lang="en-US" sz="2000" dirty="0">
                <a:sym typeface="Symbol" charset="0"/>
              </a:rPr>
              <a:t> c </a:t>
            </a:r>
            <a:r>
              <a:rPr lang="en-US" sz="2000" dirty="0">
                <a:cs typeface="Arial" charset="0"/>
                <a:sym typeface="Symbol" charset="0"/>
              </a:rPr>
              <a:t>n for n </a:t>
            </a:r>
            <a:r>
              <a:rPr lang="en-US" sz="2000" dirty="0">
                <a:sym typeface="Symbol" charset="0"/>
              </a:rPr>
              <a:t> n</a:t>
            </a:r>
            <a:r>
              <a:rPr lang="en-US" sz="2000" baseline="-25000" dirty="0">
                <a:sym typeface="Symbol" charset="0"/>
              </a:rPr>
              <a:t>0</a:t>
            </a:r>
            <a:endParaRPr lang="en-US" sz="2000" dirty="0">
              <a:sym typeface="Symbol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>
                <a:sym typeface="Symbol" charset="0"/>
              </a:rPr>
              <a:t>this is true for c = 7 and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>
                <a:sym typeface="Symbol" charset="0"/>
              </a:rPr>
              <a:t> = 1</a:t>
            </a:r>
            <a:endParaRPr lang="en-US" sz="2000" baseline="-25000" dirty="0"/>
          </a:p>
          <a:p>
            <a:pPr marL="2857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endParaRPr lang="en-US" sz="2000" dirty="0"/>
          </a:p>
        </p:txBody>
      </p:sp>
      <p:sp>
        <p:nvSpPr>
          <p:cNvPr id="30726" name="Rectangle 1029"/>
          <p:cNvSpPr>
            <a:spLocks noChangeArrowheads="1"/>
          </p:cNvSpPr>
          <p:nvPr/>
        </p:nvSpPr>
        <p:spPr bwMode="auto">
          <a:xfrm>
            <a:off x="2209800" y="31242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SzPct val="75000"/>
              <a:buFont typeface="Wingdings" charset="2"/>
              <a:buChar char="q"/>
            </a:pPr>
            <a:r>
              <a:rPr lang="en-US" sz="2800" dirty="0"/>
              <a:t>3 n</a:t>
            </a:r>
            <a:r>
              <a:rPr lang="en-US" sz="2800" baseline="30000" dirty="0"/>
              <a:t>3</a:t>
            </a:r>
            <a:r>
              <a:rPr lang="en-US" sz="2800" dirty="0"/>
              <a:t> + 20 n</a:t>
            </a:r>
            <a:r>
              <a:rPr lang="en-US" sz="2800" baseline="30000" dirty="0"/>
              <a:t>2</a:t>
            </a:r>
            <a:r>
              <a:rPr lang="en-US" sz="2800" dirty="0"/>
              <a:t> + 5</a:t>
            </a:r>
          </a:p>
          <a:p>
            <a:pPr marL="2857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endParaRPr lang="en-US" sz="2800" dirty="0">
              <a:latin typeface="Times New Roman" charset="0"/>
            </a:endParaRPr>
          </a:p>
        </p:txBody>
      </p:sp>
      <p:sp>
        <p:nvSpPr>
          <p:cNvPr id="39942" name="Rectangle 1030"/>
          <p:cNvSpPr>
            <a:spLocks noChangeArrowheads="1"/>
          </p:cNvSpPr>
          <p:nvPr/>
        </p:nvSpPr>
        <p:spPr bwMode="auto">
          <a:xfrm>
            <a:off x="1981200" y="3581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/>
              <a:t>3 n</a:t>
            </a:r>
            <a:r>
              <a:rPr lang="en-US" sz="2000" baseline="30000" dirty="0"/>
              <a:t>3</a:t>
            </a:r>
            <a:r>
              <a:rPr lang="en-US" sz="2000" dirty="0"/>
              <a:t> + 20 n</a:t>
            </a:r>
            <a:r>
              <a:rPr lang="en-US" sz="2000" baseline="30000" dirty="0"/>
              <a:t>2</a:t>
            </a:r>
            <a:r>
              <a:rPr lang="en-US" sz="2000" dirty="0"/>
              <a:t> + 5 is O(n</a:t>
            </a:r>
            <a:r>
              <a:rPr lang="en-US" sz="2000" baseline="30000" dirty="0"/>
              <a:t>3</a:t>
            </a:r>
            <a:r>
              <a:rPr lang="en-US" sz="2000" dirty="0"/>
              <a:t>)</a:t>
            </a: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/>
              <a:t>need c &gt; 0 and 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>
                <a:sym typeface="Symbol" charset="0"/>
              </a:rPr>
              <a:t> 1 such that</a:t>
            </a:r>
            <a:r>
              <a:rPr lang="en-US" sz="2000" dirty="0"/>
              <a:t> 3 n</a:t>
            </a:r>
            <a:r>
              <a:rPr lang="en-US" sz="2000" baseline="30000" dirty="0"/>
              <a:t>3</a:t>
            </a:r>
            <a:r>
              <a:rPr lang="en-US" sz="2000" dirty="0"/>
              <a:t> + 20 n</a:t>
            </a:r>
            <a:r>
              <a:rPr lang="en-US" sz="2000" baseline="30000" dirty="0"/>
              <a:t>2</a:t>
            </a:r>
            <a:r>
              <a:rPr lang="en-US" sz="2000" dirty="0"/>
              <a:t> + 5 </a:t>
            </a:r>
            <a:r>
              <a:rPr lang="en-US" sz="2000" dirty="0">
                <a:sym typeface="Symbol" charset="0"/>
              </a:rPr>
              <a:t> c </a:t>
            </a:r>
            <a:r>
              <a:rPr lang="en-US" sz="2000" dirty="0">
                <a:cs typeface="Arial" charset="0"/>
                <a:sym typeface="Symbol" charset="0"/>
              </a:rPr>
              <a:t>n</a:t>
            </a:r>
            <a:r>
              <a:rPr lang="en-US" sz="2000" baseline="30000" dirty="0">
                <a:cs typeface="Arial" charset="0"/>
                <a:sym typeface="Symbol" charset="0"/>
              </a:rPr>
              <a:t>3</a:t>
            </a:r>
            <a:r>
              <a:rPr lang="en-US" sz="2000" dirty="0">
                <a:cs typeface="Arial" charset="0"/>
                <a:sym typeface="Symbol" charset="0"/>
              </a:rPr>
              <a:t> for n </a:t>
            </a:r>
            <a:r>
              <a:rPr lang="en-US" sz="2000" dirty="0">
                <a:sym typeface="Symbol" charset="0"/>
              </a:rPr>
              <a:t> n</a:t>
            </a:r>
            <a:r>
              <a:rPr lang="en-US" sz="2000" baseline="-25000" dirty="0">
                <a:sym typeface="Symbol" charset="0"/>
              </a:rPr>
              <a:t>0</a:t>
            </a:r>
            <a:endParaRPr lang="en-US" sz="2000" dirty="0">
              <a:sym typeface="Symbol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>
                <a:sym typeface="Symbol" charset="0"/>
              </a:rPr>
              <a:t>this is true for c = 4 and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>
                <a:sym typeface="Symbol" charset="0"/>
              </a:rPr>
              <a:t> = 21</a:t>
            </a:r>
            <a:endParaRPr lang="en-US" sz="2000" dirty="0"/>
          </a:p>
        </p:txBody>
      </p:sp>
      <p:sp>
        <p:nvSpPr>
          <p:cNvPr id="30728" name="Rectangle 1031"/>
          <p:cNvSpPr>
            <a:spLocks noChangeArrowheads="1"/>
          </p:cNvSpPr>
          <p:nvPr/>
        </p:nvSpPr>
        <p:spPr bwMode="auto">
          <a:xfrm>
            <a:off x="2209800" y="47244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SzPct val="75000"/>
              <a:buFont typeface="Wingdings" charset="2"/>
              <a:buChar char="q"/>
            </a:pPr>
            <a:r>
              <a:rPr lang="en-US" sz="2800" dirty="0"/>
              <a:t>3 log n + 5</a:t>
            </a:r>
          </a:p>
        </p:txBody>
      </p:sp>
      <p:sp>
        <p:nvSpPr>
          <p:cNvPr id="39944" name="Rectangle 1032"/>
          <p:cNvSpPr>
            <a:spLocks noChangeArrowheads="1"/>
          </p:cNvSpPr>
          <p:nvPr/>
        </p:nvSpPr>
        <p:spPr bwMode="auto">
          <a:xfrm>
            <a:off x="2057400" y="5257800"/>
            <a:ext cx="861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/>
              <a:t>3 log n + 5 is O(log n)</a:t>
            </a: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/>
              <a:t>need c &gt; 0 and 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>
                <a:sym typeface="Symbol" charset="0"/>
              </a:rPr>
              <a:t> 1 such that</a:t>
            </a:r>
            <a:r>
              <a:rPr lang="en-US" sz="2000" dirty="0"/>
              <a:t> 3 log n + 5 </a:t>
            </a:r>
            <a:r>
              <a:rPr lang="en-US" sz="2000" dirty="0">
                <a:sym typeface="Symbol" charset="0"/>
              </a:rPr>
              <a:t> c </a:t>
            </a:r>
            <a:r>
              <a:rPr lang="en-US" sz="2000" dirty="0">
                <a:cs typeface="Arial" charset="0"/>
                <a:sym typeface="Symbol" charset="0"/>
              </a:rPr>
              <a:t>log n for n </a:t>
            </a:r>
            <a:r>
              <a:rPr lang="en-US" sz="2000" dirty="0">
                <a:sym typeface="Symbol" charset="0"/>
              </a:rPr>
              <a:t> n</a:t>
            </a:r>
            <a:r>
              <a:rPr lang="en-US" sz="2000" baseline="-25000" dirty="0">
                <a:sym typeface="Symbol" charset="0"/>
              </a:rPr>
              <a:t>0</a:t>
            </a:r>
            <a:endParaRPr lang="en-US" sz="2000" dirty="0">
              <a:sym typeface="Symbol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>
                <a:sym typeface="Symbol" charset="0"/>
              </a:rPr>
              <a:t>this is true for c = 8 and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>
                <a:sym typeface="Symbol" charset="0"/>
              </a:rPr>
              <a:t> = 2</a:t>
            </a:r>
            <a:endParaRPr lang="en-US" dirty="0"/>
          </a:p>
        </p:txBody>
      </p:sp>
      <p:graphicFrame>
        <p:nvGraphicFramePr>
          <p:cNvPr id="30730" name="Object 1033"/>
          <p:cNvGraphicFramePr>
            <a:graphicFrameLocks noChangeAspect="1"/>
          </p:cNvGraphicFramePr>
          <p:nvPr/>
        </p:nvGraphicFramePr>
        <p:xfrm>
          <a:off x="8229600" y="228600"/>
          <a:ext cx="20574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804737" imgH="1190201" progId="MS_ClipArt_Gallery.5">
                  <p:embed/>
                </p:oleObj>
              </mc:Choice>
              <mc:Fallback>
                <p:oleObj name="Clip" r:id="rId3" imgW="1804737" imgH="1190201" progId="MS_ClipArt_Gallery.5">
                  <p:embed/>
                  <p:pic>
                    <p:nvPicPr>
                      <p:cNvPr id="3073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28600"/>
                        <a:ext cx="20574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Date Placeholder 1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  <p:bldP spid="39942" grpId="0" autoUpdateAnimBg="0"/>
      <p:bldP spid="3994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1FDEA13-476D-894B-B8FC-F704FABCBF5D}" type="slidenum">
              <a:rPr lang="en-US" sz="1400"/>
              <a:pPr eaLnBrk="1" hangingPunct="1"/>
              <a:t>36</a:t>
            </a:fld>
            <a:endParaRPr 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Big-Oh and Growth Rate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0" y="1752600"/>
            <a:ext cx="8001000" cy="25908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The big-Oh notation gives an upper bound on the growth rate of a function</a:t>
            </a:r>
          </a:p>
          <a:p>
            <a:pPr eaLnBrk="1" hangingPunct="1"/>
            <a:r>
              <a:rPr lang="en-US" sz="2400">
                <a:latin typeface="Tahoma" charset="0"/>
              </a:rPr>
              <a:t>The statement </a:t>
            </a:r>
            <a:r>
              <a:rPr lang="ja-JP" altLang="en-US" sz="2400">
                <a:latin typeface="Tahoma" charset="0"/>
              </a:rPr>
              <a:t>“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f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imes New Roman" charset="0"/>
                <a:sym typeface="Symbol" charset="0"/>
              </a:rPr>
              <a:t>) </a:t>
            </a:r>
            <a:r>
              <a:rPr lang="en-US" altLang="ja-JP" sz="2400">
                <a:latin typeface="Tahoma" charset="0"/>
              </a:rPr>
              <a:t>is 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O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g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imes New Roman" charset="0"/>
                <a:sym typeface="Symbol" charset="0"/>
              </a:rPr>
              <a:t>))</a:t>
            </a:r>
            <a:r>
              <a:rPr lang="ja-JP" altLang="en-US" sz="2400">
                <a:latin typeface="Tahoma" charset="0"/>
              </a:rPr>
              <a:t>”</a:t>
            </a:r>
            <a:r>
              <a:rPr lang="en-US" altLang="ja-JP" sz="2400">
                <a:latin typeface="Tahoma" charset="0"/>
              </a:rPr>
              <a:t> means that the growth rate of 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f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imes New Roman" charset="0"/>
                <a:sym typeface="Symbol" charset="0"/>
              </a:rPr>
              <a:t>) </a:t>
            </a:r>
            <a:r>
              <a:rPr lang="en-US" altLang="ja-JP" sz="2400">
                <a:latin typeface="Tahoma" charset="0"/>
              </a:rPr>
              <a:t>is no more than the growth rate of 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g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imes New Roman" charset="0"/>
                <a:sym typeface="Symbol" charset="0"/>
              </a:rPr>
              <a:t>)</a:t>
            </a:r>
          </a:p>
          <a:p>
            <a:pPr eaLnBrk="1" hangingPunct="1"/>
            <a:r>
              <a:rPr lang="en-US" sz="2400">
                <a:latin typeface="Tahoma" charset="0"/>
              </a:rPr>
              <a:t>We can use the big-Oh notation to rank functions according to their growth rate</a:t>
            </a:r>
          </a:p>
        </p:txBody>
      </p:sp>
      <p:graphicFrame>
        <p:nvGraphicFramePr>
          <p:cNvPr id="24648" name="Group 72"/>
          <p:cNvGraphicFramePr>
            <a:graphicFrameLocks noGrp="1"/>
          </p:cNvGraphicFramePr>
          <p:nvPr/>
        </p:nvGraphicFramePr>
        <p:xfrm>
          <a:off x="2590800" y="4343401"/>
          <a:ext cx="7239000" cy="1895475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 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 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grows more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grows more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Same growth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7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8A69158-139B-4F4F-9633-BAEFEA5FCF6A}" type="slidenum">
              <a:rPr lang="en-US" sz="1400"/>
              <a:pPr eaLnBrk="1" hangingPunct="1"/>
              <a:t>37</a:t>
            </a:fld>
            <a:endParaRPr 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304800"/>
            <a:ext cx="396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Big-Oh Rules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2209800"/>
            <a:ext cx="7924800" cy="4114800"/>
          </a:xfrm>
        </p:spPr>
        <p:txBody>
          <a:bodyPr/>
          <a:lstStyle/>
          <a:p>
            <a:pPr>
              <a:tabLst>
                <a:tab pos="1028700" algn="l"/>
              </a:tabLst>
            </a:pPr>
            <a:r>
              <a:rPr lang="en-US" sz="2800">
                <a:latin typeface="Tahoma" charset="0"/>
              </a:rPr>
              <a:t>If is </a:t>
            </a:r>
            <a:r>
              <a:rPr lang="en-US" sz="2800" b="1" i="1">
                <a:latin typeface="Times New Roman" charset="0"/>
                <a:sym typeface="Symbol" charset="0"/>
              </a:rPr>
              <a:t>f</a:t>
            </a:r>
            <a:r>
              <a:rPr lang="en-US" sz="2800">
                <a:latin typeface="Times New Roman" charset="0"/>
                <a:sym typeface="Symbol" charset="0"/>
              </a:rPr>
              <a:t>(</a:t>
            </a:r>
            <a:r>
              <a:rPr lang="en-US" sz="2800" b="1" i="1">
                <a:latin typeface="Times New Roman" charset="0"/>
                <a:sym typeface="Symbol" charset="0"/>
              </a:rPr>
              <a:t>n</a:t>
            </a:r>
            <a:r>
              <a:rPr lang="en-US" sz="2800">
                <a:latin typeface="Times New Roman" charset="0"/>
                <a:sym typeface="Symbol" charset="0"/>
              </a:rPr>
              <a:t>)</a:t>
            </a:r>
            <a:r>
              <a:rPr lang="en-US" sz="2800">
                <a:latin typeface="Tahoma" charset="0"/>
              </a:rPr>
              <a:t> a polynomial of degree </a:t>
            </a:r>
            <a:r>
              <a:rPr lang="en-US" sz="2800" b="1" i="1">
                <a:latin typeface="Times New Roman" charset="0"/>
                <a:sym typeface="Symbol" charset="0"/>
              </a:rPr>
              <a:t>d</a:t>
            </a:r>
            <a:r>
              <a:rPr lang="en-US" sz="2800">
                <a:latin typeface="Tahoma" charset="0"/>
              </a:rPr>
              <a:t>, then </a:t>
            </a:r>
            <a:r>
              <a:rPr lang="en-US" sz="2800" b="1" i="1">
                <a:latin typeface="Times New Roman" charset="0"/>
                <a:sym typeface="Symbol" charset="0"/>
              </a:rPr>
              <a:t>f</a:t>
            </a:r>
            <a:r>
              <a:rPr lang="en-US" sz="2800">
                <a:latin typeface="Times New Roman" charset="0"/>
                <a:sym typeface="Symbol" charset="0"/>
              </a:rPr>
              <a:t>(</a:t>
            </a:r>
            <a:r>
              <a:rPr lang="en-US" sz="2800" b="1" i="1">
                <a:latin typeface="Times New Roman" charset="0"/>
                <a:sym typeface="Symbol" charset="0"/>
              </a:rPr>
              <a:t>n</a:t>
            </a:r>
            <a:r>
              <a:rPr lang="en-US" sz="2800">
                <a:latin typeface="Times New Roman" charset="0"/>
                <a:sym typeface="Symbol" charset="0"/>
              </a:rPr>
              <a:t>)</a:t>
            </a:r>
            <a:r>
              <a:rPr lang="en-US" sz="2800">
                <a:latin typeface="Tahoma" charset="0"/>
              </a:rPr>
              <a:t> is </a:t>
            </a:r>
            <a:r>
              <a:rPr lang="en-US" sz="2800" b="1" i="1">
                <a:latin typeface="Times New Roman" charset="0"/>
                <a:sym typeface="Symbol" charset="0"/>
              </a:rPr>
              <a:t>O</a:t>
            </a:r>
            <a:r>
              <a:rPr lang="en-US" sz="2800">
                <a:latin typeface="Times New Roman" charset="0"/>
                <a:sym typeface="Symbol" charset="0"/>
              </a:rPr>
              <a:t>(</a:t>
            </a:r>
            <a:r>
              <a:rPr lang="en-US" sz="2800" b="1" i="1">
                <a:latin typeface="Times New Roman" charset="0"/>
                <a:sym typeface="Symbol" charset="0"/>
              </a:rPr>
              <a:t>n</a:t>
            </a:r>
            <a:r>
              <a:rPr lang="en-US" sz="2800" b="1" i="1" baseline="30000">
                <a:latin typeface="Times New Roman" charset="0"/>
                <a:sym typeface="Symbol" charset="0"/>
              </a:rPr>
              <a:t>d</a:t>
            </a:r>
            <a:r>
              <a:rPr lang="en-US" sz="2800">
                <a:latin typeface="Times New Roman" charset="0"/>
                <a:sym typeface="Symbol" charset="0"/>
              </a:rPr>
              <a:t>)</a:t>
            </a:r>
            <a:r>
              <a:rPr lang="en-US" sz="2800">
                <a:latin typeface="Tahoma" charset="0"/>
              </a:rPr>
              <a:t>, i.e.,</a:t>
            </a:r>
          </a:p>
          <a:p>
            <a:pPr marL="1028700" lvl="1">
              <a:buFont typeface="Wingdings" charset="0"/>
              <a:buAutoNum type="arabicPeriod"/>
              <a:tabLst>
                <a:tab pos="1028700" algn="l"/>
              </a:tabLst>
            </a:pPr>
            <a:r>
              <a:rPr lang="en-US" sz="2400">
                <a:latin typeface="Tahoma" charset="0"/>
              </a:rPr>
              <a:t>Drop lower-order terms</a:t>
            </a:r>
          </a:p>
          <a:p>
            <a:pPr marL="1028700" lvl="1">
              <a:buFont typeface="Wingdings" charset="0"/>
              <a:buAutoNum type="arabicPeriod"/>
              <a:tabLst>
                <a:tab pos="1028700" algn="l"/>
              </a:tabLst>
            </a:pPr>
            <a:r>
              <a:rPr lang="en-US" sz="2400">
                <a:latin typeface="Tahoma" charset="0"/>
              </a:rPr>
              <a:t>Drop constant factors</a:t>
            </a:r>
          </a:p>
          <a:p>
            <a:pPr>
              <a:tabLst>
                <a:tab pos="1028700" algn="l"/>
              </a:tabLst>
            </a:pPr>
            <a:r>
              <a:rPr lang="en-US" sz="2800">
                <a:latin typeface="Tahoma" charset="0"/>
              </a:rPr>
              <a:t>Use the smallest possible class of functions</a:t>
            </a:r>
          </a:p>
          <a:p>
            <a:pPr marL="1028700" lvl="1">
              <a:tabLst>
                <a:tab pos="1028700" algn="l"/>
              </a:tabLst>
            </a:pPr>
            <a:r>
              <a:rPr lang="en-US" sz="2400">
                <a:latin typeface="Tahoma" charset="0"/>
              </a:rPr>
              <a:t>Say </a:t>
            </a:r>
            <a:r>
              <a:rPr lang="ja-JP" altLang="en-US" sz="2400">
                <a:latin typeface="Tahoma" charset="0"/>
              </a:rPr>
              <a:t>“</a:t>
            </a:r>
            <a:r>
              <a:rPr lang="en-US" altLang="ja-JP" sz="2400">
                <a:latin typeface="Times New Roman" charset="0"/>
                <a:sym typeface="Symbol" charset="0"/>
              </a:rPr>
              <a:t>2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ahoma" charset="0"/>
                <a:sym typeface="Symbol" charset="0"/>
              </a:rPr>
              <a:t> is 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O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imes New Roman" charset="0"/>
                <a:sym typeface="Symbol" charset="0"/>
              </a:rPr>
              <a:t>)</a:t>
            </a:r>
            <a:r>
              <a:rPr lang="ja-JP" altLang="en-US" sz="2400">
                <a:latin typeface="Tahoma" charset="0"/>
                <a:sym typeface="Symbol" charset="0"/>
              </a:rPr>
              <a:t>”</a:t>
            </a:r>
            <a:r>
              <a:rPr lang="en-US" altLang="ja-JP" sz="2400">
                <a:latin typeface="Times New Roman" charset="0"/>
                <a:sym typeface="Symbol" charset="0"/>
              </a:rPr>
              <a:t> </a:t>
            </a:r>
            <a:r>
              <a:rPr lang="en-US" altLang="ja-JP" sz="2400">
                <a:latin typeface="Tahoma" charset="0"/>
              </a:rPr>
              <a:t>instead of </a:t>
            </a:r>
            <a:r>
              <a:rPr lang="ja-JP" altLang="en-US" sz="2400">
                <a:latin typeface="Tahoma" charset="0"/>
              </a:rPr>
              <a:t>“</a:t>
            </a:r>
            <a:r>
              <a:rPr lang="en-US" altLang="ja-JP" sz="2400">
                <a:latin typeface="Times New Roman" charset="0"/>
                <a:sym typeface="Symbol" charset="0"/>
              </a:rPr>
              <a:t>2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ahoma" charset="0"/>
                <a:sym typeface="Symbol" charset="0"/>
              </a:rPr>
              <a:t> is 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O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 baseline="30000">
                <a:latin typeface="Times New Roman" charset="0"/>
                <a:sym typeface="Symbol" charset="0"/>
              </a:rPr>
              <a:t>2</a:t>
            </a:r>
            <a:r>
              <a:rPr lang="en-US" altLang="ja-JP" sz="2400">
                <a:latin typeface="Times New Roman" charset="0"/>
                <a:sym typeface="Symbol" charset="0"/>
              </a:rPr>
              <a:t>)</a:t>
            </a:r>
            <a:r>
              <a:rPr lang="ja-JP" altLang="en-US" sz="2400">
                <a:latin typeface="Tahoma" charset="0"/>
                <a:sym typeface="Symbol" charset="0"/>
              </a:rPr>
              <a:t>”</a:t>
            </a:r>
            <a:endParaRPr lang="en-US" altLang="ja-JP" sz="2400">
              <a:latin typeface="Tahoma" charset="0"/>
              <a:sym typeface="Symbol" charset="0"/>
            </a:endParaRPr>
          </a:p>
          <a:p>
            <a:pPr>
              <a:tabLst>
                <a:tab pos="1028700" algn="l"/>
              </a:tabLst>
            </a:pPr>
            <a:r>
              <a:rPr lang="en-US" sz="2800">
                <a:latin typeface="Tahoma" charset="0"/>
                <a:sym typeface="Symbol" charset="0"/>
              </a:rPr>
              <a:t>Use the simplest expression of the class</a:t>
            </a:r>
          </a:p>
          <a:p>
            <a:pPr marL="1028700" lvl="1">
              <a:tabLst>
                <a:tab pos="1028700" algn="l"/>
              </a:tabLst>
            </a:pPr>
            <a:r>
              <a:rPr lang="en-US" sz="2400">
                <a:latin typeface="Tahoma" charset="0"/>
              </a:rPr>
              <a:t>Say </a:t>
            </a:r>
            <a:r>
              <a:rPr lang="ja-JP" altLang="en-US" sz="2400">
                <a:latin typeface="Tahoma" charset="0"/>
              </a:rPr>
              <a:t>“</a:t>
            </a:r>
            <a:r>
              <a:rPr lang="en-US" altLang="ja-JP" sz="2400">
                <a:latin typeface="Times New Roman" charset="0"/>
                <a:sym typeface="Symbol" charset="0"/>
              </a:rPr>
              <a:t>3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 b="1">
                <a:latin typeface="Times New Roman" charset="0"/>
                <a:sym typeface="Symbol" charset="0"/>
              </a:rPr>
              <a:t> </a:t>
            </a:r>
            <a:r>
              <a:rPr lang="en-US" altLang="ja-JP" sz="2400">
                <a:latin typeface="Symbol" charset="0"/>
                <a:sym typeface="Symbol" charset="0"/>
              </a:rPr>
              <a:t>+</a:t>
            </a:r>
            <a:r>
              <a:rPr lang="en-US" altLang="ja-JP" sz="2400" b="1">
                <a:latin typeface="Times New Roman" charset="0"/>
                <a:sym typeface="Symbol" charset="0"/>
              </a:rPr>
              <a:t> </a:t>
            </a:r>
            <a:r>
              <a:rPr lang="en-US" altLang="ja-JP" sz="2400">
                <a:latin typeface="Times New Roman" charset="0"/>
                <a:sym typeface="Symbol" charset="0"/>
              </a:rPr>
              <a:t>5</a:t>
            </a:r>
            <a:r>
              <a:rPr lang="en-US" altLang="ja-JP" sz="2400">
                <a:latin typeface="Tahoma" charset="0"/>
                <a:sym typeface="Symbol" charset="0"/>
              </a:rPr>
              <a:t> is 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O</a:t>
            </a:r>
            <a:r>
              <a:rPr lang="en-US" altLang="ja-JP" sz="240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imes New Roman" charset="0"/>
                <a:sym typeface="Symbol" charset="0"/>
              </a:rPr>
              <a:t>)</a:t>
            </a:r>
            <a:r>
              <a:rPr lang="ja-JP" altLang="en-US" sz="2400">
                <a:latin typeface="Tahoma" charset="0"/>
                <a:sym typeface="Symbol" charset="0"/>
              </a:rPr>
              <a:t>”</a:t>
            </a:r>
            <a:r>
              <a:rPr lang="en-US" altLang="ja-JP" sz="2400">
                <a:latin typeface="Times New Roman" charset="0"/>
                <a:sym typeface="Symbol" charset="0"/>
              </a:rPr>
              <a:t> </a:t>
            </a:r>
            <a:r>
              <a:rPr lang="en-US" altLang="ja-JP" sz="2400">
                <a:latin typeface="Tahoma" charset="0"/>
              </a:rPr>
              <a:t>instead of </a:t>
            </a:r>
            <a:r>
              <a:rPr lang="ja-JP" altLang="en-US" sz="2400">
                <a:latin typeface="Tahoma" charset="0"/>
              </a:rPr>
              <a:t>“</a:t>
            </a:r>
            <a:r>
              <a:rPr lang="en-US" altLang="ja-JP" sz="2400">
                <a:latin typeface="Times New Roman" charset="0"/>
                <a:sym typeface="Symbol" charset="0"/>
              </a:rPr>
              <a:t>3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 b="1">
                <a:latin typeface="Times New Roman" charset="0"/>
                <a:sym typeface="Symbol" charset="0"/>
              </a:rPr>
              <a:t> </a:t>
            </a:r>
            <a:r>
              <a:rPr lang="en-US" altLang="ja-JP" sz="2400">
                <a:latin typeface="Symbol" charset="0"/>
                <a:sym typeface="Symbol" charset="0"/>
              </a:rPr>
              <a:t>+</a:t>
            </a:r>
            <a:r>
              <a:rPr lang="en-US" altLang="ja-JP" sz="2400" b="1">
                <a:latin typeface="Times New Roman" charset="0"/>
                <a:sym typeface="Symbol" charset="0"/>
              </a:rPr>
              <a:t> </a:t>
            </a:r>
            <a:r>
              <a:rPr lang="en-US" altLang="ja-JP" sz="2400">
                <a:latin typeface="Times New Roman" charset="0"/>
                <a:sym typeface="Symbol" charset="0"/>
              </a:rPr>
              <a:t>5</a:t>
            </a:r>
            <a:r>
              <a:rPr lang="en-US" altLang="ja-JP" sz="2400">
                <a:latin typeface="Tahoma" charset="0"/>
                <a:sym typeface="Symbol" charset="0"/>
              </a:rPr>
              <a:t> is 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O</a:t>
            </a:r>
            <a:r>
              <a:rPr lang="en-US" altLang="ja-JP" sz="2400">
                <a:latin typeface="Times New Roman" charset="0"/>
                <a:sym typeface="Symbol" charset="0"/>
              </a:rPr>
              <a:t>(3</a:t>
            </a:r>
            <a:r>
              <a:rPr lang="en-US" altLang="ja-JP" sz="2400" b="1" i="1">
                <a:latin typeface="Times New Roman" charset="0"/>
                <a:sym typeface="Symbol" charset="0"/>
              </a:rPr>
              <a:t>n</a:t>
            </a:r>
            <a:r>
              <a:rPr lang="en-US" altLang="ja-JP" sz="2400">
                <a:latin typeface="Times New Roman" charset="0"/>
                <a:sym typeface="Symbol" charset="0"/>
              </a:rPr>
              <a:t>)</a:t>
            </a:r>
            <a:r>
              <a:rPr lang="ja-JP" altLang="en-US" sz="2400">
                <a:latin typeface="Tahoma" charset="0"/>
                <a:sym typeface="Symbol" charset="0"/>
              </a:rPr>
              <a:t>”</a:t>
            </a:r>
            <a:endParaRPr lang="en-US" sz="2400">
              <a:latin typeface="Tahoma" charset="0"/>
              <a:sym typeface="Symbol" charset="0"/>
            </a:endParaRPr>
          </a:p>
        </p:txBody>
      </p:sp>
      <p:graphicFrame>
        <p:nvGraphicFramePr>
          <p:cNvPr id="32773" name="Object 4"/>
          <p:cNvGraphicFramePr>
            <a:graphicFrameLocks noChangeAspect="1"/>
          </p:cNvGraphicFramePr>
          <p:nvPr/>
        </p:nvGraphicFramePr>
        <p:xfrm>
          <a:off x="8548688" y="152400"/>
          <a:ext cx="1662112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593245" imgH="1797269" progId="MS_ClipArt_Gallery.2">
                  <p:embed/>
                </p:oleObj>
              </mc:Choice>
              <mc:Fallback>
                <p:oleObj name="Clip" r:id="rId2" imgW="1593245" imgH="1797269" progId="MS_ClipArt_Gallery.2">
                  <p:embed/>
                  <p:pic>
                    <p:nvPicPr>
                      <p:cNvPr id="3277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688" y="152400"/>
                        <a:ext cx="1662112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674ACB0-1B54-0F43-833F-39BADD9A4D5D}" type="slidenum">
              <a:rPr lang="en-US" sz="1400"/>
              <a:pPr eaLnBrk="1" hangingPunct="1"/>
              <a:t>38</a:t>
            </a:fld>
            <a:endParaRPr 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Asymptotic Algorithm Analysis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848600" cy="464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Tahoma" charset="0"/>
              </a:rPr>
              <a:t>The asymptotic analysis of an algorithm determines the running time in big-Oh notation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To perform the asymptotic analysis</a:t>
            </a:r>
          </a:p>
          <a:p>
            <a:pPr marL="1028700" lvl="1" indent="-228600"/>
            <a:r>
              <a:rPr lang="en-US" sz="2000" dirty="0">
                <a:latin typeface="Tahoma" charset="0"/>
              </a:rPr>
              <a:t>We find the worst-case number of primitive operations executed as a function of the input size</a:t>
            </a:r>
          </a:p>
          <a:p>
            <a:pPr marL="1028700" lvl="1" indent="-228600"/>
            <a:r>
              <a:rPr lang="en-US" sz="2000" dirty="0">
                <a:latin typeface="Tahoma" charset="0"/>
              </a:rPr>
              <a:t>We express this function with big-Oh notation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Example:</a:t>
            </a:r>
          </a:p>
          <a:p>
            <a:pPr marL="1028700" lvl="1" indent="-228600"/>
            <a:r>
              <a:rPr lang="en-US" sz="2000" dirty="0">
                <a:latin typeface="Tahoma" charset="0"/>
              </a:rPr>
              <a:t>We say that algorithm </a:t>
            </a:r>
            <a:r>
              <a:rPr lang="en-US" sz="2000" dirty="0" err="1">
                <a:solidFill>
                  <a:srgbClr val="BE2D00"/>
                </a:solidFill>
                <a:latin typeface="Tahoma" charset="0"/>
              </a:rPr>
              <a:t>arrayMax</a:t>
            </a:r>
            <a:r>
              <a:rPr lang="en-US" sz="2000" dirty="0">
                <a:solidFill>
                  <a:srgbClr val="BE2D00"/>
                </a:solidFill>
                <a:latin typeface="Tahoma" charset="0"/>
              </a:rPr>
              <a:t> </a:t>
            </a:r>
            <a:r>
              <a:rPr lang="ja-JP" altLang="en-US" sz="2000" dirty="0">
                <a:latin typeface="Tahoma" charset="0"/>
              </a:rPr>
              <a:t>“</a:t>
            </a:r>
            <a:r>
              <a:rPr lang="en-US" altLang="ja-JP" sz="2000" dirty="0">
                <a:latin typeface="Tahoma" charset="0"/>
              </a:rPr>
              <a:t>runs in </a:t>
            </a:r>
            <a:r>
              <a:rPr lang="en-US" altLang="ja-JP" sz="2000" b="1" i="1" dirty="0">
                <a:latin typeface="Times New Roman" charset="0"/>
                <a:sym typeface="Symbol" charset="0"/>
              </a:rPr>
              <a:t>O</a:t>
            </a:r>
            <a:r>
              <a:rPr lang="en-US" altLang="ja-JP" sz="2000" dirty="0">
                <a:latin typeface="Times New Roman" charset="0"/>
                <a:sym typeface="Symbol" charset="0"/>
              </a:rPr>
              <a:t>(</a:t>
            </a:r>
            <a:r>
              <a:rPr lang="en-US" altLang="ja-JP" sz="20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000" dirty="0">
                <a:latin typeface="Times New Roman" charset="0"/>
                <a:sym typeface="Symbol" charset="0"/>
              </a:rPr>
              <a:t>) </a:t>
            </a:r>
            <a:r>
              <a:rPr lang="en-US" altLang="ja-JP" sz="2000" dirty="0">
                <a:latin typeface="Tahoma" charset="0"/>
              </a:rPr>
              <a:t>time</a:t>
            </a:r>
            <a:r>
              <a:rPr lang="ja-JP" altLang="en-US" sz="2000" dirty="0">
                <a:latin typeface="Tahoma" charset="0"/>
              </a:rPr>
              <a:t>”</a:t>
            </a:r>
            <a:endParaRPr lang="en-US" altLang="ja-JP" sz="2000" dirty="0">
              <a:latin typeface="Tahoma" charset="0"/>
            </a:endParaRPr>
          </a:p>
          <a:p>
            <a:pPr eaLnBrk="1" hangingPunct="1"/>
            <a:r>
              <a:rPr lang="en-US" sz="2400" dirty="0">
                <a:latin typeface="Tahoma" charset="0"/>
              </a:rPr>
              <a:t>Since constant factors and lower-order terms are eventually dropped anyhow, we can disregard them when counting primitive operations</a:t>
            </a:r>
          </a:p>
        </p:txBody>
      </p:sp>
      <p:sp>
        <p:nvSpPr>
          <p:cNvPr id="33797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5946185-D02B-AE4E-9A89-DCF7FC7EEF7E}" type="slidenum">
              <a:rPr lang="en-US" sz="1400"/>
              <a:pPr eaLnBrk="1" hangingPunct="1"/>
              <a:t>39</a:t>
            </a:fld>
            <a:endParaRPr 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Computing Prefix Averages</a:t>
            </a:r>
          </a:p>
        </p:txBody>
      </p:sp>
      <p:sp>
        <p:nvSpPr>
          <p:cNvPr id="358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76400"/>
            <a:ext cx="4343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We further illustrate asymptotic analysis with two algorithms for prefix averages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The </a:t>
            </a:r>
            <a:r>
              <a:rPr lang="en-US" sz="2400" b="1" i="1">
                <a:latin typeface="Times New Roman" charset="0"/>
              </a:rPr>
              <a:t>i</a:t>
            </a:r>
            <a:r>
              <a:rPr lang="en-US" sz="2400">
                <a:latin typeface="Tahoma" charset="0"/>
              </a:rPr>
              <a:t>-th prefix average of an array 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ahoma" charset="0"/>
              </a:rPr>
              <a:t> is average of the first </a:t>
            </a:r>
            <a:r>
              <a:rPr lang="en-US" sz="2400">
                <a:latin typeface="Times New Roman" charset="0"/>
                <a:sym typeface="Symbol" charset="0"/>
              </a:rPr>
              <a:t>(</a:t>
            </a:r>
            <a:r>
              <a:rPr lang="en-US" sz="2400" b="1" i="1">
                <a:latin typeface="Times New Roman" charset="0"/>
                <a:sym typeface="Symbol" charset="0"/>
              </a:rPr>
              <a:t>i</a:t>
            </a:r>
            <a:r>
              <a:rPr lang="en-US" sz="2400">
                <a:latin typeface="Times New Roman" charset="0"/>
                <a:sym typeface="Symbol" charset="0"/>
              </a:rPr>
              <a:t> </a:t>
            </a:r>
            <a:r>
              <a:rPr lang="en-US" sz="2400">
                <a:latin typeface="Symbol" charset="0"/>
                <a:sym typeface="Symbol" charset="0"/>
              </a:rPr>
              <a:t>+</a:t>
            </a:r>
            <a:r>
              <a:rPr lang="en-US" sz="2400">
                <a:latin typeface="Times New Roman" charset="0"/>
                <a:sym typeface="Symbol" charset="0"/>
              </a:rPr>
              <a:t> 1) </a:t>
            </a:r>
            <a:r>
              <a:rPr lang="en-US" sz="2400">
                <a:latin typeface="Tahoma" charset="0"/>
              </a:rPr>
              <a:t>elements of 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 b="1">
                <a:latin typeface="Times New Roman" charset="0"/>
              </a:rPr>
              <a:t>:</a:t>
            </a:r>
            <a:endParaRPr lang="en-US" sz="2400">
              <a:latin typeface="Tahoma" charset="0"/>
            </a:endParaRPr>
          </a:p>
          <a:p>
            <a:pPr algn="ctr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b="1" i="1">
                <a:latin typeface="Times New Roman" charset="0"/>
                <a:sym typeface="Symbol" charset="0"/>
              </a:rPr>
              <a:t>A</a:t>
            </a:r>
            <a:r>
              <a:rPr lang="en-US" sz="2000">
                <a:latin typeface="Times New Roman" charset="0"/>
                <a:sym typeface="Symbol" charset="0"/>
              </a:rPr>
              <a:t>[</a:t>
            </a:r>
            <a:r>
              <a:rPr lang="en-US" sz="2000" b="1" i="1">
                <a:latin typeface="Times New Roman" charset="0"/>
                <a:sym typeface="Symbol" charset="0"/>
              </a:rPr>
              <a:t>i</a:t>
            </a:r>
            <a:r>
              <a:rPr lang="en-US" sz="2000">
                <a:latin typeface="Times New Roman" charset="0"/>
                <a:sym typeface="Symbol" charset="0"/>
              </a:rPr>
              <a:t>]</a:t>
            </a:r>
            <a:r>
              <a:rPr lang="en-US" sz="2000" b="1" i="1">
                <a:latin typeface="Times New Roman" charset="0"/>
                <a:sym typeface="Symbol" charset="0"/>
              </a:rPr>
              <a:t> </a:t>
            </a:r>
            <a:r>
              <a:rPr lang="en-US" sz="2400">
                <a:latin typeface="Symbol" charset="0"/>
                <a:sym typeface="Symbol" charset="0"/>
              </a:rPr>
              <a:t>= (</a:t>
            </a:r>
            <a:r>
              <a:rPr lang="en-US" sz="2000" b="1" i="1">
                <a:latin typeface="Times New Roman" charset="0"/>
                <a:sym typeface="Symbol" charset="0"/>
              </a:rPr>
              <a:t>X</a:t>
            </a:r>
            <a:r>
              <a:rPr lang="en-US" sz="2000">
                <a:latin typeface="Times New Roman" charset="0"/>
                <a:sym typeface="Symbol" charset="0"/>
              </a:rPr>
              <a:t>[0] </a:t>
            </a:r>
            <a:r>
              <a:rPr lang="en-US" sz="2400">
                <a:latin typeface="Symbol" charset="0"/>
                <a:sym typeface="Symbol" charset="0"/>
              </a:rPr>
              <a:t>+</a:t>
            </a:r>
            <a:r>
              <a:rPr lang="en-US" sz="2000">
                <a:latin typeface="Times New Roman" charset="0"/>
                <a:sym typeface="Symbol" charset="0"/>
              </a:rPr>
              <a:t> </a:t>
            </a:r>
            <a:r>
              <a:rPr lang="en-US" sz="2000" b="1" i="1">
                <a:latin typeface="Times New Roman" charset="0"/>
                <a:sym typeface="Symbol" charset="0"/>
              </a:rPr>
              <a:t>X</a:t>
            </a:r>
            <a:r>
              <a:rPr lang="en-US" sz="2000">
                <a:latin typeface="Times New Roman" charset="0"/>
                <a:sym typeface="Symbol" charset="0"/>
              </a:rPr>
              <a:t>[1] </a:t>
            </a:r>
            <a:r>
              <a:rPr lang="en-US" sz="2400">
                <a:latin typeface="Symbol" charset="0"/>
                <a:sym typeface="Symbol" charset="0"/>
              </a:rPr>
              <a:t>+</a:t>
            </a:r>
            <a:r>
              <a:rPr lang="en-US" sz="2000">
                <a:latin typeface="Times New Roman" charset="0"/>
                <a:sym typeface="Symbol" charset="0"/>
              </a:rPr>
              <a:t> </a:t>
            </a:r>
            <a:r>
              <a:rPr lang="en-US" sz="2000">
                <a:latin typeface="Times New Roman" charset="0"/>
              </a:rPr>
              <a:t>… </a:t>
            </a:r>
            <a:r>
              <a:rPr lang="en-US" sz="2400">
                <a:latin typeface="Symbol" charset="0"/>
                <a:sym typeface="Symbol" charset="0"/>
              </a:rPr>
              <a:t>+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  <a:sym typeface="Symbol" charset="0"/>
              </a:rPr>
              <a:t>X</a:t>
            </a:r>
            <a:r>
              <a:rPr lang="en-US" sz="2000">
                <a:latin typeface="Times New Roman" charset="0"/>
                <a:sym typeface="Symbol" charset="0"/>
              </a:rPr>
              <a:t>[</a:t>
            </a:r>
            <a:r>
              <a:rPr lang="en-US" sz="2000" b="1" i="1">
                <a:latin typeface="Times New Roman" charset="0"/>
                <a:sym typeface="Symbol" charset="0"/>
              </a:rPr>
              <a:t>i</a:t>
            </a:r>
            <a:r>
              <a:rPr lang="en-US" sz="2000">
                <a:latin typeface="Times New Roman" charset="0"/>
                <a:sym typeface="Symbol" charset="0"/>
              </a:rPr>
              <a:t>])/(</a:t>
            </a:r>
            <a:r>
              <a:rPr lang="en-US" sz="2000" i="1">
                <a:latin typeface="Times New Roman" charset="0"/>
                <a:sym typeface="Symbol" charset="0"/>
              </a:rPr>
              <a:t>i</a:t>
            </a:r>
            <a:r>
              <a:rPr lang="en-US" sz="2000">
                <a:latin typeface="Times New Roman" charset="0"/>
                <a:sym typeface="Symbol" charset="0"/>
              </a:rPr>
              <a:t>+1)</a:t>
            </a:r>
          </a:p>
          <a:p>
            <a:pPr eaLnBrk="1" hangingPunct="1">
              <a:lnSpc>
                <a:spcPct val="90000"/>
              </a:lnSpc>
            </a:pPr>
            <a:endParaRPr lang="en-US" sz="80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Computing the array </a:t>
            </a:r>
            <a:r>
              <a:rPr lang="en-US" sz="2400" b="1" i="1">
                <a:latin typeface="Times New Roman" charset="0"/>
              </a:rPr>
              <a:t>A</a:t>
            </a:r>
            <a:r>
              <a:rPr lang="en-US" sz="2400">
                <a:latin typeface="Tahoma" charset="0"/>
              </a:rPr>
              <a:t> of prefix averages of another array 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ahoma" charset="0"/>
              </a:rPr>
              <a:t> has applications to financial analysis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6705601" y="1676401"/>
          <a:ext cx="3876675" cy="431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62300" imgH="3606800" progId="Excel.Sheet.8">
                  <p:embed/>
                </p:oleObj>
              </mc:Choice>
              <mc:Fallback>
                <p:oleObj name="Worksheet" r:id="rId2" imgW="3162300" imgH="3606800" progId="Excel.Sheet.8">
                  <p:embed/>
                  <p:pic>
                    <p:nvPicPr>
                      <p:cNvPr id="358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1676401"/>
                        <a:ext cx="3876675" cy="431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68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814ABCA-5370-DC43-AD86-73D5EFCD1807}" type="slidenum">
              <a:rPr lang="en-US" sz="1400"/>
              <a:pPr eaLnBrk="1" hangingPunct="1"/>
              <a:t>40</a:t>
            </a:fld>
            <a:endParaRPr lang="en-US" sz="1400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2133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4400">
                <a:solidFill>
                  <a:schemeClr val="tx2"/>
                </a:solidFill>
              </a:rPr>
              <a:t>Prefix Averages (Quadratic)</a:t>
            </a:r>
          </a:p>
        </p:txBody>
      </p:sp>
      <p:sp>
        <p:nvSpPr>
          <p:cNvPr id="36868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2286000" y="1600200"/>
            <a:ext cx="784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/>
              <a:t>The following algorithm computes prefix averages in quadratic time by applying the definition</a:t>
            </a:r>
          </a:p>
        </p:txBody>
      </p:sp>
      <p:sp>
        <p:nvSpPr>
          <p:cNvPr id="36869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050" y="2438400"/>
            <a:ext cx="8777551" cy="34452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78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6AEF34B-92C3-BB4E-AB3E-D8ABE608E88D}" type="slidenum">
              <a:rPr lang="en-US" sz="1400"/>
              <a:pPr eaLnBrk="1" hangingPunct="1"/>
              <a:t>41</a:t>
            </a:fld>
            <a:endParaRPr 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Arithmetic Progression</a:t>
            </a:r>
          </a:p>
        </p:txBody>
      </p:sp>
      <p:sp>
        <p:nvSpPr>
          <p:cNvPr id="378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0" y="1905000"/>
            <a:ext cx="3886200" cy="39624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Tahoma" charset="0"/>
              </a:rPr>
              <a:t>The running time of </a:t>
            </a:r>
            <a:r>
              <a:rPr lang="en-US" sz="2400" dirty="0">
                <a:solidFill>
                  <a:schemeClr val="tx2"/>
                </a:solidFill>
              </a:rPr>
              <a:t>prefixAverage1</a:t>
            </a:r>
            <a:r>
              <a:rPr lang="en-US" sz="2400" b="1" i="1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2400" dirty="0">
                <a:latin typeface="Tahoma" charset="0"/>
              </a:rPr>
              <a:t>is</a:t>
            </a:r>
            <a:br>
              <a:rPr lang="en-US" sz="2400" dirty="0">
                <a:latin typeface="Tahoma" charset="0"/>
              </a:rPr>
            </a:br>
            <a:r>
              <a:rPr lang="en-US" sz="2400" b="1" i="1" dirty="0">
                <a:latin typeface="Times New Roman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(1 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dirty="0">
                <a:latin typeface="Times New Roman" charset="0"/>
                <a:sym typeface="Symbol" charset="0"/>
              </a:rPr>
              <a:t>2 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dirty="0">
                <a:latin typeface="Times New Roman" charset="0"/>
                <a:sym typeface="Symbol" charset="0"/>
              </a:rPr>
              <a:t>…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</a:t>
            </a:r>
            <a:endParaRPr lang="en-US" sz="2400" dirty="0">
              <a:latin typeface="Tahoma" charset="0"/>
            </a:endParaRPr>
          </a:p>
          <a:p>
            <a:pPr eaLnBrk="1" hangingPunct="1"/>
            <a:r>
              <a:rPr lang="en-US" sz="2400" dirty="0">
                <a:latin typeface="Tahoma" charset="0"/>
              </a:rPr>
              <a:t>The sum of the first 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ahoma" charset="0"/>
              </a:rPr>
              <a:t> integers is </a:t>
            </a:r>
            <a:r>
              <a:rPr lang="en-US" sz="2400" b="1" i="1" dirty="0">
                <a:latin typeface="Times New Roman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 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dirty="0">
                <a:latin typeface="Times New Roman" charset="0"/>
                <a:sym typeface="Symbol" charset="0"/>
              </a:rPr>
              <a:t>1) </a:t>
            </a:r>
            <a:r>
              <a:rPr lang="en-US" sz="2400" b="1" dirty="0">
                <a:latin typeface="Symbol" charset="0"/>
                <a:sym typeface="Symbol" charset="0"/>
              </a:rPr>
              <a:t>/ </a:t>
            </a:r>
            <a:r>
              <a:rPr lang="en-US" sz="2400" dirty="0">
                <a:latin typeface="Times New Roman" charset="0"/>
                <a:sym typeface="Symbol" charset="0"/>
              </a:rPr>
              <a:t>2</a:t>
            </a:r>
          </a:p>
          <a:p>
            <a:pPr lvl="1" eaLnBrk="1" hangingPunct="1"/>
            <a:r>
              <a:rPr lang="en-US" sz="2000" dirty="0">
                <a:latin typeface="Tahoma" charset="0"/>
                <a:sym typeface="Symbol" charset="0"/>
              </a:rPr>
              <a:t>There is a simple visual proof of this fact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Thus, algorithm </a:t>
            </a:r>
            <a:r>
              <a:rPr lang="en-US" sz="2400" dirty="0">
                <a:solidFill>
                  <a:schemeClr val="tx2"/>
                </a:solidFill>
              </a:rPr>
              <a:t>prefixAverage1</a:t>
            </a:r>
            <a:r>
              <a:rPr lang="en-US" sz="2400" b="1" i="1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2400" dirty="0">
                <a:latin typeface="Tahoma" charset="0"/>
              </a:rPr>
              <a:t>runs in </a:t>
            </a:r>
            <a:r>
              <a:rPr lang="en-US" sz="2400" b="1" i="1" dirty="0">
                <a:latin typeface="Times New Roman" charset="0"/>
                <a:sym typeface="Symbol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baseline="30000" dirty="0">
                <a:latin typeface="Times New Roman" charset="0"/>
                <a:sym typeface="Symbol" charset="0"/>
              </a:rPr>
              <a:t>2</a:t>
            </a:r>
            <a:r>
              <a:rPr lang="en-US" sz="2400" dirty="0">
                <a:latin typeface="Times New Roman" charset="0"/>
                <a:sym typeface="Symbol" charset="0"/>
              </a:rPr>
              <a:t>) </a:t>
            </a:r>
            <a:r>
              <a:rPr lang="en-US" sz="2400" dirty="0">
                <a:latin typeface="Tahoma" charset="0"/>
              </a:rPr>
              <a:t>time </a:t>
            </a:r>
          </a:p>
        </p:txBody>
      </p:sp>
      <p:graphicFrame>
        <p:nvGraphicFramePr>
          <p:cNvPr id="37893" name="Object 6"/>
          <p:cNvGraphicFramePr>
            <a:graphicFrameLocks noChangeAspect="1"/>
          </p:cNvGraphicFramePr>
          <p:nvPr/>
        </p:nvGraphicFramePr>
        <p:xfrm>
          <a:off x="6400800" y="1514476"/>
          <a:ext cx="3981450" cy="456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3771900" imgH="4051300" progId="MSGraph.Chart.8">
                  <p:embed followColorScheme="full"/>
                </p:oleObj>
              </mc:Choice>
              <mc:Fallback>
                <p:oleObj name="Chart" r:id="rId2" imgW="3771900" imgH="4051300" progId="MSGraph.Chart.8">
                  <p:embed followColorScheme="full"/>
                  <p:pic>
                    <p:nvPicPr>
                      <p:cNvPr id="3789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514476"/>
                        <a:ext cx="3981450" cy="456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89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6DCBC4F-D038-274F-9A65-786A10AB474E}" type="slidenum">
              <a:rPr lang="en-US" sz="1400"/>
              <a:pPr eaLnBrk="1" hangingPunct="1"/>
              <a:t>42</a:t>
            </a:fld>
            <a:endParaRPr lang="en-US" sz="1400"/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2133600" y="3048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4400" dirty="0">
                <a:solidFill>
                  <a:schemeClr val="tx2"/>
                </a:solidFill>
              </a:rPr>
              <a:t>Prefix Averages 2 (Linear)</a:t>
            </a:r>
          </a:p>
        </p:txBody>
      </p:sp>
      <p:sp>
        <p:nvSpPr>
          <p:cNvPr id="38916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2209800" y="1600200"/>
            <a:ext cx="784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/>
              <a:t>The following algorithm uses a running summation to improve the efficiency</a:t>
            </a:r>
            <a:endParaRPr lang="en-US" b="1" i="1" dirty="0">
              <a:latin typeface="Times New Roman" charset="0"/>
              <a:sym typeface="Symbol" charset="0"/>
            </a:endParaRPr>
          </a:p>
        </p:txBody>
      </p:sp>
      <p:sp>
        <p:nvSpPr>
          <p:cNvPr id="38918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2209800" y="58674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lang="en-US" dirty="0">
                <a:latin typeface="+mj-lt"/>
              </a:rPr>
              <a:t>Algorithm </a:t>
            </a:r>
            <a:r>
              <a:rPr lang="en-US" dirty="0">
                <a:solidFill>
                  <a:schemeClr val="tx2"/>
                </a:solidFill>
              </a:rPr>
              <a:t>prefixAverage2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latin typeface="+mj-lt"/>
              </a:rPr>
              <a:t>runs in</a:t>
            </a:r>
            <a:r>
              <a:rPr lang="en-US" dirty="0"/>
              <a:t> </a:t>
            </a:r>
            <a:r>
              <a:rPr lang="en-US" b="1" i="1" dirty="0">
                <a:latin typeface="Times New Roman" charset="0"/>
                <a:sym typeface="Symbol" charset="0"/>
              </a:rPr>
              <a:t>O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 </a:t>
            </a:r>
            <a:r>
              <a:rPr lang="en-US" dirty="0"/>
              <a:t>time!</a:t>
            </a:r>
          </a:p>
        </p:txBody>
      </p:sp>
      <p:sp>
        <p:nvSpPr>
          <p:cNvPr id="2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541234"/>
            <a:ext cx="8902836" cy="324996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Math you need to Review</a:t>
            </a:r>
          </a:p>
        </p:txBody>
      </p:sp>
      <p:sp>
        <p:nvSpPr>
          <p:cNvPr id="40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half" idx="1"/>
          </p:nvPr>
        </p:nvSpPr>
        <p:spPr>
          <a:xfrm>
            <a:off x="5486400" y="1600200"/>
            <a:ext cx="4343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BE2D00"/>
                </a:solidFill>
                <a:latin typeface="Tahoma" charset="0"/>
              </a:rPr>
              <a:t>Properties of powers: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>
                <a:latin typeface="Tahoma" charset="0"/>
              </a:rPr>
              <a:t>a</a:t>
            </a:r>
            <a:r>
              <a:rPr lang="en-US" baseline="30000" dirty="0">
                <a:latin typeface="Tahoma" charset="0"/>
              </a:rPr>
              <a:t>(</a:t>
            </a:r>
            <a:r>
              <a:rPr lang="en-US" baseline="30000" dirty="0" err="1">
                <a:latin typeface="Tahoma" charset="0"/>
              </a:rPr>
              <a:t>b+c</a:t>
            </a:r>
            <a:r>
              <a:rPr lang="en-US" baseline="30000" dirty="0">
                <a:latin typeface="Tahoma" charset="0"/>
              </a:rPr>
              <a:t>)</a:t>
            </a:r>
            <a:r>
              <a:rPr lang="en-US" dirty="0">
                <a:latin typeface="Tahoma" charset="0"/>
              </a:rPr>
              <a:t> = a</a:t>
            </a:r>
            <a:r>
              <a:rPr lang="en-US" baseline="30000" dirty="0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a </a:t>
            </a:r>
            <a:r>
              <a:rPr lang="en-US" baseline="30000" dirty="0">
                <a:latin typeface="Tahoma" charset="0"/>
              </a:rPr>
              <a:t>c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bc</a:t>
            </a:r>
            <a:r>
              <a:rPr lang="en-US" dirty="0">
                <a:latin typeface="Tahoma" charset="0"/>
              </a:rPr>
              <a:t> = (</a:t>
            </a:r>
            <a:r>
              <a:rPr lang="en-US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)</a:t>
            </a:r>
            <a:r>
              <a:rPr lang="en-US" baseline="30000" dirty="0">
                <a:latin typeface="Tahoma" charset="0"/>
              </a:rPr>
              <a:t>c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 /a</a:t>
            </a:r>
            <a:r>
              <a:rPr lang="en-US" baseline="30000" dirty="0">
                <a:latin typeface="Tahoma" charset="0"/>
              </a:rPr>
              <a:t>c</a:t>
            </a:r>
            <a:r>
              <a:rPr lang="en-US" dirty="0">
                <a:latin typeface="Tahoma" charset="0"/>
              </a:rPr>
              <a:t> = a</a:t>
            </a:r>
            <a:r>
              <a:rPr lang="en-US" baseline="30000" dirty="0">
                <a:latin typeface="Tahoma" charset="0"/>
              </a:rPr>
              <a:t>(b-c)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>
                <a:latin typeface="Tahoma" charset="0"/>
              </a:rPr>
              <a:t>b = a </a:t>
            </a:r>
            <a:r>
              <a:rPr lang="en-US" baseline="30000" dirty="0" err="1">
                <a:latin typeface="Tahoma" charset="0"/>
              </a:rPr>
              <a:t>log</a:t>
            </a:r>
            <a:r>
              <a:rPr lang="en-US" baseline="-11000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 err="1">
                <a:latin typeface="Tahoma" charset="0"/>
              </a:rPr>
              <a:t>b</a:t>
            </a:r>
            <a:r>
              <a:rPr lang="en-US" baseline="30000" dirty="0" err="1">
                <a:latin typeface="Tahoma" charset="0"/>
              </a:rPr>
              <a:t>c</a:t>
            </a:r>
            <a:r>
              <a:rPr lang="en-US" dirty="0">
                <a:latin typeface="Tahoma" charset="0"/>
              </a:rPr>
              <a:t> = a </a:t>
            </a:r>
            <a:r>
              <a:rPr lang="en-US" baseline="30000" dirty="0">
                <a:latin typeface="Tahoma" charset="0"/>
              </a:rPr>
              <a:t>c*</a:t>
            </a:r>
            <a:r>
              <a:rPr lang="en-US" baseline="30000" dirty="0" err="1">
                <a:latin typeface="Tahoma" charset="0"/>
              </a:rPr>
              <a:t>log</a:t>
            </a:r>
            <a:r>
              <a:rPr lang="en-US" baseline="-11000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endParaRPr lang="en-US" dirty="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BE2D00"/>
                </a:solidFill>
                <a:latin typeface="Tahoma" charset="0"/>
              </a:rPr>
              <a:t>Properties of logarithms: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(</a:t>
            </a:r>
            <a:r>
              <a:rPr lang="en-US" dirty="0" err="1">
                <a:latin typeface="Tahoma" charset="0"/>
              </a:rPr>
              <a:t>xy</a:t>
            </a:r>
            <a:r>
              <a:rPr lang="en-US" dirty="0">
                <a:latin typeface="Tahoma" charset="0"/>
              </a:rPr>
              <a:t>) =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</a:t>
            </a:r>
            <a:r>
              <a:rPr lang="en-US" dirty="0">
                <a:latin typeface="Tahoma" charset="0"/>
              </a:rPr>
              <a:t> +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y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 (x/y) =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</a:t>
            </a:r>
            <a:r>
              <a:rPr lang="en-US" dirty="0">
                <a:latin typeface="Tahoma" charset="0"/>
              </a:rPr>
              <a:t> -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y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xa</a:t>
            </a:r>
            <a:r>
              <a:rPr lang="en-US" dirty="0">
                <a:latin typeface="Tahoma" charset="0"/>
              </a:rPr>
              <a:t> = </a:t>
            </a:r>
            <a:r>
              <a:rPr lang="en-US" dirty="0" err="1">
                <a:latin typeface="Tahoma" charset="0"/>
              </a:rPr>
              <a:t>alog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a</a:t>
            </a:r>
            <a:r>
              <a:rPr lang="en-US" dirty="0">
                <a:latin typeface="Tahoma" charset="0"/>
              </a:rPr>
              <a:t> =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x</a:t>
            </a:r>
            <a:r>
              <a:rPr lang="en-US" dirty="0" err="1">
                <a:latin typeface="Tahoma" charset="0"/>
              </a:rPr>
              <a:t>a</a:t>
            </a:r>
            <a:r>
              <a:rPr lang="en-US" dirty="0">
                <a:latin typeface="Tahoma" charset="0"/>
              </a:rPr>
              <a:t>/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x</a:t>
            </a:r>
            <a:r>
              <a:rPr lang="en-US" dirty="0" err="1">
                <a:latin typeface="Tahoma" charset="0"/>
              </a:rPr>
              <a:t>b</a:t>
            </a:r>
            <a:endParaRPr lang="en-US" dirty="0">
              <a:latin typeface="Tahoma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2133600" y="1600200"/>
            <a:ext cx="3200400" cy="4419600"/>
          </a:xfrm>
        </p:spPr>
        <p:txBody>
          <a:bodyPr/>
          <a:lstStyle/>
          <a:p>
            <a:r>
              <a:rPr lang="en-US" dirty="0"/>
              <a:t>Summations</a:t>
            </a:r>
          </a:p>
          <a:p>
            <a:r>
              <a:rPr lang="en-US" dirty="0"/>
              <a:t>Powers</a:t>
            </a:r>
          </a:p>
          <a:p>
            <a:r>
              <a:rPr lang="en-US" dirty="0"/>
              <a:t>Logarithms</a:t>
            </a:r>
          </a:p>
          <a:p>
            <a:r>
              <a:rPr lang="en-US" dirty="0"/>
              <a:t>Proof techniques</a:t>
            </a:r>
          </a:p>
          <a:p>
            <a:r>
              <a:rPr lang="en-US" dirty="0"/>
              <a:t>Basic probability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0967" name="Date Placeholder 7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/>
              <a:t>© 2014 Goodrich, Tamassia, Goldwasser</a:t>
            </a:r>
          </a:p>
        </p:txBody>
      </p:sp>
      <p:sp>
        <p:nvSpPr>
          <p:cNvPr id="4096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09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5C4A2D8-D6BA-CD48-8D6D-6FB56050A668}" type="slidenum">
              <a:rPr lang="en-US" sz="1400"/>
              <a:pPr eaLnBrk="1" hangingPunct="1"/>
              <a:t>43</a:t>
            </a:fld>
            <a:endParaRPr lang="en-US" sz="1400"/>
          </a:p>
        </p:txBody>
      </p:sp>
      <p:graphicFrame>
        <p:nvGraphicFramePr>
          <p:cNvPr id="40964" name="Object 7"/>
          <p:cNvGraphicFramePr>
            <a:graphicFrameLocks noChangeAspect="1"/>
          </p:cNvGraphicFramePr>
          <p:nvPr/>
        </p:nvGraphicFramePr>
        <p:xfrm>
          <a:off x="9337676" y="228600"/>
          <a:ext cx="8731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668780" imgH="10589019" progId="MS_ClipArt_Gallery.2">
                  <p:embed/>
                </p:oleObj>
              </mc:Choice>
              <mc:Fallback>
                <p:oleObj name="Clip" r:id="rId2" imgW="4668780" imgH="10589019" progId="MS_ClipArt_Gallery.2">
                  <p:embed/>
                  <p:pic>
                    <p:nvPicPr>
                      <p:cNvPr id="4096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7676" y="228600"/>
                        <a:ext cx="87312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19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7B3F26E-FFFF-C140-AA33-3CD3420294A3}" type="slidenum">
              <a:rPr lang="en-US" sz="1400"/>
              <a:pPr eaLnBrk="1" hangingPunct="1"/>
              <a:t>44</a:t>
            </a:fld>
            <a:endParaRPr lang="en-US" sz="1400"/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2209800" y="533400"/>
            <a:ext cx="6629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>
                <a:solidFill>
                  <a:schemeClr val="tx2"/>
                </a:solidFill>
              </a:rPr>
              <a:t>Relatives of Big-Oh</a:t>
            </a: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2362200" y="1600200"/>
            <a:ext cx="7543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>
                <a:solidFill>
                  <a:srgbClr val="BE2D00"/>
                </a:solidFill>
              </a:rPr>
              <a:t>big-Omega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(g(n)) if there is a constant c &gt; 0 </a:t>
            </a:r>
            <a:br>
              <a:rPr lang="en-US" dirty="0">
                <a:sym typeface="Symbol" charset="0"/>
              </a:rPr>
            </a:br>
            <a:r>
              <a:rPr lang="en-US" dirty="0">
                <a:sym typeface="Symbol" charset="0"/>
              </a:rPr>
              <a:t>and an integer constant n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 1 such that </a:t>
            </a:r>
          </a:p>
          <a:p>
            <a:pPr marL="742950" lvl="1" indent="-285750" algn="ctr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</a:pPr>
            <a:r>
              <a:rPr lang="en-US" dirty="0">
                <a:sym typeface="Symbol" charset="0"/>
              </a:rPr>
              <a:t>	f(n)  c</a:t>
            </a:r>
            <a:r>
              <a:rPr lang="en-US" dirty="0">
                <a:cs typeface="Arial" charset="0"/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g(n) for n  n</a:t>
            </a:r>
            <a:r>
              <a:rPr lang="en-US" baseline="-25000" dirty="0">
                <a:sym typeface="Symbol" charset="0"/>
              </a:rPr>
              <a:t>0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</a:pPr>
            <a:endParaRPr lang="en-US" baseline="-25000" dirty="0">
              <a:sym typeface="Symbol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>
                <a:solidFill>
                  <a:srgbClr val="BE2D00"/>
                </a:solidFill>
              </a:rPr>
              <a:t>big-Theta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(g(n)) if there are constants c’ &gt; 0 and c’’ &gt; 0 and an integer constant n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 1 such that</a:t>
            </a:r>
          </a:p>
          <a:p>
            <a:pPr lvl="1" algn="ctr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</a:pPr>
            <a:r>
              <a:rPr lang="en-US" dirty="0" err="1">
                <a:sym typeface="Symbol" charset="0"/>
              </a:rPr>
              <a:t>c’</a:t>
            </a:r>
            <a:r>
              <a:rPr lang="en-US" altLang="ja-JP" dirty="0" err="1">
                <a:sym typeface="Symbol" charset="0"/>
              </a:rPr>
              <a:t>g</a:t>
            </a:r>
            <a:r>
              <a:rPr lang="en-US" altLang="ja-JP" dirty="0">
                <a:sym typeface="Symbol" charset="0"/>
              </a:rPr>
              <a:t>(n)  f(n)  </a:t>
            </a:r>
            <a:r>
              <a:rPr lang="en-US" altLang="ja-JP" dirty="0" err="1">
                <a:sym typeface="Symbol" charset="0"/>
              </a:rPr>
              <a:t>c</a:t>
            </a:r>
            <a:r>
              <a:rPr lang="en-US" dirty="0" err="1">
                <a:sym typeface="Symbol" charset="0"/>
              </a:rPr>
              <a:t>’’</a:t>
            </a:r>
            <a:r>
              <a:rPr lang="en-US" altLang="ja-JP" dirty="0" err="1">
                <a:sym typeface="Symbol" charset="0"/>
              </a:rPr>
              <a:t>g</a:t>
            </a:r>
            <a:r>
              <a:rPr lang="en-US" altLang="ja-JP" dirty="0">
                <a:sym typeface="Symbol" charset="0"/>
              </a:rPr>
              <a:t>(n) for n  n</a:t>
            </a:r>
            <a:r>
              <a:rPr lang="en-US" altLang="ja-JP" baseline="-25000" dirty="0">
                <a:sym typeface="Symbol" charset="0"/>
              </a:rPr>
              <a:t>0</a:t>
            </a:r>
            <a:endParaRPr lang="en-US" dirty="0"/>
          </a:p>
        </p:txBody>
      </p:sp>
      <p:graphicFrame>
        <p:nvGraphicFramePr>
          <p:cNvPr id="41989" name="Object 4"/>
          <p:cNvGraphicFramePr>
            <a:graphicFrameLocks noChangeAspect="1"/>
          </p:cNvGraphicFramePr>
          <p:nvPr/>
        </p:nvGraphicFramePr>
        <p:xfrm>
          <a:off x="7772400" y="228600"/>
          <a:ext cx="239395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332083" imgH="3468986" progId="MS_ClipArt_Gallery.5">
                  <p:embed/>
                </p:oleObj>
              </mc:Choice>
              <mc:Fallback>
                <p:oleObj name="Clip" r:id="rId2" imgW="4332083" imgH="3468986" progId="MS_ClipArt_Gallery.5">
                  <p:embed/>
                  <p:pic>
                    <p:nvPicPr>
                      <p:cNvPr id="419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28600"/>
                        <a:ext cx="239395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BFE46C5-1096-DD4C-A5C9-6C89F96C4DC3}" type="slidenum">
              <a:rPr lang="en-US" sz="1400"/>
              <a:pPr eaLnBrk="1" hangingPunct="1"/>
              <a:t>45</a:t>
            </a:fld>
            <a:endParaRPr 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6553200" cy="1295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Tahoma" charset="0"/>
              </a:rPr>
              <a:t>Intuition for Asymptotic Notation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2590800" y="1676400"/>
            <a:ext cx="6553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/>
              <a:t>	</a:t>
            </a:r>
            <a:r>
              <a:rPr lang="en-US" dirty="0">
                <a:solidFill>
                  <a:schemeClr val="tx2"/>
                </a:solidFill>
              </a:rPr>
              <a:t>big-Oh</a:t>
            </a:r>
            <a:endParaRPr lang="en-US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O(g(n)) if f(n) is asymptotically </a:t>
            </a:r>
            <a:r>
              <a:rPr lang="en-US" dirty="0">
                <a:solidFill>
                  <a:srgbClr val="BE2D00"/>
                </a:solidFill>
                <a:sym typeface="Symbol" charset="0"/>
              </a:rPr>
              <a:t>less than or equal to</a:t>
            </a:r>
            <a:r>
              <a:rPr lang="en-US" dirty="0">
                <a:sym typeface="Symbol" charset="0"/>
              </a:rPr>
              <a:t> g(n)</a:t>
            </a:r>
            <a:endParaRPr lang="en-US" sz="200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/>
              <a:t>	</a:t>
            </a:r>
            <a:r>
              <a:rPr lang="en-US" dirty="0">
                <a:solidFill>
                  <a:schemeClr val="tx2"/>
                </a:solidFill>
              </a:rPr>
              <a:t>big-Omega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(g(n)) if f(n) is asymptotically </a:t>
            </a:r>
            <a:r>
              <a:rPr lang="en-US" dirty="0">
                <a:solidFill>
                  <a:srgbClr val="BE2D00"/>
                </a:solidFill>
                <a:sym typeface="Symbol" charset="0"/>
              </a:rPr>
              <a:t>greater than or equal to </a:t>
            </a:r>
            <a:r>
              <a:rPr lang="en-US" dirty="0">
                <a:sym typeface="Symbol" charset="0"/>
              </a:rPr>
              <a:t>g(n)</a:t>
            </a:r>
            <a:endParaRPr lang="en-US" baseline="-25000" dirty="0">
              <a:sym typeface="Symbo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/>
              <a:t>	</a:t>
            </a:r>
            <a:r>
              <a:rPr lang="en-US" dirty="0">
                <a:solidFill>
                  <a:schemeClr val="tx2"/>
                </a:solidFill>
              </a:rPr>
              <a:t>big-Theta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(g(n)) if f(n) is asymptotically </a:t>
            </a:r>
            <a:r>
              <a:rPr lang="en-US" dirty="0">
                <a:solidFill>
                  <a:srgbClr val="BE2D00"/>
                </a:solidFill>
                <a:sym typeface="Symbol" charset="0"/>
              </a:rPr>
              <a:t>equal to </a:t>
            </a:r>
            <a:r>
              <a:rPr lang="en-US" dirty="0">
                <a:sym typeface="Symbol" charset="0"/>
              </a:rPr>
              <a:t>g(n)</a:t>
            </a: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2800" dirty="0">
              <a:sym typeface="Symbol" charset="0"/>
            </a:endParaRPr>
          </a:p>
        </p:txBody>
      </p:sp>
      <p:graphicFrame>
        <p:nvGraphicFramePr>
          <p:cNvPr id="43013" name="Object 6"/>
          <p:cNvGraphicFramePr>
            <a:graphicFrameLocks noChangeAspect="1"/>
          </p:cNvGraphicFramePr>
          <p:nvPr/>
        </p:nvGraphicFramePr>
        <p:xfrm>
          <a:off x="8229600" y="152401"/>
          <a:ext cx="17526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879443" imgH="875763" progId="MS_ClipArt_Gallery.2">
                  <p:embed/>
                </p:oleObj>
              </mc:Choice>
              <mc:Fallback>
                <p:oleObj name="Clip" r:id="rId2" imgW="879443" imgH="875763" progId="MS_ClipArt_Gallery.2">
                  <p:embed/>
                  <p:pic>
                    <p:nvPicPr>
                      <p:cNvPr id="430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52401"/>
                        <a:ext cx="175260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DF99DFE-D05D-674A-BCAD-FB35175F756F}" type="slidenum">
              <a:rPr lang="en-US" sz="1400"/>
              <a:pPr eaLnBrk="1" hangingPunct="1"/>
              <a:t>46</a:t>
            </a:fld>
            <a:endParaRPr lang="en-US" sz="1400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2209800" y="228600"/>
            <a:ext cx="5638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>
                <a:solidFill>
                  <a:schemeClr val="tx2"/>
                </a:solidFill>
              </a:rPr>
              <a:t>Example Uses of the Relatives of Big-Oh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2286000" y="4884738"/>
            <a:ext cx="8077200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dirty="0">
                <a:sym typeface="Symbol" charset="0"/>
              </a:rPr>
              <a:t>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it is 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baseline="30000" dirty="0">
                <a:latin typeface="Times New Roman" charset="0"/>
              </a:rPr>
              <a:t>2</a:t>
            </a:r>
            <a:r>
              <a:rPr lang="en-US" sz="2000" dirty="0">
                <a:latin typeface="Times New Roman" charset="0"/>
              </a:rPr>
              <a:t>) and </a:t>
            </a:r>
            <a:r>
              <a:rPr lang="en-US" sz="2000" i="1" dirty="0">
                <a:latin typeface="Times New Roman" charset="0"/>
                <a:sym typeface="Symbol" charset="0"/>
              </a:rPr>
              <a:t>O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baseline="30000" dirty="0">
                <a:latin typeface="Times New Roman" charset="0"/>
              </a:rPr>
              <a:t>2</a:t>
            </a:r>
            <a:r>
              <a:rPr lang="en-US" sz="2000" dirty="0">
                <a:latin typeface="Times New Roman" charset="0"/>
              </a:rPr>
              <a:t>). We have already seen the former, for the latter recall that </a:t>
            </a: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sz="2000" i="1" dirty="0">
                <a:latin typeface="Times New Roman" charset="0"/>
                <a:sym typeface="Symbol" charset="0"/>
              </a:rPr>
              <a:t>O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there is a constant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&gt; 0 and an integer constant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 1 such that f(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</a:t>
            </a:r>
            <a:r>
              <a:rPr lang="en-US" sz="2000" u="sng" dirty="0">
                <a:latin typeface="Times New Roman" charset="0"/>
                <a:sym typeface="Symbol" charset="0"/>
              </a:rPr>
              <a:t>&lt;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cs typeface="Arial" charset="0"/>
                <a:sym typeface="Symbol" charset="0"/>
              </a:rPr>
              <a:t> 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for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 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 </a:t>
            </a:r>
            <a:endParaRPr lang="en-US" sz="2000" dirty="0">
              <a:latin typeface="Times New Roman" charset="0"/>
              <a:sym typeface="Symbol" charset="0"/>
            </a:endParaRPr>
          </a:p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>
                <a:latin typeface="Times New Roman" charset="0"/>
                <a:sym typeface="Symbol" charset="0"/>
              </a:rPr>
              <a:t>Let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= 5 and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= 1</a:t>
            </a:r>
            <a:endParaRPr lang="en-US" sz="2000" baseline="-25000" dirty="0">
              <a:latin typeface="Times New Roman" charset="0"/>
              <a:sym typeface="Symbol" charset="0"/>
            </a:endParaRPr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2286000" y="4478339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SzPct val="75000"/>
              <a:buFont typeface="Wingdings" charset="0"/>
              <a:buChar char="n"/>
            </a:pPr>
            <a:r>
              <a:rPr lang="en-US" sz="2000" b="1" dirty="0">
                <a:latin typeface="Times New Roman" charset="0"/>
              </a:rPr>
              <a:t>5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 is </a:t>
            </a:r>
            <a:r>
              <a:rPr lang="en-US" dirty="0">
                <a:sym typeface="Symbol" charset="0"/>
              </a:rPr>
              <a:t></a:t>
            </a:r>
            <a:r>
              <a:rPr lang="en-US" sz="2000" b="1" dirty="0">
                <a:latin typeface="Times New Roman" charset="0"/>
              </a:rPr>
              <a:t>(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)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2286000" y="35306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sz="2000" dirty="0">
                <a:latin typeface="Times New Roman" charset="0"/>
                <a:sym typeface="Symbol" charset="0"/>
              </a:rPr>
              <a:t>(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there is a constant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&gt; 0 and an integer constant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 1 such that f(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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cs typeface="Arial" charset="0"/>
                <a:sym typeface="Symbol" charset="0"/>
              </a:rPr>
              <a:t> 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for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 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</a:p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>
                <a:latin typeface="Times New Roman" charset="0"/>
                <a:sym typeface="Symbol" charset="0"/>
              </a:rPr>
              <a:t>let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= 1 and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= 1</a:t>
            </a:r>
            <a:endParaRPr lang="en-US" sz="2000" baseline="-25000" dirty="0">
              <a:latin typeface="Times New Roman" charset="0"/>
              <a:sym typeface="Symbol" charset="0"/>
            </a:endParaRPr>
          </a:p>
        </p:txBody>
      </p:sp>
      <p:sp>
        <p:nvSpPr>
          <p:cNvPr id="44039" name="Rectangle 8"/>
          <p:cNvSpPr>
            <a:spLocks noChangeArrowheads="1"/>
          </p:cNvSpPr>
          <p:nvPr/>
        </p:nvSpPr>
        <p:spPr bwMode="auto">
          <a:xfrm>
            <a:off x="2286000" y="3114675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SzPct val="75000"/>
              <a:buFont typeface="Wingdings" charset="0"/>
              <a:buChar char="n"/>
            </a:pPr>
            <a:r>
              <a:rPr lang="en-US" sz="2000" b="1" dirty="0">
                <a:latin typeface="Times New Roman" charset="0"/>
              </a:rPr>
              <a:t>5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 is </a:t>
            </a:r>
            <a:r>
              <a:rPr lang="en-US" sz="2000" b="1" dirty="0">
                <a:latin typeface="Times New Roman" charset="0"/>
                <a:sym typeface="Symbol" charset="0"/>
              </a:rPr>
              <a:t></a:t>
            </a:r>
            <a:r>
              <a:rPr lang="en-US" sz="2000" b="1" dirty="0">
                <a:latin typeface="Times New Roman" charset="0"/>
              </a:rPr>
              <a:t>(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dirty="0">
                <a:latin typeface="Times New Roman" charset="0"/>
              </a:rPr>
              <a:t>)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2286000" y="2166938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sz="2000" dirty="0">
                <a:latin typeface="Times New Roman" charset="0"/>
                <a:sym typeface="Symbol" charset="0"/>
              </a:rPr>
              <a:t>(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there is a constant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&gt; 0 and an integer constant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 1 such that </a:t>
            </a:r>
            <a:r>
              <a:rPr lang="en-US" sz="2000" i="1" dirty="0">
                <a:latin typeface="Times New Roman" charset="0"/>
                <a:sym typeface="Symbol" charset="0"/>
              </a:rPr>
              <a:t>f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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cs typeface="Arial" charset="0"/>
                <a:sym typeface="Symbol" charset="0"/>
              </a:rPr>
              <a:t> 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for </a:t>
            </a:r>
            <a:r>
              <a:rPr lang="en-US" sz="2000" i="1" dirty="0">
                <a:latin typeface="Times New Roman" charset="0"/>
                <a:sym typeface="Symbol" charset="0"/>
              </a:rPr>
              <a:t>n </a:t>
            </a:r>
            <a:r>
              <a:rPr lang="en-US" sz="2000" dirty="0">
                <a:latin typeface="Times New Roman" charset="0"/>
                <a:sym typeface="Symbol" charset="0"/>
              </a:rPr>
              <a:t>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</a:p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>
                <a:latin typeface="Times New Roman" charset="0"/>
                <a:sym typeface="Symbol" charset="0"/>
              </a:rPr>
              <a:t>let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= 5 and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= 1</a:t>
            </a:r>
          </a:p>
        </p:txBody>
      </p:sp>
      <p:sp>
        <p:nvSpPr>
          <p:cNvPr id="44041" name="Rectangle 10"/>
          <p:cNvSpPr>
            <a:spLocks noChangeArrowheads="1"/>
          </p:cNvSpPr>
          <p:nvPr/>
        </p:nvSpPr>
        <p:spPr bwMode="auto">
          <a:xfrm>
            <a:off x="2286000" y="17526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SzPct val="75000"/>
              <a:buFont typeface="Wingdings" charset="0"/>
              <a:buChar char="n"/>
            </a:pPr>
            <a:r>
              <a:rPr lang="en-US" sz="2000" b="1" dirty="0">
                <a:latin typeface="Times New Roman" charset="0"/>
              </a:rPr>
              <a:t>5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 is </a:t>
            </a:r>
            <a:r>
              <a:rPr lang="en-US" sz="2000" b="1" dirty="0">
                <a:latin typeface="Times New Roman" charset="0"/>
                <a:sym typeface="Symbol" charset="0"/>
              </a:rPr>
              <a:t></a:t>
            </a:r>
            <a:r>
              <a:rPr lang="en-US" sz="2000" b="1" dirty="0">
                <a:latin typeface="Times New Roman" charset="0"/>
              </a:rPr>
              <a:t>(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)</a:t>
            </a:r>
          </a:p>
        </p:txBody>
      </p:sp>
      <p:graphicFrame>
        <p:nvGraphicFramePr>
          <p:cNvPr id="44042" name="Object 11"/>
          <p:cNvGraphicFramePr>
            <a:graphicFrameLocks noChangeAspect="1"/>
          </p:cNvGraphicFramePr>
          <p:nvPr/>
        </p:nvGraphicFramePr>
        <p:xfrm>
          <a:off x="8305800" y="381000"/>
          <a:ext cx="14668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89792" imgH="903405" progId="MS_ClipArt_Gallery.2">
                  <p:embed/>
                </p:oleObj>
              </mc:Choice>
              <mc:Fallback>
                <p:oleObj name="Clip" r:id="rId3" imgW="789792" imgH="903405" progId="MS_ClipArt_Gallery.2">
                  <p:embed/>
                  <p:pic>
                    <p:nvPicPr>
                      <p:cNvPr id="4404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381000"/>
                        <a:ext cx="14668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Date Placeholder 1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  <p:bldP spid="45063" grpId="0" autoUpdateAnimBg="0"/>
      <p:bldP spid="45065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Page 182-183</a:t>
            </a:r>
          </a:p>
          <a:p>
            <a:pPr marL="0" indent="0">
              <a:buNone/>
            </a:pPr>
            <a:r>
              <a:rPr lang="en-US" sz="2400" dirty="0"/>
              <a:t>	 R-4.16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15829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B55C-9752-9C3C-61BB-44283FFE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26A9-F657-53A8-21EA-DE980348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AFE81-79B2-DF40-A561-511C16F0A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Page 182-183</a:t>
            </a:r>
          </a:p>
          <a:p>
            <a:pPr marL="0" indent="0">
              <a:buNone/>
            </a:pPr>
            <a:r>
              <a:rPr lang="en-US" sz="2400" dirty="0"/>
              <a:t>	 R-4.16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96A60-D413-7B77-C06E-F01B356AF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00201"/>
            <a:ext cx="18288860" cy="213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560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E367-3D53-E743-941A-8AB669AB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710B-6C76-BFF2-6B56-C27E0833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0997-50F7-7E8C-44E8-903B9B73A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Page 182-183</a:t>
            </a:r>
          </a:p>
          <a:p>
            <a:pPr marL="0" indent="0">
              <a:buNone/>
            </a:pPr>
            <a:r>
              <a:rPr lang="en-US" sz="2400" dirty="0"/>
              <a:t>	 R-4.16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7E0B6-AE22-61F5-D11B-72BA65154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64523"/>
            <a:ext cx="7664450" cy="4093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89467A-1826-A073-C033-9CCF0871C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693477"/>
            <a:ext cx="10416409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427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AE12-951B-CBBB-DA06-467D9911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2311-8642-82BB-F17F-9EAFC0D9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539C6-37FD-38A1-CE54-465A94D5D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Page 182-183</a:t>
            </a:r>
          </a:p>
          <a:p>
            <a:pPr marL="0" indent="0">
              <a:buNone/>
            </a:pPr>
            <a:r>
              <a:rPr lang="en-US" sz="2400" dirty="0"/>
              <a:t>	 R-4.16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1D01A-9AD9-31F8-FE55-1FBAB9C07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09934"/>
            <a:ext cx="8900314" cy="3917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C6F85D-4C29-B342-86B8-8BBEB6521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530974"/>
            <a:ext cx="8901972" cy="59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02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582-8977-8982-82B9-26329CF83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05C6-A19A-175F-8E4D-1EF6ABF3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735CD-A46B-947D-E108-2450D57BF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Page 182-183</a:t>
            </a:r>
          </a:p>
          <a:p>
            <a:pPr marL="0" indent="0">
              <a:buNone/>
            </a:pPr>
            <a:r>
              <a:rPr lang="en-US" sz="2400" dirty="0"/>
              <a:t>	 R-4.16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764476-AC16-11C7-6FF2-E98D80B70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049754"/>
            <a:ext cx="10591800" cy="41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6013</TotalTime>
  <Words>3293</Words>
  <Application>Microsoft Macintosh PowerPoint</Application>
  <PresentationFormat>Widescreen</PresentationFormat>
  <Paragraphs>409</Paragraphs>
  <Slides>51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Arial</vt:lpstr>
      <vt:lpstr>Calibri</vt:lpstr>
      <vt:lpstr>Symbol</vt:lpstr>
      <vt:lpstr>Tahoma</vt:lpstr>
      <vt:lpstr>Times New Roman</vt:lpstr>
      <vt:lpstr>Wingdings</vt:lpstr>
      <vt:lpstr>Office Theme</vt:lpstr>
      <vt:lpstr>Equation</vt:lpstr>
      <vt:lpstr>Chart</vt:lpstr>
      <vt:lpstr>Clip</vt:lpstr>
      <vt:lpstr>Worksheet</vt:lpstr>
      <vt:lpstr>CS-205 Data Structure and Algorithms  5. Analysis of Algorithms</vt:lpstr>
      <vt:lpstr>Analysis of Algorithms</vt:lpstr>
      <vt:lpstr>Running Time</vt:lpstr>
      <vt:lpstr>Experimental  Studies</vt:lpstr>
      <vt:lpstr>Limitations of Experiments</vt:lpstr>
      <vt:lpstr>High Level Analysis</vt:lpstr>
      <vt:lpstr>Seven Important Functions</vt:lpstr>
      <vt:lpstr>Functions Graphed  Using “Normal” Scale</vt:lpstr>
      <vt:lpstr>Primitive Operations</vt:lpstr>
      <vt:lpstr>Counting Primitive Operations</vt:lpstr>
      <vt:lpstr>Estimating Running Time</vt:lpstr>
      <vt:lpstr>Growth Rate of Running Time</vt:lpstr>
      <vt:lpstr>Worst Case Analysis</vt:lpstr>
      <vt:lpstr> Comparison of Two Algorithms</vt:lpstr>
      <vt:lpstr>Constant Factors</vt:lpstr>
      <vt:lpstr>Asymptotic Notation</vt:lpstr>
      <vt:lpstr>Big-Oh</vt:lpstr>
      <vt:lpstr>Example</vt:lpstr>
      <vt:lpstr>Example</vt:lpstr>
      <vt:lpstr>Polynomials</vt:lpstr>
      <vt:lpstr>Analysis Tools</vt:lpstr>
      <vt:lpstr>Logarithmic Function</vt:lpstr>
      <vt:lpstr>Logarithmic Rules</vt:lpstr>
      <vt:lpstr>Linear Function</vt:lpstr>
      <vt:lpstr>N-Log-N Function</vt:lpstr>
      <vt:lpstr>Quadratic Function</vt:lpstr>
      <vt:lpstr>Other Polynomials</vt:lpstr>
      <vt:lpstr>Exponential Function</vt:lpstr>
      <vt:lpstr>Growth Rates</vt:lpstr>
      <vt:lpstr>Growth Rates</vt:lpstr>
      <vt:lpstr>Growth Rates</vt:lpstr>
      <vt:lpstr>Growth Rates</vt:lpstr>
      <vt:lpstr>Growth Rates</vt:lpstr>
      <vt:lpstr>Growth Rates</vt:lpstr>
      <vt:lpstr>PowerPoint Presentation</vt:lpstr>
      <vt:lpstr>Big-Oh and Growth Rate</vt:lpstr>
      <vt:lpstr>Big-Oh Rules</vt:lpstr>
      <vt:lpstr>Asymptotic Algorithm Analysis</vt:lpstr>
      <vt:lpstr>Computing Prefix Averages</vt:lpstr>
      <vt:lpstr>PowerPoint Presentation</vt:lpstr>
      <vt:lpstr>Arithmetic Progression</vt:lpstr>
      <vt:lpstr>PowerPoint Presentation</vt:lpstr>
      <vt:lpstr>Math you need to Review</vt:lpstr>
      <vt:lpstr>PowerPoint Presentation</vt:lpstr>
      <vt:lpstr>Intuition for Asymptotic Notation</vt:lpstr>
      <vt:lpstr>PowerPoint Presentation</vt:lpstr>
      <vt:lpstr>Exercises</vt:lpstr>
      <vt:lpstr>Exercises</vt:lpstr>
      <vt:lpstr>Exercises</vt:lpstr>
      <vt:lpstr>Exercises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Yao Xu</dc:creator>
  <cp:lastModifiedBy>Qu, Weihao</cp:lastModifiedBy>
  <cp:revision>96</cp:revision>
  <dcterms:created xsi:type="dcterms:W3CDTF">2006-08-16T00:00:00Z</dcterms:created>
  <dcterms:modified xsi:type="dcterms:W3CDTF">2025-01-18T19:12:22Z</dcterms:modified>
</cp:coreProperties>
</file>