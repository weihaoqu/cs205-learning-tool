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80" r:id="rId2"/>
    <p:sldId id="257" r:id="rId3"/>
    <p:sldId id="282" r:id="rId4"/>
    <p:sldId id="283" r:id="rId5"/>
    <p:sldId id="256" r:id="rId6"/>
    <p:sldId id="290" r:id="rId7"/>
    <p:sldId id="286" r:id="rId8"/>
    <p:sldId id="284" r:id="rId9"/>
    <p:sldId id="262" r:id="rId10"/>
    <p:sldId id="264" r:id="rId11"/>
    <p:sldId id="285" r:id="rId12"/>
    <p:sldId id="258" r:id="rId13"/>
    <p:sldId id="259" r:id="rId14"/>
    <p:sldId id="287" r:id="rId15"/>
    <p:sldId id="288" r:id="rId16"/>
    <p:sldId id="292" r:id="rId17"/>
    <p:sldId id="289" r:id="rId18"/>
    <p:sldId id="260" r:id="rId19"/>
    <p:sldId id="291" r:id="rId20"/>
    <p:sldId id="308" r:id="rId21"/>
    <p:sldId id="309" r:id="rId22"/>
    <p:sldId id="310" r:id="rId23"/>
    <p:sldId id="311" r:id="rId24"/>
    <p:sldId id="312" r:id="rId25"/>
    <p:sldId id="313" r:id="rId26"/>
    <p:sldId id="314" r:id="rId27"/>
    <p:sldId id="29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35"/>
    <p:restoredTop sz="94703"/>
  </p:normalViewPr>
  <p:slideViewPr>
    <p:cSldViewPr>
      <p:cViewPr varScale="1">
        <p:scale>
          <a:sx n="128" d="100"/>
          <a:sy n="128" d="100"/>
        </p:scale>
        <p:origin x="280" y="16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604A6AD-31BA-A642-840F-2ED74DF68999}" type="datetimeFigureOut">
              <a:rPr lang="en-US" smtClean="0"/>
              <a:t>1/18/25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02CCB2-779D-8D44-B8B9-C5C28141FA0F}" type="slidenum">
              <a:rPr lang="en-US" smtClean="0"/>
              <a:t>‹#›</a:t>
            </a:fld>
            <a:endParaRPr lang="en-US"/>
          </a:p>
        </p:txBody>
      </p:sp>
    </p:spTree>
    <p:extLst>
      <p:ext uri="{BB962C8B-B14F-4D97-AF65-F5344CB8AC3E}">
        <p14:creationId xmlns:p14="http://schemas.microsoft.com/office/powerpoint/2010/main" val="196679824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eaLnBrk="0" hangingPunct="0">
              <a:defRPr sz="2400">
                <a:solidFill>
                  <a:schemeClr val="tx1"/>
                </a:solidFill>
                <a:latin typeface="Tahoma" charset="0"/>
                <a:ea typeface="ＭＳ Ｐゴシック" charset="0"/>
              </a:defRPr>
            </a:lvl1pPr>
            <a:lvl2pPr marL="742950" indent="-285750" defTabSz="966788" eaLnBrk="0" hangingPunct="0">
              <a:defRPr sz="2400">
                <a:solidFill>
                  <a:schemeClr val="tx1"/>
                </a:solidFill>
                <a:latin typeface="Tahoma" charset="0"/>
                <a:ea typeface="ＭＳ Ｐゴシック" charset="0"/>
              </a:defRPr>
            </a:lvl2pPr>
            <a:lvl3pPr marL="1143000" indent="-228600" defTabSz="966788" eaLnBrk="0" hangingPunct="0">
              <a:defRPr sz="2400">
                <a:solidFill>
                  <a:schemeClr val="tx1"/>
                </a:solidFill>
                <a:latin typeface="Tahoma" charset="0"/>
                <a:ea typeface="ＭＳ Ｐゴシック" charset="0"/>
              </a:defRPr>
            </a:lvl3pPr>
            <a:lvl4pPr marL="1600200" indent="-228600" defTabSz="966788" eaLnBrk="0" hangingPunct="0">
              <a:defRPr sz="2400">
                <a:solidFill>
                  <a:schemeClr val="tx1"/>
                </a:solidFill>
                <a:latin typeface="Tahoma" charset="0"/>
                <a:ea typeface="ＭＳ Ｐゴシック" charset="0"/>
              </a:defRPr>
            </a:lvl4pPr>
            <a:lvl5pPr marL="2057400" indent="-228600" defTabSz="966788" eaLnBrk="0" hangingPunct="0">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88624BA0-AF11-AA42-82C2-80263BE6BDF1}" type="slidenum">
              <a:rPr lang="en-US" sz="1300"/>
              <a:pPr eaLnBrk="1" hangingPunct="1"/>
              <a:t>20</a:t>
            </a:fld>
            <a:endParaRPr lang="en-US" sz="130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Times New Roman" charset="0"/>
            </a:endParaRPr>
          </a:p>
        </p:txBody>
      </p:sp>
      <p:sp>
        <p:nvSpPr>
          <p:cNvPr id="2" name="Date Placeholder 1"/>
          <p:cNvSpPr>
            <a:spLocks noGrp="1"/>
          </p:cNvSpPr>
          <p:nvPr>
            <p:ph type="dt" idx="10"/>
          </p:nvPr>
        </p:nvSpPr>
        <p:spPr/>
        <p:txBody>
          <a:bodyPr/>
          <a:lstStyle/>
          <a:p>
            <a:pPr>
              <a:defRPr/>
            </a:pPr>
            <a:fld id="{0DC80194-BC66-D64B-A30B-E1C253374DA0}" type="datetime1">
              <a:rPr lang="en-US" smtClean="0"/>
              <a:t>1/18/25</a:t>
            </a:fld>
            <a:endParaRPr lang="en-US"/>
          </a:p>
        </p:txBody>
      </p:sp>
      <p:sp>
        <p:nvSpPr>
          <p:cNvPr id="3" name="Header Placeholder 2"/>
          <p:cNvSpPr>
            <a:spLocks noGrp="1"/>
          </p:cNvSpPr>
          <p:nvPr>
            <p:ph type="hdr" sz="quarter" idx="11"/>
          </p:nvPr>
        </p:nvSpPr>
        <p:spPr/>
        <p:txBody>
          <a:bodyPr/>
          <a:lstStyle/>
          <a:p>
            <a:pPr>
              <a:defRPr/>
            </a:pPr>
            <a:r>
              <a:rPr lang="en-US"/>
              <a:t>Stacks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eaLnBrk="0" hangingPunct="0">
              <a:defRPr sz="2400">
                <a:solidFill>
                  <a:schemeClr val="tx1"/>
                </a:solidFill>
                <a:latin typeface="Tahoma" charset="0"/>
                <a:ea typeface="ＭＳ Ｐゴシック" charset="0"/>
              </a:defRPr>
            </a:lvl1pPr>
            <a:lvl2pPr marL="742950" indent="-285750" defTabSz="966788" eaLnBrk="0" hangingPunct="0">
              <a:defRPr sz="2400">
                <a:solidFill>
                  <a:schemeClr val="tx1"/>
                </a:solidFill>
                <a:latin typeface="Tahoma" charset="0"/>
                <a:ea typeface="ＭＳ Ｐゴシック" charset="0"/>
              </a:defRPr>
            </a:lvl2pPr>
            <a:lvl3pPr marL="1143000" indent="-228600" defTabSz="966788" eaLnBrk="0" hangingPunct="0">
              <a:defRPr sz="2400">
                <a:solidFill>
                  <a:schemeClr val="tx1"/>
                </a:solidFill>
                <a:latin typeface="Tahoma" charset="0"/>
                <a:ea typeface="ＭＳ Ｐゴシック" charset="0"/>
              </a:defRPr>
            </a:lvl3pPr>
            <a:lvl4pPr marL="1600200" indent="-228600" defTabSz="966788" eaLnBrk="0" hangingPunct="0">
              <a:defRPr sz="2400">
                <a:solidFill>
                  <a:schemeClr val="tx1"/>
                </a:solidFill>
                <a:latin typeface="Tahoma" charset="0"/>
                <a:ea typeface="ＭＳ Ｐゴシック" charset="0"/>
              </a:defRPr>
            </a:lvl4pPr>
            <a:lvl5pPr marL="2057400" indent="-228600" defTabSz="966788" eaLnBrk="0" hangingPunct="0">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6521BADA-9343-BF4D-9DD9-580A7DB0B558}" type="slidenum">
              <a:rPr lang="en-US" sz="1300"/>
              <a:pPr eaLnBrk="1" hangingPunct="1"/>
              <a:t>21</a:t>
            </a:fld>
            <a:endParaRPr lang="en-US" sz="130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Times New Roman" charset="0"/>
            </a:endParaRPr>
          </a:p>
        </p:txBody>
      </p:sp>
      <p:sp>
        <p:nvSpPr>
          <p:cNvPr id="2" name="Date Placeholder 1"/>
          <p:cNvSpPr>
            <a:spLocks noGrp="1"/>
          </p:cNvSpPr>
          <p:nvPr>
            <p:ph type="dt" idx="10"/>
          </p:nvPr>
        </p:nvSpPr>
        <p:spPr/>
        <p:txBody>
          <a:bodyPr/>
          <a:lstStyle/>
          <a:p>
            <a:pPr>
              <a:defRPr/>
            </a:pPr>
            <a:fld id="{5F1E3ED2-C916-B94A-ADA2-A670EF98532F}" type="datetime1">
              <a:rPr lang="en-US" smtClean="0"/>
              <a:t>1/18/25</a:t>
            </a:fld>
            <a:endParaRPr lang="en-US"/>
          </a:p>
        </p:txBody>
      </p:sp>
      <p:sp>
        <p:nvSpPr>
          <p:cNvPr id="3" name="Header Placeholder 2"/>
          <p:cNvSpPr>
            <a:spLocks noGrp="1"/>
          </p:cNvSpPr>
          <p:nvPr>
            <p:ph type="hdr" sz="quarter" idx="11"/>
          </p:nvPr>
        </p:nvSpPr>
        <p:spPr/>
        <p:txBody>
          <a:bodyPr/>
          <a:lstStyle/>
          <a:p>
            <a:pPr>
              <a:defRPr/>
            </a:pPr>
            <a:r>
              <a:rPr lang="en-US"/>
              <a:t>Stacks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eaLnBrk="0" hangingPunct="0">
              <a:defRPr sz="2400">
                <a:solidFill>
                  <a:schemeClr val="tx1"/>
                </a:solidFill>
                <a:latin typeface="Tahoma" charset="0"/>
                <a:ea typeface="ＭＳ Ｐゴシック" charset="0"/>
              </a:defRPr>
            </a:lvl1pPr>
            <a:lvl2pPr marL="742950" indent="-285750" defTabSz="966788" eaLnBrk="0" hangingPunct="0">
              <a:defRPr sz="2400">
                <a:solidFill>
                  <a:schemeClr val="tx1"/>
                </a:solidFill>
                <a:latin typeface="Tahoma" charset="0"/>
                <a:ea typeface="ＭＳ Ｐゴシック" charset="0"/>
              </a:defRPr>
            </a:lvl2pPr>
            <a:lvl3pPr marL="1143000" indent="-228600" defTabSz="966788" eaLnBrk="0" hangingPunct="0">
              <a:defRPr sz="2400">
                <a:solidFill>
                  <a:schemeClr val="tx1"/>
                </a:solidFill>
                <a:latin typeface="Tahoma" charset="0"/>
                <a:ea typeface="ＭＳ Ｐゴシック" charset="0"/>
              </a:defRPr>
            </a:lvl3pPr>
            <a:lvl4pPr marL="1600200" indent="-228600" defTabSz="966788" eaLnBrk="0" hangingPunct="0">
              <a:defRPr sz="2400">
                <a:solidFill>
                  <a:schemeClr val="tx1"/>
                </a:solidFill>
                <a:latin typeface="Tahoma" charset="0"/>
                <a:ea typeface="ＭＳ Ｐゴシック" charset="0"/>
              </a:defRPr>
            </a:lvl4pPr>
            <a:lvl5pPr marL="2057400" indent="-228600" defTabSz="966788" eaLnBrk="0" hangingPunct="0">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79EC4645-6304-7C4C-8CD9-AE663D42B557}" type="slidenum">
              <a:rPr lang="en-US" sz="1300"/>
              <a:pPr eaLnBrk="1" hangingPunct="1"/>
              <a:t>22</a:t>
            </a:fld>
            <a:endParaRPr lang="en-US" sz="130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Times New Roman" charset="0"/>
            </a:endParaRPr>
          </a:p>
        </p:txBody>
      </p:sp>
      <p:sp>
        <p:nvSpPr>
          <p:cNvPr id="2" name="Date Placeholder 1"/>
          <p:cNvSpPr>
            <a:spLocks noGrp="1"/>
          </p:cNvSpPr>
          <p:nvPr>
            <p:ph type="dt" idx="10"/>
          </p:nvPr>
        </p:nvSpPr>
        <p:spPr/>
        <p:txBody>
          <a:bodyPr/>
          <a:lstStyle/>
          <a:p>
            <a:pPr>
              <a:defRPr/>
            </a:pPr>
            <a:fld id="{403BB182-C915-5344-9315-8B1A73FF2542}" type="datetime1">
              <a:rPr lang="en-US" smtClean="0"/>
              <a:t>1/18/25</a:t>
            </a:fld>
            <a:endParaRPr lang="en-US"/>
          </a:p>
        </p:txBody>
      </p:sp>
      <p:sp>
        <p:nvSpPr>
          <p:cNvPr id="3" name="Header Placeholder 2"/>
          <p:cNvSpPr>
            <a:spLocks noGrp="1"/>
          </p:cNvSpPr>
          <p:nvPr>
            <p:ph type="hdr" sz="quarter" idx="11"/>
          </p:nvPr>
        </p:nvSpPr>
        <p:spPr/>
        <p:txBody>
          <a:bodyPr/>
          <a:lstStyle/>
          <a:p>
            <a:pPr>
              <a:defRPr/>
            </a:pPr>
            <a:r>
              <a:rPr lang="en-US"/>
              <a:t>Stacks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990601"/>
            <a:ext cx="7772400" cy="2609850"/>
          </a:xfrm>
        </p:spPr>
        <p:txBody>
          <a:bodyPr>
            <a:normAutofit fontScale="90000"/>
          </a:bodyPr>
          <a:lstStyle/>
          <a:p>
            <a:r>
              <a:rPr lang="en-US" dirty="0"/>
              <a:t>CS-205 Data Structure and Algorithms</a:t>
            </a:r>
            <a:br>
              <a:rPr lang="en-US" dirty="0"/>
            </a:br>
            <a:br>
              <a:rPr lang="en-US" dirty="0"/>
            </a:br>
            <a:r>
              <a:rPr lang="en-US" dirty="0"/>
              <a:t>7. Stacks</a:t>
            </a:r>
          </a:p>
        </p:txBody>
      </p:sp>
      <p:sp>
        <p:nvSpPr>
          <p:cNvPr id="3" name="Subtitle 2"/>
          <p:cNvSpPr>
            <a:spLocks noGrp="1"/>
          </p:cNvSpPr>
          <p:nvPr>
            <p:ph type="subTitle" idx="1"/>
          </p:nvPr>
        </p:nvSpPr>
        <p:spPr/>
        <p:txBody>
          <a:bodyPr/>
          <a:lstStyle/>
          <a:p>
            <a:r>
              <a:rPr lang="en-US" dirty="0" err="1"/>
              <a:t>Weihao</a:t>
            </a:r>
            <a:r>
              <a:rPr lang="en-US" dirty="0"/>
              <a:t> Qu</a:t>
            </a:r>
          </a:p>
          <a:p>
            <a:r>
              <a:rPr lang="en-US" dirty="0"/>
              <a:t>Monmouth University</a:t>
            </a:r>
          </a:p>
        </p:txBody>
      </p:sp>
    </p:spTree>
    <p:extLst>
      <p:ext uri="{BB962C8B-B14F-4D97-AF65-F5344CB8AC3E}">
        <p14:creationId xmlns:p14="http://schemas.microsoft.com/office/powerpoint/2010/main" val="1756496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data type (ADT)</a:t>
            </a:r>
          </a:p>
        </p:txBody>
      </p:sp>
      <p:sp>
        <p:nvSpPr>
          <p:cNvPr id="3" name="Content Placeholder 2"/>
          <p:cNvSpPr>
            <a:spLocks noGrp="1"/>
          </p:cNvSpPr>
          <p:nvPr>
            <p:ph idx="1"/>
          </p:nvPr>
        </p:nvSpPr>
        <p:spPr/>
        <p:txBody>
          <a:bodyPr>
            <a:noAutofit/>
          </a:bodyPr>
          <a:lstStyle/>
          <a:p>
            <a:r>
              <a:rPr lang="en-US" sz="2400" dirty="0"/>
              <a:t>An abstract data type (ADT) is an abstraction of a data structure</a:t>
            </a:r>
          </a:p>
          <a:p>
            <a:r>
              <a:rPr lang="en-US" sz="2400" dirty="0"/>
              <a:t>An ADT specifies:</a:t>
            </a:r>
          </a:p>
          <a:p>
            <a:pPr lvl="1"/>
            <a:r>
              <a:rPr lang="en-US" sz="2400" dirty="0"/>
              <a:t>Data stored</a:t>
            </a:r>
          </a:p>
          <a:p>
            <a:pPr lvl="1"/>
            <a:r>
              <a:rPr lang="en-US" sz="2400" dirty="0"/>
              <a:t>Operations on the data</a:t>
            </a:r>
          </a:p>
          <a:p>
            <a:pPr lvl="1"/>
            <a:r>
              <a:rPr lang="en-US" sz="2400" dirty="0"/>
              <a:t>Error conditions associated</a:t>
            </a:r>
          </a:p>
          <a:p>
            <a:pPr marL="457200" lvl="1" indent="0">
              <a:buNone/>
            </a:pPr>
            <a:endParaRPr lang="en-US" sz="2400" dirty="0"/>
          </a:p>
          <a:p>
            <a:pPr marL="0" indent="0">
              <a:buNone/>
            </a:pPr>
            <a:endParaRPr lang="en-US" sz="2400" dirty="0"/>
          </a:p>
        </p:txBody>
      </p:sp>
    </p:spTree>
    <p:extLst>
      <p:ext uri="{BB962C8B-B14F-4D97-AF65-F5344CB8AC3E}">
        <p14:creationId xmlns:p14="http://schemas.microsoft.com/office/powerpoint/2010/main" val="1852340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FD6C4-8DDA-D045-81CD-97C2C44BB5B8}"/>
              </a:ext>
            </a:extLst>
          </p:cNvPr>
          <p:cNvSpPr>
            <a:spLocks noGrp="1"/>
          </p:cNvSpPr>
          <p:nvPr>
            <p:ph type="title"/>
          </p:nvPr>
        </p:nvSpPr>
        <p:spPr/>
        <p:txBody>
          <a:bodyPr/>
          <a:lstStyle/>
          <a:p>
            <a:r>
              <a:rPr lang="en-US" dirty="0"/>
              <a:t>ADT</a:t>
            </a:r>
          </a:p>
        </p:txBody>
      </p:sp>
      <p:sp>
        <p:nvSpPr>
          <p:cNvPr id="3" name="Content Placeholder 2">
            <a:extLst>
              <a:ext uri="{FF2B5EF4-FFF2-40B4-BE49-F238E27FC236}">
                <a16:creationId xmlns:a16="http://schemas.microsoft.com/office/drawing/2014/main" id="{F4074DE9-B620-8C42-995E-CA771E1870B3}"/>
              </a:ext>
            </a:extLst>
          </p:cNvPr>
          <p:cNvSpPr>
            <a:spLocks noGrp="1"/>
          </p:cNvSpPr>
          <p:nvPr>
            <p:ph idx="1"/>
          </p:nvPr>
        </p:nvSpPr>
        <p:spPr/>
        <p:txBody>
          <a:bodyPr>
            <a:normAutofit/>
          </a:bodyPr>
          <a:lstStyle/>
          <a:p>
            <a:r>
              <a:rPr lang="en-US" sz="2400" i="1" dirty="0"/>
              <a:t>Example: ADT modeling a simple stock trading system</a:t>
            </a:r>
          </a:p>
          <a:p>
            <a:r>
              <a:rPr lang="en-US" sz="2400" dirty="0"/>
              <a:t>The data stored: buy/sell orders</a:t>
            </a:r>
          </a:p>
          <a:p>
            <a:r>
              <a:rPr lang="en-US" sz="2400" dirty="0"/>
              <a:t>The operations supported are</a:t>
            </a:r>
          </a:p>
          <a:p>
            <a:pPr lvl="1"/>
            <a:r>
              <a:rPr lang="en-US" sz="2400" dirty="0"/>
              <a:t>order buy(stock, shares, price)</a:t>
            </a:r>
          </a:p>
          <a:p>
            <a:pPr lvl="1"/>
            <a:r>
              <a:rPr lang="en-US" sz="2400" dirty="0"/>
              <a:t>order sell(stock, shares, price)</a:t>
            </a:r>
          </a:p>
          <a:p>
            <a:pPr lvl="1"/>
            <a:r>
              <a:rPr lang="en-US" sz="2400" dirty="0"/>
              <a:t>void cancel(order)</a:t>
            </a:r>
          </a:p>
          <a:p>
            <a:r>
              <a:rPr lang="en-US" sz="2400" dirty="0"/>
              <a:t>Error conditions:</a:t>
            </a:r>
          </a:p>
          <a:p>
            <a:pPr lvl="1"/>
            <a:r>
              <a:rPr lang="en-US" sz="2400" dirty="0"/>
              <a:t>Buy/sell a nonexistent stock</a:t>
            </a:r>
          </a:p>
          <a:p>
            <a:pPr lvl="1"/>
            <a:r>
              <a:rPr lang="en-US" sz="2400" dirty="0"/>
              <a:t>Cancel a nonexistent order</a:t>
            </a:r>
          </a:p>
          <a:p>
            <a:endParaRPr lang="en-US" sz="2400" dirty="0"/>
          </a:p>
        </p:txBody>
      </p:sp>
    </p:spTree>
    <p:extLst>
      <p:ext uri="{BB962C8B-B14F-4D97-AF65-F5344CB8AC3E}">
        <p14:creationId xmlns:p14="http://schemas.microsoft.com/office/powerpoint/2010/main" val="4097962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5E75F-C7C8-D742-8522-2E1173F40644}"/>
              </a:ext>
            </a:extLst>
          </p:cNvPr>
          <p:cNvSpPr>
            <a:spLocks noGrp="1"/>
          </p:cNvSpPr>
          <p:nvPr>
            <p:ph type="title"/>
          </p:nvPr>
        </p:nvSpPr>
        <p:spPr/>
        <p:txBody>
          <a:bodyPr/>
          <a:lstStyle/>
          <a:p>
            <a:r>
              <a:rPr lang="en-US" dirty="0"/>
              <a:t>Stack ADT</a:t>
            </a:r>
          </a:p>
        </p:txBody>
      </p:sp>
      <p:sp>
        <p:nvSpPr>
          <p:cNvPr id="3" name="Content Placeholder 2">
            <a:extLst>
              <a:ext uri="{FF2B5EF4-FFF2-40B4-BE49-F238E27FC236}">
                <a16:creationId xmlns:a16="http://schemas.microsoft.com/office/drawing/2014/main" id="{D2565277-D397-5F46-99D1-9902C256898C}"/>
              </a:ext>
            </a:extLst>
          </p:cNvPr>
          <p:cNvSpPr>
            <a:spLocks noGrp="1"/>
          </p:cNvSpPr>
          <p:nvPr>
            <p:ph idx="1"/>
          </p:nvPr>
        </p:nvSpPr>
        <p:spPr/>
        <p:txBody>
          <a:bodyPr>
            <a:normAutofit/>
          </a:bodyPr>
          <a:lstStyle/>
          <a:p>
            <a:r>
              <a:rPr lang="en-US" sz="2400" dirty="0"/>
              <a:t>The Stack ADT stores arbitrary objects</a:t>
            </a:r>
          </a:p>
          <a:p>
            <a:r>
              <a:rPr lang="en-US" sz="2400" dirty="0"/>
              <a:t>Insertions and deletions follow the </a:t>
            </a:r>
            <a:r>
              <a:rPr lang="en-US" sz="2400" u="sng" dirty="0"/>
              <a:t>last-in first-out </a:t>
            </a:r>
            <a:r>
              <a:rPr lang="en-US" sz="2400" dirty="0"/>
              <a:t>scheme</a:t>
            </a:r>
          </a:p>
          <a:p>
            <a:r>
              <a:rPr lang="en-US" sz="2400" dirty="0"/>
              <a:t>Main stack operations:</a:t>
            </a:r>
          </a:p>
          <a:p>
            <a:pPr lvl="1"/>
            <a:r>
              <a:rPr lang="en-US" sz="2400" dirty="0"/>
              <a:t>push(object): inserts an element</a:t>
            </a:r>
          </a:p>
          <a:p>
            <a:pPr lvl="1"/>
            <a:r>
              <a:rPr lang="en-US" sz="2400" dirty="0"/>
              <a:t>object pop(): removes and returns the last inserted element</a:t>
            </a:r>
          </a:p>
          <a:p>
            <a:r>
              <a:rPr lang="en-US" sz="2400" dirty="0"/>
              <a:t>Auxiliary stack operations:</a:t>
            </a:r>
          </a:p>
          <a:p>
            <a:pPr lvl="1"/>
            <a:r>
              <a:rPr lang="en-US" sz="2400" dirty="0"/>
              <a:t>object top(): returns the last inserted element without removing it</a:t>
            </a:r>
          </a:p>
          <a:p>
            <a:pPr lvl="1"/>
            <a:r>
              <a:rPr lang="en-US" sz="2400" dirty="0"/>
              <a:t>integer size(): returns the number of elements stored</a:t>
            </a:r>
          </a:p>
          <a:p>
            <a:pPr lvl="1"/>
            <a:r>
              <a:rPr lang="en-US" sz="2400" dirty="0"/>
              <a:t>Boolean </a:t>
            </a:r>
            <a:r>
              <a:rPr lang="en-US" sz="2400" dirty="0" err="1"/>
              <a:t>isEmpty</a:t>
            </a:r>
            <a:r>
              <a:rPr lang="en-US" sz="2400" dirty="0"/>
              <a:t>(): indicates whether no elements are stored</a:t>
            </a:r>
          </a:p>
          <a:p>
            <a:endParaRPr lang="en-US" sz="2400" dirty="0"/>
          </a:p>
        </p:txBody>
      </p:sp>
    </p:spTree>
    <p:extLst>
      <p:ext uri="{BB962C8B-B14F-4D97-AF65-F5344CB8AC3E}">
        <p14:creationId xmlns:p14="http://schemas.microsoft.com/office/powerpoint/2010/main" val="2232198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5400" y="576544"/>
            <a:ext cx="10972800" cy="689932"/>
          </a:xfrm>
          <a:prstGeom prst="rect">
            <a:avLst/>
          </a:prstGeom>
        </p:spPr>
        <p:txBody>
          <a:bodyPr vert="horz" wrap="square" lIns="0" tIns="12700" rIns="0" bIns="0" rtlCol="0" anchor="ctr">
            <a:spAutoFit/>
          </a:bodyPr>
          <a:lstStyle/>
          <a:p>
            <a:pPr marL="2139950">
              <a:spcBef>
                <a:spcPts val="100"/>
              </a:spcBef>
            </a:pPr>
            <a:r>
              <a:rPr spc="-10" dirty="0">
                <a:latin typeface="Arial"/>
                <a:cs typeface="Arial"/>
              </a:rPr>
              <a:t>Stacks</a:t>
            </a:r>
          </a:p>
        </p:txBody>
      </p:sp>
      <p:pic>
        <p:nvPicPr>
          <p:cNvPr id="3" name="object 3"/>
          <p:cNvPicPr/>
          <p:nvPr/>
        </p:nvPicPr>
        <p:blipFill>
          <a:blip r:embed="rId2" cstate="print"/>
          <a:stretch>
            <a:fillRect/>
          </a:stretch>
        </p:blipFill>
        <p:spPr>
          <a:xfrm>
            <a:off x="3657601" y="1828801"/>
            <a:ext cx="5343525" cy="1870075"/>
          </a:xfrm>
          <a:prstGeom prst="rect">
            <a:avLst/>
          </a:prstGeom>
        </p:spPr>
      </p:pic>
      <p:sp>
        <p:nvSpPr>
          <p:cNvPr id="4" name="object 4"/>
          <p:cNvSpPr txBox="1"/>
          <p:nvPr/>
        </p:nvSpPr>
        <p:spPr>
          <a:xfrm>
            <a:off x="2059941" y="4133595"/>
            <a:ext cx="7832725" cy="1305560"/>
          </a:xfrm>
          <a:prstGeom prst="rect">
            <a:avLst/>
          </a:prstGeom>
        </p:spPr>
        <p:txBody>
          <a:bodyPr vert="horz" wrap="square" lIns="0" tIns="12700" rIns="0" bIns="0" rtlCol="0">
            <a:spAutoFit/>
          </a:bodyPr>
          <a:lstStyle/>
          <a:p>
            <a:pPr marL="355600" marR="5080" indent="-342900">
              <a:spcBef>
                <a:spcPts val="100"/>
              </a:spcBef>
              <a:buFont typeface="Arial"/>
              <a:buChar char="•"/>
              <a:tabLst>
                <a:tab pos="355600" algn="l"/>
                <a:tab pos="1483360" algn="l"/>
              </a:tabLst>
            </a:pPr>
            <a:r>
              <a:rPr sz="2800" b="1" spc="-10" dirty="0">
                <a:latin typeface="Arial"/>
                <a:cs typeface="Arial"/>
              </a:rPr>
              <a:t>Stack</a:t>
            </a:r>
            <a:r>
              <a:rPr sz="2800" b="1" dirty="0">
                <a:latin typeface="Arial"/>
                <a:cs typeface="Arial"/>
              </a:rPr>
              <a:t>	</a:t>
            </a:r>
            <a:r>
              <a:rPr sz="2800" dirty="0">
                <a:latin typeface="Arial"/>
                <a:cs typeface="Arial"/>
              </a:rPr>
              <a:t>A</a:t>
            </a:r>
            <a:r>
              <a:rPr sz="2800" spc="-195" dirty="0">
                <a:latin typeface="Arial"/>
                <a:cs typeface="Arial"/>
              </a:rPr>
              <a:t> </a:t>
            </a:r>
            <a:r>
              <a:rPr sz="2800" dirty="0">
                <a:latin typeface="Arial"/>
                <a:cs typeface="Arial"/>
              </a:rPr>
              <a:t>structure</a:t>
            </a:r>
            <a:r>
              <a:rPr sz="2800" spc="-50" dirty="0">
                <a:latin typeface="Arial"/>
                <a:cs typeface="Arial"/>
              </a:rPr>
              <a:t> </a:t>
            </a:r>
            <a:r>
              <a:rPr sz="2800" dirty="0">
                <a:latin typeface="Arial"/>
                <a:cs typeface="Arial"/>
              </a:rPr>
              <a:t>in</a:t>
            </a:r>
            <a:r>
              <a:rPr sz="2800" spc="-45" dirty="0">
                <a:latin typeface="Arial"/>
                <a:cs typeface="Arial"/>
              </a:rPr>
              <a:t> </a:t>
            </a:r>
            <a:r>
              <a:rPr sz="2800" dirty="0">
                <a:latin typeface="Arial"/>
                <a:cs typeface="Arial"/>
              </a:rPr>
              <a:t>which</a:t>
            </a:r>
            <a:r>
              <a:rPr sz="2800" spc="-45" dirty="0">
                <a:latin typeface="Arial"/>
                <a:cs typeface="Arial"/>
              </a:rPr>
              <a:t> </a:t>
            </a:r>
            <a:r>
              <a:rPr sz="2800" dirty="0">
                <a:latin typeface="Arial"/>
                <a:cs typeface="Arial"/>
              </a:rPr>
              <a:t>elements</a:t>
            </a:r>
            <a:r>
              <a:rPr sz="2800" spc="-45" dirty="0">
                <a:latin typeface="Arial"/>
                <a:cs typeface="Arial"/>
              </a:rPr>
              <a:t> </a:t>
            </a:r>
            <a:r>
              <a:rPr sz="2800" dirty="0">
                <a:latin typeface="Arial"/>
                <a:cs typeface="Arial"/>
              </a:rPr>
              <a:t>are</a:t>
            </a:r>
            <a:r>
              <a:rPr sz="2800" spc="-45" dirty="0">
                <a:latin typeface="Arial"/>
                <a:cs typeface="Arial"/>
              </a:rPr>
              <a:t> </a:t>
            </a:r>
            <a:r>
              <a:rPr sz="2800" spc="-10" dirty="0">
                <a:latin typeface="Arial"/>
                <a:cs typeface="Arial"/>
              </a:rPr>
              <a:t>added </a:t>
            </a:r>
            <a:r>
              <a:rPr sz="2800" dirty="0">
                <a:latin typeface="Arial"/>
                <a:cs typeface="Arial"/>
              </a:rPr>
              <a:t>and</a:t>
            </a:r>
            <a:r>
              <a:rPr sz="2800" spc="-40" dirty="0">
                <a:latin typeface="Arial"/>
                <a:cs typeface="Arial"/>
              </a:rPr>
              <a:t> </a:t>
            </a:r>
            <a:r>
              <a:rPr sz="2800" dirty="0">
                <a:latin typeface="Arial"/>
                <a:cs typeface="Arial"/>
              </a:rPr>
              <a:t>removed</a:t>
            </a:r>
            <a:r>
              <a:rPr sz="2800" spc="-35" dirty="0">
                <a:latin typeface="Arial"/>
                <a:cs typeface="Arial"/>
              </a:rPr>
              <a:t> </a:t>
            </a:r>
            <a:r>
              <a:rPr sz="2800" dirty="0">
                <a:latin typeface="Arial"/>
                <a:cs typeface="Arial"/>
              </a:rPr>
              <a:t>from</a:t>
            </a:r>
            <a:r>
              <a:rPr sz="2800" spc="-35" dirty="0">
                <a:latin typeface="Arial"/>
                <a:cs typeface="Arial"/>
              </a:rPr>
              <a:t> </a:t>
            </a:r>
            <a:r>
              <a:rPr sz="2800" dirty="0">
                <a:latin typeface="Arial"/>
                <a:cs typeface="Arial"/>
              </a:rPr>
              <a:t>only</a:t>
            </a:r>
            <a:r>
              <a:rPr sz="2800" spc="-40" dirty="0">
                <a:latin typeface="Arial"/>
                <a:cs typeface="Arial"/>
              </a:rPr>
              <a:t> </a:t>
            </a:r>
            <a:r>
              <a:rPr sz="2800" dirty="0">
                <a:latin typeface="Arial"/>
                <a:cs typeface="Arial"/>
              </a:rPr>
              <a:t>one</a:t>
            </a:r>
            <a:r>
              <a:rPr sz="2800" spc="-35" dirty="0">
                <a:latin typeface="Arial"/>
                <a:cs typeface="Arial"/>
              </a:rPr>
              <a:t> </a:t>
            </a:r>
            <a:r>
              <a:rPr sz="2800" dirty="0">
                <a:latin typeface="Arial"/>
                <a:cs typeface="Arial"/>
              </a:rPr>
              <a:t>end;</a:t>
            </a:r>
            <a:r>
              <a:rPr sz="2800" spc="-45" dirty="0">
                <a:latin typeface="Arial"/>
                <a:cs typeface="Arial"/>
              </a:rPr>
              <a:t> </a:t>
            </a:r>
            <a:r>
              <a:rPr sz="2800" dirty="0">
                <a:latin typeface="Arial"/>
                <a:cs typeface="Arial"/>
              </a:rPr>
              <a:t>a</a:t>
            </a:r>
            <a:r>
              <a:rPr sz="2800" spc="-35" dirty="0">
                <a:latin typeface="Arial"/>
                <a:cs typeface="Arial"/>
              </a:rPr>
              <a:t> </a:t>
            </a:r>
            <a:r>
              <a:rPr sz="2800" dirty="0">
                <a:latin typeface="Arial"/>
                <a:cs typeface="Arial"/>
              </a:rPr>
              <a:t>“last</a:t>
            </a:r>
            <a:r>
              <a:rPr sz="2800" spc="-45" dirty="0">
                <a:latin typeface="Arial"/>
                <a:cs typeface="Arial"/>
              </a:rPr>
              <a:t> </a:t>
            </a:r>
            <a:r>
              <a:rPr sz="2800" dirty="0">
                <a:latin typeface="Arial"/>
                <a:cs typeface="Arial"/>
              </a:rPr>
              <a:t>in,</a:t>
            </a:r>
            <a:r>
              <a:rPr sz="2800" spc="-45" dirty="0">
                <a:latin typeface="Arial"/>
                <a:cs typeface="Arial"/>
              </a:rPr>
              <a:t> </a:t>
            </a:r>
            <a:r>
              <a:rPr sz="2800" spc="-10" dirty="0">
                <a:latin typeface="Arial"/>
                <a:cs typeface="Arial"/>
              </a:rPr>
              <a:t>first </a:t>
            </a:r>
            <a:r>
              <a:rPr sz="2800" dirty="0">
                <a:latin typeface="Arial"/>
                <a:cs typeface="Arial"/>
              </a:rPr>
              <a:t>out”</a:t>
            </a:r>
            <a:r>
              <a:rPr sz="2800" spc="-45" dirty="0">
                <a:latin typeface="Arial"/>
                <a:cs typeface="Arial"/>
              </a:rPr>
              <a:t> </a:t>
            </a:r>
            <a:r>
              <a:rPr sz="2800" dirty="0">
                <a:latin typeface="Arial"/>
                <a:cs typeface="Arial"/>
              </a:rPr>
              <a:t>(LIFO)</a:t>
            </a:r>
            <a:r>
              <a:rPr sz="2800" spc="-45" dirty="0">
                <a:latin typeface="Arial"/>
                <a:cs typeface="Arial"/>
              </a:rPr>
              <a:t> </a:t>
            </a:r>
            <a:r>
              <a:rPr sz="2800" spc="-10" dirty="0">
                <a:latin typeface="Arial"/>
                <a:cs typeface="Arial"/>
              </a:rPr>
              <a:t>structure</a:t>
            </a:r>
            <a:endParaRPr sz="28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731A4-E84E-0C4F-B56F-2B02E8FC319E}"/>
              </a:ext>
            </a:extLst>
          </p:cNvPr>
          <p:cNvSpPr>
            <a:spLocks noGrp="1"/>
          </p:cNvSpPr>
          <p:nvPr>
            <p:ph type="title"/>
          </p:nvPr>
        </p:nvSpPr>
        <p:spPr/>
        <p:txBody>
          <a:bodyPr/>
          <a:lstStyle/>
          <a:p>
            <a:pPr algn="l"/>
            <a:r>
              <a:rPr lang="en-US" dirty="0"/>
              <a:t>Example</a:t>
            </a:r>
          </a:p>
        </p:txBody>
      </p:sp>
      <p:pic>
        <p:nvPicPr>
          <p:cNvPr id="4" name="Content Placeholder 3">
            <a:extLst>
              <a:ext uri="{FF2B5EF4-FFF2-40B4-BE49-F238E27FC236}">
                <a16:creationId xmlns:a16="http://schemas.microsoft.com/office/drawing/2014/main" id="{0238FBFA-4C79-314B-AE49-911FDCAF0D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24200" y="453529"/>
            <a:ext cx="5533079" cy="5950942"/>
          </a:xfrm>
          <a:prstGeom prst="rect">
            <a:avLst/>
          </a:prstGeom>
        </p:spPr>
      </p:pic>
    </p:spTree>
    <p:extLst>
      <p:ext uri="{BB962C8B-B14F-4D97-AF65-F5344CB8AC3E}">
        <p14:creationId xmlns:p14="http://schemas.microsoft.com/office/powerpoint/2010/main" val="2121401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AA6AE-3AF5-8F4B-95C0-A1EEF0E776AE}"/>
              </a:ext>
            </a:extLst>
          </p:cNvPr>
          <p:cNvSpPr>
            <a:spLocks noGrp="1"/>
          </p:cNvSpPr>
          <p:nvPr>
            <p:ph type="title"/>
          </p:nvPr>
        </p:nvSpPr>
        <p:spPr/>
        <p:txBody>
          <a:bodyPr>
            <a:normAutofit/>
          </a:bodyPr>
          <a:lstStyle/>
          <a:p>
            <a:r>
              <a:rPr lang="en-US" dirty="0"/>
              <a:t>Applications of Stacks</a:t>
            </a:r>
          </a:p>
        </p:txBody>
      </p:sp>
      <p:sp>
        <p:nvSpPr>
          <p:cNvPr id="3" name="Content Placeholder 2">
            <a:extLst>
              <a:ext uri="{FF2B5EF4-FFF2-40B4-BE49-F238E27FC236}">
                <a16:creationId xmlns:a16="http://schemas.microsoft.com/office/drawing/2014/main" id="{0966C4A9-0DF9-9443-ABCC-B482379C78E9}"/>
              </a:ext>
            </a:extLst>
          </p:cNvPr>
          <p:cNvSpPr>
            <a:spLocks noGrp="1"/>
          </p:cNvSpPr>
          <p:nvPr>
            <p:ph idx="1"/>
          </p:nvPr>
        </p:nvSpPr>
        <p:spPr/>
        <p:txBody>
          <a:bodyPr>
            <a:normAutofit/>
          </a:bodyPr>
          <a:lstStyle/>
          <a:p>
            <a:pPr marL="514350" indent="-457200"/>
            <a:r>
              <a:rPr lang="en-US" sz="2800" dirty="0"/>
              <a:t>Page-visited history in a Web browser</a:t>
            </a:r>
          </a:p>
          <a:p>
            <a:pPr marL="514350" indent="-457200"/>
            <a:r>
              <a:rPr lang="en-US" sz="2800" dirty="0"/>
              <a:t>Undo sequence in a text editor</a:t>
            </a:r>
          </a:p>
          <a:p>
            <a:pPr marL="514350" indent="-457200"/>
            <a:r>
              <a:rPr lang="en-US" sz="2800" dirty="0"/>
              <a:t>Chain of method calls in the Java Virtual Machine</a:t>
            </a:r>
          </a:p>
          <a:p>
            <a:pPr marL="0" indent="0">
              <a:buNone/>
            </a:pPr>
            <a:endParaRPr lang="en-US" sz="2400" dirty="0"/>
          </a:p>
          <a:p>
            <a:endParaRPr lang="en-US" sz="2400" dirty="0"/>
          </a:p>
        </p:txBody>
      </p:sp>
    </p:spTree>
    <p:extLst>
      <p:ext uri="{BB962C8B-B14F-4D97-AF65-F5344CB8AC3E}">
        <p14:creationId xmlns:p14="http://schemas.microsoft.com/office/powerpoint/2010/main" val="2746959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7754F-8002-4B49-993C-FEEA250592CE}"/>
              </a:ext>
            </a:extLst>
          </p:cNvPr>
          <p:cNvSpPr>
            <a:spLocks noGrp="1"/>
          </p:cNvSpPr>
          <p:nvPr>
            <p:ph type="title"/>
          </p:nvPr>
        </p:nvSpPr>
        <p:spPr/>
        <p:txBody>
          <a:bodyPr>
            <a:normAutofit/>
          </a:bodyPr>
          <a:lstStyle/>
          <a:p>
            <a:r>
              <a:rPr lang="en-US" dirty="0"/>
              <a:t>Stack Interface in Java</a:t>
            </a:r>
          </a:p>
        </p:txBody>
      </p:sp>
      <p:sp>
        <p:nvSpPr>
          <p:cNvPr id="3" name="Content Placeholder 2">
            <a:extLst>
              <a:ext uri="{FF2B5EF4-FFF2-40B4-BE49-F238E27FC236}">
                <a16:creationId xmlns:a16="http://schemas.microsoft.com/office/drawing/2014/main" id="{A70E12E7-5D46-504A-986F-20799F226F63}"/>
              </a:ext>
            </a:extLst>
          </p:cNvPr>
          <p:cNvSpPr>
            <a:spLocks noGrp="1"/>
          </p:cNvSpPr>
          <p:nvPr>
            <p:ph idx="1"/>
          </p:nvPr>
        </p:nvSpPr>
        <p:spPr/>
        <p:txBody>
          <a:bodyPr>
            <a:noAutofit/>
          </a:bodyPr>
          <a:lstStyle/>
          <a:p>
            <a:r>
              <a:rPr lang="en-US" sz="2400" dirty="0"/>
              <a:t>Java interface corresponding to our Stack ADT</a:t>
            </a:r>
          </a:p>
          <a:p>
            <a:r>
              <a:rPr lang="en-US" sz="2400" dirty="0"/>
              <a:t>Requires the definition of class </a:t>
            </a:r>
            <a:r>
              <a:rPr lang="en-US" sz="2400" dirty="0" err="1"/>
              <a:t>EmptyStackException</a:t>
            </a:r>
            <a:endParaRPr lang="en-US" sz="2400" dirty="0"/>
          </a:p>
          <a:p>
            <a:r>
              <a:rPr lang="en-US" sz="2400" dirty="0"/>
              <a:t>Different from the built-in Java class </a:t>
            </a:r>
            <a:r>
              <a:rPr lang="en-US" sz="2400" dirty="0" err="1"/>
              <a:t>java.util.Stack</a:t>
            </a:r>
            <a:endParaRPr lang="en-US" sz="2400" dirty="0"/>
          </a:p>
          <a:p>
            <a:endParaRPr lang="en-US" sz="2400" dirty="0"/>
          </a:p>
          <a:p>
            <a:pPr marL="0" indent="0">
              <a:buNone/>
            </a:pPr>
            <a:r>
              <a:rPr lang="en-US" sz="2000" dirty="0">
                <a:latin typeface="Century Gothic" panose="020B0502020202020204" pitchFamily="34" charset="0"/>
              </a:rPr>
              <a:t>public interface Stack&lt;E&gt; {</a:t>
            </a:r>
          </a:p>
          <a:p>
            <a:pPr marL="0" indent="0">
              <a:buNone/>
            </a:pPr>
            <a:r>
              <a:rPr lang="en-US" sz="2000" dirty="0">
                <a:latin typeface="Century Gothic" panose="020B0502020202020204" pitchFamily="34" charset="0"/>
              </a:rPr>
              <a:t>	public </a:t>
            </a:r>
            <a:r>
              <a:rPr lang="en-US" sz="2000" dirty="0" err="1">
                <a:latin typeface="Century Gothic" panose="020B0502020202020204" pitchFamily="34" charset="0"/>
              </a:rPr>
              <a:t>int</a:t>
            </a:r>
            <a:r>
              <a:rPr lang="en-US" sz="2000" dirty="0">
                <a:latin typeface="Century Gothic" panose="020B0502020202020204" pitchFamily="34" charset="0"/>
              </a:rPr>
              <a:t> size();	</a:t>
            </a:r>
          </a:p>
          <a:p>
            <a:pPr marL="0" indent="0">
              <a:buNone/>
            </a:pPr>
            <a:r>
              <a:rPr lang="en-US" sz="2000" dirty="0">
                <a:latin typeface="Century Gothic" panose="020B0502020202020204" pitchFamily="34" charset="0"/>
              </a:rPr>
              <a:t>	public Boolean </a:t>
            </a:r>
            <a:r>
              <a:rPr lang="en-US" sz="2000" dirty="0" err="1">
                <a:latin typeface="Century Gothic" panose="020B0502020202020204" pitchFamily="34" charset="0"/>
              </a:rPr>
              <a:t>isEmpty</a:t>
            </a:r>
            <a:r>
              <a:rPr lang="en-US" sz="2000" dirty="0">
                <a:latin typeface="Century Gothic" panose="020B0502020202020204" pitchFamily="34" charset="0"/>
              </a:rPr>
              <a:t>();</a:t>
            </a:r>
          </a:p>
          <a:p>
            <a:pPr marL="0" indent="0">
              <a:buNone/>
            </a:pPr>
            <a:r>
              <a:rPr lang="en-US" sz="2000" dirty="0">
                <a:latin typeface="Century Gothic" panose="020B0502020202020204" pitchFamily="34" charset="0"/>
              </a:rPr>
              <a:t>	public E top() throws </a:t>
            </a:r>
            <a:r>
              <a:rPr lang="en-US" sz="2000" dirty="0" err="1">
                <a:latin typeface="Century Gothic" panose="020B0502020202020204" pitchFamily="34" charset="0"/>
              </a:rPr>
              <a:t>EmptyStackException</a:t>
            </a:r>
            <a:r>
              <a:rPr lang="en-US" sz="2000" dirty="0">
                <a:latin typeface="Century Gothic" panose="020B0502020202020204" pitchFamily="34" charset="0"/>
              </a:rPr>
              <a:t>;</a:t>
            </a:r>
          </a:p>
          <a:p>
            <a:pPr marL="0" indent="0">
              <a:buNone/>
            </a:pPr>
            <a:r>
              <a:rPr lang="en-US" sz="2000" dirty="0">
                <a:latin typeface="Century Gothic" panose="020B0502020202020204" pitchFamily="34" charset="0"/>
              </a:rPr>
              <a:t>	public void push(E element);</a:t>
            </a:r>
          </a:p>
          <a:p>
            <a:pPr marL="0" indent="0">
              <a:buNone/>
            </a:pPr>
            <a:r>
              <a:rPr lang="en-US" sz="2000" dirty="0">
                <a:latin typeface="Century Gothic" panose="020B0502020202020204" pitchFamily="34" charset="0"/>
              </a:rPr>
              <a:t>	public E pop() throws </a:t>
            </a:r>
            <a:r>
              <a:rPr lang="en-US" sz="2000" dirty="0" err="1">
                <a:latin typeface="Century Gothic" panose="020B0502020202020204" pitchFamily="34" charset="0"/>
              </a:rPr>
              <a:t>EmptyStackException</a:t>
            </a:r>
            <a:r>
              <a:rPr lang="en-US" sz="2000" dirty="0">
                <a:latin typeface="Century Gothic" panose="020B0502020202020204" pitchFamily="34" charset="0"/>
              </a:rPr>
              <a:t>;</a:t>
            </a:r>
          </a:p>
          <a:p>
            <a:pPr marL="0" indent="0">
              <a:buNone/>
            </a:pPr>
            <a:r>
              <a:rPr lang="en-US" sz="2000" dirty="0">
                <a:latin typeface="Century Gothic" panose="020B0502020202020204" pitchFamily="34" charset="0"/>
              </a:rPr>
              <a:t>}</a:t>
            </a:r>
          </a:p>
          <a:p>
            <a:endParaRPr lang="en-US" sz="2400" dirty="0"/>
          </a:p>
          <a:p>
            <a:endParaRPr lang="en-US" sz="2400" dirty="0"/>
          </a:p>
        </p:txBody>
      </p:sp>
    </p:spTree>
    <p:extLst>
      <p:ext uri="{BB962C8B-B14F-4D97-AF65-F5344CB8AC3E}">
        <p14:creationId xmlns:p14="http://schemas.microsoft.com/office/powerpoint/2010/main" val="228421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0919" y="533400"/>
            <a:ext cx="10972800" cy="689932"/>
          </a:xfrm>
          <a:prstGeom prst="rect">
            <a:avLst/>
          </a:prstGeom>
        </p:spPr>
        <p:txBody>
          <a:bodyPr vert="horz" wrap="square" lIns="0" tIns="12700" rIns="0" bIns="0" rtlCol="0" anchor="ctr">
            <a:spAutoFit/>
          </a:bodyPr>
          <a:lstStyle/>
          <a:p>
            <a:pPr marL="773430">
              <a:spcBef>
                <a:spcPts val="100"/>
              </a:spcBef>
            </a:pPr>
            <a:r>
              <a:rPr dirty="0"/>
              <a:t>Applications</a:t>
            </a:r>
            <a:r>
              <a:rPr spc="-75" dirty="0"/>
              <a:t> </a:t>
            </a:r>
            <a:r>
              <a:rPr dirty="0"/>
              <a:t>of</a:t>
            </a:r>
            <a:r>
              <a:rPr spc="-70" dirty="0"/>
              <a:t> </a:t>
            </a:r>
            <a:r>
              <a:rPr spc="-10" dirty="0"/>
              <a:t>Stacks</a:t>
            </a:r>
          </a:p>
        </p:txBody>
      </p:sp>
      <p:sp>
        <p:nvSpPr>
          <p:cNvPr id="4" name="object 4"/>
          <p:cNvSpPr txBox="1"/>
          <p:nvPr/>
        </p:nvSpPr>
        <p:spPr>
          <a:xfrm>
            <a:off x="2059940" y="6277270"/>
            <a:ext cx="1744980" cy="427361"/>
          </a:xfrm>
          <a:prstGeom prst="rect">
            <a:avLst/>
          </a:prstGeom>
        </p:spPr>
        <p:txBody>
          <a:bodyPr vert="horz" wrap="square" lIns="0" tIns="9525" rIns="0" bIns="0" rtlCol="0">
            <a:spAutoFit/>
          </a:bodyPr>
          <a:lstStyle/>
          <a:p>
            <a:pPr marL="12700" marR="5080">
              <a:lnSpc>
                <a:spcPct val="101400"/>
              </a:lnSpc>
              <a:spcBef>
                <a:spcPts val="75"/>
              </a:spcBef>
            </a:pPr>
            <a:r>
              <a:rPr sz="1400" dirty="0">
                <a:latin typeface="Tahoma"/>
                <a:cs typeface="Tahoma"/>
              </a:rPr>
              <a:t>©</a:t>
            </a:r>
            <a:r>
              <a:rPr sz="1400" spc="-10" dirty="0">
                <a:latin typeface="Tahoma"/>
                <a:cs typeface="Tahoma"/>
              </a:rPr>
              <a:t> </a:t>
            </a:r>
            <a:r>
              <a:rPr sz="1400" dirty="0">
                <a:latin typeface="Tahoma"/>
                <a:cs typeface="Tahoma"/>
              </a:rPr>
              <a:t>2014</a:t>
            </a:r>
            <a:r>
              <a:rPr sz="1400" spc="-10" dirty="0">
                <a:latin typeface="Tahoma"/>
                <a:cs typeface="Tahoma"/>
              </a:rPr>
              <a:t> Goodrich, </a:t>
            </a:r>
            <a:r>
              <a:rPr sz="1400" spc="-20" dirty="0">
                <a:latin typeface="Tahoma"/>
                <a:cs typeface="Tahoma"/>
              </a:rPr>
              <a:t>Tamassia, </a:t>
            </a:r>
            <a:r>
              <a:rPr sz="1400" spc="-10" dirty="0">
                <a:latin typeface="Tahoma"/>
                <a:cs typeface="Tahoma"/>
              </a:rPr>
              <a:t>Goldwasser</a:t>
            </a:r>
            <a:endParaRPr sz="1400">
              <a:latin typeface="Tahoma"/>
              <a:cs typeface="Tahoma"/>
            </a:endParaRPr>
          </a:p>
        </p:txBody>
      </p:sp>
      <p:sp>
        <p:nvSpPr>
          <p:cNvPr id="3" name="object 3"/>
          <p:cNvSpPr txBox="1"/>
          <p:nvPr/>
        </p:nvSpPr>
        <p:spPr>
          <a:xfrm>
            <a:off x="2059940" y="1532345"/>
            <a:ext cx="7081520" cy="3830954"/>
          </a:xfrm>
          <a:prstGeom prst="rect">
            <a:avLst/>
          </a:prstGeom>
        </p:spPr>
        <p:txBody>
          <a:bodyPr vert="horz" wrap="square" lIns="0" tIns="63500" rIns="0" bIns="0" rtlCol="0">
            <a:spAutoFit/>
          </a:bodyPr>
          <a:lstStyle/>
          <a:p>
            <a:pPr marL="12700">
              <a:spcBef>
                <a:spcPts val="500"/>
              </a:spcBef>
            </a:pPr>
            <a:r>
              <a:rPr sz="3200" dirty="0">
                <a:latin typeface="Tahoma"/>
                <a:cs typeface="Tahoma"/>
              </a:rPr>
              <a:t>Direct</a:t>
            </a:r>
            <a:r>
              <a:rPr sz="3200" spc="-85" dirty="0">
                <a:latin typeface="Tahoma"/>
                <a:cs typeface="Tahoma"/>
              </a:rPr>
              <a:t> </a:t>
            </a:r>
            <a:r>
              <a:rPr sz="3200" spc="-10" dirty="0">
                <a:latin typeface="Tahoma"/>
                <a:cs typeface="Tahoma"/>
              </a:rPr>
              <a:t>applications</a:t>
            </a:r>
            <a:endParaRPr sz="3200" dirty="0">
              <a:latin typeface="Tahoma"/>
              <a:cs typeface="Tahoma"/>
            </a:endParaRPr>
          </a:p>
          <a:p>
            <a:pPr marL="755015" indent="-285115">
              <a:spcBef>
                <a:spcPts val="355"/>
              </a:spcBef>
              <a:buChar char="–"/>
              <a:tabLst>
                <a:tab pos="755015" algn="l"/>
              </a:tabLst>
            </a:pPr>
            <a:r>
              <a:rPr sz="2800" spc="-40" dirty="0">
                <a:latin typeface="Tahoma"/>
                <a:cs typeface="Tahoma"/>
              </a:rPr>
              <a:t>Page-</a:t>
            </a:r>
            <a:r>
              <a:rPr sz="2800" dirty="0">
                <a:latin typeface="Tahoma"/>
                <a:cs typeface="Tahoma"/>
              </a:rPr>
              <a:t>visited</a:t>
            </a:r>
            <a:r>
              <a:rPr sz="2800" spc="-55" dirty="0">
                <a:latin typeface="Tahoma"/>
                <a:cs typeface="Tahoma"/>
              </a:rPr>
              <a:t> </a:t>
            </a:r>
            <a:r>
              <a:rPr sz="2800" dirty="0">
                <a:latin typeface="Tahoma"/>
                <a:cs typeface="Tahoma"/>
              </a:rPr>
              <a:t>history</a:t>
            </a:r>
            <a:r>
              <a:rPr sz="2800" spc="-50" dirty="0">
                <a:latin typeface="Tahoma"/>
                <a:cs typeface="Tahoma"/>
              </a:rPr>
              <a:t> </a:t>
            </a:r>
            <a:r>
              <a:rPr sz="2800" dirty="0">
                <a:latin typeface="Tahoma"/>
                <a:cs typeface="Tahoma"/>
              </a:rPr>
              <a:t>in</a:t>
            </a:r>
            <a:r>
              <a:rPr sz="2800" spc="-50" dirty="0">
                <a:latin typeface="Tahoma"/>
                <a:cs typeface="Tahoma"/>
              </a:rPr>
              <a:t> </a:t>
            </a:r>
            <a:r>
              <a:rPr sz="2800" dirty="0">
                <a:latin typeface="Tahoma"/>
                <a:cs typeface="Tahoma"/>
              </a:rPr>
              <a:t>a</a:t>
            </a:r>
            <a:r>
              <a:rPr sz="2800" spc="-50" dirty="0">
                <a:latin typeface="Tahoma"/>
                <a:cs typeface="Tahoma"/>
              </a:rPr>
              <a:t> </a:t>
            </a:r>
            <a:r>
              <a:rPr sz="2800" dirty="0">
                <a:latin typeface="Tahoma"/>
                <a:cs typeface="Tahoma"/>
              </a:rPr>
              <a:t>Web</a:t>
            </a:r>
            <a:r>
              <a:rPr sz="2800" spc="-50" dirty="0">
                <a:latin typeface="Tahoma"/>
                <a:cs typeface="Tahoma"/>
              </a:rPr>
              <a:t> </a:t>
            </a:r>
            <a:r>
              <a:rPr sz="2800" spc="-10" dirty="0">
                <a:latin typeface="Tahoma"/>
                <a:cs typeface="Tahoma"/>
              </a:rPr>
              <a:t>browser</a:t>
            </a:r>
            <a:endParaRPr sz="2800" dirty="0">
              <a:latin typeface="Tahoma"/>
              <a:cs typeface="Tahoma"/>
            </a:endParaRPr>
          </a:p>
          <a:p>
            <a:pPr marL="755015" indent="-285115">
              <a:spcBef>
                <a:spcPts val="335"/>
              </a:spcBef>
              <a:buChar char="–"/>
              <a:tabLst>
                <a:tab pos="755015" algn="l"/>
              </a:tabLst>
            </a:pPr>
            <a:r>
              <a:rPr sz="2800" dirty="0">
                <a:latin typeface="Tahoma"/>
                <a:cs typeface="Tahoma"/>
              </a:rPr>
              <a:t>Undo</a:t>
            </a:r>
            <a:r>
              <a:rPr sz="2800" spc="-50" dirty="0">
                <a:latin typeface="Tahoma"/>
                <a:cs typeface="Tahoma"/>
              </a:rPr>
              <a:t> </a:t>
            </a:r>
            <a:r>
              <a:rPr sz="2800" dirty="0">
                <a:latin typeface="Tahoma"/>
                <a:cs typeface="Tahoma"/>
              </a:rPr>
              <a:t>sequence</a:t>
            </a:r>
            <a:r>
              <a:rPr sz="2800" spc="-50" dirty="0">
                <a:latin typeface="Tahoma"/>
                <a:cs typeface="Tahoma"/>
              </a:rPr>
              <a:t> </a:t>
            </a:r>
            <a:r>
              <a:rPr sz="2800" dirty="0">
                <a:latin typeface="Tahoma"/>
                <a:cs typeface="Tahoma"/>
              </a:rPr>
              <a:t>in</a:t>
            </a:r>
            <a:r>
              <a:rPr sz="2800" spc="-55" dirty="0">
                <a:latin typeface="Tahoma"/>
                <a:cs typeface="Tahoma"/>
              </a:rPr>
              <a:t> </a:t>
            </a:r>
            <a:r>
              <a:rPr sz="2800" dirty="0">
                <a:latin typeface="Tahoma"/>
                <a:cs typeface="Tahoma"/>
              </a:rPr>
              <a:t>a</a:t>
            </a:r>
            <a:r>
              <a:rPr sz="2800" spc="-45" dirty="0">
                <a:latin typeface="Tahoma"/>
                <a:cs typeface="Tahoma"/>
              </a:rPr>
              <a:t> </a:t>
            </a:r>
            <a:r>
              <a:rPr sz="2800" dirty="0">
                <a:latin typeface="Tahoma"/>
                <a:cs typeface="Tahoma"/>
              </a:rPr>
              <a:t>text</a:t>
            </a:r>
            <a:r>
              <a:rPr sz="2800" spc="-50" dirty="0">
                <a:latin typeface="Tahoma"/>
                <a:cs typeface="Tahoma"/>
              </a:rPr>
              <a:t> </a:t>
            </a:r>
            <a:r>
              <a:rPr sz="2800" spc="-10" dirty="0">
                <a:latin typeface="Tahoma"/>
                <a:cs typeface="Tahoma"/>
              </a:rPr>
              <a:t>editor</a:t>
            </a:r>
            <a:endParaRPr sz="2800" dirty="0">
              <a:latin typeface="Tahoma"/>
              <a:cs typeface="Tahoma"/>
            </a:endParaRPr>
          </a:p>
          <a:p>
            <a:pPr marL="755650" marR="5080" indent="-285750">
              <a:lnSpc>
                <a:spcPts val="3000"/>
              </a:lnSpc>
              <a:spcBef>
                <a:spcPts val="735"/>
              </a:spcBef>
              <a:buChar char="–"/>
              <a:tabLst>
                <a:tab pos="755650" algn="l"/>
              </a:tabLst>
            </a:pPr>
            <a:r>
              <a:rPr sz="2800" dirty="0">
                <a:latin typeface="Tahoma"/>
                <a:cs typeface="Tahoma"/>
              </a:rPr>
              <a:t>Chain</a:t>
            </a:r>
            <a:r>
              <a:rPr sz="2800" spc="-55" dirty="0">
                <a:latin typeface="Tahoma"/>
                <a:cs typeface="Tahoma"/>
              </a:rPr>
              <a:t> </a:t>
            </a:r>
            <a:r>
              <a:rPr sz="2800" dirty="0">
                <a:latin typeface="Tahoma"/>
                <a:cs typeface="Tahoma"/>
              </a:rPr>
              <a:t>of</a:t>
            </a:r>
            <a:r>
              <a:rPr sz="2800" spc="-55" dirty="0">
                <a:latin typeface="Tahoma"/>
                <a:cs typeface="Tahoma"/>
              </a:rPr>
              <a:t> </a:t>
            </a:r>
            <a:r>
              <a:rPr sz="2800" dirty="0">
                <a:latin typeface="Tahoma"/>
                <a:cs typeface="Tahoma"/>
              </a:rPr>
              <a:t>method</a:t>
            </a:r>
            <a:r>
              <a:rPr sz="2800" spc="-50" dirty="0">
                <a:latin typeface="Tahoma"/>
                <a:cs typeface="Tahoma"/>
              </a:rPr>
              <a:t> </a:t>
            </a:r>
            <a:r>
              <a:rPr sz="2800" dirty="0">
                <a:latin typeface="Tahoma"/>
                <a:cs typeface="Tahoma"/>
              </a:rPr>
              <a:t>calls</a:t>
            </a:r>
            <a:r>
              <a:rPr sz="2800" spc="-50" dirty="0">
                <a:latin typeface="Tahoma"/>
                <a:cs typeface="Tahoma"/>
              </a:rPr>
              <a:t> </a:t>
            </a:r>
            <a:r>
              <a:rPr sz="2800" dirty="0">
                <a:latin typeface="Tahoma"/>
                <a:cs typeface="Tahoma"/>
              </a:rPr>
              <a:t>in</a:t>
            </a:r>
            <a:r>
              <a:rPr sz="2800" spc="-50" dirty="0">
                <a:latin typeface="Tahoma"/>
                <a:cs typeface="Tahoma"/>
              </a:rPr>
              <a:t> </a:t>
            </a:r>
            <a:r>
              <a:rPr sz="2800" dirty="0">
                <a:latin typeface="Tahoma"/>
                <a:cs typeface="Tahoma"/>
              </a:rPr>
              <a:t>the</a:t>
            </a:r>
            <a:r>
              <a:rPr sz="2800" spc="-50" dirty="0">
                <a:latin typeface="Tahoma"/>
                <a:cs typeface="Tahoma"/>
              </a:rPr>
              <a:t> </a:t>
            </a:r>
            <a:r>
              <a:rPr sz="2800" dirty="0">
                <a:latin typeface="Tahoma"/>
                <a:cs typeface="Tahoma"/>
              </a:rPr>
              <a:t>Java</a:t>
            </a:r>
            <a:r>
              <a:rPr sz="2800" spc="-45" dirty="0">
                <a:latin typeface="Tahoma"/>
                <a:cs typeface="Tahoma"/>
              </a:rPr>
              <a:t> </a:t>
            </a:r>
            <a:r>
              <a:rPr sz="2800" spc="-10" dirty="0">
                <a:latin typeface="Tahoma"/>
                <a:cs typeface="Tahoma"/>
              </a:rPr>
              <a:t>Virtual Machine</a:t>
            </a:r>
            <a:endParaRPr sz="2800" dirty="0">
              <a:latin typeface="Tahoma"/>
              <a:cs typeface="Tahoma"/>
            </a:endParaRPr>
          </a:p>
          <a:p>
            <a:pPr marL="12700">
              <a:spcBef>
                <a:spcPts val="305"/>
              </a:spcBef>
            </a:pPr>
            <a:r>
              <a:rPr sz="3200" dirty="0">
                <a:latin typeface="Tahoma"/>
                <a:cs typeface="Tahoma"/>
              </a:rPr>
              <a:t>Indirect</a:t>
            </a:r>
            <a:r>
              <a:rPr sz="3200" spc="-114" dirty="0">
                <a:latin typeface="Tahoma"/>
                <a:cs typeface="Tahoma"/>
              </a:rPr>
              <a:t> </a:t>
            </a:r>
            <a:r>
              <a:rPr sz="3200" spc="-10" dirty="0">
                <a:latin typeface="Tahoma"/>
                <a:cs typeface="Tahoma"/>
              </a:rPr>
              <a:t>applications</a:t>
            </a:r>
            <a:endParaRPr sz="3200" dirty="0">
              <a:latin typeface="Tahoma"/>
              <a:cs typeface="Tahoma"/>
            </a:endParaRPr>
          </a:p>
          <a:p>
            <a:pPr marL="755015" indent="-285115">
              <a:spcBef>
                <a:spcPts val="350"/>
              </a:spcBef>
              <a:buChar char="–"/>
              <a:tabLst>
                <a:tab pos="755015" algn="l"/>
              </a:tabLst>
            </a:pPr>
            <a:r>
              <a:rPr sz="2800" dirty="0">
                <a:latin typeface="Tahoma"/>
                <a:cs typeface="Tahoma"/>
              </a:rPr>
              <a:t>Auxiliary</a:t>
            </a:r>
            <a:r>
              <a:rPr sz="2800" spc="-85" dirty="0">
                <a:latin typeface="Tahoma"/>
                <a:cs typeface="Tahoma"/>
              </a:rPr>
              <a:t> </a:t>
            </a:r>
            <a:r>
              <a:rPr sz="2800" dirty="0">
                <a:latin typeface="Tahoma"/>
                <a:cs typeface="Tahoma"/>
              </a:rPr>
              <a:t>data</a:t>
            </a:r>
            <a:r>
              <a:rPr sz="2800" spc="-75" dirty="0">
                <a:latin typeface="Tahoma"/>
                <a:cs typeface="Tahoma"/>
              </a:rPr>
              <a:t> </a:t>
            </a:r>
            <a:r>
              <a:rPr sz="2800" dirty="0">
                <a:latin typeface="Tahoma"/>
                <a:cs typeface="Tahoma"/>
              </a:rPr>
              <a:t>structure</a:t>
            </a:r>
            <a:r>
              <a:rPr sz="2800" spc="-75" dirty="0">
                <a:latin typeface="Tahoma"/>
                <a:cs typeface="Tahoma"/>
              </a:rPr>
              <a:t> </a:t>
            </a:r>
            <a:r>
              <a:rPr sz="2800" dirty="0">
                <a:latin typeface="Tahoma"/>
                <a:cs typeface="Tahoma"/>
              </a:rPr>
              <a:t>for</a:t>
            </a:r>
            <a:r>
              <a:rPr sz="2800" spc="-75" dirty="0">
                <a:latin typeface="Tahoma"/>
                <a:cs typeface="Tahoma"/>
              </a:rPr>
              <a:t> </a:t>
            </a:r>
            <a:r>
              <a:rPr sz="2800" spc="-10" dirty="0">
                <a:latin typeface="Tahoma"/>
                <a:cs typeface="Tahoma"/>
              </a:rPr>
              <a:t>algorithms</a:t>
            </a:r>
            <a:endParaRPr sz="2800" dirty="0">
              <a:latin typeface="Tahoma"/>
              <a:cs typeface="Tahoma"/>
            </a:endParaRPr>
          </a:p>
          <a:p>
            <a:pPr marL="755015" indent="-285115">
              <a:spcBef>
                <a:spcPts val="360"/>
              </a:spcBef>
              <a:buChar char="–"/>
              <a:tabLst>
                <a:tab pos="755015" algn="l"/>
              </a:tabLst>
            </a:pPr>
            <a:r>
              <a:rPr sz="2800" dirty="0">
                <a:latin typeface="Tahoma"/>
                <a:cs typeface="Tahoma"/>
              </a:rPr>
              <a:t>Component</a:t>
            </a:r>
            <a:r>
              <a:rPr sz="2800" spc="-70" dirty="0">
                <a:latin typeface="Tahoma"/>
                <a:cs typeface="Tahoma"/>
              </a:rPr>
              <a:t> </a:t>
            </a:r>
            <a:r>
              <a:rPr sz="2800" dirty="0">
                <a:latin typeface="Tahoma"/>
                <a:cs typeface="Tahoma"/>
              </a:rPr>
              <a:t>of</a:t>
            </a:r>
            <a:r>
              <a:rPr sz="2800" spc="-70" dirty="0">
                <a:latin typeface="Tahoma"/>
                <a:cs typeface="Tahoma"/>
              </a:rPr>
              <a:t> </a:t>
            </a:r>
            <a:r>
              <a:rPr sz="2800" dirty="0">
                <a:latin typeface="Tahoma"/>
                <a:cs typeface="Tahoma"/>
              </a:rPr>
              <a:t>other</a:t>
            </a:r>
            <a:r>
              <a:rPr sz="2800" spc="-65" dirty="0">
                <a:latin typeface="Tahoma"/>
                <a:cs typeface="Tahoma"/>
              </a:rPr>
              <a:t> </a:t>
            </a:r>
            <a:r>
              <a:rPr sz="2800" dirty="0">
                <a:latin typeface="Tahoma"/>
                <a:cs typeface="Tahoma"/>
              </a:rPr>
              <a:t>data</a:t>
            </a:r>
            <a:r>
              <a:rPr sz="2800" spc="-60" dirty="0">
                <a:latin typeface="Tahoma"/>
                <a:cs typeface="Tahoma"/>
              </a:rPr>
              <a:t> </a:t>
            </a:r>
            <a:r>
              <a:rPr sz="2800" spc="-10" dirty="0">
                <a:latin typeface="Tahoma"/>
                <a:cs typeface="Tahoma"/>
              </a:rPr>
              <a:t>structures</a:t>
            </a:r>
            <a:endParaRPr sz="2800" dirty="0">
              <a:latin typeface="Tahoma"/>
              <a:cs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479628"/>
            <a:ext cx="10972800" cy="733020"/>
          </a:xfrm>
          <a:prstGeom prst="rect">
            <a:avLst/>
          </a:prstGeom>
        </p:spPr>
        <p:txBody>
          <a:bodyPr vert="horz" wrap="square" lIns="0" tIns="55371" rIns="0" bIns="0" rtlCol="0" anchor="ctr">
            <a:spAutoFit/>
          </a:bodyPr>
          <a:lstStyle/>
          <a:p>
            <a:pPr marL="12700">
              <a:spcBef>
                <a:spcPts val="100"/>
              </a:spcBef>
            </a:pPr>
            <a:r>
              <a:rPr dirty="0"/>
              <a:t>Performance</a:t>
            </a:r>
            <a:r>
              <a:rPr spc="-170" dirty="0"/>
              <a:t> </a:t>
            </a:r>
            <a:r>
              <a:rPr dirty="0"/>
              <a:t>and</a:t>
            </a:r>
            <a:r>
              <a:rPr spc="-155" dirty="0"/>
              <a:t> </a:t>
            </a:r>
            <a:r>
              <a:rPr spc="-10" dirty="0"/>
              <a:t>Limitations</a:t>
            </a:r>
          </a:p>
        </p:txBody>
      </p:sp>
      <p:sp>
        <p:nvSpPr>
          <p:cNvPr id="4" name="object 4"/>
          <p:cNvSpPr txBox="1"/>
          <p:nvPr/>
        </p:nvSpPr>
        <p:spPr>
          <a:xfrm>
            <a:off x="2059940" y="6277270"/>
            <a:ext cx="1744980" cy="427361"/>
          </a:xfrm>
          <a:prstGeom prst="rect">
            <a:avLst/>
          </a:prstGeom>
        </p:spPr>
        <p:txBody>
          <a:bodyPr vert="horz" wrap="square" lIns="0" tIns="9525" rIns="0" bIns="0" rtlCol="0">
            <a:spAutoFit/>
          </a:bodyPr>
          <a:lstStyle/>
          <a:p>
            <a:pPr marL="12700" marR="5080">
              <a:lnSpc>
                <a:spcPct val="101400"/>
              </a:lnSpc>
              <a:spcBef>
                <a:spcPts val="75"/>
              </a:spcBef>
            </a:pPr>
            <a:r>
              <a:rPr sz="1400" dirty="0">
                <a:latin typeface="Tahoma"/>
                <a:cs typeface="Tahoma"/>
              </a:rPr>
              <a:t>©</a:t>
            </a:r>
            <a:r>
              <a:rPr sz="1400" spc="-10" dirty="0">
                <a:latin typeface="Tahoma"/>
                <a:cs typeface="Tahoma"/>
              </a:rPr>
              <a:t> </a:t>
            </a:r>
            <a:r>
              <a:rPr sz="1400" dirty="0">
                <a:latin typeface="Tahoma"/>
                <a:cs typeface="Tahoma"/>
              </a:rPr>
              <a:t>2014</a:t>
            </a:r>
            <a:r>
              <a:rPr sz="1400" spc="-10" dirty="0">
                <a:latin typeface="Tahoma"/>
                <a:cs typeface="Tahoma"/>
              </a:rPr>
              <a:t> Goodrich, </a:t>
            </a:r>
            <a:r>
              <a:rPr sz="1400" spc="-20" dirty="0">
                <a:latin typeface="Tahoma"/>
                <a:cs typeface="Tahoma"/>
              </a:rPr>
              <a:t>Tamassia, </a:t>
            </a:r>
            <a:r>
              <a:rPr sz="1400" spc="-10" dirty="0">
                <a:latin typeface="Tahoma"/>
                <a:cs typeface="Tahoma"/>
              </a:rPr>
              <a:t>Goldwasser</a:t>
            </a:r>
            <a:endParaRPr sz="1400">
              <a:latin typeface="Tahoma"/>
              <a:cs typeface="Tahoma"/>
            </a:endParaRPr>
          </a:p>
        </p:txBody>
      </p:sp>
      <p:sp>
        <p:nvSpPr>
          <p:cNvPr id="3" name="object 3"/>
          <p:cNvSpPr txBox="1">
            <a:spLocks noGrp="1"/>
          </p:cNvSpPr>
          <p:nvPr>
            <p:ph type="body" idx="1"/>
          </p:nvPr>
        </p:nvSpPr>
        <p:spPr>
          <a:xfrm>
            <a:off x="533400" y="1374399"/>
            <a:ext cx="10972800" cy="4109202"/>
          </a:xfrm>
          <a:prstGeom prst="rect">
            <a:avLst/>
          </a:prstGeom>
        </p:spPr>
        <p:txBody>
          <a:bodyPr vert="horz" wrap="square" lIns="0" tIns="89535" rIns="0" bIns="0" rtlCol="0">
            <a:spAutoFit/>
          </a:bodyPr>
          <a:lstStyle/>
          <a:p>
            <a:pPr marL="354965" indent="-342265">
              <a:spcBef>
                <a:spcPts val="705"/>
              </a:spcBef>
              <a:tabLst>
                <a:tab pos="354965" algn="l"/>
              </a:tabLst>
            </a:pPr>
            <a:r>
              <a:rPr spc="-10" dirty="0"/>
              <a:t>Performance</a:t>
            </a:r>
          </a:p>
          <a:p>
            <a:pPr marL="755015" lvl="1" indent="-285115">
              <a:spcBef>
                <a:spcPts val="520"/>
              </a:spcBef>
              <a:tabLst>
                <a:tab pos="755015" algn="l"/>
              </a:tabLst>
            </a:pPr>
            <a:r>
              <a:rPr sz="2400" dirty="0">
                <a:latin typeface="Tahoma"/>
                <a:cs typeface="Tahoma"/>
              </a:rPr>
              <a:t>Let</a:t>
            </a:r>
            <a:r>
              <a:rPr sz="2400" spc="-20" dirty="0">
                <a:latin typeface="Tahoma"/>
                <a:cs typeface="Tahoma"/>
              </a:rPr>
              <a:t> </a:t>
            </a:r>
            <a:r>
              <a:rPr sz="2400" b="1" i="1" dirty="0">
                <a:latin typeface="Times New Roman"/>
                <a:cs typeface="Times New Roman"/>
              </a:rPr>
              <a:t>n</a:t>
            </a:r>
            <a:r>
              <a:rPr sz="2400" b="1" i="1" spc="135" dirty="0">
                <a:latin typeface="Times New Roman"/>
                <a:cs typeface="Times New Roman"/>
              </a:rPr>
              <a:t> </a:t>
            </a:r>
            <a:r>
              <a:rPr sz="2400" dirty="0">
                <a:latin typeface="Tahoma"/>
                <a:cs typeface="Tahoma"/>
              </a:rPr>
              <a:t>be</a:t>
            </a:r>
            <a:r>
              <a:rPr sz="2400" spc="-20" dirty="0">
                <a:latin typeface="Tahoma"/>
                <a:cs typeface="Tahoma"/>
              </a:rPr>
              <a:t> </a:t>
            </a:r>
            <a:r>
              <a:rPr sz="2400" dirty="0">
                <a:latin typeface="Tahoma"/>
                <a:cs typeface="Tahoma"/>
              </a:rPr>
              <a:t>the</a:t>
            </a:r>
            <a:r>
              <a:rPr sz="2400" spc="-20" dirty="0">
                <a:latin typeface="Tahoma"/>
                <a:cs typeface="Tahoma"/>
              </a:rPr>
              <a:t> </a:t>
            </a:r>
            <a:r>
              <a:rPr sz="2400" dirty="0">
                <a:latin typeface="Tahoma"/>
                <a:cs typeface="Tahoma"/>
              </a:rPr>
              <a:t>number</a:t>
            </a:r>
            <a:r>
              <a:rPr sz="2400" spc="-20" dirty="0">
                <a:latin typeface="Tahoma"/>
                <a:cs typeface="Tahoma"/>
              </a:rPr>
              <a:t> </a:t>
            </a:r>
            <a:r>
              <a:rPr sz="2400" dirty="0">
                <a:latin typeface="Tahoma"/>
                <a:cs typeface="Tahoma"/>
              </a:rPr>
              <a:t>of</a:t>
            </a:r>
            <a:r>
              <a:rPr sz="2400" spc="-20" dirty="0">
                <a:latin typeface="Tahoma"/>
                <a:cs typeface="Tahoma"/>
              </a:rPr>
              <a:t> </a:t>
            </a:r>
            <a:r>
              <a:rPr sz="2400" dirty="0">
                <a:latin typeface="Tahoma"/>
                <a:cs typeface="Tahoma"/>
              </a:rPr>
              <a:t>elements</a:t>
            </a:r>
            <a:r>
              <a:rPr sz="2400" spc="-15" dirty="0">
                <a:latin typeface="Tahoma"/>
                <a:cs typeface="Tahoma"/>
              </a:rPr>
              <a:t> </a:t>
            </a:r>
            <a:r>
              <a:rPr sz="2400" dirty="0">
                <a:latin typeface="Tahoma"/>
                <a:cs typeface="Tahoma"/>
              </a:rPr>
              <a:t>in</a:t>
            </a:r>
            <a:r>
              <a:rPr sz="2400" spc="-20" dirty="0">
                <a:latin typeface="Tahoma"/>
                <a:cs typeface="Tahoma"/>
              </a:rPr>
              <a:t> </a:t>
            </a:r>
            <a:r>
              <a:rPr sz="2400" dirty="0">
                <a:latin typeface="Tahoma"/>
                <a:cs typeface="Tahoma"/>
              </a:rPr>
              <a:t>the</a:t>
            </a:r>
            <a:r>
              <a:rPr sz="2400" spc="-15" dirty="0">
                <a:latin typeface="Tahoma"/>
                <a:cs typeface="Tahoma"/>
              </a:rPr>
              <a:t> </a:t>
            </a:r>
            <a:r>
              <a:rPr sz="2400" spc="-10" dirty="0">
                <a:latin typeface="Tahoma"/>
                <a:cs typeface="Tahoma"/>
              </a:rPr>
              <a:t>stack</a:t>
            </a:r>
            <a:endParaRPr sz="2400" dirty="0">
              <a:latin typeface="Tahoma"/>
              <a:cs typeface="Tahoma"/>
            </a:endParaRPr>
          </a:p>
          <a:p>
            <a:pPr marL="755015" lvl="1" indent="-285115">
              <a:spcBef>
                <a:spcPts val="530"/>
              </a:spcBef>
              <a:tabLst>
                <a:tab pos="755015" algn="l"/>
              </a:tabLst>
            </a:pPr>
            <a:r>
              <a:rPr sz="2400" dirty="0">
                <a:latin typeface="Tahoma"/>
                <a:cs typeface="Tahoma"/>
              </a:rPr>
              <a:t>The</a:t>
            </a:r>
            <a:r>
              <a:rPr sz="2400" spc="-25" dirty="0">
                <a:latin typeface="Tahoma"/>
                <a:cs typeface="Tahoma"/>
              </a:rPr>
              <a:t> </a:t>
            </a:r>
            <a:r>
              <a:rPr sz="2400" dirty="0">
                <a:latin typeface="Tahoma"/>
                <a:cs typeface="Tahoma"/>
              </a:rPr>
              <a:t>space</a:t>
            </a:r>
            <a:r>
              <a:rPr sz="2400" spc="-25" dirty="0">
                <a:latin typeface="Tahoma"/>
                <a:cs typeface="Tahoma"/>
              </a:rPr>
              <a:t> </a:t>
            </a:r>
            <a:r>
              <a:rPr sz="2400" dirty="0">
                <a:latin typeface="Tahoma"/>
                <a:cs typeface="Tahoma"/>
              </a:rPr>
              <a:t>used</a:t>
            </a:r>
            <a:r>
              <a:rPr sz="2400" spc="-25" dirty="0">
                <a:latin typeface="Tahoma"/>
                <a:cs typeface="Tahoma"/>
              </a:rPr>
              <a:t> </a:t>
            </a:r>
            <a:r>
              <a:rPr sz="2400" dirty="0">
                <a:latin typeface="Tahoma"/>
                <a:cs typeface="Tahoma"/>
              </a:rPr>
              <a:t>is</a:t>
            </a:r>
            <a:r>
              <a:rPr sz="2400" spc="-20" dirty="0">
                <a:latin typeface="Tahoma"/>
                <a:cs typeface="Tahoma"/>
              </a:rPr>
              <a:t> </a:t>
            </a:r>
            <a:r>
              <a:rPr sz="2400" b="1" i="1" spc="-20" dirty="0">
                <a:latin typeface="Times New Roman"/>
                <a:cs typeface="Times New Roman"/>
              </a:rPr>
              <a:t>O</a:t>
            </a:r>
            <a:r>
              <a:rPr sz="2400" spc="-20" dirty="0">
                <a:latin typeface="Times New Roman"/>
                <a:cs typeface="Times New Roman"/>
              </a:rPr>
              <a:t>(</a:t>
            </a:r>
            <a:r>
              <a:rPr sz="2400" b="1" i="1" spc="-20" dirty="0">
                <a:latin typeface="Times New Roman"/>
                <a:cs typeface="Times New Roman"/>
              </a:rPr>
              <a:t>n</a:t>
            </a:r>
            <a:r>
              <a:rPr sz="2400" spc="-20" dirty="0">
                <a:latin typeface="Times New Roman"/>
                <a:cs typeface="Times New Roman"/>
              </a:rPr>
              <a:t>)</a:t>
            </a:r>
            <a:endParaRPr sz="2400" dirty="0">
              <a:latin typeface="Times New Roman"/>
              <a:cs typeface="Times New Roman"/>
            </a:endParaRPr>
          </a:p>
          <a:p>
            <a:pPr marL="755015" lvl="1" indent="-285115">
              <a:spcBef>
                <a:spcPts val="620"/>
              </a:spcBef>
              <a:tabLst>
                <a:tab pos="755015" algn="l"/>
              </a:tabLst>
            </a:pPr>
            <a:r>
              <a:rPr sz="2400" dirty="0">
                <a:latin typeface="Tahoma"/>
                <a:cs typeface="Tahoma"/>
              </a:rPr>
              <a:t>Each</a:t>
            </a:r>
            <a:r>
              <a:rPr sz="2400" spc="-40" dirty="0">
                <a:latin typeface="Tahoma"/>
                <a:cs typeface="Tahoma"/>
              </a:rPr>
              <a:t> </a:t>
            </a:r>
            <a:r>
              <a:rPr sz="2400" dirty="0">
                <a:latin typeface="Tahoma"/>
                <a:cs typeface="Tahoma"/>
              </a:rPr>
              <a:t>operation</a:t>
            </a:r>
            <a:r>
              <a:rPr sz="2400" spc="-40" dirty="0">
                <a:latin typeface="Tahoma"/>
                <a:cs typeface="Tahoma"/>
              </a:rPr>
              <a:t> </a:t>
            </a:r>
            <a:r>
              <a:rPr sz="2400" dirty="0">
                <a:latin typeface="Tahoma"/>
                <a:cs typeface="Tahoma"/>
              </a:rPr>
              <a:t>runs</a:t>
            </a:r>
            <a:r>
              <a:rPr sz="2400" spc="-35" dirty="0">
                <a:latin typeface="Tahoma"/>
                <a:cs typeface="Tahoma"/>
              </a:rPr>
              <a:t> </a:t>
            </a:r>
            <a:r>
              <a:rPr sz="2400" dirty="0">
                <a:latin typeface="Tahoma"/>
                <a:cs typeface="Tahoma"/>
              </a:rPr>
              <a:t>in</a:t>
            </a:r>
            <a:r>
              <a:rPr sz="2400" spc="-35" dirty="0">
                <a:latin typeface="Tahoma"/>
                <a:cs typeface="Tahoma"/>
              </a:rPr>
              <a:t> </a:t>
            </a:r>
            <a:r>
              <a:rPr sz="2400" dirty="0">
                <a:latin typeface="Tahoma"/>
                <a:cs typeface="Tahoma"/>
              </a:rPr>
              <a:t>time</a:t>
            </a:r>
            <a:r>
              <a:rPr sz="2400" spc="-40" dirty="0">
                <a:latin typeface="Tahoma"/>
                <a:cs typeface="Tahoma"/>
              </a:rPr>
              <a:t> </a:t>
            </a:r>
            <a:r>
              <a:rPr sz="2400" b="1" i="1" spc="-20" dirty="0">
                <a:latin typeface="Times New Roman"/>
                <a:cs typeface="Times New Roman"/>
              </a:rPr>
              <a:t>O</a:t>
            </a:r>
            <a:r>
              <a:rPr sz="2400" spc="-20" dirty="0">
                <a:latin typeface="Times New Roman"/>
                <a:cs typeface="Times New Roman"/>
              </a:rPr>
              <a:t>(1)</a:t>
            </a:r>
            <a:endParaRPr sz="2400" dirty="0">
              <a:latin typeface="Times New Roman"/>
              <a:cs typeface="Times New Roman"/>
            </a:endParaRPr>
          </a:p>
          <a:p>
            <a:pPr marL="354965" indent="-342265">
              <a:spcBef>
                <a:spcPts val="730"/>
              </a:spcBef>
              <a:tabLst>
                <a:tab pos="354965" algn="l"/>
              </a:tabLst>
            </a:pPr>
            <a:r>
              <a:rPr spc="-10" dirty="0"/>
              <a:t>Limitations</a:t>
            </a:r>
          </a:p>
          <a:p>
            <a:pPr marL="755015" marR="5080" lvl="1">
              <a:lnSpc>
                <a:spcPct val="100800"/>
              </a:lnSpc>
              <a:spcBef>
                <a:spcPts val="495"/>
              </a:spcBef>
              <a:tabLst>
                <a:tab pos="755015" algn="l"/>
              </a:tabLst>
            </a:pPr>
            <a:r>
              <a:rPr sz="2400" dirty="0">
                <a:latin typeface="Tahoma"/>
                <a:cs typeface="Tahoma"/>
              </a:rPr>
              <a:t>The</a:t>
            </a:r>
            <a:r>
              <a:rPr sz="2400" spc="-30" dirty="0">
                <a:latin typeface="Tahoma"/>
                <a:cs typeface="Tahoma"/>
              </a:rPr>
              <a:t> </a:t>
            </a:r>
            <a:r>
              <a:rPr sz="2400" dirty="0">
                <a:latin typeface="Tahoma"/>
                <a:cs typeface="Tahoma"/>
              </a:rPr>
              <a:t>maximum</a:t>
            </a:r>
            <a:r>
              <a:rPr sz="2400" spc="-25" dirty="0">
                <a:latin typeface="Tahoma"/>
                <a:cs typeface="Tahoma"/>
              </a:rPr>
              <a:t> </a:t>
            </a:r>
            <a:r>
              <a:rPr sz="2400" dirty="0">
                <a:latin typeface="Tahoma"/>
                <a:cs typeface="Tahoma"/>
              </a:rPr>
              <a:t>size</a:t>
            </a:r>
            <a:r>
              <a:rPr sz="2400" spc="-30" dirty="0">
                <a:latin typeface="Tahoma"/>
                <a:cs typeface="Tahoma"/>
              </a:rPr>
              <a:t> </a:t>
            </a:r>
            <a:r>
              <a:rPr sz="2400" dirty="0">
                <a:latin typeface="Tahoma"/>
                <a:cs typeface="Tahoma"/>
              </a:rPr>
              <a:t>of</a:t>
            </a:r>
            <a:r>
              <a:rPr sz="2400" spc="-25" dirty="0">
                <a:latin typeface="Tahoma"/>
                <a:cs typeface="Tahoma"/>
              </a:rPr>
              <a:t> </a:t>
            </a:r>
            <a:r>
              <a:rPr sz="2400" dirty="0">
                <a:latin typeface="Tahoma"/>
                <a:cs typeface="Tahoma"/>
              </a:rPr>
              <a:t>the</a:t>
            </a:r>
            <a:r>
              <a:rPr sz="2400" spc="-25" dirty="0">
                <a:latin typeface="Tahoma"/>
                <a:cs typeface="Tahoma"/>
              </a:rPr>
              <a:t> </a:t>
            </a:r>
            <a:r>
              <a:rPr sz="2400" dirty="0">
                <a:latin typeface="Tahoma"/>
                <a:cs typeface="Tahoma"/>
              </a:rPr>
              <a:t>stack</a:t>
            </a:r>
            <a:r>
              <a:rPr sz="2400" spc="-25" dirty="0">
                <a:latin typeface="Tahoma"/>
                <a:cs typeface="Tahoma"/>
              </a:rPr>
              <a:t> </a:t>
            </a:r>
            <a:r>
              <a:rPr sz="2400" dirty="0">
                <a:latin typeface="Tahoma"/>
                <a:cs typeface="Tahoma"/>
              </a:rPr>
              <a:t>must</a:t>
            </a:r>
            <a:r>
              <a:rPr sz="2400" spc="-25" dirty="0">
                <a:latin typeface="Tahoma"/>
                <a:cs typeface="Tahoma"/>
              </a:rPr>
              <a:t> </a:t>
            </a:r>
            <a:r>
              <a:rPr sz="2400" dirty="0">
                <a:latin typeface="Tahoma"/>
                <a:cs typeface="Tahoma"/>
              </a:rPr>
              <a:t>be</a:t>
            </a:r>
            <a:r>
              <a:rPr sz="2400" spc="-30" dirty="0">
                <a:latin typeface="Tahoma"/>
                <a:cs typeface="Tahoma"/>
              </a:rPr>
              <a:t> </a:t>
            </a:r>
            <a:r>
              <a:rPr sz="2400" dirty="0">
                <a:latin typeface="Tahoma"/>
                <a:cs typeface="Tahoma"/>
              </a:rPr>
              <a:t>defined</a:t>
            </a:r>
            <a:r>
              <a:rPr sz="2400" spc="-25" dirty="0">
                <a:latin typeface="Tahoma"/>
                <a:cs typeface="Tahoma"/>
              </a:rPr>
              <a:t> </a:t>
            </a:r>
            <a:r>
              <a:rPr sz="2400" spc="-50" dirty="0">
                <a:latin typeface="Tahoma"/>
                <a:cs typeface="Tahoma"/>
              </a:rPr>
              <a:t>a </a:t>
            </a:r>
            <a:r>
              <a:rPr sz="2400" dirty="0">
                <a:latin typeface="Tahoma"/>
                <a:cs typeface="Tahoma"/>
              </a:rPr>
              <a:t>priori</a:t>
            </a:r>
            <a:r>
              <a:rPr sz="2400" spc="-25" dirty="0">
                <a:latin typeface="Tahoma"/>
                <a:cs typeface="Tahoma"/>
              </a:rPr>
              <a:t> </a:t>
            </a:r>
            <a:r>
              <a:rPr sz="2400" dirty="0">
                <a:latin typeface="Tahoma"/>
                <a:cs typeface="Tahoma"/>
              </a:rPr>
              <a:t>and</a:t>
            </a:r>
            <a:r>
              <a:rPr sz="2400" spc="-25" dirty="0">
                <a:latin typeface="Tahoma"/>
                <a:cs typeface="Tahoma"/>
              </a:rPr>
              <a:t> </a:t>
            </a:r>
            <a:r>
              <a:rPr sz="2400" dirty="0">
                <a:latin typeface="Tahoma"/>
                <a:cs typeface="Tahoma"/>
              </a:rPr>
              <a:t>cannot</a:t>
            </a:r>
            <a:r>
              <a:rPr sz="2400" spc="-30" dirty="0">
                <a:latin typeface="Tahoma"/>
                <a:cs typeface="Tahoma"/>
              </a:rPr>
              <a:t> </a:t>
            </a:r>
            <a:r>
              <a:rPr sz="2400" dirty="0">
                <a:latin typeface="Tahoma"/>
                <a:cs typeface="Tahoma"/>
              </a:rPr>
              <a:t>be</a:t>
            </a:r>
            <a:r>
              <a:rPr sz="2400" spc="-25" dirty="0">
                <a:latin typeface="Tahoma"/>
                <a:cs typeface="Tahoma"/>
              </a:rPr>
              <a:t> </a:t>
            </a:r>
            <a:r>
              <a:rPr sz="2400" spc="-10" dirty="0">
                <a:latin typeface="Tahoma"/>
                <a:cs typeface="Tahoma"/>
              </a:rPr>
              <a:t>changed</a:t>
            </a:r>
            <a:endParaRPr sz="2400" dirty="0">
              <a:latin typeface="Tahoma"/>
              <a:cs typeface="Tahoma"/>
            </a:endParaRPr>
          </a:p>
          <a:p>
            <a:pPr marL="755015" marR="572770" lvl="1">
              <a:lnSpc>
                <a:spcPts val="2810"/>
              </a:lnSpc>
              <a:spcBef>
                <a:spcPts val="780"/>
              </a:spcBef>
              <a:tabLst>
                <a:tab pos="755015" algn="l"/>
              </a:tabLst>
            </a:pPr>
            <a:r>
              <a:rPr sz="2400" spc="-20" dirty="0">
                <a:latin typeface="Tahoma"/>
                <a:cs typeface="Tahoma"/>
              </a:rPr>
              <a:t>Trying</a:t>
            </a:r>
            <a:r>
              <a:rPr sz="2400" spc="-40" dirty="0">
                <a:latin typeface="Tahoma"/>
                <a:cs typeface="Tahoma"/>
              </a:rPr>
              <a:t> </a:t>
            </a:r>
            <a:r>
              <a:rPr sz="2400" dirty="0">
                <a:latin typeface="Tahoma"/>
                <a:cs typeface="Tahoma"/>
              </a:rPr>
              <a:t>to</a:t>
            </a:r>
            <a:r>
              <a:rPr sz="2400" spc="-40" dirty="0">
                <a:latin typeface="Tahoma"/>
                <a:cs typeface="Tahoma"/>
              </a:rPr>
              <a:t> </a:t>
            </a:r>
            <a:r>
              <a:rPr sz="2400" dirty="0">
                <a:latin typeface="Tahoma"/>
                <a:cs typeface="Tahoma"/>
              </a:rPr>
              <a:t>push</a:t>
            </a:r>
            <a:r>
              <a:rPr sz="2400" spc="-40" dirty="0">
                <a:latin typeface="Tahoma"/>
                <a:cs typeface="Tahoma"/>
              </a:rPr>
              <a:t> </a:t>
            </a:r>
            <a:r>
              <a:rPr sz="2400" dirty="0">
                <a:latin typeface="Tahoma"/>
                <a:cs typeface="Tahoma"/>
              </a:rPr>
              <a:t>a</a:t>
            </a:r>
            <a:r>
              <a:rPr sz="2400" spc="-35" dirty="0">
                <a:latin typeface="Tahoma"/>
                <a:cs typeface="Tahoma"/>
              </a:rPr>
              <a:t> </a:t>
            </a:r>
            <a:r>
              <a:rPr sz="2400" dirty="0">
                <a:latin typeface="Tahoma"/>
                <a:cs typeface="Tahoma"/>
              </a:rPr>
              <a:t>new</a:t>
            </a:r>
            <a:r>
              <a:rPr sz="2400" spc="-30" dirty="0">
                <a:latin typeface="Tahoma"/>
                <a:cs typeface="Tahoma"/>
              </a:rPr>
              <a:t> </a:t>
            </a:r>
            <a:r>
              <a:rPr sz="2400" dirty="0">
                <a:latin typeface="Tahoma"/>
                <a:cs typeface="Tahoma"/>
              </a:rPr>
              <a:t>element</a:t>
            </a:r>
            <a:r>
              <a:rPr sz="2400" spc="-40" dirty="0">
                <a:latin typeface="Tahoma"/>
                <a:cs typeface="Tahoma"/>
              </a:rPr>
              <a:t> </a:t>
            </a:r>
            <a:r>
              <a:rPr sz="2400" dirty="0">
                <a:latin typeface="Tahoma"/>
                <a:cs typeface="Tahoma"/>
              </a:rPr>
              <a:t>into</a:t>
            </a:r>
            <a:r>
              <a:rPr sz="2400" spc="-35" dirty="0">
                <a:latin typeface="Tahoma"/>
                <a:cs typeface="Tahoma"/>
              </a:rPr>
              <a:t> </a:t>
            </a:r>
            <a:r>
              <a:rPr sz="2400" dirty="0">
                <a:latin typeface="Tahoma"/>
                <a:cs typeface="Tahoma"/>
              </a:rPr>
              <a:t>a</a:t>
            </a:r>
            <a:r>
              <a:rPr sz="2400" spc="-35" dirty="0">
                <a:latin typeface="Tahoma"/>
                <a:cs typeface="Tahoma"/>
              </a:rPr>
              <a:t> </a:t>
            </a:r>
            <a:r>
              <a:rPr sz="2400" dirty="0">
                <a:latin typeface="Tahoma"/>
                <a:cs typeface="Tahoma"/>
              </a:rPr>
              <a:t>full</a:t>
            </a:r>
            <a:r>
              <a:rPr sz="2400" spc="-35" dirty="0">
                <a:latin typeface="Tahoma"/>
                <a:cs typeface="Tahoma"/>
              </a:rPr>
              <a:t> </a:t>
            </a:r>
            <a:r>
              <a:rPr sz="2400" spc="-10" dirty="0">
                <a:latin typeface="Tahoma"/>
                <a:cs typeface="Tahoma"/>
              </a:rPr>
              <a:t>stack </a:t>
            </a:r>
            <a:r>
              <a:rPr sz="2400" dirty="0">
                <a:latin typeface="Tahoma"/>
                <a:cs typeface="Tahoma"/>
              </a:rPr>
              <a:t>causes</a:t>
            </a:r>
            <a:r>
              <a:rPr sz="2400" spc="-35" dirty="0">
                <a:latin typeface="Tahoma"/>
                <a:cs typeface="Tahoma"/>
              </a:rPr>
              <a:t> </a:t>
            </a:r>
            <a:r>
              <a:rPr sz="2400" dirty="0">
                <a:latin typeface="Tahoma"/>
                <a:cs typeface="Tahoma"/>
              </a:rPr>
              <a:t>an</a:t>
            </a:r>
            <a:r>
              <a:rPr sz="2400" spc="-25" dirty="0">
                <a:latin typeface="Tahoma"/>
                <a:cs typeface="Tahoma"/>
              </a:rPr>
              <a:t> </a:t>
            </a:r>
            <a:r>
              <a:rPr sz="2400" spc="-10" dirty="0">
                <a:latin typeface="Tahoma"/>
                <a:cs typeface="Tahoma"/>
              </a:rPr>
              <a:t>implementation-</a:t>
            </a:r>
            <a:r>
              <a:rPr sz="2400" dirty="0">
                <a:latin typeface="Tahoma"/>
                <a:cs typeface="Tahoma"/>
              </a:rPr>
              <a:t>specific</a:t>
            </a:r>
            <a:r>
              <a:rPr sz="2400" spc="-15" dirty="0">
                <a:latin typeface="Tahoma"/>
                <a:cs typeface="Tahoma"/>
              </a:rPr>
              <a:t> </a:t>
            </a:r>
            <a:r>
              <a:rPr sz="2400" spc="-10" dirty="0">
                <a:latin typeface="Tahoma"/>
                <a:cs typeface="Tahoma"/>
              </a:rPr>
              <a:t>exception</a:t>
            </a:r>
            <a:endParaRPr sz="2400" dirty="0">
              <a:latin typeface="Tahoma"/>
              <a:cs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2CF47-74E1-6C4B-B616-334D83F6BA8D}"/>
              </a:ext>
            </a:extLst>
          </p:cNvPr>
          <p:cNvSpPr>
            <a:spLocks noGrp="1"/>
          </p:cNvSpPr>
          <p:nvPr>
            <p:ph type="title"/>
          </p:nvPr>
        </p:nvSpPr>
        <p:spPr/>
        <p:txBody>
          <a:bodyPr/>
          <a:lstStyle/>
          <a:p>
            <a:r>
              <a:rPr lang="en-US" dirty="0"/>
              <a:t>Exception</a:t>
            </a:r>
          </a:p>
        </p:txBody>
      </p:sp>
      <p:sp>
        <p:nvSpPr>
          <p:cNvPr id="3" name="Content Placeholder 2">
            <a:extLst>
              <a:ext uri="{FF2B5EF4-FFF2-40B4-BE49-F238E27FC236}">
                <a16:creationId xmlns:a16="http://schemas.microsoft.com/office/drawing/2014/main" id="{B8C4A4EB-017F-0A48-8C30-E4F1691D9DB0}"/>
              </a:ext>
            </a:extLst>
          </p:cNvPr>
          <p:cNvSpPr>
            <a:spLocks noGrp="1"/>
          </p:cNvSpPr>
          <p:nvPr>
            <p:ph idx="1"/>
          </p:nvPr>
        </p:nvSpPr>
        <p:spPr/>
        <p:txBody>
          <a:bodyPr>
            <a:normAutofit/>
          </a:bodyPr>
          <a:lstStyle/>
          <a:p>
            <a:r>
              <a:rPr lang="en-US" sz="2400" dirty="0"/>
              <a:t>Attempting the execution of an operation may sometimes cause an error condition, called an </a:t>
            </a:r>
            <a:r>
              <a:rPr lang="en-US" sz="2400" u="sng" dirty="0"/>
              <a:t>exception</a:t>
            </a:r>
          </a:p>
          <a:p>
            <a:r>
              <a:rPr lang="en-US" sz="2400" dirty="0"/>
              <a:t>Exceptions are said to be “thrown” by an operation that cannot be executed</a:t>
            </a:r>
          </a:p>
          <a:p>
            <a:r>
              <a:rPr lang="en-US" sz="2400" dirty="0"/>
              <a:t>In the Stack ADT, operations pop and top cannot be performed if the stack is empty</a:t>
            </a:r>
          </a:p>
          <a:p>
            <a:r>
              <a:rPr lang="en-US" sz="2400" dirty="0"/>
              <a:t>Attempting the execution of pop or top on an empty stack throws an </a:t>
            </a:r>
            <a:r>
              <a:rPr lang="en-US" sz="2400" dirty="0" err="1"/>
              <a:t>EmptyStackException</a:t>
            </a:r>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13871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Array-based stack</a:t>
            </a:r>
          </a:p>
        </p:txBody>
      </p:sp>
      <p:sp>
        <p:nvSpPr>
          <p:cNvPr id="3" name="Content Placeholder 2"/>
          <p:cNvSpPr>
            <a:spLocks noGrp="1"/>
          </p:cNvSpPr>
          <p:nvPr>
            <p:ph idx="1"/>
          </p:nvPr>
        </p:nvSpPr>
        <p:spPr/>
        <p:txBody>
          <a:bodyPr>
            <a:noAutofit/>
          </a:bodyPr>
          <a:lstStyle/>
          <a:p>
            <a:r>
              <a:rPr lang="en-US" sz="2200" dirty="0"/>
              <a:t>A simple way of implementing the Stack ADT uses an array</a:t>
            </a:r>
          </a:p>
          <a:p>
            <a:r>
              <a:rPr lang="en-US" sz="2200" dirty="0"/>
              <a:t>We add elements from left to right</a:t>
            </a:r>
          </a:p>
          <a:p>
            <a:r>
              <a:rPr lang="en-US" sz="2200" dirty="0"/>
              <a:t>A variable keeps track of the index</a:t>
            </a:r>
          </a:p>
          <a:p>
            <a:pPr marL="0" indent="0">
              <a:spcBef>
                <a:spcPts val="0"/>
              </a:spcBef>
              <a:buNone/>
            </a:pPr>
            <a:r>
              <a:rPr lang="en-US" sz="2200" dirty="0"/>
              <a:t>	Algorithm size()</a:t>
            </a:r>
          </a:p>
          <a:p>
            <a:pPr marL="0" indent="0">
              <a:spcBef>
                <a:spcPts val="0"/>
              </a:spcBef>
              <a:buNone/>
            </a:pPr>
            <a:r>
              <a:rPr lang="en-US" sz="2200" dirty="0"/>
              <a:t>		return t + 1</a:t>
            </a:r>
          </a:p>
          <a:p>
            <a:pPr marL="0" indent="0">
              <a:spcBef>
                <a:spcPts val="0"/>
              </a:spcBef>
              <a:buNone/>
            </a:pPr>
            <a:endParaRPr lang="en-US" sz="2200" dirty="0"/>
          </a:p>
          <a:p>
            <a:pPr marL="0" indent="0">
              <a:spcBef>
                <a:spcPts val="0"/>
              </a:spcBef>
              <a:buNone/>
            </a:pPr>
            <a:r>
              <a:rPr lang="en-US" sz="2200" dirty="0"/>
              <a:t>	Algorithm pop()</a:t>
            </a:r>
          </a:p>
          <a:p>
            <a:pPr marL="0" indent="0">
              <a:spcBef>
                <a:spcPts val="0"/>
              </a:spcBef>
              <a:buNone/>
            </a:pPr>
            <a:r>
              <a:rPr lang="en-US" sz="2200" dirty="0"/>
              <a:t>		if </a:t>
            </a:r>
            <a:r>
              <a:rPr lang="en-US" sz="2200" dirty="0" err="1"/>
              <a:t>isEmpty</a:t>
            </a:r>
            <a:r>
              <a:rPr lang="en-US" sz="2200" dirty="0"/>
              <a:t>() then</a:t>
            </a:r>
          </a:p>
          <a:p>
            <a:pPr marL="0" indent="0">
              <a:spcBef>
                <a:spcPts val="0"/>
              </a:spcBef>
              <a:buNone/>
            </a:pPr>
            <a:r>
              <a:rPr lang="en-US" sz="2200" dirty="0"/>
              <a:t>			throw </a:t>
            </a:r>
            <a:r>
              <a:rPr lang="en-US" sz="2200" dirty="0" err="1"/>
              <a:t>EmptyStackException</a:t>
            </a:r>
            <a:endParaRPr lang="en-US" sz="2200" dirty="0"/>
          </a:p>
          <a:p>
            <a:pPr marL="0" indent="0">
              <a:spcBef>
                <a:spcPts val="0"/>
              </a:spcBef>
              <a:buNone/>
            </a:pPr>
            <a:r>
              <a:rPr lang="en-US" sz="2200" dirty="0"/>
              <a:t>		else</a:t>
            </a:r>
          </a:p>
          <a:p>
            <a:pPr marL="0" indent="0">
              <a:spcBef>
                <a:spcPts val="0"/>
              </a:spcBef>
              <a:buNone/>
            </a:pPr>
            <a:r>
              <a:rPr lang="en-US" sz="2200" dirty="0"/>
              <a:t>			o = S[t] </a:t>
            </a:r>
          </a:p>
          <a:p>
            <a:pPr marL="0" indent="0">
              <a:spcBef>
                <a:spcPts val="0"/>
              </a:spcBef>
              <a:buNone/>
            </a:pPr>
            <a:r>
              <a:rPr lang="en-US" sz="2200" dirty="0"/>
              <a:t>			t = t -1</a:t>
            </a:r>
          </a:p>
          <a:p>
            <a:pPr marL="0" indent="0">
              <a:spcBef>
                <a:spcPts val="0"/>
              </a:spcBef>
              <a:buNone/>
            </a:pPr>
            <a:r>
              <a:rPr lang="en-US" sz="2200" dirty="0"/>
              <a:t>			return o</a:t>
            </a:r>
          </a:p>
          <a:p>
            <a:endParaRPr lang="en-US" sz="2200" dirty="0"/>
          </a:p>
        </p:txBody>
      </p:sp>
      <p:pic>
        <p:nvPicPr>
          <p:cNvPr id="4" name="Picture 3">
            <a:extLst>
              <a:ext uri="{FF2B5EF4-FFF2-40B4-BE49-F238E27FC236}">
                <a16:creationId xmlns:a16="http://schemas.microsoft.com/office/drawing/2014/main" id="{8131F78B-0DE6-994F-A061-2400AC5F6240}"/>
              </a:ext>
            </a:extLst>
          </p:cNvPr>
          <p:cNvPicPr>
            <a:picLocks noChangeAspect="1"/>
          </p:cNvPicPr>
          <p:nvPr/>
        </p:nvPicPr>
        <p:blipFill>
          <a:blip r:embed="rId2"/>
          <a:stretch>
            <a:fillRect/>
          </a:stretch>
        </p:blipFill>
        <p:spPr>
          <a:xfrm>
            <a:off x="5163341" y="5257799"/>
            <a:ext cx="5936459" cy="868365"/>
          </a:xfrm>
          <a:prstGeom prst="rect">
            <a:avLst/>
          </a:prstGeom>
        </p:spPr>
      </p:pic>
    </p:spTree>
    <p:extLst>
      <p:ext uri="{BB962C8B-B14F-4D97-AF65-F5344CB8AC3E}">
        <p14:creationId xmlns:p14="http://schemas.microsoft.com/office/powerpoint/2010/main" val="315062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Array-based stack</a:t>
            </a:r>
          </a:p>
        </p:txBody>
      </p:sp>
      <p:sp>
        <p:nvSpPr>
          <p:cNvPr id="3" name="Content Placeholder 2"/>
          <p:cNvSpPr>
            <a:spLocks noGrp="1"/>
          </p:cNvSpPr>
          <p:nvPr>
            <p:ph idx="1"/>
          </p:nvPr>
        </p:nvSpPr>
        <p:spPr/>
        <p:txBody>
          <a:bodyPr>
            <a:noAutofit/>
          </a:bodyPr>
          <a:lstStyle/>
          <a:p>
            <a:r>
              <a:rPr lang="en-US" sz="2400" dirty="0"/>
              <a:t>The array storing the stack elements may become full</a:t>
            </a:r>
          </a:p>
          <a:p>
            <a:r>
              <a:rPr lang="en-US" sz="2400" dirty="0"/>
              <a:t>A push operation will then throw a </a:t>
            </a:r>
            <a:r>
              <a:rPr lang="en-US" sz="2400" dirty="0" err="1"/>
              <a:t>FullStackException</a:t>
            </a:r>
            <a:endParaRPr lang="en-US" sz="2400" dirty="0"/>
          </a:p>
          <a:p>
            <a:pPr lvl="1"/>
            <a:r>
              <a:rPr lang="en-US" sz="2400" dirty="0"/>
              <a:t>Limitation of the array-based implementation</a:t>
            </a:r>
          </a:p>
          <a:p>
            <a:r>
              <a:rPr lang="en-US" sz="2400" dirty="0"/>
              <a:t>Not intrinsic to the Stack ADT</a:t>
            </a:r>
          </a:p>
          <a:p>
            <a:r>
              <a:rPr lang="en-US" sz="2400" dirty="0"/>
              <a:t>Algorithm push(o)</a:t>
            </a:r>
          </a:p>
          <a:p>
            <a:pPr marL="0" indent="0">
              <a:buNone/>
            </a:pPr>
            <a:r>
              <a:rPr lang="en-US" sz="2400" dirty="0"/>
              <a:t>	if t = </a:t>
            </a:r>
            <a:r>
              <a:rPr lang="en-US" sz="2400" dirty="0" err="1"/>
              <a:t>S.length</a:t>
            </a:r>
            <a:r>
              <a:rPr lang="en-US" sz="2400" dirty="0"/>
              <a:t> - 1 then </a:t>
            </a:r>
          </a:p>
          <a:p>
            <a:pPr marL="0" indent="0">
              <a:buNone/>
            </a:pPr>
            <a:r>
              <a:rPr lang="en-US" sz="2400" dirty="0"/>
              <a:t>		throw </a:t>
            </a:r>
            <a:r>
              <a:rPr lang="en-US" sz="2400" dirty="0" err="1"/>
              <a:t>FullStackException</a:t>
            </a:r>
            <a:endParaRPr lang="en-US" sz="2400" dirty="0"/>
          </a:p>
          <a:p>
            <a:pPr marL="0" indent="0">
              <a:buNone/>
            </a:pPr>
            <a:r>
              <a:rPr lang="en-US" sz="2400" dirty="0"/>
              <a:t>	else</a:t>
            </a:r>
          </a:p>
          <a:p>
            <a:pPr marL="0" indent="0">
              <a:buNone/>
            </a:pPr>
            <a:r>
              <a:rPr lang="en-US" sz="2400" dirty="0"/>
              <a:t>		t = t + 1</a:t>
            </a:r>
          </a:p>
          <a:p>
            <a:pPr marL="0" indent="0">
              <a:buNone/>
            </a:pPr>
            <a:r>
              <a:rPr lang="en-US" sz="2400" dirty="0"/>
              <a:t>		S[t] = o</a:t>
            </a:r>
          </a:p>
          <a:p>
            <a:pPr marL="0" indent="0">
              <a:buNone/>
            </a:pPr>
            <a:endParaRPr lang="en-US" dirty="0"/>
          </a:p>
        </p:txBody>
      </p:sp>
      <p:pic>
        <p:nvPicPr>
          <p:cNvPr id="4" name="Picture 3">
            <a:extLst>
              <a:ext uri="{FF2B5EF4-FFF2-40B4-BE49-F238E27FC236}">
                <a16:creationId xmlns:a16="http://schemas.microsoft.com/office/drawing/2014/main" id="{DE9C52DB-1368-1540-AB9B-C5ED61C67A5D}"/>
              </a:ext>
            </a:extLst>
          </p:cNvPr>
          <p:cNvPicPr>
            <a:picLocks noChangeAspect="1"/>
          </p:cNvPicPr>
          <p:nvPr/>
        </p:nvPicPr>
        <p:blipFill>
          <a:blip r:embed="rId2"/>
          <a:stretch>
            <a:fillRect/>
          </a:stretch>
        </p:blipFill>
        <p:spPr>
          <a:xfrm>
            <a:off x="5163341" y="5257799"/>
            <a:ext cx="5936459" cy="868365"/>
          </a:xfrm>
          <a:prstGeom prst="rect">
            <a:avLst/>
          </a:prstGeom>
        </p:spPr>
      </p:pic>
    </p:spTree>
    <p:extLst>
      <p:ext uri="{BB962C8B-B14F-4D97-AF65-F5344CB8AC3E}">
        <p14:creationId xmlns:p14="http://schemas.microsoft.com/office/powerpoint/2010/main" val="4158069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FF1E3-3ADB-E545-8A08-F0FE2F8F297A}"/>
              </a:ext>
            </a:extLst>
          </p:cNvPr>
          <p:cNvSpPr>
            <a:spLocks noGrp="1"/>
          </p:cNvSpPr>
          <p:nvPr>
            <p:ph type="title"/>
          </p:nvPr>
        </p:nvSpPr>
        <p:spPr/>
        <p:txBody>
          <a:bodyPr/>
          <a:lstStyle/>
          <a:p>
            <a:r>
              <a:rPr lang="en-US" dirty="0"/>
              <a:t>Performance</a:t>
            </a:r>
          </a:p>
        </p:txBody>
      </p:sp>
      <p:sp>
        <p:nvSpPr>
          <p:cNvPr id="3" name="Content Placeholder 2">
            <a:extLst>
              <a:ext uri="{FF2B5EF4-FFF2-40B4-BE49-F238E27FC236}">
                <a16:creationId xmlns:a16="http://schemas.microsoft.com/office/drawing/2014/main" id="{9C437ABE-F6DC-9241-917B-41767213FE58}"/>
              </a:ext>
            </a:extLst>
          </p:cNvPr>
          <p:cNvSpPr>
            <a:spLocks noGrp="1"/>
          </p:cNvSpPr>
          <p:nvPr>
            <p:ph idx="1"/>
          </p:nvPr>
        </p:nvSpPr>
        <p:spPr/>
        <p:txBody>
          <a:bodyPr>
            <a:normAutofit/>
          </a:bodyPr>
          <a:lstStyle/>
          <a:p>
            <a:r>
              <a:rPr lang="en-US" sz="2400" dirty="0"/>
              <a:t>Performance</a:t>
            </a:r>
          </a:p>
          <a:p>
            <a:pPr lvl="1"/>
            <a:r>
              <a:rPr lang="en-US" sz="2400" dirty="0"/>
              <a:t>Let n be the number of elements in the stack</a:t>
            </a:r>
          </a:p>
          <a:p>
            <a:pPr lvl="1"/>
            <a:r>
              <a:rPr lang="en-US" sz="2400" dirty="0"/>
              <a:t>The space used is O(n)</a:t>
            </a:r>
          </a:p>
          <a:p>
            <a:pPr lvl="1"/>
            <a:r>
              <a:rPr lang="en-US" sz="2400" dirty="0"/>
              <a:t>Each operation runs in time O(1)</a:t>
            </a:r>
          </a:p>
          <a:p>
            <a:r>
              <a:rPr lang="en-US" sz="2400" dirty="0"/>
              <a:t>Limitations</a:t>
            </a:r>
          </a:p>
          <a:p>
            <a:pPr lvl="1"/>
            <a:r>
              <a:rPr lang="en-US" sz="2400" dirty="0"/>
              <a:t>The maximum size of the stack must be defined a priori and cannot be changed</a:t>
            </a:r>
          </a:p>
          <a:p>
            <a:pPr lvl="1"/>
            <a:r>
              <a:rPr lang="en-US" sz="2400" dirty="0"/>
              <a:t>Trying to push a new element into a full stack causes an implementation-specific exception</a:t>
            </a:r>
          </a:p>
          <a:p>
            <a:endParaRPr lang="en-US" sz="2400" dirty="0"/>
          </a:p>
        </p:txBody>
      </p:sp>
    </p:spTree>
    <p:extLst>
      <p:ext uri="{BB962C8B-B14F-4D97-AF65-F5344CB8AC3E}">
        <p14:creationId xmlns:p14="http://schemas.microsoft.com/office/powerpoint/2010/main" val="364874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941D7-F787-7B48-9676-77F6F9C1C711}"/>
              </a:ext>
            </a:extLst>
          </p:cNvPr>
          <p:cNvSpPr>
            <a:spLocks noGrp="1"/>
          </p:cNvSpPr>
          <p:nvPr>
            <p:ph type="title"/>
          </p:nvPr>
        </p:nvSpPr>
        <p:spPr/>
        <p:txBody>
          <a:bodyPr>
            <a:normAutofit/>
          </a:bodyPr>
          <a:lstStyle/>
          <a:p>
            <a:r>
              <a:rPr lang="en-US" dirty="0"/>
              <a:t>Array-based stack in Java</a:t>
            </a:r>
          </a:p>
        </p:txBody>
      </p:sp>
      <p:sp>
        <p:nvSpPr>
          <p:cNvPr id="3" name="Content Placeholder 2">
            <a:extLst>
              <a:ext uri="{FF2B5EF4-FFF2-40B4-BE49-F238E27FC236}">
                <a16:creationId xmlns:a16="http://schemas.microsoft.com/office/drawing/2014/main" id="{F571F06F-EDF5-5B41-B13B-0375BFE21934}"/>
              </a:ext>
            </a:extLst>
          </p:cNvPr>
          <p:cNvSpPr>
            <a:spLocks noGrp="1"/>
          </p:cNvSpPr>
          <p:nvPr>
            <p:ph idx="1"/>
          </p:nvPr>
        </p:nvSpPr>
        <p:spPr/>
        <p:txBody>
          <a:bodyPr>
            <a:noAutofit/>
          </a:bodyPr>
          <a:lstStyle/>
          <a:p>
            <a:pPr marL="0" indent="0">
              <a:spcBef>
                <a:spcPts val="300"/>
              </a:spcBef>
              <a:buNone/>
            </a:pPr>
            <a:r>
              <a:rPr lang="en-US" sz="2000" dirty="0">
                <a:latin typeface="Century Gothic" panose="020B0502020202020204" pitchFamily="34" charset="0"/>
              </a:rPr>
              <a:t>public class </a:t>
            </a:r>
            <a:r>
              <a:rPr lang="en-US" sz="2000" dirty="0" err="1">
                <a:latin typeface="Century Gothic" panose="020B0502020202020204" pitchFamily="34" charset="0"/>
              </a:rPr>
              <a:t>ArrayStack</a:t>
            </a:r>
            <a:r>
              <a:rPr lang="en-US" sz="2000" dirty="0">
                <a:latin typeface="Century Gothic" panose="020B0502020202020204" pitchFamily="34" charset="0"/>
              </a:rPr>
              <a:t>&lt;E&gt; implements Stack&lt;E&gt; {</a:t>
            </a:r>
          </a:p>
          <a:p>
            <a:pPr marL="0" indent="0">
              <a:spcBef>
                <a:spcPts val="300"/>
              </a:spcBef>
              <a:buNone/>
            </a:pPr>
            <a:r>
              <a:rPr lang="en-US" sz="2000" dirty="0">
                <a:latin typeface="Century Gothic" panose="020B0502020202020204" pitchFamily="34" charset="0"/>
              </a:rPr>
              <a:t>	private E S[ ]; 		// holds the stack elements</a:t>
            </a:r>
          </a:p>
          <a:p>
            <a:pPr marL="0" indent="0">
              <a:spcBef>
                <a:spcPts val="300"/>
              </a:spcBef>
              <a:buNone/>
            </a:pPr>
            <a:r>
              <a:rPr lang="en-US" sz="2000" dirty="0">
                <a:latin typeface="Century Gothic" panose="020B0502020202020204" pitchFamily="34" charset="0"/>
              </a:rPr>
              <a:t>	private </a:t>
            </a:r>
            <a:r>
              <a:rPr lang="en-US" sz="2000" dirty="0" err="1">
                <a:latin typeface="Century Gothic" panose="020B0502020202020204" pitchFamily="34" charset="0"/>
              </a:rPr>
              <a:t>int</a:t>
            </a:r>
            <a:r>
              <a:rPr lang="en-US" sz="2000" dirty="0">
                <a:latin typeface="Century Gothic" panose="020B0502020202020204" pitchFamily="34" charset="0"/>
              </a:rPr>
              <a:t> top = -1;	 // index to top element</a:t>
            </a:r>
          </a:p>
          <a:p>
            <a:pPr marL="0" indent="0">
              <a:spcBef>
                <a:spcPts val="300"/>
              </a:spcBef>
              <a:buNone/>
            </a:pPr>
            <a:r>
              <a:rPr lang="en-US" sz="2000" dirty="0">
                <a:latin typeface="Century Gothic" panose="020B0502020202020204" pitchFamily="34" charset="0"/>
              </a:rPr>
              <a:t>	public </a:t>
            </a:r>
            <a:r>
              <a:rPr lang="en-US" sz="2000" dirty="0" err="1">
                <a:latin typeface="Century Gothic" panose="020B0502020202020204" pitchFamily="34" charset="0"/>
              </a:rPr>
              <a:t>ArrayStack</a:t>
            </a:r>
            <a:r>
              <a:rPr lang="en-US" sz="2000" dirty="0">
                <a:latin typeface="Century Gothic" panose="020B0502020202020204" pitchFamily="34" charset="0"/>
              </a:rPr>
              <a:t>(</a:t>
            </a:r>
            <a:r>
              <a:rPr lang="en-US" sz="2000" dirty="0" err="1">
                <a:latin typeface="Century Gothic" panose="020B0502020202020204" pitchFamily="34" charset="0"/>
              </a:rPr>
              <a:t>int</a:t>
            </a:r>
            <a:r>
              <a:rPr lang="en-US" sz="2000" dirty="0">
                <a:latin typeface="Century Gothic" panose="020B0502020202020204" pitchFamily="34" charset="0"/>
              </a:rPr>
              <a:t> capacity) {	// constructor</a:t>
            </a:r>
          </a:p>
          <a:p>
            <a:pPr marL="0" indent="0">
              <a:spcBef>
                <a:spcPts val="300"/>
              </a:spcBef>
              <a:buNone/>
            </a:pPr>
            <a:r>
              <a:rPr lang="en-US" sz="2000" dirty="0">
                <a:latin typeface="Century Gothic" panose="020B0502020202020204" pitchFamily="34" charset="0"/>
              </a:rPr>
              <a:t>		S = (E[]) new Object[capacity]);</a:t>
            </a:r>
          </a:p>
          <a:p>
            <a:pPr marL="0" indent="0">
              <a:spcBef>
                <a:spcPts val="300"/>
              </a:spcBef>
              <a:buNone/>
            </a:pPr>
            <a:r>
              <a:rPr lang="en-US" sz="2000" dirty="0">
                <a:latin typeface="Century Gothic" panose="020B0502020202020204" pitchFamily="34" charset="0"/>
              </a:rPr>
              <a:t>	}</a:t>
            </a:r>
          </a:p>
          <a:p>
            <a:pPr marL="0" indent="0">
              <a:spcBef>
                <a:spcPts val="300"/>
              </a:spcBef>
              <a:buNone/>
            </a:pPr>
            <a:r>
              <a:rPr lang="en-US" sz="2000" dirty="0">
                <a:latin typeface="Century Gothic" panose="020B0502020202020204" pitchFamily="34" charset="0"/>
              </a:rPr>
              <a:t>	public E pop() throws </a:t>
            </a:r>
            <a:r>
              <a:rPr lang="en-US" sz="2000" dirty="0" err="1">
                <a:latin typeface="Century Gothic" panose="020B0502020202020204" pitchFamily="34" charset="0"/>
              </a:rPr>
              <a:t>EmptyStackException</a:t>
            </a:r>
            <a:r>
              <a:rPr lang="en-US" sz="2000" dirty="0">
                <a:latin typeface="Century Gothic" panose="020B0502020202020204" pitchFamily="34" charset="0"/>
              </a:rPr>
              <a:t> {</a:t>
            </a:r>
          </a:p>
          <a:p>
            <a:pPr marL="0" indent="0">
              <a:spcBef>
                <a:spcPts val="300"/>
              </a:spcBef>
              <a:buNone/>
            </a:pPr>
            <a:r>
              <a:rPr lang="en-US" sz="2000" dirty="0">
                <a:latin typeface="Century Gothic" panose="020B0502020202020204" pitchFamily="34" charset="0"/>
              </a:rPr>
              <a:t>		if </a:t>
            </a:r>
            <a:r>
              <a:rPr lang="en-US" sz="2000" dirty="0" err="1">
                <a:latin typeface="Century Gothic" panose="020B0502020202020204" pitchFamily="34" charset="0"/>
              </a:rPr>
              <a:t>isEmpty</a:t>
            </a:r>
            <a:r>
              <a:rPr lang="en-US" sz="2000" dirty="0">
                <a:latin typeface="Century Gothic" panose="020B0502020202020204" pitchFamily="34" charset="0"/>
              </a:rPr>
              <a:t>() throw new </a:t>
            </a:r>
            <a:r>
              <a:rPr lang="en-US" sz="2000" dirty="0" err="1">
                <a:latin typeface="Century Gothic" panose="020B0502020202020204" pitchFamily="34" charset="0"/>
              </a:rPr>
              <a:t>EmptyStackException</a:t>
            </a:r>
            <a:r>
              <a:rPr lang="en-US" sz="2000" dirty="0">
                <a:latin typeface="Century Gothic" panose="020B0502020202020204" pitchFamily="34" charset="0"/>
              </a:rPr>
              <a:t> (“Empty stack: no pop”);</a:t>
            </a:r>
          </a:p>
          <a:p>
            <a:pPr marL="0" indent="0">
              <a:spcBef>
                <a:spcPts val="300"/>
              </a:spcBef>
              <a:buNone/>
            </a:pPr>
            <a:r>
              <a:rPr lang="en-US" sz="2000" dirty="0">
                <a:latin typeface="Century Gothic" panose="020B0502020202020204" pitchFamily="34" charset="0"/>
              </a:rPr>
              <a:t>		E temp = S[top];</a:t>
            </a:r>
          </a:p>
          <a:p>
            <a:pPr marL="0" indent="0">
              <a:spcBef>
                <a:spcPts val="300"/>
              </a:spcBef>
              <a:buNone/>
            </a:pPr>
            <a:r>
              <a:rPr lang="en-US" sz="2000" dirty="0">
                <a:latin typeface="Century Gothic" panose="020B0502020202020204" pitchFamily="34" charset="0"/>
              </a:rPr>
              <a:t>		S[top] = null;	// facilitate garbage collection:</a:t>
            </a:r>
          </a:p>
          <a:p>
            <a:pPr marL="0" indent="0">
              <a:spcBef>
                <a:spcPts val="300"/>
              </a:spcBef>
              <a:buNone/>
            </a:pPr>
            <a:r>
              <a:rPr lang="en-US" sz="2000" dirty="0">
                <a:latin typeface="Century Gothic" panose="020B0502020202020204" pitchFamily="34" charset="0"/>
              </a:rPr>
              <a:t>		top--;	return temp;</a:t>
            </a:r>
          </a:p>
          <a:p>
            <a:pPr marL="0" indent="0">
              <a:spcBef>
                <a:spcPts val="300"/>
              </a:spcBef>
              <a:buNone/>
            </a:pPr>
            <a:r>
              <a:rPr lang="en-US" sz="2000" dirty="0">
                <a:latin typeface="Century Gothic" panose="020B0502020202020204" pitchFamily="34" charset="0"/>
              </a:rPr>
              <a:t>	}</a:t>
            </a:r>
          </a:p>
          <a:p>
            <a:pPr marL="0" indent="0">
              <a:spcBef>
                <a:spcPts val="300"/>
              </a:spcBef>
              <a:buNone/>
            </a:pPr>
            <a:r>
              <a:rPr lang="en-US" sz="2000" dirty="0">
                <a:latin typeface="Century Gothic" panose="020B0502020202020204" pitchFamily="34" charset="0"/>
              </a:rPr>
              <a:t>	//other methods of Stack interface</a:t>
            </a:r>
          </a:p>
          <a:p>
            <a:pPr marL="0" indent="0">
              <a:spcBef>
                <a:spcPts val="300"/>
              </a:spcBef>
              <a:buNone/>
            </a:pPr>
            <a:r>
              <a:rPr lang="en-US" sz="2000" dirty="0">
                <a:latin typeface="Century Gothic" panose="020B0502020202020204" pitchFamily="34" charset="0"/>
              </a:rPr>
              <a:t>}</a:t>
            </a:r>
          </a:p>
          <a:p>
            <a:pPr marL="0" indent="0">
              <a:buNone/>
            </a:pPr>
            <a:endParaRPr lang="en-US" sz="2000" dirty="0"/>
          </a:p>
          <a:p>
            <a:endParaRPr lang="en-US" sz="2000" dirty="0"/>
          </a:p>
          <a:p>
            <a:endParaRPr lang="en-US" sz="2000" dirty="0"/>
          </a:p>
        </p:txBody>
      </p:sp>
      <p:pic>
        <p:nvPicPr>
          <p:cNvPr id="4" name="Picture 3">
            <a:extLst>
              <a:ext uri="{FF2B5EF4-FFF2-40B4-BE49-F238E27FC236}">
                <a16:creationId xmlns:a16="http://schemas.microsoft.com/office/drawing/2014/main" id="{67334776-4B77-2A4A-BB6A-E0806037E531}"/>
              </a:ext>
            </a:extLst>
          </p:cNvPr>
          <p:cNvPicPr>
            <a:picLocks noChangeAspect="1"/>
          </p:cNvPicPr>
          <p:nvPr/>
        </p:nvPicPr>
        <p:blipFill>
          <a:blip r:embed="rId2"/>
          <a:stretch>
            <a:fillRect/>
          </a:stretch>
        </p:blipFill>
        <p:spPr>
          <a:xfrm>
            <a:off x="5943600" y="5562600"/>
            <a:ext cx="5936459" cy="868365"/>
          </a:xfrm>
          <a:prstGeom prst="rect">
            <a:avLst/>
          </a:prstGeom>
        </p:spPr>
      </p:pic>
    </p:spTree>
    <p:extLst>
      <p:ext uri="{BB962C8B-B14F-4D97-AF65-F5344CB8AC3E}">
        <p14:creationId xmlns:p14="http://schemas.microsoft.com/office/powerpoint/2010/main" val="2135921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D714-D539-A14D-A0C1-198A9420F1E1}"/>
              </a:ext>
            </a:extLst>
          </p:cNvPr>
          <p:cNvSpPr>
            <a:spLocks noGrp="1"/>
          </p:cNvSpPr>
          <p:nvPr>
            <p:ph type="title"/>
          </p:nvPr>
        </p:nvSpPr>
        <p:spPr/>
        <p:txBody>
          <a:bodyPr/>
          <a:lstStyle/>
          <a:p>
            <a:r>
              <a:rPr lang="en-US" dirty="0"/>
              <a:t>How to implement Stack with LinkedList</a:t>
            </a:r>
          </a:p>
        </p:txBody>
      </p:sp>
      <p:sp>
        <p:nvSpPr>
          <p:cNvPr id="3" name="Content Placeholder 2">
            <a:extLst>
              <a:ext uri="{FF2B5EF4-FFF2-40B4-BE49-F238E27FC236}">
                <a16:creationId xmlns:a16="http://schemas.microsoft.com/office/drawing/2014/main" id="{3512800A-883E-5A48-A22F-BF93840275EC}"/>
              </a:ext>
            </a:extLst>
          </p:cNvPr>
          <p:cNvSpPr>
            <a:spLocks noGrp="1"/>
          </p:cNvSpPr>
          <p:nvPr>
            <p:ph idx="1"/>
          </p:nvPr>
        </p:nvSpPr>
        <p:spPr/>
        <p:txBody>
          <a:bodyPr/>
          <a:lstStyle/>
          <a:p>
            <a:r>
              <a:rPr lang="en-US" dirty="0"/>
              <a:t>push()</a:t>
            </a:r>
          </a:p>
          <a:p>
            <a:r>
              <a:rPr lang="en-US" dirty="0"/>
              <a:t>pop()</a:t>
            </a:r>
          </a:p>
        </p:txBody>
      </p:sp>
    </p:spTree>
    <p:extLst>
      <p:ext uri="{BB962C8B-B14F-4D97-AF65-F5344CB8AC3E}">
        <p14:creationId xmlns:p14="http://schemas.microsoft.com/office/powerpoint/2010/main" val="2883335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5FAFA-4610-A84E-963F-19BE4E6B6751}"/>
              </a:ext>
            </a:extLst>
          </p:cNvPr>
          <p:cNvSpPr>
            <a:spLocks noGrp="1"/>
          </p:cNvSpPr>
          <p:nvPr>
            <p:ph type="title"/>
          </p:nvPr>
        </p:nvSpPr>
        <p:spPr/>
        <p:txBody>
          <a:bodyPr>
            <a:normAutofit/>
          </a:bodyPr>
          <a:lstStyle/>
          <a:p>
            <a:r>
              <a:rPr lang="en-US" dirty="0"/>
              <a:t>Example use in Java</a:t>
            </a:r>
          </a:p>
        </p:txBody>
      </p:sp>
      <p:sp>
        <p:nvSpPr>
          <p:cNvPr id="3" name="Content Placeholder 2">
            <a:extLst>
              <a:ext uri="{FF2B5EF4-FFF2-40B4-BE49-F238E27FC236}">
                <a16:creationId xmlns:a16="http://schemas.microsoft.com/office/drawing/2014/main" id="{17EACAD4-0287-3E45-852F-7980B0343BDD}"/>
              </a:ext>
            </a:extLst>
          </p:cNvPr>
          <p:cNvSpPr>
            <a:spLocks noGrp="1"/>
          </p:cNvSpPr>
          <p:nvPr>
            <p:ph idx="1"/>
          </p:nvPr>
        </p:nvSpPr>
        <p:spPr/>
        <p:txBody>
          <a:bodyPr>
            <a:normAutofit fontScale="70000" lnSpcReduction="20000"/>
          </a:bodyPr>
          <a:lstStyle/>
          <a:p>
            <a:pPr marL="0" indent="0">
              <a:buNone/>
            </a:pPr>
            <a:r>
              <a:rPr lang="en-US" dirty="0">
                <a:latin typeface="Century Gothic" panose="020B0502020202020204" pitchFamily="34" charset="0"/>
              </a:rPr>
              <a:t>public class Test {</a:t>
            </a:r>
          </a:p>
          <a:p>
            <a:pPr marL="0" indent="0">
              <a:buNone/>
            </a:pPr>
            <a:r>
              <a:rPr lang="en-US" dirty="0">
                <a:latin typeface="Century Gothic" panose="020B0502020202020204" pitchFamily="34" charset="0"/>
              </a:rPr>
              <a:t>	// … other methods</a:t>
            </a:r>
          </a:p>
          <a:p>
            <a:pPr marL="0" indent="0">
              <a:buNone/>
            </a:pPr>
            <a:r>
              <a:rPr lang="en-US" dirty="0">
                <a:latin typeface="Century Gothic" panose="020B0502020202020204" pitchFamily="34" charset="0"/>
              </a:rPr>
              <a:t>	public </a:t>
            </a:r>
            <a:r>
              <a:rPr lang="en-US" dirty="0" err="1">
                <a:latin typeface="Century Gothic" panose="020B0502020202020204" pitchFamily="34" charset="0"/>
              </a:rPr>
              <a:t>intReverse</a:t>
            </a:r>
            <a:r>
              <a:rPr lang="en-US" dirty="0">
                <a:latin typeface="Century Gothic" panose="020B0502020202020204" pitchFamily="34" charset="0"/>
              </a:rPr>
              <a:t>(Integer a[]) {</a:t>
            </a:r>
          </a:p>
          <a:p>
            <a:pPr marL="0" indent="0">
              <a:buNone/>
            </a:pPr>
            <a:r>
              <a:rPr lang="en-US" dirty="0">
                <a:latin typeface="Century Gothic" panose="020B0502020202020204" pitchFamily="34" charset="0"/>
              </a:rPr>
              <a:t>		Stack&lt;Integer&gt; s;</a:t>
            </a:r>
          </a:p>
          <a:p>
            <a:pPr marL="0" indent="0">
              <a:buNone/>
            </a:pPr>
            <a:r>
              <a:rPr lang="en-US" dirty="0">
                <a:latin typeface="Century Gothic" panose="020B0502020202020204" pitchFamily="34" charset="0"/>
              </a:rPr>
              <a:t>		s = new </a:t>
            </a:r>
            <a:r>
              <a:rPr lang="en-US" dirty="0" err="1">
                <a:latin typeface="Century Gothic" panose="020B0502020202020204" pitchFamily="34" charset="0"/>
              </a:rPr>
              <a:t>ArrayStack</a:t>
            </a:r>
            <a:r>
              <a:rPr lang="en-US" dirty="0">
                <a:latin typeface="Century Gothic" panose="020B0502020202020204" pitchFamily="34" charset="0"/>
              </a:rPr>
              <a:t>&lt;Integer&gt;();</a:t>
            </a:r>
          </a:p>
          <a:p>
            <a:pPr marL="0" indent="0">
              <a:buNone/>
            </a:pPr>
            <a:r>
              <a:rPr lang="en-US" dirty="0">
                <a:latin typeface="Century Gothic" panose="020B0502020202020204" pitchFamily="34" charset="0"/>
              </a:rPr>
              <a:t>		… (code to reverse array a) …</a:t>
            </a:r>
          </a:p>
          <a:p>
            <a:pPr marL="0" indent="0">
              <a:buNone/>
            </a:pPr>
            <a:r>
              <a:rPr lang="en-US" dirty="0">
                <a:latin typeface="Century Gothic" panose="020B0502020202020204" pitchFamily="34" charset="0"/>
              </a:rPr>
              <a:t>	}</a:t>
            </a:r>
          </a:p>
          <a:p>
            <a:pPr marL="0" indent="0">
              <a:buNone/>
            </a:pPr>
            <a:r>
              <a:rPr lang="en-US" dirty="0">
                <a:latin typeface="Century Gothic" panose="020B0502020202020204" pitchFamily="34" charset="0"/>
              </a:rPr>
              <a:t>	public </a:t>
            </a:r>
            <a:r>
              <a:rPr lang="en-US" dirty="0" err="1">
                <a:latin typeface="Century Gothic" panose="020B0502020202020204" pitchFamily="34" charset="0"/>
              </a:rPr>
              <a:t>floatReverse</a:t>
            </a:r>
            <a:r>
              <a:rPr lang="en-US" dirty="0">
                <a:latin typeface="Century Gothic" panose="020B0502020202020204" pitchFamily="34" charset="0"/>
              </a:rPr>
              <a:t>(Float f[]) {</a:t>
            </a:r>
          </a:p>
          <a:p>
            <a:pPr marL="0" indent="0">
              <a:buNone/>
            </a:pPr>
            <a:r>
              <a:rPr lang="en-US" dirty="0">
                <a:latin typeface="Century Gothic" panose="020B0502020202020204" pitchFamily="34" charset="0"/>
              </a:rPr>
              <a:t>		Stack&lt;Float&gt; s;</a:t>
            </a:r>
          </a:p>
          <a:p>
            <a:pPr marL="0" indent="0">
              <a:buNone/>
            </a:pPr>
            <a:r>
              <a:rPr lang="en-US" dirty="0">
                <a:latin typeface="Century Gothic" panose="020B0502020202020204" pitchFamily="34" charset="0"/>
              </a:rPr>
              <a:t>		s = new </a:t>
            </a:r>
            <a:r>
              <a:rPr lang="en-US" dirty="0" err="1">
                <a:latin typeface="Century Gothic" panose="020B0502020202020204" pitchFamily="34" charset="0"/>
              </a:rPr>
              <a:t>ArrayStack</a:t>
            </a:r>
            <a:r>
              <a:rPr lang="en-US" dirty="0">
                <a:latin typeface="Century Gothic" panose="020B0502020202020204" pitchFamily="34" charset="0"/>
              </a:rPr>
              <a:t>&lt;Float&gt;();</a:t>
            </a:r>
          </a:p>
          <a:p>
            <a:pPr marL="0" indent="0">
              <a:buNone/>
            </a:pPr>
            <a:r>
              <a:rPr lang="en-US" dirty="0">
                <a:latin typeface="Century Gothic" panose="020B0502020202020204" pitchFamily="34" charset="0"/>
              </a:rPr>
              <a:t>		… (code to reverse array f) …</a:t>
            </a:r>
          </a:p>
          <a:p>
            <a:pPr marL="0" indent="0">
              <a:buNone/>
            </a:pPr>
            <a:r>
              <a:rPr lang="en-US" dirty="0">
                <a:latin typeface="Century Gothic" panose="020B0502020202020204" pitchFamily="34" charset="0"/>
              </a:rPr>
              <a:t>	}</a:t>
            </a:r>
          </a:p>
          <a:p>
            <a:pPr marL="0" indent="0">
              <a:buNone/>
            </a:pPr>
            <a:r>
              <a:rPr lang="en-US" dirty="0">
                <a:latin typeface="Century Gothic" panose="020B0502020202020204" pitchFamily="34" charset="0"/>
              </a:rPr>
              <a:t>}</a:t>
            </a:r>
          </a:p>
          <a:p>
            <a:pPr marL="0" indent="0">
              <a:buNone/>
            </a:pPr>
            <a:endParaRPr lang="en-US" dirty="0">
              <a:latin typeface="Century Gothic" panose="020B0502020202020204" pitchFamily="34" charset="0"/>
            </a:endParaRPr>
          </a:p>
        </p:txBody>
      </p:sp>
    </p:spTree>
    <p:extLst>
      <p:ext uri="{BB962C8B-B14F-4D97-AF65-F5344CB8AC3E}">
        <p14:creationId xmlns:p14="http://schemas.microsoft.com/office/powerpoint/2010/main" val="2244542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parenthesis matching</a:t>
            </a:r>
          </a:p>
        </p:txBody>
      </p:sp>
      <p:sp>
        <p:nvSpPr>
          <p:cNvPr id="3" name="Content Placeholder 2"/>
          <p:cNvSpPr>
            <a:spLocks noGrp="1"/>
          </p:cNvSpPr>
          <p:nvPr>
            <p:ph idx="1"/>
          </p:nvPr>
        </p:nvSpPr>
        <p:spPr>
          <a:xfrm>
            <a:off x="609600" y="1600201"/>
            <a:ext cx="10972800" cy="4525963"/>
          </a:xfrm>
        </p:spPr>
        <p:txBody>
          <a:bodyPr>
            <a:noAutofit/>
          </a:bodyPr>
          <a:lstStyle/>
          <a:p>
            <a:r>
              <a:rPr lang="en-US" sz="2400" dirty="0"/>
              <a:t>Each “(”, “{”, or “[” must be paired with a matching “)”, “}”, or “]”</a:t>
            </a:r>
          </a:p>
          <a:p>
            <a:r>
              <a:rPr lang="en-US" sz="2400" dirty="0"/>
              <a:t>correct: ( )(( )){([( )])}</a:t>
            </a:r>
          </a:p>
          <a:p>
            <a:r>
              <a:rPr lang="en-US" sz="2400" dirty="0"/>
              <a:t>correct: ((( )(( )){([( )])}</a:t>
            </a:r>
          </a:p>
          <a:p>
            <a:r>
              <a:rPr lang="en-US" sz="2400" dirty="0"/>
              <a:t>incorrect: )(( )){([( )])}</a:t>
            </a:r>
          </a:p>
          <a:p>
            <a:r>
              <a:rPr lang="en-US" sz="2400" dirty="0"/>
              <a:t>incorrect: ({[ ])}</a:t>
            </a:r>
          </a:p>
          <a:p>
            <a:r>
              <a:rPr lang="en-US" sz="2400" dirty="0"/>
              <a:t>incorrect: (</a:t>
            </a:r>
          </a:p>
          <a:p>
            <a:endParaRPr lang="en-US" sz="2400" dirty="0"/>
          </a:p>
          <a:p>
            <a:r>
              <a:rPr lang="en-US" sz="2400" dirty="0"/>
              <a:t>Consider () only first</a:t>
            </a:r>
          </a:p>
          <a:p>
            <a:pPr marL="0" indent="0">
              <a:buNone/>
            </a:pPr>
            <a:r>
              <a:rPr lang="en-US" sz="2400" dirty="0"/>
              <a:t>   3+(4/6). Good</a:t>
            </a:r>
          </a:p>
          <a:p>
            <a:pPr marL="0" indent="0">
              <a:buNone/>
            </a:pPr>
            <a:r>
              <a:rPr lang="en-US" sz="2400" dirty="0"/>
              <a:t>   3+(4/6)+10). Bad</a:t>
            </a:r>
          </a:p>
          <a:p>
            <a:pPr marL="0" indent="0">
              <a:buNone/>
            </a:pPr>
            <a:endParaRPr lang="en-US" sz="2400" dirty="0"/>
          </a:p>
        </p:txBody>
      </p:sp>
    </p:spTree>
    <p:extLst>
      <p:ext uri="{BB962C8B-B14F-4D97-AF65-F5344CB8AC3E}">
        <p14:creationId xmlns:p14="http://schemas.microsoft.com/office/powerpoint/2010/main" val="2250910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DA1B-863D-1B46-8DDA-66E4F6339383}"/>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4C263DAB-E5B9-DE49-B9E6-93549F8855ED}"/>
              </a:ext>
            </a:extLst>
          </p:cNvPr>
          <p:cNvSpPr>
            <a:spLocks noGrp="1"/>
          </p:cNvSpPr>
          <p:nvPr>
            <p:ph idx="1"/>
          </p:nvPr>
        </p:nvSpPr>
        <p:spPr>
          <a:xfrm>
            <a:off x="609599" y="1600201"/>
            <a:ext cx="4016377" cy="4038599"/>
          </a:xfrm>
        </p:spPr>
        <p:txBody>
          <a:bodyPr>
            <a:noAutofit/>
          </a:bodyPr>
          <a:lstStyle/>
          <a:p>
            <a:pPr marL="0" indent="0">
              <a:buNone/>
            </a:pPr>
            <a:r>
              <a:rPr lang="en-US" sz="2400" dirty="0"/>
              <a:t>Suppose you have three nonempty stacks R, S, and T that store integers. Implement a method that will add all elements in T to S in their original order. However, after the method call, all elements in R and T should appear unchanged.</a:t>
            </a:r>
          </a:p>
          <a:p>
            <a:pPr marL="0" indent="0">
              <a:buNone/>
            </a:pPr>
            <a:endParaRPr lang="en-US" sz="2400" dirty="0"/>
          </a:p>
        </p:txBody>
      </p:sp>
      <p:pic>
        <p:nvPicPr>
          <p:cNvPr id="5" name="Picture 4">
            <a:extLst>
              <a:ext uri="{FF2B5EF4-FFF2-40B4-BE49-F238E27FC236}">
                <a16:creationId xmlns:a16="http://schemas.microsoft.com/office/drawing/2014/main" id="{7B8B18AF-CA63-024B-8C59-03E298309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5977" y="1676400"/>
            <a:ext cx="6949496" cy="4294765"/>
          </a:xfrm>
          <a:prstGeom prst="rect">
            <a:avLst/>
          </a:prstGeom>
        </p:spPr>
      </p:pic>
    </p:spTree>
    <p:extLst>
      <p:ext uri="{BB962C8B-B14F-4D97-AF65-F5344CB8AC3E}">
        <p14:creationId xmlns:p14="http://schemas.microsoft.com/office/powerpoint/2010/main" val="3625819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e Placeholder 2"/>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solidFill>
                  <a:srgbClr val="C00000"/>
                </a:solidFill>
              </a:rPr>
              <a:t>© 2014 Goodrich, Tamassia, Goldwasser</a:t>
            </a:r>
            <a:endParaRPr lang="en-US" sz="1400" dirty="0">
              <a:solidFill>
                <a:srgbClr val="C00000"/>
              </a:solidFill>
            </a:endParaRPr>
          </a:p>
        </p:txBody>
      </p:sp>
      <p:sp>
        <p:nvSpPr>
          <p:cNvPr id="27651" name="Footer Placeholder 3"/>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Stacks</a:t>
            </a:r>
          </a:p>
        </p:txBody>
      </p:sp>
      <p:sp>
        <p:nvSpPr>
          <p:cNvPr id="27652" name="Slide Number Placeholder 4"/>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A3FE08E9-9CE1-C646-85D4-43F57A6D15EE}" type="slidenum">
              <a:rPr lang="en-US" sz="1400"/>
              <a:pPr eaLnBrk="1" hangingPunct="1"/>
              <a:t>20</a:t>
            </a:fld>
            <a:endParaRPr lang="en-US" sz="1400"/>
          </a:p>
        </p:txBody>
      </p:sp>
      <p:sp>
        <p:nvSpPr>
          <p:cNvPr id="99330" name="Rectangle 2"/>
          <p:cNvSpPr>
            <a:spLocks noGrp="1" noChangeArrowheads="1"/>
          </p:cNvSpPr>
          <p:nvPr>
            <p:ph type="title"/>
          </p:nvPr>
        </p:nvSpPr>
        <p:spPr/>
        <p:txBody>
          <a:bodyPr>
            <a:normAutofit fontScale="90000"/>
          </a:bodyPr>
          <a:lstStyle/>
          <a:p>
            <a:pPr>
              <a:defRPr/>
            </a:pPr>
            <a:r>
              <a:rPr lang="en-US" dirty="0">
                <a:ea typeface="+mj-ea"/>
              </a:rPr>
              <a:t>Evaluating Arithmetic </a:t>
            </a:r>
            <a:br>
              <a:rPr lang="en-US" dirty="0">
                <a:ea typeface="+mj-ea"/>
              </a:rPr>
            </a:br>
            <a:r>
              <a:rPr lang="en-US" dirty="0">
                <a:ea typeface="+mj-ea"/>
              </a:rPr>
              <a:t>Expressions</a:t>
            </a:r>
          </a:p>
        </p:txBody>
      </p:sp>
      <p:sp>
        <p:nvSpPr>
          <p:cNvPr id="27654" name="Rectangle 3"/>
          <p:cNvSpPr>
            <a:spLocks noChangeArrowheads="1"/>
          </p:cNvSpPr>
          <p:nvPr/>
        </p:nvSpPr>
        <p:spPr bwMode="auto">
          <a:xfrm>
            <a:off x="2209800" y="1752600"/>
            <a:ext cx="3291286"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t>14 – 3 * 2 + 7 = (14 – (3 * 2) ) + 7 </a:t>
            </a:r>
          </a:p>
        </p:txBody>
      </p:sp>
      <p:sp>
        <p:nvSpPr>
          <p:cNvPr id="27655" name="Rectangle 4"/>
          <p:cNvSpPr>
            <a:spLocks noChangeArrowheads="1"/>
          </p:cNvSpPr>
          <p:nvPr/>
        </p:nvSpPr>
        <p:spPr bwMode="auto">
          <a:xfrm>
            <a:off x="2209800" y="2195514"/>
            <a:ext cx="7924800" cy="2031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solidFill>
                  <a:srgbClr val="C00000"/>
                </a:solidFill>
              </a:rPr>
              <a:t>Operator precedence</a:t>
            </a:r>
            <a:endParaRPr lang="en-US"/>
          </a:p>
          <a:p>
            <a:r>
              <a:rPr lang="en-US"/>
              <a:t>	 * has precedence over +/–</a:t>
            </a:r>
          </a:p>
          <a:p>
            <a:endParaRPr lang="en-US"/>
          </a:p>
          <a:p>
            <a:r>
              <a:rPr lang="en-US">
                <a:solidFill>
                  <a:srgbClr val="C00000"/>
                </a:solidFill>
              </a:rPr>
              <a:t>Associativity</a:t>
            </a:r>
          </a:p>
          <a:p>
            <a:r>
              <a:rPr lang="en-US"/>
              <a:t>	operators of the same precedence group</a:t>
            </a:r>
          </a:p>
          <a:p>
            <a:r>
              <a:rPr lang="en-US"/>
              <a:t>	evaluated from left to right</a:t>
            </a:r>
          </a:p>
          <a:p>
            <a:r>
              <a:rPr lang="en-US"/>
              <a:t>	Example: (x – y) + z rather than x – (y + z)</a:t>
            </a:r>
          </a:p>
        </p:txBody>
      </p:sp>
      <p:sp>
        <p:nvSpPr>
          <p:cNvPr id="27656" name="Rectangle 5"/>
          <p:cNvSpPr>
            <a:spLocks noChangeArrowheads="1"/>
          </p:cNvSpPr>
          <p:nvPr/>
        </p:nvSpPr>
        <p:spPr bwMode="auto">
          <a:xfrm>
            <a:off x="2209800" y="5048251"/>
            <a:ext cx="7924800"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solidFill>
                  <a:srgbClr val="C00000"/>
                </a:solidFill>
              </a:rPr>
              <a:t>Idea:</a:t>
            </a:r>
            <a:r>
              <a:rPr lang="en-US" b="1"/>
              <a:t> </a:t>
            </a:r>
            <a:r>
              <a:rPr lang="en-US"/>
              <a:t>push each operator on the stack, but first pop and perform higher and </a:t>
            </a:r>
            <a:r>
              <a:rPr lang="en-US" i="1"/>
              <a:t>equal </a:t>
            </a:r>
            <a:r>
              <a:rPr lang="en-US"/>
              <a:t>precedence operations.</a:t>
            </a:r>
          </a:p>
        </p:txBody>
      </p:sp>
      <p:sp>
        <p:nvSpPr>
          <p:cNvPr id="9" name="TextBox 8"/>
          <p:cNvSpPr txBox="1">
            <a:spLocks noChangeArrowheads="1"/>
          </p:cNvSpPr>
          <p:nvPr/>
        </p:nvSpPr>
        <p:spPr bwMode="auto">
          <a:xfrm>
            <a:off x="7467600" y="228601"/>
            <a:ext cx="2819400" cy="646113"/>
          </a:xfrm>
          <a:prstGeom prst="rect">
            <a:avLst/>
          </a:prstGeom>
          <a:gradFill rotWithShape="1">
            <a:gsLst>
              <a:gs pos="0">
                <a:srgbClr val="BDBDBD"/>
              </a:gs>
              <a:gs pos="80000">
                <a:srgbClr val="F7F7F7"/>
              </a:gs>
              <a:gs pos="100000">
                <a:srgbClr val="F8F8F8"/>
              </a:gs>
            </a:gsLst>
            <a:lin ang="16200000"/>
          </a:gradFill>
          <a:ln w="9525">
            <a:solidFill>
              <a:srgbClr val="F9F9F9"/>
            </a:solidFill>
            <a:miter lim="800000"/>
            <a:headEnd/>
            <a:tailEnd/>
          </a:ln>
          <a:effectLst>
            <a:outerShdw blurRad="63500" dist="23000" dir="5400000" rotWithShape="0">
              <a:srgbClr val="000000">
                <a:alpha val="34999"/>
              </a:srgbClr>
            </a:outerShdw>
          </a:effectLst>
        </p:spPr>
        <p:txBody>
          <a:bodyPr>
            <a:spAutoFit/>
          </a:bodyPr>
          <a:lstStyle/>
          <a:p>
            <a:pPr>
              <a:defRPr/>
            </a:pPr>
            <a:r>
              <a:rPr lang="en-US" dirty="0">
                <a:solidFill>
                  <a:schemeClr val="tx2"/>
                </a:solidFill>
              </a:rPr>
              <a:t>Slide by Matt Stallmann included with permission.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normAutofit fontScale="90000"/>
          </a:bodyPr>
          <a:lstStyle/>
          <a:p>
            <a:pPr>
              <a:defRPr/>
            </a:pPr>
            <a:r>
              <a:rPr lang="en-US" dirty="0">
                <a:ea typeface="+mj-ea"/>
              </a:rPr>
              <a:t>Algorithm for </a:t>
            </a:r>
            <a:br>
              <a:rPr lang="en-US" dirty="0">
                <a:ea typeface="+mj-ea"/>
              </a:rPr>
            </a:br>
            <a:r>
              <a:rPr lang="en-US" dirty="0">
                <a:ea typeface="+mj-ea"/>
              </a:rPr>
              <a:t>Evaluating Expressions</a:t>
            </a:r>
          </a:p>
        </p:txBody>
      </p:sp>
      <p:sp>
        <p:nvSpPr>
          <p:cNvPr id="7" name="Content Placeholder 6"/>
          <p:cNvSpPr>
            <a:spLocks noGrp="1"/>
          </p:cNvSpPr>
          <p:nvPr>
            <p:ph idx="1"/>
          </p:nvPr>
        </p:nvSpPr>
        <p:spPr>
          <a:xfrm>
            <a:off x="2286000" y="1600200"/>
            <a:ext cx="7848600" cy="4724400"/>
          </a:xfrm>
          <a:ln>
            <a:miter lim="800000"/>
            <a:headEnd/>
            <a:tailEnd/>
          </a:ln>
        </p:spPr>
        <p:txBody>
          <a:bodyPr numCol="2">
            <a:normAutofit fontScale="55000" lnSpcReduction="20000"/>
          </a:bodyPr>
          <a:lstStyle/>
          <a:p>
            <a:pPr>
              <a:lnSpc>
                <a:spcPct val="120000"/>
              </a:lnSpc>
              <a:buFont typeface="Wingdings" pitchFamily="2" charset="2"/>
              <a:buNone/>
              <a:defRPr/>
            </a:pPr>
            <a:r>
              <a:rPr lang="en-US" dirty="0">
                <a:ea typeface="+mn-ea"/>
              </a:rPr>
              <a:t>Two stacks:</a:t>
            </a:r>
          </a:p>
          <a:p>
            <a:pPr>
              <a:lnSpc>
                <a:spcPct val="120000"/>
              </a:lnSpc>
              <a:defRPr/>
            </a:pPr>
            <a:r>
              <a:rPr lang="en-US" dirty="0">
                <a:ea typeface="+mn-ea"/>
              </a:rPr>
              <a:t> </a:t>
            </a:r>
            <a:r>
              <a:rPr lang="en-US" dirty="0" err="1">
                <a:ea typeface="+mn-ea"/>
              </a:rPr>
              <a:t>opStk</a:t>
            </a:r>
            <a:r>
              <a:rPr lang="en-US" dirty="0">
                <a:ea typeface="+mn-ea"/>
              </a:rPr>
              <a:t> holds operators</a:t>
            </a:r>
          </a:p>
          <a:p>
            <a:pPr>
              <a:lnSpc>
                <a:spcPct val="120000"/>
              </a:lnSpc>
              <a:defRPr/>
            </a:pPr>
            <a:r>
              <a:rPr lang="en-US" dirty="0">
                <a:ea typeface="+mn-ea"/>
              </a:rPr>
              <a:t> </a:t>
            </a:r>
            <a:r>
              <a:rPr lang="en-US" dirty="0" err="1">
                <a:ea typeface="+mn-ea"/>
              </a:rPr>
              <a:t>valStk</a:t>
            </a:r>
            <a:r>
              <a:rPr lang="en-US" dirty="0">
                <a:ea typeface="+mn-ea"/>
              </a:rPr>
              <a:t> holds values</a:t>
            </a:r>
          </a:p>
          <a:p>
            <a:pPr>
              <a:lnSpc>
                <a:spcPct val="120000"/>
              </a:lnSpc>
              <a:defRPr/>
            </a:pPr>
            <a:r>
              <a:rPr lang="en-US" dirty="0">
                <a:ea typeface="+mn-ea"/>
              </a:rPr>
              <a:t>Use $ as special  “end of input” token with lowest precedence</a:t>
            </a:r>
          </a:p>
          <a:p>
            <a:pPr>
              <a:lnSpc>
                <a:spcPct val="120000"/>
              </a:lnSpc>
              <a:buFont typeface="Wingdings" pitchFamily="2" charset="2"/>
              <a:buNone/>
              <a:defRPr/>
            </a:pPr>
            <a:r>
              <a:rPr lang="en-US" dirty="0">
                <a:ea typeface="+mn-ea"/>
              </a:rPr>
              <a:t>Algorithm </a:t>
            </a:r>
            <a:r>
              <a:rPr lang="en-US" dirty="0" err="1">
                <a:solidFill>
                  <a:srgbClr val="C00000"/>
                </a:solidFill>
                <a:ea typeface="+mn-ea"/>
              </a:rPr>
              <a:t>doOp</a:t>
            </a:r>
            <a:r>
              <a:rPr lang="en-US" dirty="0">
                <a:solidFill>
                  <a:srgbClr val="C00000"/>
                </a:solidFill>
                <a:ea typeface="+mn-ea"/>
              </a:rPr>
              <a:t>()</a:t>
            </a:r>
            <a:r>
              <a:rPr lang="en-US" b="1" i="1" dirty="0">
                <a:ea typeface="+mn-ea"/>
              </a:rPr>
              <a:t> </a:t>
            </a:r>
          </a:p>
          <a:p>
            <a:pPr lvl="1">
              <a:lnSpc>
                <a:spcPct val="120000"/>
              </a:lnSpc>
              <a:buFont typeface="Wingdings" pitchFamily="2" charset="2"/>
              <a:buNone/>
              <a:defRPr/>
            </a:pPr>
            <a:r>
              <a:rPr lang="en-US" dirty="0">
                <a:solidFill>
                  <a:srgbClr val="000000"/>
                </a:solidFill>
                <a:latin typeface="Helvetica" pitchFamily="1" charset="0"/>
              </a:rPr>
              <a:t>x </a:t>
            </a:r>
            <a:r>
              <a:rPr lang="en-US" dirty="0">
                <a:solidFill>
                  <a:srgbClr val="000000"/>
                </a:solidFill>
                <a:latin typeface="Times New Roman" pitchFamily="18" charset="0"/>
                <a:sym typeface="Symbol" pitchFamily="18" charset="2"/>
              </a:rPr>
              <a:t></a:t>
            </a:r>
            <a:r>
              <a:rPr lang="en-US" dirty="0">
                <a:solidFill>
                  <a:srgbClr val="000000"/>
                </a:solidFill>
                <a:latin typeface="Helvetica" pitchFamily="1" charset="0"/>
              </a:rPr>
              <a:t> valStk.pop();</a:t>
            </a:r>
          </a:p>
          <a:p>
            <a:pPr lvl="1">
              <a:lnSpc>
                <a:spcPct val="120000"/>
              </a:lnSpc>
              <a:buFont typeface="Wingdings" pitchFamily="2" charset="2"/>
              <a:buNone/>
              <a:defRPr/>
            </a:pPr>
            <a:r>
              <a:rPr lang="en-US" dirty="0">
                <a:solidFill>
                  <a:srgbClr val="000000"/>
                </a:solidFill>
                <a:latin typeface="Helvetica" pitchFamily="1" charset="0"/>
              </a:rPr>
              <a:t>y </a:t>
            </a:r>
            <a:r>
              <a:rPr lang="en-US" dirty="0">
                <a:solidFill>
                  <a:srgbClr val="000000"/>
                </a:solidFill>
                <a:latin typeface="Times New Roman" pitchFamily="18" charset="0"/>
                <a:sym typeface="Symbol" pitchFamily="18" charset="2"/>
              </a:rPr>
              <a:t></a:t>
            </a:r>
            <a:r>
              <a:rPr lang="en-US" dirty="0">
                <a:solidFill>
                  <a:srgbClr val="000000"/>
                </a:solidFill>
                <a:latin typeface="Helvetica" pitchFamily="1" charset="0"/>
              </a:rPr>
              <a:t> valStk.pop();</a:t>
            </a:r>
          </a:p>
          <a:p>
            <a:pPr lvl="1">
              <a:lnSpc>
                <a:spcPct val="120000"/>
              </a:lnSpc>
              <a:buFont typeface="Wingdings" pitchFamily="2" charset="2"/>
              <a:buNone/>
              <a:defRPr/>
            </a:pPr>
            <a:r>
              <a:rPr lang="en-US" b="1" dirty="0">
                <a:solidFill>
                  <a:srgbClr val="000000"/>
                </a:solidFill>
                <a:latin typeface="Helvetica" pitchFamily="1" charset="0"/>
              </a:rPr>
              <a:t>op</a:t>
            </a:r>
            <a:r>
              <a:rPr lang="en-US" dirty="0">
                <a:solidFill>
                  <a:srgbClr val="000000"/>
                </a:solidFill>
                <a:latin typeface="Helvetica" pitchFamily="1" charset="0"/>
              </a:rPr>
              <a:t> </a:t>
            </a:r>
            <a:r>
              <a:rPr lang="en-US" dirty="0">
                <a:solidFill>
                  <a:srgbClr val="000000"/>
                </a:solidFill>
                <a:latin typeface="Times New Roman" pitchFamily="18" charset="0"/>
                <a:sym typeface="Symbol" pitchFamily="18" charset="2"/>
              </a:rPr>
              <a:t></a:t>
            </a:r>
            <a:r>
              <a:rPr lang="en-US" dirty="0">
                <a:solidFill>
                  <a:srgbClr val="000000"/>
                </a:solidFill>
                <a:latin typeface="Helvetica" pitchFamily="1" charset="0"/>
              </a:rPr>
              <a:t> opStk.pop();</a:t>
            </a:r>
          </a:p>
          <a:p>
            <a:pPr lvl="1">
              <a:lnSpc>
                <a:spcPct val="120000"/>
              </a:lnSpc>
              <a:buFont typeface="Wingdings" pitchFamily="2" charset="2"/>
              <a:buNone/>
              <a:defRPr/>
            </a:pPr>
            <a:r>
              <a:rPr lang="en-US" dirty="0" err="1">
                <a:solidFill>
                  <a:srgbClr val="000000"/>
                </a:solidFill>
                <a:latin typeface="Helvetica" pitchFamily="1" charset="0"/>
              </a:rPr>
              <a:t>valStk.push</a:t>
            </a:r>
            <a:r>
              <a:rPr lang="en-US" dirty="0">
                <a:solidFill>
                  <a:srgbClr val="000000"/>
                </a:solidFill>
              </a:rPr>
              <a:t>( y </a:t>
            </a:r>
            <a:r>
              <a:rPr lang="en-US" b="1" dirty="0">
                <a:solidFill>
                  <a:srgbClr val="000000"/>
                </a:solidFill>
              </a:rPr>
              <a:t>op</a:t>
            </a:r>
            <a:r>
              <a:rPr lang="en-US" dirty="0">
                <a:solidFill>
                  <a:srgbClr val="000000"/>
                </a:solidFill>
              </a:rPr>
              <a:t> x )</a:t>
            </a:r>
          </a:p>
          <a:p>
            <a:pPr>
              <a:lnSpc>
                <a:spcPct val="120000"/>
              </a:lnSpc>
              <a:buFont typeface="Wingdings" pitchFamily="2" charset="2"/>
              <a:buNone/>
              <a:defRPr/>
            </a:pPr>
            <a:r>
              <a:rPr lang="en-US" dirty="0">
                <a:ea typeface="+mn-ea"/>
              </a:rPr>
              <a:t>Algorithm </a:t>
            </a:r>
            <a:r>
              <a:rPr lang="en-US" dirty="0" err="1">
                <a:solidFill>
                  <a:srgbClr val="C00000"/>
                </a:solidFill>
                <a:ea typeface="+mn-ea"/>
              </a:rPr>
              <a:t>repeatOps</a:t>
            </a:r>
            <a:r>
              <a:rPr lang="en-US" dirty="0">
                <a:solidFill>
                  <a:srgbClr val="000000"/>
                </a:solidFill>
                <a:ea typeface="+mn-ea"/>
              </a:rPr>
              <a:t>( </a:t>
            </a:r>
            <a:r>
              <a:rPr lang="en-US" dirty="0" err="1">
                <a:solidFill>
                  <a:srgbClr val="000000"/>
                </a:solidFill>
                <a:ea typeface="+mn-ea"/>
              </a:rPr>
              <a:t>refOp</a:t>
            </a:r>
            <a:r>
              <a:rPr lang="en-US" dirty="0">
                <a:solidFill>
                  <a:srgbClr val="000000"/>
                </a:solidFill>
                <a:ea typeface="+mn-ea"/>
              </a:rPr>
              <a:t> ): 	</a:t>
            </a:r>
          </a:p>
          <a:p>
            <a:pPr>
              <a:lnSpc>
                <a:spcPct val="120000"/>
              </a:lnSpc>
              <a:buFont typeface="Wingdings" pitchFamily="2" charset="2"/>
              <a:buNone/>
              <a:defRPr/>
            </a:pPr>
            <a:r>
              <a:rPr lang="en-US" dirty="0">
                <a:solidFill>
                  <a:srgbClr val="000000"/>
                </a:solidFill>
                <a:ea typeface="+mn-ea"/>
              </a:rPr>
              <a:t>  </a:t>
            </a:r>
            <a:r>
              <a:rPr lang="en-US" b="1" dirty="0">
                <a:solidFill>
                  <a:srgbClr val="000000"/>
                </a:solidFill>
                <a:ea typeface="+mn-ea"/>
              </a:rPr>
              <a:t>while</a:t>
            </a:r>
            <a:r>
              <a:rPr lang="en-US" dirty="0">
                <a:solidFill>
                  <a:srgbClr val="000000"/>
                </a:solidFill>
                <a:ea typeface="+mn-ea"/>
              </a:rPr>
              <a:t> (</a:t>
            </a:r>
            <a:r>
              <a:rPr lang="en-US" b="1" dirty="0">
                <a:solidFill>
                  <a:srgbClr val="000000"/>
                </a:solidFill>
                <a:ea typeface="+mn-ea"/>
              </a:rPr>
              <a:t> </a:t>
            </a:r>
            <a:r>
              <a:rPr lang="en-US" dirty="0" err="1">
                <a:solidFill>
                  <a:srgbClr val="000000"/>
                </a:solidFill>
                <a:ea typeface="+mn-ea"/>
              </a:rPr>
              <a:t>valStk.size</a:t>
            </a:r>
            <a:r>
              <a:rPr lang="en-US" dirty="0">
                <a:solidFill>
                  <a:srgbClr val="000000"/>
                </a:solidFill>
                <a:ea typeface="+mn-ea"/>
              </a:rPr>
              <a:t>() &gt; 1 </a:t>
            </a:r>
            <a:r>
              <a:rPr lang="en-US" sz="3800" b="1" dirty="0">
                <a:solidFill>
                  <a:srgbClr val="000000"/>
                </a:solidFill>
                <a:latin typeface="Times New Roman" pitchFamily="18" charset="0"/>
                <a:sym typeface="Symbol" pitchFamily="18" charset="2"/>
              </a:rPr>
              <a:t></a:t>
            </a:r>
            <a:r>
              <a:rPr lang="en-US" b="1" dirty="0">
                <a:solidFill>
                  <a:srgbClr val="000000"/>
                </a:solidFill>
                <a:ea typeface="+mn-ea"/>
              </a:rPr>
              <a:t> </a:t>
            </a:r>
          </a:p>
          <a:p>
            <a:pPr>
              <a:lnSpc>
                <a:spcPct val="120000"/>
              </a:lnSpc>
              <a:buFont typeface="Wingdings" pitchFamily="2" charset="2"/>
              <a:buNone/>
              <a:defRPr/>
            </a:pPr>
            <a:r>
              <a:rPr lang="en-US" b="1" dirty="0">
                <a:solidFill>
                  <a:srgbClr val="000000"/>
                </a:solidFill>
                <a:ea typeface="+mn-ea"/>
              </a:rPr>
              <a:t>		</a:t>
            </a:r>
            <a:r>
              <a:rPr lang="en-US" dirty="0" err="1">
                <a:solidFill>
                  <a:srgbClr val="000000"/>
                </a:solidFill>
                <a:ea typeface="+mn-ea"/>
              </a:rPr>
              <a:t>prec</a:t>
            </a:r>
            <a:r>
              <a:rPr lang="en-US" dirty="0">
                <a:solidFill>
                  <a:srgbClr val="000000"/>
                </a:solidFill>
                <a:ea typeface="+mn-ea"/>
              </a:rPr>
              <a:t>(</a:t>
            </a:r>
            <a:r>
              <a:rPr lang="en-US" dirty="0" err="1">
                <a:solidFill>
                  <a:srgbClr val="000000"/>
                </a:solidFill>
                <a:ea typeface="+mn-ea"/>
              </a:rPr>
              <a:t>refOp</a:t>
            </a:r>
            <a:r>
              <a:rPr lang="en-US" dirty="0">
                <a:solidFill>
                  <a:srgbClr val="000000"/>
                </a:solidFill>
                <a:ea typeface="+mn-ea"/>
              </a:rPr>
              <a:t>) ≤</a:t>
            </a:r>
            <a:r>
              <a:rPr lang="en-US" b="1" dirty="0">
                <a:solidFill>
                  <a:srgbClr val="000000"/>
                </a:solidFill>
                <a:ea typeface="+mn-ea"/>
              </a:rPr>
              <a:t> 	</a:t>
            </a:r>
            <a:r>
              <a:rPr lang="en-US" dirty="0" err="1">
                <a:solidFill>
                  <a:srgbClr val="000000"/>
                </a:solidFill>
                <a:ea typeface="+mn-ea"/>
              </a:rPr>
              <a:t>prec</a:t>
            </a:r>
            <a:r>
              <a:rPr lang="en-US" dirty="0">
                <a:solidFill>
                  <a:srgbClr val="000000"/>
                </a:solidFill>
                <a:ea typeface="+mn-ea"/>
              </a:rPr>
              <a:t>(</a:t>
            </a:r>
            <a:r>
              <a:rPr lang="en-US" dirty="0" err="1">
                <a:solidFill>
                  <a:srgbClr val="000000"/>
                </a:solidFill>
                <a:ea typeface="+mn-ea"/>
              </a:rPr>
              <a:t>opStk.top</a:t>
            </a:r>
            <a:r>
              <a:rPr lang="en-US" dirty="0">
                <a:solidFill>
                  <a:srgbClr val="000000"/>
                </a:solidFill>
                <a:ea typeface="+mn-ea"/>
              </a:rPr>
              <a:t>())</a:t>
            </a:r>
          </a:p>
          <a:p>
            <a:pPr>
              <a:lnSpc>
                <a:spcPct val="120000"/>
              </a:lnSpc>
              <a:buFont typeface="Wingdings" pitchFamily="2" charset="2"/>
              <a:buNone/>
              <a:defRPr/>
            </a:pPr>
            <a:r>
              <a:rPr lang="en-US" dirty="0">
                <a:solidFill>
                  <a:srgbClr val="000000"/>
                </a:solidFill>
                <a:ea typeface="+mn-ea"/>
              </a:rPr>
              <a:t>	</a:t>
            </a:r>
            <a:r>
              <a:rPr lang="en-US" dirty="0" err="1">
                <a:solidFill>
                  <a:srgbClr val="000000"/>
                </a:solidFill>
                <a:ea typeface="+mn-ea"/>
              </a:rPr>
              <a:t>doOp</a:t>
            </a:r>
            <a:r>
              <a:rPr lang="en-US" dirty="0">
                <a:solidFill>
                  <a:srgbClr val="000000"/>
                </a:solidFill>
                <a:ea typeface="+mn-ea"/>
              </a:rPr>
              <a:t>()</a:t>
            </a:r>
          </a:p>
          <a:p>
            <a:pPr>
              <a:lnSpc>
                <a:spcPct val="120000"/>
              </a:lnSpc>
              <a:buFont typeface="Wingdings" pitchFamily="2" charset="2"/>
              <a:buNone/>
              <a:defRPr/>
            </a:pPr>
            <a:r>
              <a:rPr lang="en-US" dirty="0">
                <a:ea typeface="+mn-ea"/>
              </a:rPr>
              <a:t>Algorithm</a:t>
            </a:r>
            <a:r>
              <a:rPr lang="en-US" dirty="0">
                <a:solidFill>
                  <a:srgbClr val="000000"/>
                </a:solidFill>
                <a:ea typeface="+mn-ea"/>
              </a:rPr>
              <a:t> </a:t>
            </a:r>
            <a:r>
              <a:rPr lang="en-US" dirty="0" err="1">
                <a:solidFill>
                  <a:srgbClr val="C00000"/>
                </a:solidFill>
                <a:ea typeface="+mn-ea"/>
              </a:rPr>
              <a:t>EvalExp</a:t>
            </a:r>
            <a:r>
              <a:rPr lang="en-US" dirty="0">
                <a:solidFill>
                  <a:srgbClr val="000000"/>
                </a:solidFill>
                <a:ea typeface="+mn-ea"/>
              </a:rPr>
              <a:t>()</a:t>
            </a:r>
          </a:p>
          <a:p>
            <a:pPr lvl="1">
              <a:lnSpc>
                <a:spcPct val="120000"/>
              </a:lnSpc>
              <a:buFont typeface="Wingdings" pitchFamily="2" charset="2"/>
              <a:buNone/>
              <a:defRPr/>
            </a:pPr>
            <a:r>
              <a:rPr lang="en-US" dirty="0">
                <a:solidFill>
                  <a:schemeClr val="bg1">
                    <a:lumMod val="50000"/>
                  </a:schemeClr>
                </a:solidFill>
              </a:rPr>
              <a:t>Input:</a:t>
            </a:r>
            <a:r>
              <a:rPr lang="en-US" b="1" dirty="0">
                <a:solidFill>
                  <a:schemeClr val="accent1"/>
                </a:solidFill>
              </a:rPr>
              <a:t> </a:t>
            </a:r>
            <a:r>
              <a:rPr lang="en-US" dirty="0"/>
              <a:t>a stream of tokens representing an arithmetic expression (with numbers)</a:t>
            </a:r>
          </a:p>
          <a:p>
            <a:pPr lvl="1">
              <a:lnSpc>
                <a:spcPct val="120000"/>
              </a:lnSpc>
              <a:buFont typeface="Wingdings" pitchFamily="2" charset="2"/>
              <a:buNone/>
              <a:defRPr/>
            </a:pPr>
            <a:r>
              <a:rPr lang="en-US" dirty="0">
                <a:solidFill>
                  <a:schemeClr val="bg1">
                    <a:lumMod val="50000"/>
                  </a:schemeClr>
                </a:solidFill>
              </a:rPr>
              <a:t>Output:</a:t>
            </a:r>
            <a:r>
              <a:rPr lang="en-US" b="1" dirty="0">
                <a:solidFill>
                  <a:schemeClr val="accent1"/>
                </a:solidFill>
              </a:rPr>
              <a:t> </a:t>
            </a:r>
            <a:r>
              <a:rPr lang="en-US" dirty="0"/>
              <a:t>the value of the expression</a:t>
            </a:r>
          </a:p>
          <a:p>
            <a:pPr>
              <a:lnSpc>
                <a:spcPct val="120000"/>
              </a:lnSpc>
              <a:buFont typeface="Wingdings" pitchFamily="2" charset="2"/>
              <a:buNone/>
              <a:defRPr/>
            </a:pPr>
            <a:endParaRPr lang="en-US" b="1" dirty="0">
              <a:solidFill>
                <a:srgbClr val="000000"/>
              </a:solidFill>
              <a:ea typeface="+mn-ea"/>
            </a:endParaRPr>
          </a:p>
          <a:p>
            <a:pPr>
              <a:lnSpc>
                <a:spcPct val="120000"/>
              </a:lnSpc>
              <a:buFont typeface="Wingdings" pitchFamily="2" charset="2"/>
              <a:buNone/>
              <a:defRPr/>
            </a:pPr>
            <a:r>
              <a:rPr lang="en-US" b="1" dirty="0">
                <a:solidFill>
                  <a:srgbClr val="000000"/>
                </a:solidFill>
                <a:ea typeface="+mn-ea"/>
              </a:rPr>
              <a:t>while </a:t>
            </a:r>
            <a:r>
              <a:rPr lang="en-US" dirty="0">
                <a:solidFill>
                  <a:srgbClr val="000000"/>
                </a:solidFill>
                <a:ea typeface="+mn-ea"/>
              </a:rPr>
              <a:t>there’s another token z</a:t>
            </a:r>
            <a:endParaRPr lang="en-US" b="1" dirty="0">
              <a:solidFill>
                <a:srgbClr val="000000"/>
              </a:solidFill>
              <a:ea typeface="+mn-ea"/>
            </a:endParaRPr>
          </a:p>
          <a:p>
            <a:pPr>
              <a:lnSpc>
                <a:spcPct val="120000"/>
              </a:lnSpc>
              <a:buFont typeface="Wingdings" pitchFamily="2" charset="2"/>
              <a:buNone/>
              <a:defRPr/>
            </a:pPr>
            <a:r>
              <a:rPr lang="en-US" b="1" dirty="0">
                <a:solidFill>
                  <a:srgbClr val="000000"/>
                </a:solidFill>
                <a:ea typeface="+mn-ea"/>
              </a:rPr>
              <a:t>	if </a:t>
            </a:r>
            <a:r>
              <a:rPr lang="en-US" dirty="0" err="1">
                <a:solidFill>
                  <a:srgbClr val="000000"/>
                </a:solidFill>
                <a:ea typeface="+mn-ea"/>
              </a:rPr>
              <a:t>isNumber</a:t>
            </a:r>
            <a:r>
              <a:rPr lang="en-US" dirty="0">
                <a:solidFill>
                  <a:srgbClr val="000000"/>
                </a:solidFill>
                <a:ea typeface="+mn-ea"/>
              </a:rPr>
              <a:t>(z) </a:t>
            </a:r>
            <a:r>
              <a:rPr lang="en-US" b="1" dirty="0">
                <a:solidFill>
                  <a:srgbClr val="000000"/>
                </a:solidFill>
                <a:ea typeface="+mn-ea"/>
              </a:rPr>
              <a:t>then </a:t>
            </a:r>
          </a:p>
          <a:p>
            <a:pPr>
              <a:lnSpc>
                <a:spcPct val="120000"/>
              </a:lnSpc>
              <a:buFont typeface="Wingdings" pitchFamily="2" charset="2"/>
              <a:buNone/>
              <a:defRPr/>
            </a:pPr>
            <a:r>
              <a:rPr lang="en-US" b="1" dirty="0">
                <a:solidFill>
                  <a:srgbClr val="000000"/>
                </a:solidFill>
                <a:ea typeface="+mn-ea"/>
              </a:rPr>
              <a:t>		</a:t>
            </a:r>
            <a:r>
              <a:rPr lang="en-US" dirty="0" err="1">
                <a:solidFill>
                  <a:srgbClr val="000000"/>
                </a:solidFill>
                <a:ea typeface="+mn-ea"/>
              </a:rPr>
              <a:t>valStk.push</a:t>
            </a:r>
            <a:r>
              <a:rPr lang="en-US" dirty="0">
                <a:solidFill>
                  <a:srgbClr val="000000"/>
                </a:solidFill>
                <a:ea typeface="+mn-ea"/>
              </a:rPr>
              <a:t>(z)</a:t>
            </a:r>
          </a:p>
          <a:p>
            <a:pPr>
              <a:lnSpc>
                <a:spcPct val="120000"/>
              </a:lnSpc>
              <a:buFont typeface="Wingdings" pitchFamily="2" charset="2"/>
              <a:buNone/>
              <a:defRPr/>
            </a:pPr>
            <a:r>
              <a:rPr lang="en-US" dirty="0">
                <a:solidFill>
                  <a:srgbClr val="000000"/>
                </a:solidFill>
                <a:ea typeface="+mn-ea"/>
              </a:rPr>
              <a:t>   	</a:t>
            </a:r>
            <a:r>
              <a:rPr lang="en-US" b="1" dirty="0">
                <a:solidFill>
                  <a:srgbClr val="000000"/>
                </a:solidFill>
                <a:ea typeface="+mn-ea"/>
              </a:rPr>
              <a:t>else </a:t>
            </a:r>
          </a:p>
          <a:p>
            <a:pPr>
              <a:lnSpc>
                <a:spcPct val="120000"/>
              </a:lnSpc>
              <a:buFont typeface="Wingdings" pitchFamily="2" charset="2"/>
              <a:buNone/>
              <a:defRPr/>
            </a:pPr>
            <a:r>
              <a:rPr lang="en-US" b="1" i="1" dirty="0">
                <a:solidFill>
                  <a:srgbClr val="000000"/>
                </a:solidFill>
                <a:ea typeface="+mn-ea"/>
              </a:rPr>
              <a:t>		</a:t>
            </a:r>
            <a:r>
              <a:rPr lang="en-US" dirty="0" err="1">
                <a:solidFill>
                  <a:srgbClr val="000000"/>
                </a:solidFill>
                <a:ea typeface="+mn-ea"/>
              </a:rPr>
              <a:t>repeatOps</a:t>
            </a:r>
            <a:r>
              <a:rPr lang="en-US" dirty="0">
                <a:solidFill>
                  <a:srgbClr val="000000"/>
                </a:solidFill>
                <a:ea typeface="+mn-ea"/>
              </a:rPr>
              <a:t>(z); </a:t>
            </a:r>
          </a:p>
          <a:p>
            <a:pPr>
              <a:lnSpc>
                <a:spcPct val="120000"/>
              </a:lnSpc>
              <a:buFont typeface="Wingdings" pitchFamily="2" charset="2"/>
              <a:buNone/>
              <a:defRPr/>
            </a:pPr>
            <a:r>
              <a:rPr lang="en-US" dirty="0">
                <a:solidFill>
                  <a:srgbClr val="000000"/>
                </a:solidFill>
                <a:ea typeface="+mn-ea"/>
              </a:rPr>
              <a:t>		</a:t>
            </a:r>
            <a:r>
              <a:rPr lang="en-US" dirty="0" err="1">
                <a:solidFill>
                  <a:srgbClr val="000000"/>
                </a:solidFill>
                <a:ea typeface="+mn-ea"/>
              </a:rPr>
              <a:t>opStk.push</a:t>
            </a:r>
            <a:r>
              <a:rPr lang="en-US" dirty="0">
                <a:solidFill>
                  <a:srgbClr val="000000"/>
                </a:solidFill>
                <a:ea typeface="+mn-ea"/>
              </a:rPr>
              <a:t>(z)</a:t>
            </a:r>
          </a:p>
          <a:p>
            <a:pPr>
              <a:lnSpc>
                <a:spcPct val="120000"/>
              </a:lnSpc>
              <a:buFont typeface="Wingdings" pitchFamily="2" charset="2"/>
              <a:buNone/>
              <a:defRPr/>
            </a:pPr>
            <a:r>
              <a:rPr lang="en-US" dirty="0" err="1">
                <a:solidFill>
                  <a:srgbClr val="000000"/>
                </a:solidFill>
                <a:ea typeface="+mn-ea"/>
              </a:rPr>
              <a:t>repeatOps</a:t>
            </a:r>
            <a:r>
              <a:rPr lang="en-US" dirty="0">
                <a:solidFill>
                  <a:srgbClr val="000000"/>
                </a:solidFill>
                <a:ea typeface="+mn-ea"/>
              </a:rPr>
              <a:t>(</a:t>
            </a:r>
            <a:r>
              <a:rPr lang="en-US" dirty="0">
                <a:solidFill>
                  <a:srgbClr val="000000"/>
                </a:solidFill>
                <a:latin typeface="Monaco" pitchFamily="49" charset="0"/>
                <a:ea typeface="+mn-ea"/>
              </a:rPr>
              <a:t>$</a:t>
            </a:r>
            <a:r>
              <a:rPr lang="en-US" dirty="0">
                <a:solidFill>
                  <a:srgbClr val="000000"/>
                </a:solidFill>
                <a:ea typeface="+mn-ea"/>
              </a:rPr>
              <a:t>);    </a:t>
            </a:r>
          </a:p>
          <a:p>
            <a:pPr>
              <a:lnSpc>
                <a:spcPct val="120000"/>
              </a:lnSpc>
              <a:buFont typeface="Wingdings" pitchFamily="2" charset="2"/>
              <a:buNone/>
              <a:defRPr/>
            </a:pPr>
            <a:r>
              <a:rPr lang="en-US" b="1" dirty="0">
                <a:solidFill>
                  <a:srgbClr val="000000"/>
                </a:solidFill>
                <a:ea typeface="+mn-ea"/>
              </a:rPr>
              <a:t>return </a:t>
            </a:r>
            <a:r>
              <a:rPr lang="en-US" dirty="0" err="1">
                <a:solidFill>
                  <a:srgbClr val="000000"/>
                </a:solidFill>
                <a:ea typeface="+mn-ea"/>
              </a:rPr>
              <a:t>valStk.top</a:t>
            </a:r>
            <a:r>
              <a:rPr lang="en-US" dirty="0">
                <a:solidFill>
                  <a:srgbClr val="000000"/>
                </a:solidFill>
                <a:ea typeface="+mn-ea"/>
              </a:rPr>
              <a:t>()</a:t>
            </a:r>
          </a:p>
        </p:txBody>
      </p:sp>
      <p:sp>
        <p:nvSpPr>
          <p:cNvPr id="28676" name="Date Placeholder 2"/>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solidFill>
                  <a:schemeClr val="tx2"/>
                </a:solidFill>
              </a:rPr>
              <a:t>© 2014 Goodrich, Tamassia, Goldwasser</a:t>
            </a:r>
            <a:endParaRPr lang="en-US" sz="1400" dirty="0">
              <a:solidFill>
                <a:schemeClr val="tx2"/>
              </a:solidFill>
            </a:endParaRPr>
          </a:p>
        </p:txBody>
      </p:sp>
      <p:sp>
        <p:nvSpPr>
          <p:cNvPr id="2867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CE1E8003-E30B-EA4D-AC50-115A8CE1C559}" type="slidenum">
              <a:rPr lang="en-US" sz="1400"/>
              <a:pPr eaLnBrk="1" hangingPunct="1"/>
              <a:t>21</a:t>
            </a:fld>
            <a:endParaRPr lang="en-US" sz="1400"/>
          </a:p>
        </p:txBody>
      </p:sp>
      <p:sp>
        <p:nvSpPr>
          <p:cNvPr id="28678" name="Footer Placeholder 3"/>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Stacks</a:t>
            </a:r>
          </a:p>
        </p:txBody>
      </p:sp>
      <p:sp>
        <p:nvSpPr>
          <p:cNvPr id="8" name="TextBox 7"/>
          <p:cNvSpPr txBox="1">
            <a:spLocks noChangeArrowheads="1"/>
          </p:cNvSpPr>
          <p:nvPr/>
        </p:nvSpPr>
        <p:spPr bwMode="auto">
          <a:xfrm>
            <a:off x="7467600" y="228601"/>
            <a:ext cx="2819400" cy="646113"/>
          </a:xfrm>
          <a:prstGeom prst="rect">
            <a:avLst/>
          </a:prstGeom>
          <a:gradFill rotWithShape="1">
            <a:gsLst>
              <a:gs pos="0">
                <a:srgbClr val="BDBDBD"/>
              </a:gs>
              <a:gs pos="80000">
                <a:srgbClr val="F7F7F7"/>
              </a:gs>
              <a:gs pos="100000">
                <a:srgbClr val="F8F8F8"/>
              </a:gs>
            </a:gsLst>
            <a:lin ang="16200000"/>
          </a:gradFill>
          <a:ln w="9525">
            <a:solidFill>
              <a:srgbClr val="F9F9F9"/>
            </a:solidFill>
            <a:miter lim="800000"/>
            <a:headEnd/>
            <a:tailEnd/>
          </a:ln>
          <a:effectLst>
            <a:outerShdw blurRad="63500" dist="23000" dir="5400000" rotWithShape="0">
              <a:srgbClr val="000000">
                <a:alpha val="34999"/>
              </a:srgbClr>
            </a:outerShdw>
          </a:effectLst>
        </p:spPr>
        <p:txBody>
          <a:bodyPr>
            <a:spAutoFit/>
          </a:bodyPr>
          <a:lstStyle/>
          <a:p>
            <a:pPr>
              <a:defRPr/>
            </a:pPr>
            <a:r>
              <a:rPr lang="en-US" dirty="0">
                <a:solidFill>
                  <a:schemeClr val="tx2"/>
                </a:solidFill>
              </a:rPr>
              <a:t>Slide by Matt Stallmann included with permission.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e Placeholder 2"/>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solidFill>
                  <a:srgbClr val="C00000"/>
                </a:solidFill>
              </a:rPr>
              <a:t>© 2014 Goodrich, Tamassia, Goldwasser</a:t>
            </a:r>
            <a:endParaRPr lang="en-US" sz="1400" dirty="0">
              <a:solidFill>
                <a:srgbClr val="C00000"/>
              </a:solidFill>
            </a:endParaRPr>
          </a:p>
        </p:txBody>
      </p:sp>
      <p:sp>
        <p:nvSpPr>
          <p:cNvPr id="29699" name="Footer Placeholder 3"/>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Stacks</a:t>
            </a:r>
          </a:p>
        </p:txBody>
      </p:sp>
      <p:sp>
        <p:nvSpPr>
          <p:cNvPr id="29700" name="Slide Number Placeholder 4"/>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DED32DEF-8EF3-2444-B2F7-0F3314790825}" type="slidenum">
              <a:rPr lang="en-US" sz="1400"/>
              <a:pPr eaLnBrk="1" hangingPunct="1"/>
              <a:t>22</a:t>
            </a:fld>
            <a:endParaRPr lang="en-US" sz="1400"/>
          </a:p>
        </p:txBody>
      </p:sp>
      <p:sp>
        <p:nvSpPr>
          <p:cNvPr id="101378" name="Rectangle 2"/>
          <p:cNvSpPr>
            <a:spLocks noGrp="1" noChangeArrowheads="1"/>
          </p:cNvSpPr>
          <p:nvPr>
            <p:ph type="title"/>
          </p:nvPr>
        </p:nvSpPr>
        <p:spPr/>
        <p:txBody>
          <a:bodyPr>
            <a:normAutofit fontScale="90000"/>
          </a:bodyPr>
          <a:lstStyle/>
          <a:p>
            <a:pPr>
              <a:defRPr/>
            </a:pPr>
            <a:r>
              <a:rPr lang="en-US" dirty="0">
                <a:ea typeface="+mj-ea"/>
              </a:rPr>
              <a:t>Algorithm on an </a:t>
            </a:r>
            <a:br>
              <a:rPr lang="en-US" dirty="0">
                <a:ea typeface="+mj-ea"/>
              </a:rPr>
            </a:br>
            <a:r>
              <a:rPr lang="en-US" dirty="0">
                <a:ea typeface="+mj-ea"/>
              </a:rPr>
              <a:t>Example Expression</a:t>
            </a:r>
          </a:p>
        </p:txBody>
      </p:sp>
      <p:sp>
        <p:nvSpPr>
          <p:cNvPr id="29702" name="Rectangle 3"/>
          <p:cNvSpPr>
            <a:spLocks noChangeArrowheads="1"/>
          </p:cNvSpPr>
          <p:nvPr/>
        </p:nvSpPr>
        <p:spPr bwMode="auto">
          <a:xfrm>
            <a:off x="2770188" y="1524000"/>
            <a:ext cx="36576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t>14  ≤ 4  –  3  *  2  +  7 </a:t>
            </a:r>
          </a:p>
        </p:txBody>
      </p:sp>
      <p:sp>
        <p:nvSpPr>
          <p:cNvPr id="29703" name="Rectangle 4"/>
          <p:cNvSpPr>
            <a:spLocks noChangeArrowheads="1"/>
          </p:cNvSpPr>
          <p:nvPr/>
        </p:nvSpPr>
        <p:spPr bwMode="auto">
          <a:xfrm>
            <a:off x="7543800" y="1371601"/>
            <a:ext cx="266700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sz="2000"/>
              <a:t>Operator ≤ has lower precedence than +/–</a:t>
            </a:r>
          </a:p>
        </p:txBody>
      </p:sp>
      <p:grpSp>
        <p:nvGrpSpPr>
          <p:cNvPr id="2" name="Group 101"/>
          <p:cNvGrpSpPr>
            <a:grpSpLocks/>
          </p:cNvGrpSpPr>
          <p:nvPr/>
        </p:nvGrpSpPr>
        <p:grpSpPr bwMode="auto">
          <a:xfrm>
            <a:off x="2160588" y="1905000"/>
            <a:ext cx="1905000" cy="1219200"/>
            <a:chOff x="533400" y="1905000"/>
            <a:chExt cx="1905000" cy="1219200"/>
          </a:xfrm>
        </p:grpSpPr>
        <p:sp>
          <p:nvSpPr>
            <p:cNvPr id="29790" name="Rectangle 7"/>
            <p:cNvSpPr>
              <a:spLocks noChangeArrowheads="1"/>
            </p:cNvSpPr>
            <p:nvPr/>
          </p:nvSpPr>
          <p:spPr bwMode="auto">
            <a:xfrm>
              <a:off x="609600" y="2362200"/>
              <a:ext cx="457200" cy="685800"/>
            </a:xfrm>
            <a:prstGeom prst="rect">
              <a:avLst/>
            </a:prstGeom>
            <a:solidFill>
              <a:schemeClr val="bg2">
                <a:alpha val="25098"/>
              </a:schemeClr>
            </a:solidFill>
            <a:ln w="25400">
              <a:solidFill>
                <a:schemeClr val="hlink"/>
              </a:solidFill>
              <a:miter lim="800000"/>
              <a:headEnd/>
              <a:tailEnd/>
            </a:ln>
          </p:spPr>
          <p:txBody>
            <a:bodyPr wrap="none" anchor="ctr"/>
            <a:lstStyle/>
            <a:p>
              <a:pPr algn="ctr"/>
              <a:endParaRPr lang="en-US"/>
            </a:p>
          </p:txBody>
        </p:sp>
        <p:sp>
          <p:nvSpPr>
            <p:cNvPr id="29791" name="AutoShape 23"/>
            <p:cNvSpPr>
              <a:spLocks noChangeArrowheads="1"/>
            </p:cNvSpPr>
            <p:nvPr/>
          </p:nvSpPr>
          <p:spPr bwMode="auto">
            <a:xfrm>
              <a:off x="533400" y="2286000"/>
              <a:ext cx="1143000" cy="8382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endParaRPr lang="en-US"/>
            </a:p>
          </p:txBody>
        </p:sp>
        <p:sp>
          <p:nvSpPr>
            <p:cNvPr id="29792" name="Line 28"/>
            <p:cNvSpPr>
              <a:spLocks noChangeShapeType="1"/>
            </p:cNvSpPr>
            <p:nvPr/>
          </p:nvSpPr>
          <p:spPr bwMode="auto">
            <a:xfrm flipV="1">
              <a:off x="1676400" y="1905000"/>
              <a:ext cx="762000" cy="457200"/>
            </a:xfrm>
            <a:prstGeom prst="line">
              <a:avLst/>
            </a:prstGeom>
            <a:noFill/>
            <a:ln w="25400">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9793" name="Rectangle 64"/>
            <p:cNvSpPr>
              <a:spLocks noChangeArrowheads="1"/>
            </p:cNvSpPr>
            <p:nvPr/>
          </p:nvSpPr>
          <p:spPr bwMode="auto">
            <a:xfrm>
              <a:off x="1219200" y="2438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94" name="Rectangle 65"/>
            <p:cNvSpPr>
              <a:spLocks noChangeArrowheads="1"/>
            </p:cNvSpPr>
            <p:nvPr/>
          </p:nvSpPr>
          <p:spPr bwMode="auto">
            <a:xfrm>
              <a:off x="1219200" y="2743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95" name="Rectangle 70"/>
            <p:cNvSpPr>
              <a:spLocks noChangeArrowheads="1"/>
            </p:cNvSpPr>
            <p:nvPr/>
          </p:nvSpPr>
          <p:spPr bwMode="auto">
            <a:xfrm>
              <a:off x="685800" y="2743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14</a:t>
              </a:r>
            </a:p>
          </p:txBody>
        </p:sp>
        <p:sp>
          <p:nvSpPr>
            <p:cNvPr id="29796" name="Rectangle 71"/>
            <p:cNvSpPr>
              <a:spLocks noChangeArrowheads="1"/>
            </p:cNvSpPr>
            <p:nvPr/>
          </p:nvSpPr>
          <p:spPr bwMode="auto">
            <a:xfrm>
              <a:off x="685800" y="2438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4</a:t>
              </a:r>
            </a:p>
          </p:txBody>
        </p:sp>
        <p:sp>
          <p:nvSpPr>
            <p:cNvPr id="29797" name="Rectangle 72"/>
            <p:cNvSpPr>
              <a:spLocks noChangeArrowheads="1"/>
            </p:cNvSpPr>
            <p:nvPr/>
          </p:nvSpPr>
          <p:spPr bwMode="auto">
            <a:xfrm>
              <a:off x="1143000" y="2362200"/>
              <a:ext cx="457200" cy="685800"/>
            </a:xfrm>
            <a:prstGeom prst="rect">
              <a:avLst/>
            </a:prstGeom>
            <a:solidFill>
              <a:schemeClr val="bg2">
                <a:alpha val="25098"/>
              </a:schemeClr>
            </a:solidFill>
            <a:ln w="25400">
              <a:solidFill>
                <a:schemeClr val="accent1"/>
              </a:solidFill>
              <a:miter lim="800000"/>
              <a:headEnd/>
              <a:tailEnd/>
            </a:ln>
          </p:spPr>
          <p:txBody>
            <a:bodyPr wrap="none" anchor="ctr"/>
            <a:lstStyle/>
            <a:p>
              <a:pPr algn="ctr"/>
              <a:endParaRPr lang="en-US"/>
            </a:p>
          </p:txBody>
        </p:sp>
      </p:grpSp>
      <p:grpSp>
        <p:nvGrpSpPr>
          <p:cNvPr id="3" name="Group 102"/>
          <p:cNvGrpSpPr>
            <a:grpSpLocks/>
          </p:cNvGrpSpPr>
          <p:nvPr/>
        </p:nvGrpSpPr>
        <p:grpSpPr bwMode="auto">
          <a:xfrm>
            <a:off x="2160588" y="1905000"/>
            <a:ext cx="2590800" cy="2590800"/>
            <a:chOff x="533400" y="1905000"/>
            <a:chExt cx="2590800" cy="2590800"/>
          </a:xfrm>
        </p:grpSpPr>
        <p:sp>
          <p:nvSpPr>
            <p:cNvPr id="29780" name="Rectangle 66"/>
            <p:cNvSpPr>
              <a:spLocks noChangeArrowheads="1"/>
            </p:cNvSpPr>
            <p:nvPr/>
          </p:nvSpPr>
          <p:spPr bwMode="auto">
            <a:xfrm>
              <a:off x="1219200" y="3505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81" name="Rectangle 67"/>
            <p:cNvSpPr>
              <a:spLocks noChangeArrowheads="1"/>
            </p:cNvSpPr>
            <p:nvPr/>
          </p:nvSpPr>
          <p:spPr bwMode="auto">
            <a:xfrm>
              <a:off x="685800" y="3505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3</a:t>
              </a:r>
            </a:p>
          </p:txBody>
        </p:sp>
        <p:sp>
          <p:nvSpPr>
            <p:cNvPr id="29782" name="Rectangle 75"/>
            <p:cNvSpPr>
              <a:spLocks noChangeArrowheads="1"/>
            </p:cNvSpPr>
            <p:nvPr/>
          </p:nvSpPr>
          <p:spPr bwMode="auto">
            <a:xfrm>
              <a:off x="609600" y="3429000"/>
              <a:ext cx="457200" cy="990600"/>
            </a:xfrm>
            <a:prstGeom prst="rect">
              <a:avLst/>
            </a:prstGeom>
            <a:solidFill>
              <a:schemeClr val="bg2">
                <a:alpha val="25098"/>
              </a:schemeClr>
            </a:solidFill>
            <a:ln w="25400">
              <a:solidFill>
                <a:schemeClr val="hlink"/>
              </a:solidFill>
              <a:miter lim="800000"/>
              <a:headEnd/>
              <a:tailEnd/>
            </a:ln>
          </p:spPr>
          <p:txBody>
            <a:bodyPr wrap="none" anchor="ctr"/>
            <a:lstStyle/>
            <a:p>
              <a:pPr algn="ctr"/>
              <a:endParaRPr lang="en-US"/>
            </a:p>
          </p:txBody>
        </p:sp>
        <p:sp>
          <p:nvSpPr>
            <p:cNvPr id="29783" name="AutoShape 76"/>
            <p:cNvSpPr>
              <a:spLocks noChangeArrowheads="1"/>
            </p:cNvSpPr>
            <p:nvPr/>
          </p:nvSpPr>
          <p:spPr bwMode="auto">
            <a:xfrm>
              <a:off x="533400" y="3352800"/>
              <a:ext cx="1143000" cy="11430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endParaRPr lang="en-US"/>
            </a:p>
          </p:txBody>
        </p:sp>
        <p:sp>
          <p:nvSpPr>
            <p:cNvPr id="29784" name="Line 77"/>
            <p:cNvSpPr>
              <a:spLocks noChangeShapeType="1"/>
            </p:cNvSpPr>
            <p:nvPr/>
          </p:nvSpPr>
          <p:spPr bwMode="auto">
            <a:xfrm flipV="1">
              <a:off x="1676400" y="1905000"/>
              <a:ext cx="1447800" cy="1828800"/>
            </a:xfrm>
            <a:prstGeom prst="line">
              <a:avLst/>
            </a:prstGeom>
            <a:noFill/>
            <a:ln w="25400">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9785" name="Rectangle 78"/>
            <p:cNvSpPr>
              <a:spLocks noChangeArrowheads="1"/>
            </p:cNvSpPr>
            <p:nvPr/>
          </p:nvSpPr>
          <p:spPr bwMode="auto">
            <a:xfrm>
              <a:off x="1219200" y="38100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86" name="Rectangle 79"/>
            <p:cNvSpPr>
              <a:spLocks noChangeArrowheads="1"/>
            </p:cNvSpPr>
            <p:nvPr/>
          </p:nvSpPr>
          <p:spPr bwMode="auto">
            <a:xfrm>
              <a:off x="1219200" y="41148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87" name="Rectangle 80"/>
            <p:cNvSpPr>
              <a:spLocks noChangeArrowheads="1"/>
            </p:cNvSpPr>
            <p:nvPr/>
          </p:nvSpPr>
          <p:spPr bwMode="auto">
            <a:xfrm>
              <a:off x="685800" y="41148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14</a:t>
              </a:r>
            </a:p>
          </p:txBody>
        </p:sp>
        <p:sp>
          <p:nvSpPr>
            <p:cNvPr id="29788" name="Rectangle 81"/>
            <p:cNvSpPr>
              <a:spLocks noChangeArrowheads="1"/>
            </p:cNvSpPr>
            <p:nvPr/>
          </p:nvSpPr>
          <p:spPr bwMode="auto">
            <a:xfrm>
              <a:off x="685800" y="38100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4</a:t>
              </a:r>
            </a:p>
          </p:txBody>
        </p:sp>
        <p:sp>
          <p:nvSpPr>
            <p:cNvPr id="29789" name="Rectangle 82"/>
            <p:cNvSpPr>
              <a:spLocks noChangeArrowheads="1"/>
            </p:cNvSpPr>
            <p:nvPr/>
          </p:nvSpPr>
          <p:spPr bwMode="auto">
            <a:xfrm>
              <a:off x="1143000" y="3429000"/>
              <a:ext cx="457200" cy="990600"/>
            </a:xfrm>
            <a:prstGeom prst="rect">
              <a:avLst/>
            </a:prstGeom>
            <a:solidFill>
              <a:schemeClr val="bg2">
                <a:alpha val="25098"/>
              </a:schemeClr>
            </a:solidFill>
            <a:ln w="25400">
              <a:solidFill>
                <a:schemeClr val="accent1"/>
              </a:solidFill>
              <a:miter lim="800000"/>
              <a:headEnd/>
              <a:tailEnd/>
            </a:ln>
          </p:spPr>
          <p:txBody>
            <a:bodyPr wrap="none" anchor="ctr"/>
            <a:lstStyle/>
            <a:p>
              <a:pPr algn="ctr"/>
              <a:endParaRPr lang="en-US"/>
            </a:p>
          </p:txBody>
        </p:sp>
      </p:grpSp>
      <p:grpSp>
        <p:nvGrpSpPr>
          <p:cNvPr id="4" name="Group 103"/>
          <p:cNvGrpSpPr>
            <a:grpSpLocks/>
          </p:cNvGrpSpPr>
          <p:nvPr/>
        </p:nvGrpSpPr>
        <p:grpSpPr bwMode="auto">
          <a:xfrm>
            <a:off x="2160588" y="1981200"/>
            <a:ext cx="2895600" cy="4114800"/>
            <a:chOff x="533400" y="1981200"/>
            <a:chExt cx="2895600" cy="4114800"/>
          </a:xfrm>
        </p:grpSpPr>
        <p:sp>
          <p:nvSpPr>
            <p:cNvPr id="29769" name="Rectangle 68"/>
            <p:cNvSpPr>
              <a:spLocks noChangeArrowheads="1"/>
            </p:cNvSpPr>
            <p:nvPr/>
          </p:nvSpPr>
          <p:spPr bwMode="auto">
            <a:xfrm>
              <a:off x="685800" y="48006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2</a:t>
              </a:r>
            </a:p>
          </p:txBody>
        </p:sp>
        <p:sp>
          <p:nvSpPr>
            <p:cNvPr id="29770" name="Rectangle 85"/>
            <p:cNvSpPr>
              <a:spLocks noChangeArrowheads="1"/>
            </p:cNvSpPr>
            <p:nvPr/>
          </p:nvSpPr>
          <p:spPr bwMode="auto">
            <a:xfrm>
              <a:off x="1219200" y="5105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71" name="Rectangle 86"/>
            <p:cNvSpPr>
              <a:spLocks noChangeArrowheads="1"/>
            </p:cNvSpPr>
            <p:nvPr/>
          </p:nvSpPr>
          <p:spPr bwMode="auto">
            <a:xfrm>
              <a:off x="685800" y="5105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3</a:t>
              </a:r>
            </a:p>
          </p:txBody>
        </p:sp>
        <p:sp>
          <p:nvSpPr>
            <p:cNvPr id="29772" name="Rectangle 87"/>
            <p:cNvSpPr>
              <a:spLocks noChangeArrowheads="1"/>
            </p:cNvSpPr>
            <p:nvPr/>
          </p:nvSpPr>
          <p:spPr bwMode="auto">
            <a:xfrm>
              <a:off x="609600" y="4724400"/>
              <a:ext cx="457200" cy="1295400"/>
            </a:xfrm>
            <a:prstGeom prst="rect">
              <a:avLst/>
            </a:prstGeom>
            <a:solidFill>
              <a:schemeClr val="bg2">
                <a:alpha val="25098"/>
              </a:schemeClr>
            </a:solidFill>
            <a:ln w="25400">
              <a:solidFill>
                <a:schemeClr val="hlink"/>
              </a:solidFill>
              <a:miter lim="800000"/>
              <a:headEnd/>
              <a:tailEnd/>
            </a:ln>
          </p:spPr>
          <p:txBody>
            <a:bodyPr wrap="none" anchor="ctr"/>
            <a:lstStyle/>
            <a:p>
              <a:pPr algn="ctr"/>
              <a:endParaRPr lang="en-US"/>
            </a:p>
          </p:txBody>
        </p:sp>
        <p:sp>
          <p:nvSpPr>
            <p:cNvPr id="29773" name="AutoShape 88"/>
            <p:cNvSpPr>
              <a:spLocks noChangeArrowheads="1"/>
            </p:cNvSpPr>
            <p:nvPr/>
          </p:nvSpPr>
          <p:spPr bwMode="auto">
            <a:xfrm>
              <a:off x="533400" y="4648200"/>
              <a:ext cx="1143000" cy="14478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endParaRPr lang="en-US"/>
            </a:p>
          </p:txBody>
        </p:sp>
        <p:sp>
          <p:nvSpPr>
            <p:cNvPr id="29774" name="Line 89"/>
            <p:cNvSpPr>
              <a:spLocks noChangeShapeType="1"/>
            </p:cNvSpPr>
            <p:nvPr/>
          </p:nvSpPr>
          <p:spPr bwMode="auto">
            <a:xfrm flipV="1">
              <a:off x="1676400" y="1981200"/>
              <a:ext cx="1752600" cy="2743200"/>
            </a:xfrm>
            <a:prstGeom prst="line">
              <a:avLst/>
            </a:prstGeom>
            <a:noFill/>
            <a:ln w="25400">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9775" name="Rectangle 90"/>
            <p:cNvSpPr>
              <a:spLocks noChangeArrowheads="1"/>
            </p:cNvSpPr>
            <p:nvPr/>
          </p:nvSpPr>
          <p:spPr bwMode="auto">
            <a:xfrm>
              <a:off x="1219200" y="5410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76" name="Rectangle 91"/>
            <p:cNvSpPr>
              <a:spLocks noChangeArrowheads="1"/>
            </p:cNvSpPr>
            <p:nvPr/>
          </p:nvSpPr>
          <p:spPr bwMode="auto">
            <a:xfrm>
              <a:off x="1219200" y="57150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77" name="Rectangle 92"/>
            <p:cNvSpPr>
              <a:spLocks noChangeArrowheads="1"/>
            </p:cNvSpPr>
            <p:nvPr/>
          </p:nvSpPr>
          <p:spPr bwMode="auto">
            <a:xfrm>
              <a:off x="685800" y="57150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14</a:t>
              </a:r>
            </a:p>
          </p:txBody>
        </p:sp>
        <p:sp>
          <p:nvSpPr>
            <p:cNvPr id="29778" name="Rectangle 93"/>
            <p:cNvSpPr>
              <a:spLocks noChangeArrowheads="1"/>
            </p:cNvSpPr>
            <p:nvPr/>
          </p:nvSpPr>
          <p:spPr bwMode="auto">
            <a:xfrm>
              <a:off x="685800" y="5410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4</a:t>
              </a:r>
            </a:p>
          </p:txBody>
        </p:sp>
        <p:sp>
          <p:nvSpPr>
            <p:cNvPr id="29779" name="Rectangle 94"/>
            <p:cNvSpPr>
              <a:spLocks noChangeArrowheads="1"/>
            </p:cNvSpPr>
            <p:nvPr/>
          </p:nvSpPr>
          <p:spPr bwMode="auto">
            <a:xfrm>
              <a:off x="1143000" y="5029200"/>
              <a:ext cx="457200" cy="990600"/>
            </a:xfrm>
            <a:prstGeom prst="rect">
              <a:avLst/>
            </a:prstGeom>
            <a:solidFill>
              <a:schemeClr val="bg2">
                <a:alpha val="25098"/>
              </a:schemeClr>
            </a:solidFill>
            <a:ln w="25400">
              <a:solidFill>
                <a:schemeClr val="accent1"/>
              </a:solidFill>
              <a:miter lim="800000"/>
              <a:headEnd/>
              <a:tailEnd/>
            </a:ln>
          </p:spPr>
          <p:txBody>
            <a:bodyPr wrap="none" anchor="ctr"/>
            <a:lstStyle/>
            <a:p>
              <a:pPr algn="ctr"/>
              <a:endParaRPr lang="en-US"/>
            </a:p>
          </p:txBody>
        </p:sp>
      </p:grpSp>
      <p:grpSp>
        <p:nvGrpSpPr>
          <p:cNvPr id="5" name="Group 104"/>
          <p:cNvGrpSpPr>
            <a:grpSpLocks/>
          </p:cNvGrpSpPr>
          <p:nvPr/>
        </p:nvGrpSpPr>
        <p:grpSpPr bwMode="auto">
          <a:xfrm>
            <a:off x="3760788" y="1905000"/>
            <a:ext cx="1676400" cy="4267200"/>
            <a:chOff x="2133600" y="1905000"/>
            <a:chExt cx="1676400" cy="4267200"/>
          </a:xfrm>
        </p:grpSpPr>
        <p:sp>
          <p:nvSpPr>
            <p:cNvPr id="29757" name="Line 103"/>
            <p:cNvSpPr>
              <a:spLocks noChangeShapeType="1"/>
            </p:cNvSpPr>
            <p:nvPr/>
          </p:nvSpPr>
          <p:spPr bwMode="auto">
            <a:xfrm flipV="1">
              <a:off x="2743200" y="1905000"/>
              <a:ext cx="1066800" cy="2819400"/>
            </a:xfrm>
            <a:prstGeom prst="line">
              <a:avLst/>
            </a:prstGeom>
            <a:noFill/>
            <a:ln w="25400">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9758" name="Rectangle 27"/>
            <p:cNvSpPr>
              <a:spLocks noChangeArrowheads="1"/>
            </p:cNvSpPr>
            <p:nvPr/>
          </p:nvSpPr>
          <p:spPr bwMode="auto">
            <a:xfrm>
              <a:off x="2819400" y="44196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59" name="Rectangle 98"/>
            <p:cNvSpPr>
              <a:spLocks noChangeArrowheads="1"/>
            </p:cNvSpPr>
            <p:nvPr/>
          </p:nvSpPr>
          <p:spPr bwMode="auto">
            <a:xfrm>
              <a:off x="2286000" y="48768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2</a:t>
              </a:r>
            </a:p>
          </p:txBody>
        </p:sp>
        <p:sp>
          <p:nvSpPr>
            <p:cNvPr id="29760" name="Rectangle 99"/>
            <p:cNvSpPr>
              <a:spLocks noChangeArrowheads="1"/>
            </p:cNvSpPr>
            <p:nvPr/>
          </p:nvSpPr>
          <p:spPr bwMode="auto">
            <a:xfrm>
              <a:off x="2819400" y="51816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61" name="Rectangle 100"/>
            <p:cNvSpPr>
              <a:spLocks noChangeArrowheads="1"/>
            </p:cNvSpPr>
            <p:nvPr/>
          </p:nvSpPr>
          <p:spPr bwMode="auto">
            <a:xfrm>
              <a:off x="2286000" y="51816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3</a:t>
              </a:r>
            </a:p>
          </p:txBody>
        </p:sp>
        <p:sp>
          <p:nvSpPr>
            <p:cNvPr id="29762" name="Rectangle 101"/>
            <p:cNvSpPr>
              <a:spLocks noChangeArrowheads="1"/>
            </p:cNvSpPr>
            <p:nvPr/>
          </p:nvSpPr>
          <p:spPr bwMode="auto">
            <a:xfrm>
              <a:off x="2209800" y="4800600"/>
              <a:ext cx="457200" cy="1295400"/>
            </a:xfrm>
            <a:prstGeom prst="rect">
              <a:avLst/>
            </a:prstGeom>
            <a:solidFill>
              <a:schemeClr val="bg2">
                <a:alpha val="25098"/>
              </a:schemeClr>
            </a:solidFill>
            <a:ln w="25400">
              <a:solidFill>
                <a:schemeClr val="hlink"/>
              </a:solidFill>
              <a:miter lim="800000"/>
              <a:headEnd/>
              <a:tailEnd/>
            </a:ln>
          </p:spPr>
          <p:txBody>
            <a:bodyPr wrap="none" anchor="ctr"/>
            <a:lstStyle/>
            <a:p>
              <a:pPr algn="ctr"/>
              <a:endParaRPr lang="en-US"/>
            </a:p>
          </p:txBody>
        </p:sp>
        <p:sp>
          <p:nvSpPr>
            <p:cNvPr id="29763" name="AutoShape 102"/>
            <p:cNvSpPr>
              <a:spLocks noChangeArrowheads="1"/>
            </p:cNvSpPr>
            <p:nvPr/>
          </p:nvSpPr>
          <p:spPr bwMode="auto">
            <a:xfrm>
              <a:off x="2133600" y="4724400"/>
              <a:ext cx="1143000" cy="14478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endParaRPr lang="en-US"/>
            </a:p>
          </p:txBody>
        </p:sp>
        <p:sp>
          <p:nvSpPr>
            <p:cNvPr id="29764" name="Rectangle 104"/>
            <p:cNvSpPr>
              <a:spLocks noChangeArrowheads="1"/>
            </p:cNvSpPr>
            <p:nvPr/>
          </p:nvSpPr>
          <p:spPr bwMode="auto">
            <a:xfrm>
              <a:off x="2819400" y="5486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65" name="Rectangle 105"/>
            <p:cNvSpPr>
              <a:spLocks noChangeArrowheads="1"/>
            </p:cNvSpPr>
            <p:nvPr/>
          </p:nvSpPr>
          <p:spPr bwMode="auto">
            <a:xfrm>
              <a:off x="2819400" y="5791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66" name="Rectangle 106"/>
            <p:cNvSpPr>
              <a:spLocks noChangeArrowheads="1"/>
            </p:cNvSpPr>
            <p:nvPr/>
          </p:nvSpPr>
          <p:spPr bwMode="auto">
            <a:xfrm>
              <a:off x="2286000" y="5791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14</a:t>
              </a:r>
            </a:p>
          </p:txBody>
        </p:sp>
        <p:sp>
          <p:nvSpPr>
            <p:cNvPr id="29767" name="Rectangle 107"/>
            <p:cNvSpPr>
              <a:spLocks noChangeArrowheads="1"/>
            </p:cNvSpPr>
            <p:nvPr/>
          </p:nvSpPr>
          <p:spPr bwMode="auto">
            <a:xfrm>
              <a:off x="2286000" y="5486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4</a:t>
              </a:r>
            </a:p>
          </p:txBody>
        </p:sp>
        <p:sp>
          <p:nvSpPr>
            <p:cNvPr id="29768" name="Rectangle 108"/>
            <p:cNvSpPr>
              <a:spLocks noChangeArrowheads="1"/>
            </p:cNvSpPr>
            <p:nvPr/>
          </p:nvSpPr>
          <p:spPr bwMode="auto">
            <a:xfrm>
              <a:off x="2743200" y="4800600"/>
              <a:ext cx="457200" cy="1295400"/>
            </a:xfrm>
            <a:prstGeom prst="rect">
              <a:avLst/>
            </a:prstGeom>
            <a:solidFill>
              <a:schemeClr val="bg2">
                <a:alpha val="25098"/>
              </a:schemeClr>
            </a:solidFill>
            <a:ln w="25400">
              <a:solidFill>
                <a:schemeClr val="accent1"/>
              </a:solidFill>
              <a:miter lim="800000"/>
              <a:headEnd/>
              <a:tailEnd/>
            </a:ln>
          </p:spPr>
          <p:txBody>
            <a:bodyPr wrap="none" anchor="ctr"/>
            <a:lstStyle/>
            <a:p>
              <a:pPr algn="ctr"/>
              <a:endParaRPr lang="en-US"/>
            </a:p>
          </p:txBody>
        </p:sp>
      </p:grpSp>
      <p:grpSp>
        <p:nvGrpSpPr>
          <p:cNvPr id="6" name="Group 105"/>
          <p:cNvGrpSpPr>
            <a:grpSpLocks/>
          </p:cNvGrpSpPr>
          <p:nvPr/>
        </p:nvGrpSpPr>
        <p:grpSpPr bwMode="auto">
          <a:xfrm>
            <a:off x="4979988" y="1981200"/>
            <a:ext cx="1143000" cy="4191000"/>
            <a:chOff x="3352800" y="1981200"/>
            <a:chExt cx="1143000" cy="4191000"/>
          </a:xfrm>
        </p:grpSpPr>
        <p:sp>
          <p:nvSpPr>
            <p:cNvPr id="29747" name="Rectangle 122"/>
            <p:cNvSpPr>
              <a:spLocks noChangeArrowheads="1"/>
            </p:cNvSpPr>
            <p:nvPr/>
          </p:nvSpPr>
          <p:spPr bwMode="auto">
            <a:xfrm>
              <a:off x="3962400" y="5410200"/>
              <a:ext cx="457200" cy="685800"/>
            </a:xfrm>
            <a:prstGeom prst="rect">
              <a:avLst/>
            </a:prstGeom>
            <a:solidFill>
              <a:schemeClr val="bg2">
                <a:alpha val="25098"/>
              </a:schemeClr>
            </a:solidFill>
            <a:ln w="25400">
              <a:solidFill>
                <a:schemeClr val="accent1"/>
              </a:solidFill>
              <a:miter lim="800000"/>
              <a:headEnd/>
              <a:tailEnd/>
            </a:ln>
          </p:spPr>
          <p:txBody>
            <a:bodyPr wrap="none" anchor="ctr"/>
            <a:lstStyle/>
            <a:p>
              <a:pPr algn="ctr"/>
              <a:endParaRPr lang="en-US"/>
            </a:p>
          </p:txBody>
        </p:sp>
        <p:sp>
          <p:nvSpPr>
            <p:cNvPr id="29748" name="Rectangle 116"/>
            <p:cNvSpPr>
              <a:spLocks noChangeArrowheads="1"/>
            </p:cNvSpPr>
            <p:nvPr/>
          </p:nvSpPr>
          <p:spPr bwMode="auto">
            <a:xfrm>
              <a:off x="3429000" y="5105400"/>
              <a:ext cx="457200" cy="990600"/>
            </a:xfrm>
            <a:prstGeom prst="rect">
              <a:avLst/>
            </a:prstGeom>
            <a:solidFill>
              <a:schemeClr val="bg2">
                <a:alpha val="25098"/>
              </a:schemeClr>
            </a:solidFill>
            <a:ln w="25400">
              <a:solidFill>
                <a:schemeClr val="hlink"/>
              </a:solidFill>
              <a:miter lim="800000"/>
              <a:headEnd/>
              <a:tailEnd/>
            </a:ln>
          </p:spPr>
          <p:txBody>
            <a:bodyPr wrap="none" anchor="ctr"/>
            <a:lstStyle/>
            <a:p>
              <a:pPr algn="ctr"/>
              <a:endParaRPr lang="en-US"/>
            </a:p>
          </p:txBody>
        </p:sp>
        <p:sp>
          <p:nvSpPr>
            <p:cNvPr id="29749" name="Rectangle 112"/>
            <p:cNvSpPr>
              <a:spLocks noChangeArrowheads="1"/>
            </p:cNvSpPr>
            <p:nvPr/>
          </p:nvSpPr>
          <p:spPr bwMode="auto">
            <a:xfrm>
              <a:off x="4038600" y="4724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50" name="Rectangle 115"/>
            <p:cNvSpPr>
              <a:spLocks noChangeArrowheads="1"/>
            </p:cNvSpPr>
            <p:nvPr/>
          </p:nvSpPr>
          <p:spPr bwMode="auto">
            <a:xfrm>
              <a:off x="3505200" y="51816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6</a:t>
              </a:r>
            </a:p>
          </p:txBody>
        </p:sp>
        <p:sp>
          <p:nvSpPr>
            <p:cNvPr id="29751" name="AutoShape 117"/>
            <p:cNvSpPr>
              <a:spLocks noChangeArrowheads="1"/>
            </p:cNvSpPr>
            <p:nvPr/>
          </p:nvSpPr>
          <p:spPr bwMode="auto">
            <a:xfrm>
              <a:off x="3352800" y="5029200"/>
              <a:ext cx="1143000" cy="11430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endParaRPr lang="en-US"/>
            </a:p>
          </p:txBody>
        </p:sp>
        <p:sp>
          <p:nvSpPr>
            <p:cNvPr id="29752" name="Rectangle 118"/>
            <p:cNvSpPr>
              <a:spLocks noChangeArrowheads="1"/>
            </p:cNvSpPr>
            <p:nvPr/>
          </p:nvSpPr>
          <p:spPr bwMode="auto">
            <a:xfrm>
              <a:off x="4038600" y="5486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53" name="Rectangle 119"/>
            <p:cNvSpPr>
              <a:spLocks noChangeArrowheads="1"/>
            </p:cNvSpPr>
            <p:nvPr/>
          </p:nvSpPr>
          <p:spPr bwMode="auto">
            <a:xfrm>
              <a:off x="4038600" y="5791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54" name="Rectangle 120"/>
            <p:cNvSpPr>
              <a:spLocks noChangeArrowheads="1"/>
            </p:cNvSpPr>
            <p:nvPr/>
          </p:nvSpPr>
          <p:spPr bwMode="auto">
            <a:xfrm>
              <a:off x="3505200" y="5791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14</a:t>
              </a:r>
            </a:p>
          </p:txBody>
        </p:sp>
        <p:sp>
          <p:nvSpPr>
            <p:cNvPr id="29755" name="Rectangle 121"/>
            <p:cNvSpPr>
              <a:spLocks noChangeArrowheads="1"/>
            </p:cNvSpPr>
            <p:nvPr/>
          </p:nvSpPr>
          <p:spPr bwMode="auto">
            <a:xfrm>
              <a:off x="3505200" y="5486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4</a:t>
              </a:r>
            </a:p>
          </p:txBody>
        </p:sp>
        <p:sp>
          <p:nvSpPr>
            <p:cNvPr id="29756" name="Line 124"/>
            <p:cNvSpPr>
              <a:spLocks noChangeShapeType="1"/>
            </p:cNvSpPr>
            <p:nvPr/>
          </p:nvSpPr>
          <p:spPr bwMode="auto">
            <a:xfrm flipV="1">
              <a:off x="3810000" y="1981200"/>
              <a:ext cx="152400" cy="3048000"/>
            </a:xfrm>
            <a:prstGeom prst="line">
              <a:avLst/>
            </a:prstGeom>
            <a:noFill/>
            <a:ln w="25400">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7" name="Group 106"/>
          <p:cNvGrpSpPr>
            <a:grpSpLocks/>
          </p:cNvGrpSpPr>
          <p:nvPr/>
        </p:nvGrpSpPr>
        <p:grpSpPr bwMode="auto">
          <a:xfrm>
            <a:off x="5741988" y="1905000"/>
            <a:ext cx="1600200" cy="4267200"/>
            <a:chOff x="4114800" y="1905000"/>
            <a:chExt cx="1600200" cy="4267200"/>
          </a:xfrm>
        </p:grpSpPr>
        <p:sp>
          <p:nvSpPr>
            <p:cNvPr id="29739" name="Rectangle 128"/>
            <p:cNvSpPr>
              <a:spLocks noChangeArrowheads="1"/>
            </p:cNvSpPr>
            <p:nvPr/>
          </p:nvSpPr>
          <p:spPr bwMode="auto">
            <a:xfrm>
              <a:off x="5181600" y="5410200"/>
              <a:ext cx="457200" cy="685800"/>
            </a:xfrm>
            <a:prstGeom prst="rect">
              <a:avLst/>
            </a:prstGeom>
            <a:solidFill>
              <a:schemeClr val="bg2">
                <a:alpha val="25098"/>
              </a:schemeClr>
            </a:solidFill>
            <a:ln w="25400">
              <a:solidFill>
                <a:schemeClr val="accent1"/>
              </a:solidFill>
              <a:miter lim="800000"/>
              <a:headEnd/>
              <a:tailEnd/>
            </a:ln>
          </p:spPr>
          <p:txBody>
            <a:bodyPr wrap="none" anchor="ctr"/>
            <a:lstStyle/>
            <a:p>
              <a:pPr algn="ctr"/>
              <a:endParaRPr lang="en-US"/>
            </a:p>
          </p:txBody>
        </p:sp>
        <p:sp>
          <p:nvSpPr>
            <p:cNvPr id="29740" name="Rectangle 129"/>
            <p:cNvSpPr>
              <a:spLocks noChangeArrowheads="1"/>
            </p:cNvSpPr>
            <p:nvPr/>
          </p:nvSpPr>
          <p:spPr bwMode="auto">
            <a:xfrm>
              <a:off x="4648200" y="5410200"/>
              <a:ext cx="457200" cy="685800"/>
            </a:xfrm>
            <a:prstGeom prst="rect">
              <a:avLst/>
            </a:prstGeom>
            <a:solidFill>
              <a:schemeClr val="bg2">
                <a:alpha val="25098"/>
              </a:schemeClr>
            </a:solidFill>
            <a:ln w="25400">
              <a:solidFill>
                <a:schemeClr val="hlink"/>
              </a:solidFill>
              <a:miter lim="800000"/>
              <a:headEnd/>
              <a:tailEnd/>
            </a:ln>
          </p:spPr>
          <p:txBody>
            <a:bodyPr wrap="none" anchor="ctr"/>
            <a:lstStyle/>
            <a:p>
              <a:pPr algn="ctr"/>
              <a:endParaRPr lang="en-US"/>
            </a:p>
          </p:txBody>
        </p:sp>
        <p:sp>
          <p:nvSpPr>
            <p:cNvPr id="29741" name="Rectangle 130"/>
            <p:cNvSpPr>
              <a:spLocks noChangeArrowheads="1"/>
            </p:cNvSpPr>
            <p:nvPr/>
          </p:nvSpPr>
          <p:spPr bwMode="auto">
            <a:xfrm>
              <a:off x="5257800" y="5486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42" name="AutoShape 132"/>
            <p:cNvSpPr>
              <a:spLocks noChangeArrowheads="1"/>
            </p:cNvSpPr>
            <p:nvPr/>
          </p:nvSpPr>
          <p:spPr bwMode="auto">
            <a:xfrm>
              <a:off x="4572000" y="5334000"/>
              <a:ext cx="1143000" cy="8382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endParaRPr lang="en-US"/>
            </a:p>
          </p:txBody>
        </p:sp>
        <p:sp>
          <p:nvSpPr>
            <p:cNvPr id="29743" name="Rectangle 134"/>
            <p:cNvSpPr>
              <a:spLocks noChangeArrowheads="1"/>
            </p:cNvSpPr>
            <p:nvPr/>
          </p:nvSpPr>
          <p:spPr bwMode="auto">
            <a:xfrm>
              <a:off x="5257800" y="5791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44" name="Rectangle 135"/>
            <p:cNvSpPr>
              <a:spLocks noChangeArrowheads="1"/>
            </p:cNvSpPr>
            <p:nvPr/>
          </p:nvSpPr>
          <p:spPr bwMode="auto">
            <a:xfrm>
              <a:off x="4724400" y="5791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14</a:t>
              </a:r>
            </a:p>
          </p:txBody>
        </p:sp>
        <p:sp>
          <p:nvSpPr>
            <p:cNvPr id="29745" name="Rectangle 136"/>
            <p:cNvSpPr>
              <a:spLocks noChangeArrowheads="1"/>
            </p:cNvSpPr>
            <p:nvPr/>
          </p:nvSpPr>
          <p:spPr bwMode="auto">
            <a:xfrm>
              <a:off x="4724400" y="5486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-2</a:t>
              </a:r>
            </a:p>
          </p:txBody>
        </p:sp>
        <p:sp>
          <p:nvSpPr>
            <p:cNvPr id="29746" name="Line 137"/>
            <p:cNvSpPr>
              <a:spLocks noChangeShapeType="1"/>
            </p:cNvSpPr>
            <p:nvPr/>
          </p:nvSpPr>
          <p:spPr bwMode="auto">
            <a:xfrm flipH="1" flipV="1">
              <a:off x="4114800" y="1905000"/>
              <a:ext cx="990600" cy="3429000"/>
            </a:xfrm>
            <a:prstGeom prst="line">
              <a:avLst/>
            </a:prstGeom>
            <a:noFill/>
            <a:ln w="25400">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8" name="Group 107"/>
          <p:cNvGrpSpPr>
            <a:grpSpLocks/>
          </p:cNvGrpSpPr>
          <p:nvPr/>
        </p:nvGrpSpPr>
        <p:grpSpPr bwMode="auto">
          <a:xfrm>
            <a:off x="5970588" y="1981200"/>
            <a:ext cx="1905000" cy="3048000"/>
            <a:chOff x="4343400" y="1981200"/>
            <a:chExt cx="1905000" cy="3048000"/>
          </a:xfrm>
        </p:grpSpPr>
        <p:sp>
          <p:nvSpPr>
            <p:cNvPr id="29729" name="Rectangle 141"/>
            <p:cNvSpPr>
              <a:spLocks noChangeArrowheads="1"/>
            </p:cNvSpPr>
            <p:nvPr/>
          </p:nvSpPr>
          <p:spPr bwMode="auto">
            <a:xfrm>
              <a:off x="5715000" y="4267200"/>
              <a:ext cx="457200" cy="685800"/>
            </a:xfrm>
            <a:prstGeom prst="rect">
              <a:avLst/>
            </a:prstGeom>
            <a:solidFill>
              <a:schemeClr val="bg2">
                <a:alpha val="25098"/>
              </a:schemeClr>
            </a:solidFill>
            <a:ln w="25400">
              <a:solidFill>
                <a:schemeClr val="accent1"/>
              </a:solidFill>
              <a:miter lim="800000"/>
              <a:headEnd/>
              <a:tailEnd/>
            </a:ln>
          </p:spPr>
          <p:txBody>
            <a:bodyPr wrap="none" anchor="ctr"/>
            <a:lstStyle/>
            <a:p>
              <a:pPr algn="ctr"/>
              <a:endParaRPr lang="en-US"/>
            </a:p>
          </p:txBody>
        </p:sp>
        <p:sp>
          <p:nvSpPr>
            <p:cNvPr id="29730" name="Rectangle 142"/>
            <p:cNvSpPr>
              <a:spLocks noChangeArrowheads="1"/>
            </p:cNvSpPr>
            <p:nvPr/>
          </p:nvSpPr>
          <p:spPr bwMode="auto">
            <a:xfrm>
              <a:off x="5181600" y="3962400"/>
              <a:ext cx="457200" cy="990600"/>
            </a:xfrm>
            <a:prstGeom prst="rect">
              <a:avLst/>
            </a:prstGeom>
            <a:solidFill>
              <a:schemeClr val="bg2">
                <a:alpha val="25098"/>
              </a:schemeClr>
            </a:solidFill>
            <a:ln w="25400">
              <a:solidFill>
                <a:schemeClr val="hlink"/>
              </a:solidFill>
              <a:miter lim="800000"/>
              <a:headEnd/>
              <a:tailEnd/>
            </a:ln>
          </p:spPr>
          <p:txBody>
            <a:bodyPr wrap="none" anchor="ctr"/>
            <a:lstStyle/>
            <a:p>
              <a:pPr algn="ctr"/>
              <a:endParaRPr lang="en-US"/>
            </a:p>
          </p:txBody>
        </p:sp>
        <p:sp>
          <p:nvSpPr>
            <p:cNvPr id="29731" name="Rectangle 143"/>
            <p:cNvSpPr>
              <a:spLocks noChangeArrowheads="1"/>
            </p:cNvSpPr>
            <p:nvPr/>
          </p:nvSpPr>
          <p:spPr bwMode="auto">
            <a:xfrm>
              <a:off x="4876800" y="36576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32" name="Rectangle 144"/>
            <p:cNvSpPr>
              <a:spLocks noChangeArrowheads="1"/>
            </p:cNvSpPr>
            <p:nvPr/>
          </p:nvSpPr>
          <p:spPr bwMode="auto">
            <a:xfrm>
              <a:off x="5257800" y="40386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7</a:t>
              </a:r>
            </a:p>
          </p:txBody>
        </p:sp>
        <p:sp>
          <p:nvSpPr>
            <p:cNvPr id="29733" name="AutoShape 145"/>
            <p:cNvSpPr>
              <a:spLocks noChangeArrowheads="1"/>
            </p:cNvSpPr>
            <p:nvPr/>
          </p:nvSpPr>
          <p:spPr bwMode="auto">
            <a:xfrm>
              <a:off x="5105400" y="3886200"/>
              <a:ext cx="1143000" cy="11430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endParaRPr lang="en-US"/>
            </a:p>
          </p:txBody>
        </p:sp>
        <p:sp>
          <p:nvSpPr>
            <p:cNvPr id="29734" name="Rectangle 146"/>
            <p:cNvSpPr>
              <a:spLocks noChangeArrowheads="1"/>
            </p:cNvSpPr>
            <p:nvPr/>
          </p:nvSpPr>
          <p:spPr bwMode="auto">
            <a:xfrm>
              <a:off x="5791200" y="4343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35" name="Rectangle 147"/>
            <p:cNvSpPr>
              <a:spLocks noChangeArrowheads="1"/>
            </p:cNvSpPr>
            <p:nvPr/>
          </p:nvSpPr>
          <p:spPr bwMode="auto">
            <a:xfrm>
              <a:off x="5791200" y="4648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36" name="Rectangle 148"/>
            <p:cNvSpPr>
              <a:spLocks noChangeArrowheads="1"/>
            </p:cNvSpPr>
            <p:nvPr/>
          </p:nvSpPr>
          <p:spPr bwMode="auto">
            <a:xfrm>
              <a:off x="5257800" y="46482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14</a:t>
              </a:r>
            </a:p>
          </p:txBody>
        </p:sp>
        <p:sp>
          <p:nvSpPr>
            <p:cNvPr id="29737" name="Rectangle 149"/>
            <p:cNvSpPr>
              <a:spLocks noChangeArrowheads="1"/>
            </p:cNvSpPr>
            <p:nvPr/>
          </p:nvSpPr>
          <p:spPr bwMode="auto">
            <a:xfrm>
              <a:off x="5257800" y="43434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-2</a:t>
              </a:r>
            </a:p>
          </p:txBody>
        </p:sp>
        <p:sp>
          <p:nvSpPr>
            <p:cNvPr id="29738" name="Line 150"/>
            <p:cNvSpPr>
              <a:spLocks noChangeShapeType="1"/>
            </p:cNvSpPr>
            <p:nvPr/>
          </p:nvSpPr>
          <p:spPr bwMode="auto">
            <a:xfrm flipH="1" flipV="1">
              <a:off x="4343400" y="1981200"/>
              <a:ext cx="1219200" cy="1905000"/>
            </a:xfrm>
            <a:prstGeom prst="line">
              <a:avLst/>
            </a:prstGeom>
            <a:noFill/>
            <a:ln w="25400">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9" name="Group 108"/>
          <p:cNvGrpSpPr>
            <a:grpSpLocks/>
          </p:cNvGrpSpPr>
          <p:nvPr/>
        </p:nvGrpSpPr>
        <p:grpSpPr bwMode="auto">
          <a:xfrm>
            <a:off x="6351588" y="1981200"/>
            <a:ext cx="4191000" cy="2514600"/>
            <a:chOff x="4724400" y="1981200"/>
            <a:chExt cx="4191000" cy="2514600"/>
          </a:xfrm>
        </p:grpSpPr>
        <p:sp>
          <p:nvSpPr>
            <p:cNvPr id="29723" name="Rectangle 152"/>
            <p:cNvSpPr>
              <a:spLocks noChangeArrowheads="1"/>
            </p:cNvSpPr>
            <p:nvPr/>
          </p:nvSpPr>
          <p:spPr bwMode="auto">
            <a:xfrm>
              <a:off x="8382000" y="4343400"/>
              <a:ext cx="457200" cy="76200"/>
            </a:xfrm>
            <a:prstGeom prst="rect">
              <a:avLst/>
            </a:prstGeom>
            <a:solidFill>
              <a:schemeClr val="bg2">
                <a:alpha val="25098"/>
              </a:schemeClr>
            </a:solidFill>
            <a:ln w="25400">
              <a:solidFill>
                <a:schemeClr val="accent1"/>
              </a:solidFill>
              <a:miter lim="800000"/>
              <a:headEnd/>
              <a:tailEnd/>
            </a:ln>
          </p:spPr>
          <p:txBody>
            <a:bodyPr wrap="none" anchor="ctr"/>
            <a:lstStyle/>
            <a:p>
              <a:pPr algn="ctr"/>
              <a:endParaRPr lang="en-US"/>
            </a:p>
          </p:txBody>
        </p:sp>
        <p:sp>
          <p:nvSpPr>
            <p:cNvPr id="29724" name="Rectangle 153"/>
            <p:cNvSpPr>
              <a:spLocks noChangeArrowheads="1"/>
            </p:cNvSpPr>
            <p:nvPr/>
          </p:nvSpPr>
          <p:spPr bwMode="auto">
            <a:xfrm>
              <a:off x="7848600" y="4038600"/>
              <a:ext cx="457200" cy="381000"/>
            </a:xfrm>
            <a:prstGeom prst="rect">
              <a:avLst/>
            </a:prstGeom>
            <a:solidFill>
              <a:schemeClr val="bg2">
                <a:alpha val="25098"/>
              </a:schemeClr>
            </a:solidFill>
            <a:ln w="25400">
              <a:solidFill>
                <a:schemeClr val="hlink"/>
              </a:solidFill>
              <a:miter lim="800000"/>
              <a:headEnd/>
              <a:tailEnd/>
            </a:ln>
          </p:spPr>
          <p:txBody>
            <a:bodyPr wrap="none" anchor="ctr"/>
            <a:lstStyle/>
            <a:p>
              <a:pPr algn="ctr"/>
              <a:endParaRPr lang="en-US"/>
            </a:p>
          </p:txBody>
        </p:sp>
        <p:sp>
          <p:nvSpPr>
            <p:cNvPr id="29725" name="Rectangle 154"/>
            <p:cNvSpPr>
              <a:spLocks noChangeArrowheads="1"/>
            </p:cNvSpPr>
            <p:nvPr/>
          </p:nvSpPr>
          <p:spPr bwMode="auto">
            <a:xfrm>
              <a:off x="7391400" y="37338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26" name="AutoShape 155"/>
            <p:cNvSpPr>
              <a:spLocks noChangeArrowheads="1"/>
            </p:cNvSpPr>
            <p:nvPr/>
          </p:nvSpPr>
          <p:spPr bwMode="auto">
            <a:xfrm>
              <a:off x="7772400" y="3962400"/>
              <a:ext cx="1143000" cy="5334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endParaRPr lang="en-US"/>
            </a:p>
          </p:txBody>
        </p:sp>
        <p:sp>
          <p:nvSpPr>
            <p:cNvPr id="29727" name="Rectangle 157"/>
            <p:cNvSpPr>
              <a:spLocks noChangeArrowheads="1"/>
            </p:cNvSpPr>
            <p:nvPr/>
          </p:nvSpPr>
          <p:spPr bwMode="auto">
            <a:xfrm>
              <a:off x="7924800" y="4114800"/>
              <a:ext cx="304800" cy="228600"/>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F</a:t>
              </a:r>
            </a:p>
          </p:txBody>
        </p:sp>
        <p:sp>
          <p:nvSpPr>
            <p:cNvPr id="29728" name="Line 159"/>
            <p:cNvSpPr>
              <a:spLocks noChangeShapeType="1"/>
            </p:cNvSpPr>
            <p:nvPr/>
          </p:nvSpPr>
          <p:spPr bwMode="auto">
            <a:xfrm flipH="1" flipV="1">
              <a:off x="4724400" y="1981200"/>
              <a:ext cx="3505200" cy="1981200"/>
            </a:xfrm>
            <a:prstGeom prst="line">
              <a:avLst/>
            </a:prstGeom>
            <a:noFill/>
            <a:ln w="25400">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10" name="Group 109"/>
          <p:cNvGrpSpPr>
            <a:grpSpLocks/>
          </p:cNvGrpSpPr>
          <p:nvPr/>
        </p:nvGrpSpPr>
        <p:grpSpPr bwMode="auto">
          <a:xfrm>
            <a:off x="6275388" y="2057400"/>
            <a:ext cx="2971800" cy="2971800"/>
            <a:chOff x="4648200" y="2057400"/>
            <a:chExt cx="2971800" cy="2971800"/>
          </a:xfrm>
        </p:grpSpPr>
        <p:grpSp>
          <p:nvGrpSpPr>
            <p:cNvPr id="29714" name="Group 178"/>
            <p:cNvGrpSpPr>
              <a:grpSpLocks/>
            </p:cNvGrpSpPr>
            <p:nvPr/>
          </p:nvGrpSpPr>
          <p:grpSpPr bwMode="auto">
            <a:xfrm>
              <a:off x="6400800" y="3962400"/>
              <a:ext cx="1219200" cy="1066800"/>
              <a:chOff x="4032" y="2496"/>
              <a:chExt cx="768" cy="672"/>
            </a:xfrm>
          </p:grpSpPr>
          <p:sp>
            <p:nvSpPr>
              <p:cNvPr id="29716" name="Rectangle 166"/>
              <p:cNvSpPr>
                <a:spLocks noChangeArrowheads="1"/>
              </p:cNvSpPr>
              <p:nvPr/>
            </p:nvSpPr>
            <p:spPr bwMode="auto">
              <a:xfrm>
                <a:off x="4464" y="2880"/>
                <a:ext cx="288" cy="240"/>
              </a:xfrm>
              <a:prstGeom prst="rect">
                <a:avLst/>
              </a:prstGeom>
              <a:solidFill>
                <a:schemeClr val="bg2">
                  <a:alpha val="25098"/>
                </a:schemeClr>
              </a:solidFill>
              <a:ln w="25400">
                <a:solidFill>
                  <a:schemeClr val="accent1"/>
                </a:solidFill>
                <a:miter lim="800000"/>
                <a:headEnd/>
                <a:tailEnd/>
              </a:ln>
            </p:spPr>
            <p:txBody>
              <a:bodyPr wrap="none" anchor="ctr"/>
              <a:lstStyle/>
              <a:p>
                <a:pPr algn="ctr"/>
                <a:endParaRPr lang="en-US"/>
              </a:p>
            </p:txBody>
          </p:sp>
          <p:sp>
            <p:nvSpPr>
              <p:cNvPr id="29717" name="Rectangle 167"/>
              <p:cNvSpPr>
                <a:spLocks noChangeArrowheads="1"/>
              </p:cNvSpPr>
              <p:nvPr/>
            </p:nvSpPr>
            <p:spPr bwMode="auto">
              <a:xfrm>
                <a:off x="4128" y="2688"/>
                <a:ext cx="288" cy="432"/>
              </a:xfrm>
              <a:prstGeom prst="rect">
                <a:avLst/>
              </a:prstGeom>
              <a:solidFill>
                <a:schemeClr val="bg2">
                  <a:alpha val="25098"/>
                </a:schemeClr>
              </a:solidFill>
              <a:ln w="25400">
                <a:solidFill>
                  <a:schemeClr val="hlink"/>
                </a:solidFill>
                <a:miter lim="800000"/>
                <a:headEnd/>
                <a:tailEnd/>
              </a:ln>
            </p:spPr>
            <p:txBody>
              <a:bodyPr wrap="none" anchor="ctr"/>
              <a:lstStyle/>
              <a:p>
                <a:pPr algn="ctr"/>
                <a:endParaRPr lang="en-US"/>
              </a:p>
            </p:txBody>
          </p:sp>
          <p:sp>
            <p:nvSpPr>
              <p:cNvPr id="29718" name="Rectangle 168"/>
              <p:cNvSpPr>
                <a:spLocks noChangeArrowheads="1"/>
              </p:cNvSpPr>
              <p:nvPr/>
            </p:nvSpPr>
            <p:spPr bwMode="auto">
              <a:xfrm>
                <a:off x="4032" y="2496"/>
                <a:ext cx="192" cy="144"/>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19" name="AutoShape 170"/>
              <p:cNvSpPr>
                <a:spLocks noChangeArrowheads="1"/>
              </p:cNvSpPr>
              <p:nvPr/>
            </p:nvSpPr>
            <p:spPr bwMode="auto">
              <a:xfrm>
                <a:off x="4080" y="2640"/>
                <a:ext cx="720" cy="528"/>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endParaRPr lang="en-US"/>
              </a:p>
            </p:txBody>
          </p:sp>
          <p:sp>
            <p:nvSpPr>
              <p:cNvPr id="29720" name="Rectangle 172"/>
              <p:cNvSpPr>
                <a:spLocks noChangeArrowheads="1"/>
              </p:cNvSpPr>
              <p:nvPr/>
            </p:nvSpPr>
            <p:spPr bwMode="auto">
              <a:xfrm>
                <a:off x="4512" y="2928"/>
                <a:ext cx="192" cy="144"/>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a:t>
                </a:r>
              </a:p>
            </p:txBody>
          </p:sp>
          <p:sp>
            <p:nvSpPr>
              <p:cNvPr id="29721" name="Rectangle 173"/>
              <p:cNvSpPr>
                <a:spLocks noChangeArrowheads="1"/>
              </p:cNvSpPr>
              <p:nvPr/>
            </p:nvSpPr>
            <p:spPr bwMode="auto">
              <a:xfrm>
                <a:off x="4176" y="2928"/>
                <a:ext cx="192" cy="144"/>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14</a:t>
                </a:r>
              </a:p>
            </p:txBody>
          </p:sp>
          <p:sp>
            <p:nvSpPr>
              <p:cNvPr id="29722" name="Rectangle 174"/>
              <p:cNvSpPr>
                <a:spLocks noChangeArrowheads="1"/>
              </p:cNvSpPr>
              <p:nvPr/>
            </p:nvSpPr>
            <p:spPr bwMode="auto">
              <a:xfrm>
                <a:off x="4176" y="2736"/>
                <a:ext cx="192" cy="144"/>
              </a:xfrm>
              <a:prstGeom prst="rect">
                <a:avLst/>
              </a:prstGeom>
              <a:solidFill>
                <a:schemeClr val="accent1">
                  <a:alpha val="27843"/>
                </a:schemeClr>
              </a:solidFill>
              <a:ln w="9525">
                <a:solidFill>
                  <a:schemeClr val="tx1"/>
                </a:solidFill>
                <a:miter lim="800000"/>
                <a:headEnd/>
                <a:tailEnd/>
              </a:ln>
            </p:spPr>
            <p:txBody>
              <a:bodyPr wrap="none" anchor="ctr"/>
              <a:lstStyle/>
              <a:p>
                <a:pPr algn="ctr"/>
                <a:r>
                  <a:rPr lang="en-US"/>
                  <a:t>5</a:t>
                </a:r>
              </a:p>
            </p:txBody>
          </p:sp>
        </p:grpSp>
        <p:sp>
          <p:nvSpPr>
            <p:cNvPr id="29715" name="Line 175"/>
            <p:cNvSpPr>
              <a:spLocks noChangeShapeType="1"/>
            </p:cNvSpPr>
            <p:nvPr/>
          </p:nvSpPr>
          <p:spPr bwMode="auto">
            <a:xfrm flipH="1" flipV="1">
              <a:off x="4648200" y="2057400"/>
              <a:ext cx="2438400" cy="2133600"/>
            </a:xfrm>
            <a:prstGeom prst="line">
              <a:avLst/>
            </a:prstGeom>
            <a:noFill/>
            <a:ln w="25400">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101" name="TextBox 100"/>
          <p:cNvSpPr txBox="1">
            <a:spLocks noChangeArrowheads="1"/>
          </p:cNvSpPr>
          <p:nvPr/>
        </p:nvSpPr>
        <p:spPr bwMode="auto">
          <a:xfrm>
            <a:off x="7467600" y="228601"/>
            <a:ext cx="2819400" cy="646113"/>
          </a:xfrm>
          <a:prstGeom prst="rect">
            <a:avLst/>
          </a:prstGeom>
          <a:gradFill rotWithShape="1">
            <a:gsLst>
              <a:gs pos="0">
                <a:srgbClr val="BDBDBD"/>
              </a:gs>
              <a:gs pos="80000">
                <a:srgbClr val="F7F7F7"/>
              </a:gs>
              <a:gs pos="100000">
                <a:srgbClr val="F8F8F8"/>
              </a:gs>
            </a:gsLst>
            <a:lin ang="16200000"/>
          </a:gradFill>
          <a:ln w="9525">
            <a:solidFill>
              <a:srgbClr val="F9F9F9"/>
            </a:solidFill>
            <a:miter lim="800000"/>
            <a:headEnd/>
            <a:tailEnd/>
          </a:ln>
          <a:effectLst>
            <a:outerShdw blurRad="63500" dist="23000" dir="5400000" rotWithShape="0">
              <a:srgbClr val="000000">
                <a:alpha val="34999"/>
              </a:srgbClr>
            </a:outerShdw>
          </a:effectLst>
        </p:spPr>
        <p:txBody>
          <a:bodyPr>
            <a:spAutoFit/>
          </a:bodyPr>
          <a:lstStyle/>
          <a:p>
            <a:pPr>
              <a:defRPr/>
            </a:pPr>
            <a:r>
              <a:rPr lang="en-US" dirty="0">
                <a:solidFill>
                  <a:schemeClr val="tx2"/>
                </a:solidFill>
              </a:rPr>
              <a:t>Slide by Matt Stallmann included with permission.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Stacks</a:t>
            </a:r>
          </a:p>
        </p:txBody>
      </p:sp>
      <p:sp>
        <p:nvSpPr>
          <p:cNvPr id="2052"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3E79749C-2B60-BF40-B431-97BD2C71D761}" type="slidenum">
              <a:rPr lang="en-US" sz="1400"/>
              <a:pPr eaLnBrk="1" hangingPunct="1"/>
              <a:t>23</a:t>
            </a:fld>
            <a:endParaRPr lang="en-US" sz="1400"/>
          </a:p>
        </p:txBody>
      </p:sp>
      <p:sp>
        <p:nvSpPr>
          <p:cNvPr id="2053" name="Rectangle 2"/>
          <p:cNvSpPr>
            <a:spLocks noGrp="1" noChangeArrowheads="1"/>
          </p:cNvSpPr>
          <p:nvPr>
            <p:ph type="title"/>
          </p:nvPr>
        </p:nvSpPr>
        <p:spPr>
          <a:xfrm>
            <a:off x="2133600" y="304800"/>
            <a:ext cx="8229600" cy="1143000"/>
          </a:xfrm>
        </p:spPr>
        <p:txBody>
          <a:bodyPr/>
          <a:lstStyle/>
          <a:p>
            <a:pPr eaLnBrk="1" hangingPunct="1"/>
            <a:r>
              <a:rPr lang="en-US">
                <a:latin typeface="Tahoma" charset="0"/>
              </a:rPr>
              <a:t>Computing Spans (not in book)</a:t>
            </a:r>
          </a:p>
        </p:txBody>
      </p:sp>
      <p:sp>
        <p:nvSpPr>
          <p:cNvPr id="2054" name="Rectangle 3" descr="Rectangle: Click to edit Master text styles&#10;Second level&#10;Third level&#10;Fourth level&#10;Fifth level"/>
          <p:cNvSpPr>
            <a:spLocks noGrp="1" noChangeArrowheads="1"/>
          </p:cNvSpPr>
          <p:nvPr>
            <p:ph type="body" idx="1"/>
          </p:nvPr>
        </p:nvSpPr>
        <p:spPr>
          <a:xfrm>
            <a:off x="2209800" y="1600200"/>
            <a:ext cx="4572000" cy="4648200"/>
          </a:xfrm>
        </p:spPr>
        <p:txBody>
          <a:bodyPr/>
          <a:lstStyle/>
          <a:p>
            <a:pPr eaLnBrk="1" hangingPunct="1">
              <a:buFont typeface="Wingdings" charset="0"/>
              <a:buChar char="q"/>
            </a:pPr>
            <a:r>
              <a:rPr lang="en-US" sz="2400">
                <a:latin typeface="Tahoma" charset="0"/>
              </a:rPr>
              <a:t>Using a stack as an auxiliary data structure in an algorithm</a:t>
            </a:r>
          </a:p>
          <a:p>
            <a:pPr eaLnBrk="1" hangingPunct="1">
              <a:buFont typeface="Wingdings" charset="0"/>
              <a:buChar char="q"/>
            </a:pPr>
            <a:r>
              <a:rPr lang="en-US" sz="2400">
                <a:latin typeface="Tahoma" charset="0"/>
              </a:rPr>
              <a:t>Given an an array </a:t>
            </a:r>
            <a:r>
              <a:rPr lang="en-US" sz="2400" b="1" i="1">
                <a:latin typeface="Times New Roman" charset="0"/>
              </a:rPr>
              <a:t>X</a:t>
            </a:r>
            <a:r>
              <a:rPr lang="en-US" sz="2400">
                <a:latin typeface="Tahoma" charset="0"/>
              </a:rPr>
              <a:t>, the </a:t>
            </a:r>
            <a:r>
              <a:rPr lang="en-US" sz="2400">
                <a:solidFill>
                  <a:schemeClr val="tx2"/>
                </a:solidFill>
                <a:latin typeface="Tahoma" charset="0"/>
              </a:rPr>
              <a:t>span</a:t>
            </a:r>
            <a:r>
              <a:rPr lang="en-US" sz="2400">
                <a:latin typeface="Tahoma" charset="0"/>
              </a:rPr>
              <a:t> </a:t>
            </a:r>
            <a:r>
              <a:rPr lang="en-US" sz="2400" b="1" i="1">
                <a:latin typeface="Times New Roman" charset="0"/>
                <a:sym typeface="Symbol" charset="0"/>
              </a:rPr>
              <a:t>S</a:t>
            </a:r>
            <a:r>
              <a:rPr lang="en-US" sz="2400">
                <a:latin typeface="Times New Roman" charset="0"/>
                <a:sym typeface="Symbol" charset="0"/>
              </a:rPr>
              <a:t>[</a:t>
            </a:r>
            <a:r>
              <a:rPr lang="en-US" sz="2400" b="1" i="1">
                <a:latin typeface="Times New Roman" charset="0"/>
                <a:sym typeface="Symbol" charset="0"/>
              </a:rPr>
              <a:t>i</a:t>
            </a:r>
            <a:r>
              <a:rPr lang="en-US" sz="2400">
                <a:latin typeface="Times New Roman" charset="0"/>
                <a:sym typeface="Symbol" charset="0"/>
              </a:rPr>
              <a:t>]</a:t>
            </a:r>
            <a:r>
              <a:rPr lang="en-US" sz="2400">
                <a:latin typeface="Tahoma" charset="0"/>
              </a:rPr>
              <a:t> of </a:t>
            </a:r>
            <a:r>
              <a:rPr lang="en-US" sz="2400" b="1" i="1">
                <a:latin typeface="Times New Roman" charset="0"/>
                <a:sym typeface="Symbol" charset="0"/>
              </a:rPr>
              <a:t>X</a:t>
            </a:r>
            <a:r>
              <a:rPr lang="en-US" sz="2400">
                <a:latin typeface="Times New Roman" charset="0"/>
                <a:sym typeface="Symbol" charset="0"/>
              </a:rPr>
              <a:t>[</a:t>
            </a:r>
            <a:r>
              <a:rPr lang="en-US" sz="2400" b="1" i="1">
                <a:latin typeface="Times New Roman" charset="0"/>
                <a:sym typeface="Symbol" charset="0"/>
              </a:rPr>
              <a:t>i</a:t>
            </a:r>
            <a:r>
              <a:rPr lang="en-US" sz="2400">
                <a:latin typeface="Times New Roman" charset="0"/>
                <a:sym typeface="Symbol" charset="0"/>
              </a:rPr>
              <a:t>]</a:t>
            </a:r>
            <a:r>
              <a:rPr lang="en-US" sz="2400">
                <a:latin typeface="Tahoma" charset="0"/>
              </a:rPr>
              <a:t> is the maximum number of consecutive elements </a:t>
            </a:r>
            <a:r>
              <a:rPr lang="en-US" sz="2400" b="1" i="1">
                <a:latin typeface="Times New Roman" charset="0"/>
                <a:sym typeface="Symbol" charset="0"/>
              </a:rPr>
              <a:t>X</a:t>
            </a:r>
            <a:r>
              <a:rPr lang="en-US" sz="2400">
                <a:latin typeface="Times New Roman" charset="0"/>
                <a:sym typeface="Symbol" charset="0"/>
              </a:rPr>
              <a:t>[</a:t>
            </a:r>
            <a:r>
              <a:rPr lang="en-US" sz="2400" b="1" i="1">
                <a:latin typeface="Times New Roman" charset="0"/>
                <a:sym typeface="Symbol" charset="0"/>
              </a:rPr>
              <a:t>j</a:t>
            </a:r>
            <a:r>
              <a:rPr lang="en-US" sz="2400">
                <a:latin typeface="Times New Roman" charset="0"/>
                <a:sym typeface="Symbol" charset="0"/>
              </a:rPr>
              <a:t>] </a:t>
            </a:r>
            <a:r>
              <a:rPr lang="en-US" sz="2400">
                <a:latin typeface="Tahoma" charset="0"/>
              </a:rPr>
              <a:t>immediately preceding </a:t>
            </a:r>
            <a:r>
              <a:rPr lang="en-US" sz="2400" b="1" i="1">
                <a:latin typeface="Times New Roman" charset="0"/>
                <a:sym typeface="Symbol" charset="0"/>
              </a:rPr>
              <a:t>X</a:t>
            </a:r>
            <a:r>
              <a:rPr lang="en-US" sz="2400">
                <a:latin typeface="Times New Roman" charset="0"/>
                <a:sym typeface="Symbol" charset="0"/>
              </a:rPr>
              <a:t>[</a:t>
            </a:r>
            <a:r>
              <a:rPr lang="en-US" sz="2400" b="1" i="1">
                <a:latin typeface="Times New Roman" charset="0"/>
                <a:sym typeface="Symbol" charset="0"/>
              </a:rPr>
              <a:t>i</a:t>
            </a:r>
            <a:r>
              <a:rPr lang="en-US" sz="2400">
                <a:latin typeface="Times New Roman" charset="0"/>
                <a:sym typeface="Symbol" charset="0"/>
              </a:rPr>
              <a:t>] </a:t>
            </a:r>
            <a:r>
              <a:rPr lang="en-US" sz="2400">
                <a:latin typeface="Tahoma" charset="0"/>
              </a:rPr>
              <a:t>and such that </a:t>
            </a:r>
            <a:r>
              <a:rPr lang="en-US" sz="2400" b="1" i="1">
                <a:latin typeface="Times New Roman" charset="0"/>
                <a:sym typeface="Symbol" charset="0"/>
              </a:rPr>
              <a:t>X</a:t>
            </a:r>
            <a:r>
              <a:rPr lang="en-US" sz="2400">
                <a:latin typeface="Times New Roman" charset="0"/>
                <a:sym typeface="Symbol" charset="0"/>
              </a:rPr>
              <a:t>[</a:t>
            </a:r>
            <a:r>
              <a:rPr lang="en-US" sz="2400" b="1" i="1">
                <a:latin typeface="Times New Roman" charset="0"/>
                <a:sym typeface="Symbol" charset="0"/>
              </a:rPr>
              <a:t>j</a:t>
            </a:r>
            <a:r>
              <a:rPr lang="en-US" sz="2400">
                <a:latin typeface="Times New Roman" charset="0"/>
                <a:sym typeface="Symbol" charset="0"/>
              </a:rPr>
              <a:t>] </a:t>
            </a:r>
            <a:r>
              <a:rPr lang="en-US" sz="2400">
                <a:latin typeface="Symbol" charset="0"/>
                <a:sym typeface="Symbol" charset="0"/>
              </a:rPr>
              <a:t></a:t>
            </a:r>
            <a:r>
              <a:rPr lang="en-US" sz="2400" b="1" i="1">
                <a:latin typeface="Times New Roman" charset="0"/>
                <a:sym typeface="Symbol" charset="0"/>
              </a:rPr>
              <a:t> X</a:t>
            </a:r>
            <a:r>
              <a:rPr lang="en-US" sz="2400">
                <a:latin typeface="Times New Roman" charset="0"/>
                <a:sym typeface="Symbol" charset="0"/>
              </a:rPr>
              <a:t>[</a:t>
            </a:r>
            <a:r>
              <a:rPr lang="en-US" sz="2400" b="1" i="1">
                <a:latin typeface="Times New Roman" charset="0"/>
                <a:sym typeface="Symbol" charset="0"/>
              </a:rPr>
              <a:t>i</a:t>
            </a:r>
            <a:r>
              <a:rPr lang="en-US" sz="2400">
                <a:latin typeface="Times New Roman" charset="0"/>
                <a:sym typeface="Symbol" charset="0"/>
              </a:rPr>
              <a:t>]</a:t>
            </a:r>
            <a:r>
              <a:rPr lang="en-US" sz="2400">
                <a:latin typeface="Tahoma" charset="0"/>
              </a:rPr>
              <a:t> </a:t>
            </a:r>
          </a:p>
          <a:p>
            <a:pPr eaLnBrk="1" hangingPunct="1">
              <a:buFont typeface="Wingdings" charset="0"/>
              <a:buChar char="q"/>
            </a:pPr>
            <a:r>
              <a:rPr lang="en-US" sz="2400">
                <a:latin typeface="Tahoma" charset="0"/>
              </a:rPr>
              <a:t>Spans have applications to financial analysis</a:t>
            </a:r>
          </a:p>
          <a:p>
            <a:pPr lvl="1" eaLnBrk="1" hangingPunct="1"/>
            <a:r>
              <a:rPr lang="en-US" sz="2000">
                <a:latin typeface="Tahoma" charset="0"/>
              </a:rPr>
              <a:t>E.g., stock at 52-week high</a:t>
            </a:r>
            <a:endParaRPr lang="en-US" sz="2400">
              <a:latin typeface="Tahoma" charset="0"/>
            </a:endParaRPr>
          </a:p>
        </p:txBody>
      </p:sp>
      <p:graphicFrame>
        <p:nvGraphicFramePr>
          <p:cNvPr id="44061" name="Group 29"/>
          <p:cNvGraphicFramePr>
            <a:graphicFrameLocks noGrp="1"/>
          </p:cNvGraphicFramePr>
          <p:nvPr/>
        </p:nvGraphicFramePr>
        <p:xfrm>
          <a:off x="7461250" y="5334000"/>
          <a:ext cx="2520950" cy="914400"/>
        </p:xfrm>
        <a:graphic>
          <a:graphicData uri="http://schemas.openxmlformats.org/drawingml/2006/table">
            <a:tbl>
              <a:tblPr/>
              <a:tblGrid>
                <a:gridCol w="506413">
                  <a:extLst>
                    <a:ext uri="{9D8B030D-6E8A-4147-A177-3AD203B41FA5}">
                      <a16:colId xmlns:a16="http://schemas.microsoft.com/office/drawing/2014/main" val="20000"/>
                    </a:ext>
                  </a:extLst>
                </a:gridCol>
                <a:gridCol w="501650">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1650">
                  <a:extLst>
                    <a:ext uri="{9D8B030D-6E8A-4147-A177-3AD203B41FA5}">
                      <a16:colId xmlns:a16="http://schemas.microsoft.com/office/drawing/2014/main" val="20003"/>
                    </a:ext>
                  </a:extLst>
                </a:gridCol>
                <a:gridCol w="506412">
                  <a:extLst>
                    <a:ext uri="{9D8B030D-6E8A-4147-A177-3AD203B41FA5}">
                      <a16:colId xmlns:a16="http://schemas.microsoft.com/office/drawing/2014/main" val="20004"/>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2"/>
                          </a:solidFill>
                          <a:effectLst/>
                          <a:latin typeface="Times New Roman"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2"/>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2"/>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2"/>
                          </a:solidFill>
                          <a:effectLst/>
                          <a:latin typeface="Times New Roman"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2"/>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accent2"/>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accent2"/>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accent2"/>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accent2"/>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accent2"/>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075" name="Text Box 30"/>
          <p:cNvSpPr txBox="1">
            <a:spLocks noChangeArrowheads="1"/>
          </p:cNvSpPr>
          <p:nvPr/>
        </p:nvSpPr>
        <p:spPr bwMode="auto">
          <a:xfrm>
            <a:off x="6921500" y="5334000"/>
            <a:ext cx="3873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b="1" i="1">
                <a:solidFill>
                  <a:schemeClr val="tx2"/>
                </a:solidFill>
                <a:latin typeface="Times New Roman" charset="0"/>
              </a:rPr>
              <a:t>X</a:t>
            </a:r>
          </a:p>
        </p:txBody>
      </p:sp>
      <p:sp>
        <p:nvSpPr>
          <p:cNvPr id="2076" name="Text Box 31"/>
          <p:cNvSpPr txBox="1">
            <a:spLocks noChangeArrowheads="1"/>
          </p:cNvSpPr>
          <p:nvPr/>
        </p:nvSpPr>
        <p:spPr bwMode="auto">
          <a:xfrm>
            <a:off x="6927851" y="5791200"/>
            <a:ext cx="35401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b="1" i="1">
                <a:solidFill>
                  <a:schemeClr val="accent2"/>
                </a:solidFill>
                <a:latin typeface="Times New Roman" charset="0"/>
              </a:rPr>
              <a:t>S</a:t>
            </a:r>
          </a:p>
        </p:txBody>
      </p:sp>
      <p:graphicFrame>
        <p:nvGraphicFramePr>
          <p:cNvPr id="2050" name="Object 32"/>
          <p:cNvGraphicFramePr>
            <a:graphicFrameLocks noChangeAspect="1"/>
          </p:cNvGraphicFramePr>
          <p:nvPr/>
        </p:nvGraphicFramePr>
        <p:xfrm>
          <a:off x="6654800" y="1219200"/>
          <a:ext cx="3695700" cy="4064000"/>
        </p:xfrm>
        <a:graphic>
          <a:graphicData uri="http://schemas.openxmlformats.org/presentationml/2006/ole">
            <mc:AlternateContent xmlns:mc="http://schemas.openxmlformats.org/markup-compatibility/2006">
              <mc:Choice xmlns:v="urn:schemas-microsoft-com:vml" Requires="v">
                <p:oleObj name="Chart" r:id="rId2" imgW="3696081" imgH="4067658" progId="MSGraph.Chart.8">
                  <p:embed followColorScheme="full"/>
                </p:oleObj>
              </mc:Choice>
              <mc:Fallback>
                <p:oleObj name="Chart" r:id="rId2" imgW="3696081" imgH="4067658" progId="MSGraph.Chart.8">
                  <p:embed followColorScheme="full"/>
                  <p:pic>
                    <p:nvPicPr>
                      <p:cNvPr id="2050"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4800" y="1219200"/>
                        <a:ext cx="3695700" cy="40640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077" name="Line 43"/>
          <p:cNvSpPr>
            <a:spLocks noChangeShapeType="1"/>
          </p:cNvSpPr>
          <p:nvPr/>
        </p:nvSpPr>
        <p:spPr bwMode="auto">
          <a:xfrm>
            <a:off x="9664700" y="3505200"/>
            <a:ext cx="457200" cy="0"/>
          </a:xfrm>
          <a:prstGeom prst="line">
            <a:avLst/>
          </a:prstGeom>
          <a:noFill/>
          <a:ln w="57150">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lstStyle/>
          <a:p>
            <a:endParaRPr lang="en-US"/>
          </a:p>
        </p:txBody>
      </p:sp>
      <p:sp>
        <p:nvSpPr>
          <p:cNvPr id="2078" name="Line 44"/>
          <p:cNvSpPr>
            <a:spLocks noChangeShapeType="1"/>
          </p:cNvSpPr>
          <p:nvPr/>
        </p:nvSpPr>
        <p:spPr bwMode="auto">
          <a:xfrm>
            <a:off x="7848600" y="3098800"/>
            <a:ext cx="457200" cy="0"/>
          </a:xfrm>
          <a:prstGeom prst="line">
            <a:avLst/>
          </a:prstGeom>
          <a:noFill/>
          <a:ln w="57150">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lstStyle/>
          <a:p>
            <a:endParaRPr lang="en-US"/>
          </a:p>
        </p:txBody>
      </p:sp>
      <p:sp>
        <p:nvSpPr>
          <p:cNvPr id="2079" name="Line 45"/>
          <p:cNvSpPr>
            <a:spLocks noChangeShapeType="1"/>
          </p:cNvSpPr>
          <p:nvPr/>
        </p:nvSpPr>
        <p:spPr bwMode="auto">
          <a:xfrm>
            <a:off x="7264400" y="1905000"/>
            <a:ext cx="457200" cy="0"/>
          </a:xfrm>
          <a:prstGeom prst="line">
            <a:avLst/>
          </a:prstGeom>
          <a:noFill/>
          <a:ln w="57150">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lstStyle/>
          <a:p>
            <a:endParaRPr lang="en-US"/>
          </a:p>
        </p:txBody>
      </p:sp>
      <p:sp>
        <p:nvSpPr>
          <p:cNvPr id="2080" name="Line 46"/>
          <p:cNvSpPr>
            <a:spLocks noChangeShapeType="1"/>
          </p:cNvSpPr>
          <p:nvPr/>
        </p:nvSpPr>
        <p:spPr bwMode="auto">
          <a:xfrm>
            <a:off x="7848600" y="2667000"/>
            <a:ext cx="1066800" cy="0"/>
          </a:xfrm>
          <a:prstGeom prst="line">
            <a:avLst/>
          </a:prstGeom>
          <a:noFill/>
          <a:ln w="57150">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lstStyle/>
          <a:p>
            <a:endParaRPr lang="en-US"/>
          </a:p>
        </p:txBody>
      </p:sp>
      <p:sp>
        <p:nvSpPr>
          <p:cNvPr id="2081" name="Line 47"/>
          <p:cNvSpPr>
            <a:spLocks noChangeShapeType="1"/>
          </p:cNvSpPr>
          <p:nvPr/>
        </p:nvSpPr>
        <p:spPr bwMode="auto">
          <a:xfrm>
            <a:off x="7848600" y="2209800"/>
            <a:ext cx="1676400" cy="0"/>
          </a:xfrm>
          <a:prstGeom prst="line">
            <a:avLst/>
          </a:prstGeom>
          <a:noFill/>
          <a:ln w="57150">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lstStyle/>
          <a:p>
            <a:endParaRPr lang="en-US"/>
          </a:p>
        </p:txBody>
      </p:sp>
      <p:sp>
        <p:nvSpPr>
          <p:cNvPr id="2082" name="Date Placeholder 14"/>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Stacks</a:t>
            </a:r>
          </a:p>
        </p:txBody>
      </p:sp>
      <p:sp>
        <p:nvSpPr>
          <p:cNvPr id="30723"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C48B8DB3-FB5A-6F41-9CE1-234B5862B1F7}" type="slidenum">
              <a:rPr lang="en-US" sz="1400"/>
              <a:pPr eaLnBrk="1" hangingPunct="1"/>
              <a:t>24</a:t>
            </a:fld>
            <a:endParaRPr lang="en-US" sz="1400"/>
          </a:p>
        </p:txBody>
      </p:sp>
      <p:sp>
        <p:nvSpPr>
          <p:cNvPr id="30724" name="Rectangle 2"/>
          <p:cNvSpPr>
            <a:spLocks noGrp="1" noChangeArrowheads="1"/>
          </p:cNvSpPr>
          <p:nvPr>
            <p:ph type="title"/>
          </p:nvPr>
        </p:nvSpPr>
        <p:spPr/>
        <p:txBody>
          <a:bodyPr/>
          <a:lstStyle/>
          <a:p>
            <a:pPr>
              <a:tabLst>
                <a:tab pos="292100" algn="l"/>
              </a:tabLst>
            </a:pPr>
            <a:r>
              <a:rPr lang="en-US">
                <a:latin typeface="Tahoma" charset="0"/>
              </a:rPr>
              <a:t>Quadratic Algorithm</a:t>
            </a:r>
          </a:p>
        </p:txBody>
      </p:sp>
      <p:sp>
        <p:nvSpPr>
          <p:cNvPr id="30725" name="Rectangle 5" descr="Rectangle: Click to edit Master text styles&#10;Second level&#10;Third level&#10;Fourth level&#10;Fifth level"/>
          <p:cNvSpPr>
            <a:spLocks noChangeArrowheads="1"/>
          </p:cNvSpPr>
          <p:nvPr/>
        </p:nvSpPr>
        <p:spPr bwMode="auto">
          <a:xfrm>
            <a:off x="2362200" y="1676400"/>
            <a:ext cx="7772400" cy="39624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marL="342900" indent="-342900">
              <a:tabLst>
                <a:tab pos="635000" algn="l"/>
                <a:tab pos="914400" algn="l"/>
              </a:tabLst>
            </a:pPr>
            <a:r>
              <a:rPr lang="en-US" b="1">
                <a:solidFill>
                  <a:srgbClr val="000000"/>
                </a:solidFill>
                <a:latin typeface="Times New Roman" charset="0"/>
              </a:rPr>
              <a:t>Algorithm</a:t>
            </a:r>
            <a:r>
              <a:rPr lang="en-US">
                <a:latin typeface="Times New Roman" charset="0"/>
              </a:rPr>
              <a:t> </a:t>
            </a:r>
            <a:r>
              <a:rPr lang="en-US" b="1" i="1">
                <a:solidFill>
                  <a:schemeClr val="tx2"/>
                </a:solidFill>
                <a:latin typeface="Times New Roman" charset="0"/>
              </a:rPr>
              <a:t>spans1</a:t>
            </a:r>
            <a:r>
              <a:rPr lang="en-US">
                <a:solidFill>
                  <a:schemeClr val="tx2"/>
                </a:solidFill>
                <a:latin typeface="Times New Roman" charset="0"/>
              </a:rPr>
              <a:t>(</a:t>
            </a:r>
            <a:r>
              <a:rPr lang="en-US" b="1" i="1">
                <a:solidFill>
                  <a:schemeClr val="tx2"/>
                </a:solidFill>
                <a:latin typeface="Times New Roman" charset="0"/>
              </a:rPr>
              <a:t>X, n</a:t>
            </a:r>
            <a:r>
              <a:rPr lang="en-US">
                <a:solidFill>
                  <a:schemeClr val="tx2"/>
                </a:solidFill>
                <a:latin typeface="Times New Roman" charset="0"/>
              </a:rPr>
              <a:t>)</a:t>
            </a:r>
          </a:p>
          <a:p>
            <a:pPr marL="342900" indent="-342900">
              <a:tabLst>
                <a:tab pos="635000" algn="l"/>
                <a:tab pos="914400" algn="l"/>
              </a:tabLst>
            </a:pPr>
            <a:r>
              <a:rPr lang="en-US" b="1">
                <a:solidFill>
                  <a:schemeClr val="tx2"/>
                </a:solidFill>
                <a:latin typeface="Times New Roman" charset="0"/>
              </a:rPr>
              <a:t>	</a:t>
            </a:r>
            <a:r>
              <a:rPr lang="en-US" b="1">
                <a:solidFill>
                  <a:srgbClr val="000000"/>
                </a:solidFill>
                <a:latin typeface="Times New Roman" charset="0"/>
              </a:rPr>
              <a:t>Input</a:t>
            </a:r>
            <a:r>
              <a:rPr lang="en-US">
                <a:latin typeface="Times New Roman" charset="0"/>
              </a:rPr>
              <a:t> </a:t>
            </a:r>
            <a:r>
              <a:rPr lang="en-US">
                <a:solidFill>
                  <a:schemeClr val="accent2"/>
                </a:solidFill>
                <a:latin typeface="Times New Roman" charset="0"/>
              </a:rPr>
              <a:t>array </a:t>
            </a:r>
            <a:r>
              <a:rPr lang="en-US" b="1" i="1">
                <a:solidFill>
                  <a:schemeClr val="accent2"/>
                </a:solidFill>
                <a:latin typeface="Times New Roman" charset="0"/>
              </a:rPr>
              <a:t>X</a:t>
            </a:r>
            <a:r>
              <a:rPr lang="en-US">
                <a:solidFill>
                  <a:schemeClr val="accent2"/>
                </a:solidFill>
                <a:latin typeface="Times New Roman" charset="0"/>
              </a:rPr>
              <a:t> of </a:t>
            </a:r>
            <a:r>
              <a:rPr lang="en-US" b="1" i="1">
                <a:solidFill>
                  <a:schemeClr val="accent2"/>
                </a:solidFill>
                <a:latin typeface="Times New Roman" charset="0"/>
              </a:rPr>
              <a:t>n</a:t>
            </a:r>
            <a:r>
              <a:rPr lang="en-US">
                <a:solidFill>
                  <a:schemeClr val="accent2"/>
                </a:solidFill>
                <a:latin typeface="Times New Roman" charset="0"/>
              </a:rPr>
              <a:t> integers</a:t>
            </a:r>
          </a:p>
          <a:p>
            <a:pPr marL="342900" indent="-342900">
              <a:tabLst>
                <a:tab pos="635000" algn="l"/>
                <a:tab pos="914400" algn="l"/>
              </a:tabLst>
            </a:pPr>
            <a:r>
              <a:rPr lang="en-US" b="1">
                <a:solidFill>
                  <a:schemeClr val="tx2"/>
                </a:solidFill>
                <a:latin typeface="Times New Roman" charset="0"/>
              </a:rPr>
              <a:t>	</a:t>
            </a:r>
            <a:r>
              <a:rPr lang="en-US" b="1">
                <a:solidFill>
                  <a:srgbClr val="000000"/>
                </a:solidFill>
                <a:latin typeface="Times New Roman" charset="0"/>
              </a:rPr>
              <a:t>Output</a:t>
            </a:r>
            <a:r>
              <a:rPr lang="en-US">
                <a:latin typeface="Times New Roman" charset="0"/>
              </a:rPr>
              <a:t> </a:t>
            </a:r>
            <a:r>
              <a:rPr lang="en-US">
                <a:solidFill>
                  <a:schemeClr val="accent2"/>
                </a:solidFill>
                <a:latin typeface="Times New Roman" charset="0"/>
              </a:rPr>
              <a:t>array </a:t>
            </a:r>
            <a:r>
              <a:rPr lang="en-US" b="1" i="1">
                <a:solidFill>
                  <a:schemeClr val="accent2"/>
                </a:solidFill>
                <a:latin typeface="Times New Roman" charset="0"/>
              </a:rPr>
              <a:t>S</a:t>
            </a:r>
            <a:r>
              <a:rPr lang="en-US">
                <a:solidFill>
                  <a:schemeClr val="accent2"/>
                </a:solidFill>
                <a:latin typeface="Times New Roman" charset="0"/>
              </a:rPr>
              <a:t> of spans of </a:t>
            </a:r>
            <a:r>
              <a:rPr lang="en-US" b="1" i="1">
                <a:solidFill>
                  <a:schemeClr val="accent2"/>
                </a:solidFill>
                <a:latin typeface="Times New Roman" charset="0"/>
                <a:sym typeface="Symbol" charset="0"/>
              </a:rPr>
              <a:t>X	    	</a:t>
            </a:r>
            <a:r>
              <a:rPr lang="en-US" sz="2000" b="1">
                <a:sym typeface="Symbol" charset="0"/>
              </a:rPr>
              <a:t>#</a:t>
            </a:r>
            <a:endParaRPr lang="en-US" b="1">
              <a:solidFill>
                <a:schemeClr val="accent2"/>
              </a:solidFill>
              <a:latin typeface="Times New Roman" charset="0"/>
              <a:sym typeface="Symbol" charset="0"/>
            </a:endParaRPr>
          </a:p>
          <a:p>
            <a:pPr marL="342900" indent="-342900">
              <a:tabLst>
                <a:tab pos="635000" algn="l"/>
                <a:tab pos="914400" algn="l"/>
              </a:tabLst>
            </a:pPr>
            <a:r>
              <a:rPr lang="en-US">
                <a:solidFill>
                  <a:schemeClr val="accent2"/>
                </a:solidFill>
                <a:latin typeface="Times New Roman" charset="0"/>
                <a:sym typeface="Symbol" charset="0"/>
              </a:rPr>
              <a:t>	</a:t>
            </a:r>
            <a:r>
              <a:rPr lang="en-US" b="1" i="1">
                <a:solidFill>
                  <a:schemeClr val="accent2"/>
                </a:solidFill>
                <a:latin typeface="Times New Roman" charset="0"/>
              </a:rPr>
              <a:t>S</a:t>
            </a:r>
            <a:r>
              <a:rPr lang="en-US">
                <a:solidFill>
                  <a:schemeClr val="tx2"/>
                </a:solidFill>
                <a:latin typeface="Times New Roman" charset="0"/>
              </a:rPr>
              <a:t> </a:t>
            </a:r>
            <a:r>
              <a:rPr lang="en-US">
                <a:solidFill>
                  <a:srgbClr val="000000"/>
                </a:solidFill>
                <a:latin typeface="Times New Roman" charset="0"/>
                <a:sym typeface="Symbol" charset="0"/>
              </a:rPr>
              <a:t> </a:t>
            </a:r>
            <a:r>
              <a:rPr lang="en-US">
                <a:solidFill>
                  <a:schemeClr val="accent2"/>
                </a:solidFill>
                <a:latin typeface="Times New Roman" charset="0"/>
              </a:rPr>
              <a:t>new array of </a:t>
            </a:r>
            <a:r>
              <a:rPr lang="en-US" b="1" i="1">
                <a:solidFill>
                  <a:schemeClr val="accent2"/>
                </a:solidFill>
                <a:latin typeface="Times New Roman" charset="0"/>
              </a:rPr>
              <a:t>n</a:t>
            </a:r>
            <a:r>
              <a:rPr lang="en-US">
                <a:solidFill>
                  <a:schemeClr val="accent2"/>
                </a:solidFill>
                <a:latin typeface="Times New Roman" charset="0"/>
              </a:rPr>
              <a:t> integers	  	</a:t>
            </a:r>
            <a:r>
              <a:rPr lang="en-US" b="1" i="1">
                <a:latin typeface="Times New Roman" charset="0"/>
                <a:sym typeface="Symbol" charset="0"/>
              </a:rPr>
              <a:t>n</a:t>
            </a:r>
            <a:endParaRPr lang="en-US" b="1" i="1">
              <a:solidFill>
                <a:schemeClr val="accent2"/>
              </a:solidFill>
              <a:latin typeface="Times New Roman" charset="0"/>
            </a:endParaRPr>
          </a:p>
          <a:p>
            <a:pPr marL="342900" indent="-342900">
              <a:tabLst>
                <a:tab pos="635000" algn="l"/>
                <a:tab pos="914400" algn="l"/>
              </a:tabLst>
            </a:pPr>
            <a:r>
              <a:rPr lang="en-US">
                <a:latin typeface="Times New Roman" charset="0"/>
              </a:rPr>
              <a:t>	</a:t>
            </a:r>
            <a:r>
              <a:rPr lang="en-US" b="1">
                <a:solidFill>
                  <a:srgbClr val="000000"/>
                </a:solidFill>
                <a:latin typeface="Times New Roman" charset="0"/>
              </a:rPr>
              <a:t>for</a:t>
            </a:r>
            <a:r>
              <a:rPr lang="en-US">
                <a:latin typeface="Times New Roman" charset="0"/>
              </a:rPr>
              <a:t> </a:t>
            </a:r>
            <a:r>
              <a:rPr lang="en-US" b="1" i="1">
                <a:solidFill>
                  <a:schemeClr val="accent2"/>
                </a:solidFill>
                <a:latin typeface="Times New Roman" charset="0"/>
              </a:rPr>
              <a:t>i</a:t>
            </a:r>
            <a:r>
              <a:rPr lang="en-US">
                <a:solidFill>
                  <a:schemeClr val="tx2"/>
                </a:solidFill>
                <a:latin typeface="Times New Roman" charset="0"/>
              </a:rPr>
              <a:t> </a:t>
            </a:r>
            <a:r>
              <a:rPr lang="en-US">
                <a:solidFill>
                  <a:srgbClr val="000000"/>
                </a:solidFill>
                <a:latin typeface="Times New Roman" charset="0"/>
                <a:sym typeface="Symbol" charset="0"/>
              </a:rPr>
              <a:t></a:t>
            </a:r>
            <a:r>
              <a:rPr lang="en-US">
                <a:solidFill>
                  <a:schemeClr val="tx2"/>
                </a:solidFill>
                <a:latin typeface="Times New Roman" charset="0"/>
                <a:sym typeface="Symbol" charset="0"/>
              </a:rPr>
              <a:t> </a:t>
            </a:r>
            <a:r>
              <a:rPr lang="en-US">
                <a:solidFill>
                  <a:schemeClr val="accent2"/>
                </a:solidFill>
                <a:latin typeface="Times New Roman" charset="0"/>
                <a:sym typeface="Symbol" charset="0"/>
              </a:rPr>
              <a:t>0</a:t>
            </a:r>
            <a:r>
              <a:rPr lang="en-US">
                <a:latin typeface="Times New Roman" charset="0"/>
                <a:sym typeface="Symbol" charset="0"/>
              </a:rPr>
              <a:t> </a:t>
            </a:r>
            <a:r>
              <a:rPr lang="en-US" b="1">
                <a:solidFill>
                  <a:srgbClr val="000000"/>
                </a:solidFill>
                <a:latin typeface="Times New Roman" charset="0"/>
                <a:sym typeface="Symbol" charset="0"/>
              </a:rPr>
              <a:t>to</a:t>
            </a:r>
            <a:r>
              <a:rPr lang="en-US">
                <a:latin typeface="Times New Roman" charset="0"/>
                <a:sym typeface="Symbol" charset="0"/>
              </a:rPr>
              <a:t> </a:t>
            </a:r>
            <a:r>
              <a:rPr lang="en-US" b="1" i="1">
                <a:solidFill>
                  <a:schemeClr val="accent2"/>
                </a:solidFill>
                <a:latin typeface="Times New Roman" charset="0"/>
                <a:sym typeface="Symbol" charset="0"/>
              </a:rPr>
              <a:t>n</a:t>
            </a:r>
            <a:r>
              <a:rPr lang="en-US">
                <a:solidFill>
                  <a:schemeClr val="accent2"/>
                </a:solidFill>
                <a:latin typeface="Times New Roman" charset="0"/>
                <a:sym typeface="Symbol" charset="0"/>
              </a:rPr>
              <a:t> </a:t>
            </a:r>
            <a:r>
              <a:rPr lang="en-US">
                <a:solidFill>
                  <a:schemeClr val="accent2"/>
                </a:solidFill>
                <a:latin typeface="Symbol" charset="0"/>
                <a:sym typeface="Symbol" charset="0"/>
              </a:rPr>
              <a:t></a:t>
            </a:r>
            <a:r>
              <a:rPr lang="en-US">
                <a:solidFill>
                  <a:schemeClr val="accent2"/>
                </a:solidFill>
                <a:latin typeface="Times New Roman" charset="0"/>
                <a:sym typeface="Symbol" charset="0"/>
              </a:rPr>
              <a:t> 1</a:t>
            </a:r>
            <a:r>
              <a:rPr lang="en-US">
                <a:latin typeface="Times New Roman" charset="0"/>
                <a:sym typeface="Symbol" charset="0"/>
              </a:rPr>
              <a:t> </a:t>
            </a:r>
            <a:r>
              <a:rPr lang="en-US" b="1">
                <a:solidFill>
                  <a:srgbClr val="000000"/>
                </a:solidFill>
                <a:latin typeface="Times New Roman" charset="0"/>
                <a:sym typeface="Symbol" charset="0"/>
              </a:rPr>
              <a:t>do			</a:t>
            </a:r>
            <a:r>
              <a:rPr lang="en-US" b="1" i="1">
                <a:latin typeface="Times New Roman" charset="0"/>
                <a:sym typeface="Symbol" charset="0"/>
              </a:rPr>
              <a:t>n</a:t>
            </a:r>
          </a:p>
          <a:p>
            <a:pPr marL="342900" indent="-342900">
              <a:tabLst>
                <a:tab pos="635000" algn="l"/>
                <a:tab pos="914400" algn="l"/>
              </a:tabLst>
            </a:pPr>
            <a:r>
              <a:rPr lang="en-US" b="1" i="1">
                <a:latin typeface="Times New Roman" charset="0"/>
                <a:sym typeface="Symbol" charset="0"/>
              </a:rPr>
              <a:t>		</a:t>
            </a:r>
            <a:r>
              <a:rPr lang="en-US" b="1" i="1">
                <a:solidFill>
                  <a:schemeClr val="accent2"/>
                </a:solidFill>
                <a:latin typeface="Times New Roman" charset="0"/>
                <a:sym typeface="Symbol" charset="0"/>
              </a:rPr>
              <a:t>s</a:t>
            </a:r>
            <a:r>
              <a:rPr lang="en-US">
                <a:solidFill>
                  <a:schemeClr val="tx2"/>
                </a:solidFill>
                <a:latin typeface="Times New Roman" charset="0"/>
                <a:sym typeface="Symbol" charset="0"/>
              </a:rPr>
              <a:t> </a:t>
            </a:r>
            <a:r>
              <a:rPr lang="en-US">
                <a:solidFill>
                  <a:srgbClr val="000000"/>
                </a:solidFill>
                <a:latin typeface="Times New Roman" charset="0"/>
                <a:sym typeface="Symbol" charset="0"/>
              </a:rPr>
              <a:t></a:t>
            </a:r>
            <a:r>
              <a:rPr lang="en-US">
                <a:solidFill>
                  <a:schemeClr val="accent2"/>
                </a:solidFill>
                <a:latin typeface="Times New Roman" charset="0"/>
                <a:sym typeface="Symbol" charset="0"/>
              </a:rPr>
              <a:t> 1</a:t>
            </a:r>
            <a:r>
              <a:rPr lang="en-US" b="1">
                <a:solidFill>
                  <a:srgbClr val="000000"/>
                </a:solidFill>
                <a:latin typeface="Times New Roman" charset="0"/>
                <a:sym typeface="Symbol" charset="0"/>
              </a:rPr>
              <a:t>					</a:t>
            </a:r>
            <a:r>
              <a:rPr lang="en-US" b="1" i="1">
                <a:latin typeface="Times New Roman" charset="0"/>
                <a:sym typeface="Symbol" charset="0"/>
              </a:rPr>
              <a:t>n</a:t>
            </a:r>
            <a:endParaRPr lang="en-US">
              <a:solidFill>
                <a:schemeClr val="accent2"/>
              </a:solidFill>
              <a:latin typeface="Times New Roman" charset="0"/>
              <a:sym typeface="Symbol" charset="0"/>
            </a:endParaRPr>
          </a:p>
          <a:p>
            <a:pPr marL="342900" indent="-342900">
              <a:tabLst>
                <a:tab pos="635000" algn="l"/>
                <a:tab pos="914400" algn="l"/>
              </a:tabLst>
            </a:pPr>
            <a:r>
              <a:rPr lang="en-US">
                <a:latin typeface="Times New Roman" charset="0"/>
              </a:rPr>
              <a:t>		</a:t>
            </a:r>
            <a:r>
              <a:rPr lang="en-US" b="1">
                <a:solidFill>
                  <a:srgbClr val="000000"/>
                </a:solidFill>
                <a:latin typeface="Times New Roman" charset="0"/>
              </a:rPr>
              <a:t>while </a:t>
            </a:r>
            <a:r>
              <a:rPr lang="en-US" b="1" i="1">
                <a:solidFill>
                  <a:schemeClr val="accent2"/>
                </a:solidFill>
                <a:latin typeface="Times New Roman" charset="0"/>
                <a:sym typeface="Symbol" charset="0"/>
              </a:rPr>
              <a:t>s </a:t>
            </a:r>
            <a:r>
              <a:rPr lang="en-US">
                <a:latin typeface="Symbol" charset="0"/>
                <a:sym typeface="Symbol" charset="0"/>
              </a:rPr>
              <a:t></a:t>
            </a:r>
            <a:r>
              <a:rPr lang="en-US">
                <a:solidFill>
                  <a:schemeClr val="accent2"/>
                </a:solidFill>
                <a:latin typeface="Times New Roman" charset="0"/>
                <a:sym typeface="Symbol" charset="0"/>
              </a:rPr>
              <a:t> </a:t>
            </a:r>
            <a:r>
              <a:rPr lang="en-US" b="1" i="1">
                <a:solidFill>
                  <a:schemeClr val="accent2"/>
                </a:solidFill>
                <a:latin typeface="Times New Roman" charset="0"/>
                <a:sym typeface="Symbol" charset="0"/>
              </a:rPr>
              <a:t>i</a:t>
            </a:r>
            <a:r>
              <a:rPr lang="en-US">
                <a:solidFill>
                  <a:schemeClr val="accent2"/>
                </a:solidFill>
                <a:latin typeface="Times New Roman" charset="0"/>
                <a:sym typeface="Symbol" charset="0"/>
              </a:rPr>
              <a:t> </a:t>
            </a:r>
            <a:r>
              <a:rPr lang="en-US" b="1">
                <a:solidFill>
                  <a:srgbClr val="000000"/>
                </a:solidFill>
                <a:latin typeface="Times New Roman" charset="0"/>
                <a:sym typeface="Symbol" charset="0"/>
              </a:rPr>
              <a:t> </a:t>
            </a:r>
            <a:r>
              <a:rPr lang="en-US" b="1" i="1">
                <a:solidFill>
                  <a:schemeClr val="accent2"/>
                </a:solidFill>
                <a:latin typeface="Times New Roman" charset="0"/>
                <a:sym typeface="Symbol" charset="0"/>
              </a:rPr>
              <a:t>X</a:t>
            </a:r>
            <a:r>
              <a:rPr lang="en-US">
                <a:solidFill>
                  <a:schemeClr val="accent2"/>
                </a:solidFill>
                <a:latin typeface="Times New Roman" charset="0"/>
                <a:sym typeface="Symbol" charset="0"/>
              </a:rPr>
              <a:t>[</a:t>
            </a:r>
            <a:r>
              <a:rPr lang="en-US" b="1" i="1">
                <a:solidFill>
                  <a:schemeClr val="accent2"/>
                </a:solidFill>
                <a:latin typeface="Times New Roman" charset="0"/>
                <a:sym typeface="Symbol" charset="0"/>
              </a:rPr>
              <a:t>i </a:t>
            </a:r>
            <a:r>
              <a:rPr lang="en-US">
                <a:solidFill>
                  <a:schemeClr val="accent2"/>
                </a:solidFill>
                <a:latin typeface="Symbol" charset="0"/>
                <a:sym typeface="Symbol" charset="0"/>
              </a:rPr>
              <a:t>- </a:t>
            </a:r>
            <a:r>
              <a:rPr lang="en-US" b="1" i="1">
                <a:solidFill>
                  <a:schemeClr val="accent2"/>
                </a:solidFill>
                <a:latin typeface="Times New Roman" charset="0"/>
                <a:sym typeface="Symbol" charset="0"/>
              </a:rPr>
              <a:t>s</a:t>
            </a:r>
            <a:r>
              <a:rPr lang="en-US">
                <a:solidFill>
                  <a:schemeClr val="accent2"/>
                </a:solidFill>
                <a:latin typeface="Times New Roman" charset="0"/>
                <a:sym typeface="Symbol" charset="0"/>
              </a:rPr>
              <a:t>]</a:t>
            </a:r>
            <a:r>
              <a:rPr lang="en-US" b="1">
                <a:solidFill>
                  <a:srgbClr val="000000"/>
                </a:solidFill>
                <a:latin typeface="Times New Roman" charset="0"/>
                <a:sym typeface="Symbol" charset="0"/>
              </a:rPr>
              <a:t> </a:t>
            </a:r>
            <a:r>
              <a:rPr lang="en-US">
                <a:latin typeface="Symbol" charset="0"/>
                <a:sym typeface="Symbol" charset="0"/>
              </a:rPr>
              <a:t></a:t>
            </a:r>
            <a:r>
              <a:rPr lang="en-US" b="1">
                <a:solidFill>
                  <a:srgbClr val="000000"/>
                </a:solidFill>
                <a:latin typeface="Times New Roman" charset="0"/>
                <a:sym typeface="Symbol" charset="0"/>
              </a:rPr>
              <a:t> </a:t>
            </a:r>
            <a:r>
              <a:rPr lang="en-US" b="1" i="1">
                <a:solidFill>
                  <a:schemeClr val="accent2"/>
                </a:solidFill>
                <a:latin typeface="Times New Roman" charset="0"/>
                <a:sym typeface="Symbol" charset="0"/>
              </a:rPr>
              <a:t>X</a:t>
            </a:r>
            <a:r>
              <a:rPr lang="en-US">
                <a:solidFill>
                  <a:schemeClr val="accent2"/>
                </a:solidFill>
                <a:latin typeface="Times New Roman" charset="0"/>
                <a:sym typeface="Symbol" charset="0"/>
              </a:rPr>
              <a:t>[</a:t>
            </a:r>
            <a:r>
              <a:rPr lang="en-US" b="1" i="1">
                <a:solidFill>
                  <a:schemeClr val="accent2"/>
                </a:solidFill>
                <a:latin typeface="Times New Roman" charset="0"/>
                <a:sym typeface="Symbol" charset="0"/>
              </a:rPr>
              <a:t>i</a:t>
            </a:r>
            <a:r>
              <a:rPr lang="en-US">
                <a:solidFill>
                  <a:schemeClr val="accent2"/>
                </a:solidFill>
                <a:latin typeface="Times New Roman" charset="0"/>
                <a:sym typeface="Symbol" charset="0"/>
              </a:rPr>
              <a:t>]</a:t>
            </a:r>
            <a:r>
              <a:rPr lang="en-US" b="1">
                <a:solidFill>
                  <a:srgbClr val="000000"/>
                </a:solidFill>
                <a:latin typeface="Times New Roman" charset="0"/>
                <a:sym typeface="Symbol" charset="0"/>
              </a:rPr>
              <a:t> 	</a:t>
            </a:r>
            <a:r>
              <a:rPr lang="en-US">
                <a:latin typeface="Times New Roman" charset="0"/>
                <a:sym typeface="Symbol" charset="0"/>
              </a:rPr>
              <a:t>1 </a:t>
            </a:r>
            <a:r>
              <a:rPr lang="en-US">
                <a:latin typeface="Symbol" charset="0"/>
                <a:sym typeface="Symbol" charset="0"/>
              </a:rPr>
              <a:t>+ </a:t>
            </a:r>
            <a:r>
              <a:rPr lang="en-US">
                <a:latin typeface="Times New Roman" charset="0"/>
                <a:sym typeface="Symbol" charset="0"/>
              </a:rPr>
              <a:t>2 </a:t>
            </a:r>
            <a:r>
              <a:rPr lang="en-US">
                <a:latin typeface="Symbol" charset="0"/>
                <a:sym typeface="Symbol" charset="0"/>
              </a:rPr>
              <a:t>+ </a:t>
            </a:r>
            <a:r>
              <a:rPr lang="en-US">
                <a:latin typeface="Times New Roman" charset="0"/>
                <a:sym typeface="Symbol" charset="0"/>
              </a:rPr>
              <a:t>…</a:t>
            </a:r>
            <a:r>
              <a:rPr lang="en-US">
                <a:latin typeface="Symbol" charset="0"/>
                <a:sym typeface="Symbol" charset="0"/>
              </a:rPr>
              <a:t>+</a:t>
            </a:r>
            <a:r>
              <a:rPr lang="en-US">
                <a:latin typeface="Times New Roman" charset="0"/>
                <a:sym typeface="Symbol" charset="0"/>
              </a:rPr>
              <a:t> (</a:t>
            </a:r>
            <a:r>
              <a:rPr lang="en-US" b="1" i="1">
                <a:latin typeface="Times New Roman" charset="0"/>
                <a:sym typeface="Symbol" charset="0"/>
              </a:rPr>
              <a:t>n</a:t>
            </a:r>
            <a:r>
              <a:rPr lang="en-US">
                <a:latin typeface="Times New Roman" charset="0"/>
                <a:sym typeface="Symbol" charset="0"/>
              </a:rPr>
              <a:t> </a:t>
            </a:r>
            <a:r>
              <a:rPr lang="en-US">
                <a:latin typeface="Symbol" charset="0"/>
                <a:sym typeface="Symbol" charset="0"/>
              </a:rPr>
              <a:t></a:t>
            </a:r>
            <a:r>
              <a:rPr lang="en-US">
                <a:latin typeface="Times New Roman" charset="0"/>
                <a:sym typeface="Symbol" charset="0"/>
              </a:rPr>
              <a:t> 1)</a:t>
            </a:r>
          </a:p>
          <a:p>
            <a:pPr marL="342900" indent="-342900">
              <a:tabLst>
                <a:tab pos="635000" algn="l"/>
                <a:tab pos="914400" algn="l"/>
              </a:tabLst>
            </a:pPr>
            <a:r>
              <a:rPr lang="en-US">
                <a:latin typeface="Times New Roman" charset="0"/>
                <a:sym typeface="Symbol" charset="0"/>
              </a:rPr>
              <a:t>			 </a:t>
            </a:r>
            <a:r>
              <a:rPr lang="en-US" b="1" i="1">
                <a:solidFill>
                  <a:schemeClr val="accent2"/>
                </a:solidFill>
                <a:latin typeface="Times New Roman" charset="0"/>
                <a:sym typeface="Symbol" charset="0"/>
              </a:rPr>
              <a:t>s</a:t>
            </a:r>
            <a:r>
              <a:rPr lang="en-US">
                <a:solidFill>
                  <a:schemeClr val="tx2"/>
                </a:solidFill>
                <a:latin typeface="Times New Roman" charset="0"/>
                <a:sym typeface="Symbol" charset="0"/>
              </a:rPr>
              <a:t> </a:t>
            </a:r>
            <a:r>
              <a:rPr lang="en-US">
                <a:solidFill>
                  <a:srgbClr val="000000"/>
                </a:solidFill>
                <a:latin typeface="Times New Roman" charset="0"/>
                <a:sym typeface="Symbol" charset="0"/>
              </a:rPr>
              <a:t></a:t>
            </a:r>
            <a:r>
              <a:rPr lang="en-US">
                <a:solidFill>
                  <a:schemeClr val="accent2"/>
                </a:solidFill>
                <a:latin typeface="Times New Roman" charset="0"/>
                <a:sym typeface="Symbol" charset="0"/>
              </a:rPr>
              <a:t> </a:t>
            </a:r>
            <a:r>
              <a:rPr lang="en-US" b="1" i="1">
                <a:solidFill>
                  <a:schemeClr val="accent2"/>
                </a:solidFill>
                <a:latin typeface="Times New Roman" charset="0"/>
                <a:sym typeface="Symbol" charset="0"/>
              </a:rPr>
              <a:t>s</a:t>
            </a:r>
            <a:r>
              <a:rPr lang="en-US">
                <a:solidFill>
                  <a:schemeClr val="accent2"/>
                </a:solidFill>
                <a:latin typeface="Times New Roman" charset="0"/>
                <a:sym typeface="Symbol" charset="0"/>
              </a:rPr>
              <a:t> </a:t>
            </a:r>
            <a:r>
              <a:rPr lang="en-US">
                <a:solidFill>
                  <a:schemeClr val="accent2"/>
                </a:solidFill>
                <a:latin typeface="Symbol" charset="0"/>
                <a:sym typeface="Symbol" charset="0"/>
              </a:rPr>
              <a:t>+</a:t>
            </a:r>
            <a:r>
              <a:rPr lang="en-US">
                <a:solidFill>
                  <a:schemeClr val="accent2"/>
                </a:solidFill>
                <a:latin typeface="Times New Roman" charset="0"/>
                <a:sym typeface="Symbol" charset="0"/>
              </a:rPr>
              <a:t> 1</a:t>
            </a:r>
            <a:r>
              <a:rPr lang="en-US" b="1">
                <a:solidFill>
                  <a:srgbClr val="000000"/>
                </a:solidFill>
                <a:latin typeface="Times New Roman" charset="0"/>
                <a:sym typeface="Symbol" charset="0"/>
              </a:rPr>
              <a:t>			</a:t>
            </a:r>
            <a:r>
              <a:rPr lang="en-US">
                <a:latin typeface="Times New Roman" charset="0"/>
                <a:sym typeface="Symbol" charset="0"/>
              </a:rPr>
              <a:t>1 </a:t>
            </a:r>
            <a:r>
              <a:rPr lang="en-US">
                <a:latin typeface="Symbol" charset="0"/>
                <a:sym typeface="Symbol" charset="0"/>
              </a:rPr>
              <a:t>+ </a:t>
            </a:r>
            <a:r>
              <a:rPr lang="en-US">
                <a:latin typeface="Times New Roman" charset="0"/>
                <a:sym typeface="Symbol" charset="0"/>
              </a:rPr>
              <a:t>2 </a:t>
            </a:r>
            <a:r>
              <a:rPr lang="en-US">
                <a:latin typeface="Symbol" charset="0"/>
                <a:sym typeface="Symbol" charset="0"/>
              </a:rPr>
              <a:t>+ </a:t>
            </a:r>
            <a:r>
              <a:rPr lang="en-US">
                <a:latin typeface="Times New Roman" charset="0"/>
                <a:sym typeface="Symbol" charset="0"/>
              </a:rPr>
              <a:t>…</a:t>
            </a:r>
            <a:r>
              <a:rPr lang="en-US">
                <a:latin typeface="Symbol" charset="0"/>
                <a:sym typeface="Symbol" charset="0"/>
              </a:rPr>
              <a:t>+</a:t>
            </a:r>
            <a:r>
              <a:rPr lang="en-US">
                <a:latin typeface="Times New Roman" charset="0"/>
                <a:sym typeface="Symbol" charset="0"/>
              </a:rPr>
              <a:t> (</a:t>
            </a:r>
            <a:r>
              <a:rPr lang="en-US" b="1" i="1">
                <a:latin typeface="Times New Roman" charset="0"/>
                <a:sym typeface="Symbol" charset="0"/>
              </a:rPr>
              <a:t>n</a:t>
            </a:r>
            <a:r>
              <a:rPr lang="en-US">
                <a:latin typeface="Times New Roman" charset="0"/>
                <a:sym typeface="Symbol" charset="0"/>
              </a:rPr>
              <a:t> </a:t>
            </a:r>
            <a:r>
              <a:rPr lang="en-US">
                <a:latin typeface="Symbol" charset="0"/>
                <a:sym typeface="Symbol" charset="0"/>
              </a:rPr>
              <a:t></a:t>
            </a:r>
            <a:r>
              <a:rPr lang="en-US">
                <a:latin typeface="Times New Roman" charset="0"/>
                <a:sym typeface="Symbol" charset="0"/>
              </a:rPr>
              <a:t> 1)</a:t>
            </a:r>
          </a:p>
          <a:p>
            <a:pPr marL="342900" indent="-342900">
              <a:tabLst>
                <a:tab pos="635000" algn="l"/>
                <a:tab pos="914400" algn="l"/>
              </a:tabLst>
            </a:pPr>
            <a:r>
              <a:rPr lang="en-US">
                <a:latin typeface="Times New Roman" charset="0"/>
                <a:sym typeface="Symbol" charset="0"/>
              </a:rPr>
              <a:t>		</a:t>
            </a:r>
            <a:r>
              <a:rPr lang="en-US" b="1" i="1">
                <a:solidFill>
                  <a:schemeClr val="accent2"/>
                </a:solidFill>
                <a:latin typeface="Times New Roman" charset="0"/>
                <a:sym typeface="Symbol" charset="0"/>
              </a:rPr>
              <a:t>S</a:t>
            </a:r>
            <a:r>
              <a:rPr lang="en-US">
                <a:solidFill>
                  <a:schemeClr val="accent2"/>
                </a:solidFill>
                <a:latin typeface="Times New Roman" charset="0"/>
                <a:sym typeface="Symbol" charset="0"/>
              </a:rPr>
              <a:t>[</a:t>
            </a:r>
            <a:r>
              <a:rPr lang="en-US" b="1" i="1">
                <a:solidFill>
                  <a:schemeClr val="accent2"/>
                </a:solidFill>
                <a:latin typeface="Times New Roman" charset="0"/>
                <a:sym typeface="Symbol" charset="0"/>
              </a:rPr>
              <a:t>i</a:t>
            </a:r>
            <a:r>
              <a:rPr lang="en-US">
                <a:solidFill>
                  <a:schemeClr val="accent2"/>
                </a:solidFill>
                <a:latin typeface="Times New Roman" charset="0"/>
                <a:sym typeface="Symbol" charset="0"/>
              </a:rPr>
              <a:t>]</a:t>
            </a:r>
            <a:r>
              <a:rPr lang="en-US">
                <a:solidFill>
                  <a:schemeClr val="tx2"/>
                </a:solidFill>
                <a:latin typeface="Times New Roman" charset="0"/>
                <a:sym typeface="Symbol" charset="0"/>
              </a:rPr>
              <a:t> </a:t>
            </a:r>
            <a:r>
              <a:rPr lang="en-US">
                <a:solidFill>
                  <a:srgbClr val="000000"/>
                </a:solidFill>
                <a:latin typeface="Times New Roman" charset="0"/>
                <a:sym typeface="Symbol" charset="0"/>
              </a:rPr>
              <a:t></a:t>
            </a:r>
            <a:r>
              <a:rPr lang="en-US">
                <a:solidFill>
                  <a:schemeClr val="accent2"/>
                </a:solidFill>
                <a:latin typeface="Times New Roman" charset="0"/>
                <a:sym typeface="Symbol" charset="0"/>
              </a:rPr>
              <a:t> </a:t>
            </a:r>
            <a:r>
              <a:rPr lang="en-US" b="1" i="1">
                <a:solidFill>
                  <a:schemeClr val="accent2"/>
                </a:solidFill>
                <a:latin typeface="Times New Roman" charset="0"/>
                <a:sym typeface="Symbol" charset="0"/>
              </a:rPr>
              <a:t>s</a:t>
            </a:r>
            <a:r>
              <a:rPr lang="en-US">
                <a:solidFill>
                  <a:schemeClr val="accent2"/>
                </a:solidFill>
                <a:latin typeface="Times New Roman" charset="0"/>
                <a:sym typeface="Symbol" charset="0"/>
              </a:rPr>
              <a:t>	</a:t>
            </a:r>
            <a:r>
              <a:rPr lang="en-US">
                <a:solidFill>
                  <a:schemeClr val="accent2"/>
                </a:solidFill>
                <a:latin typeface="Times New Roman" charset="0"/>
              </a:rPr>
              <a:t>	    		 	</a:t>
            </a:r>
            <a:r>
              <a:rPr lang="en-US" b="1" i="1">
                <a:latin typeface="Times New Roman" charset="0"/>
                <a:sym typeface="Symbol" charset="0"/>
              </a:rPr>
              <a:t>n</a:t>
            </a:r>
            <a:endParaRPr lang="en-US">
              <a:solidFill>
                <a:schemeClr val="accent2"/>
              </a:solidFill>
              <a:latin typeface="Times New Roman" charset="0"/>
              <a:sym typeface="Symbol" charset="0"/>
            </a:endParaRPr>
          </a:p>
          <a:p>
            <a:pPr marL="342900" indent="-342900">
              <a:tabLst>
                <a:tab pos="635000" algn="l"/>
                <a:tab pos="914400" algn="l"/>
              </a:tabLst>
            </a:pPr>
            <a:r>
              <a:rPr lang="en-US" b="1">
                <a:solidFill>
                  <a:srgbClr val="000000"/>
                </a:solidFill>
                <a:latin typeface="Times New Roman" charset="0"/>
                <a:sym typeface="Symbol" charset="0"/>
              </a:rPr>
              <a:t>	return</a:t>
            </a:r>
            <a:r>
              <a:rPr lang="en-US">
                <a:latin typeface="Times New Roman" charset="0"/>
                <a:sym typeface="Symbol" charset="0"/>
              </a:rPr>
              <a:t> </a:t>
            </a:r>
            <a:r>
              <a:rPr lang="en-US" b="1" i="1">
                <a:solidFill>
                  <a:schemeClr val="accent2"/>
                </a:solidFill>
                <a:latin typeface="Times New Roman" charset="0"/>
                <a:sym typeface="Symbol" charset="0"/>
              </a:rPr>
              <a:t>S 			      		</a:t>
            </a:r>
            <a:r>
              <a:rPr lang="en-US">
                <a:latin typeface="Times New Roman" charset="0"/>
                <a:sym typeface="Symbol" charset="0"/>
              </a:rPr>
              <a:t>1</a:t>
            </a:r>
          </a:p>
        </p:txBody>
      </p:sp>
      <p:sp>
        <p:nvSpPr>
          <p:cNvPr id="30726" name="Rectangle 6" descr="Rectangle: Click to edit Master text styles&#10;Second level&#10;Third level&#10;Fourth level&#10;Fifth level"/>
          <p:cNvSpPr>
            <a:spLocks noChangeArrowheads="1"/>
          </p:cNvSpPr>
          <p:nvPr/>
        </p:nvSpPr>
        <p:spPr bwMode="auto">
          <a:xfrm>
            <a:off x="2209800" y="5867400"/>
            <a:ext cx="78486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90000"/>
              </a:lnSpc>
              <a:spcBef>
                <a:spcPct val="20000"/>
              </a:spcBef>
              <a:buClr>
                <a:schemeClr val="hlink"/>
              </a:buClr>
              <a:buSzPct val="110000"/>
              <a:buBlip>
                <a:blip r:embed="rId2"/>
              </a:buBlip>
            </a:pPr>
            <a:r>
              <a:rPr lang="en-US"/>
              <a:t>Algorithm </a:t>
            </a:r>
            <a:r>
              <a:rPr lang="en-US" b="1" i="1">
                <a:latin typeface="Times New Roman" charset="0"/>
                <a:sym typeface="Symbol" charset="0"/>
              </a:rPr>
              <a:t>spans1 </a:t>
            </a:r>
            <a:r>
              <a:rPr lang="en-US"/>
              <a:t>runs in </a:t>
            </a:r>
            <a:r>
              <a:rPr lang="en-US" b="1" i="1">
                <a:latin typeface="Times New Roman" charset="0"/>
                <a:sym typeface="Symbol" charset="0"/>
              </a:rPr>
              <a:t>O</a:t>
            </a:r>
            <a:r>
              <a:rPr lang="en-US">
                <a:latin typeface="Times New Roman" charset="0"/>
                <a:sym typeface="Symbol" charset="0"/>
              </a:rPr>
              <a:t>(</a:t>
            </a:r>
            <a:r>
              <a:rPr lang="en-US" b="1" i="1">
                <a:latin typeface="Times New Roman" charset="0"/>
                <a:sym typeface="Symbol" charset="0"/>
              </a:rPr>
              <a:t>n</a:t>
            </a:r>
            <a:r>
              <a:rPr lang="en-US" baseline="30000">
                <a:latin typeface="Times New Roman" charset="0"/>
                <a:sym typeface="Symbol" charset="0"/>
              </a:rPr>
              <a:t>2</a:t>
            </a:r>
            <a:r>
              <a:rPr lang="en-US">
                <a:latin typeface="Times New Roman" charset="0"/>
                <a:sym typeface="Symbol" charset="0"/>
              </a:rPr>
              <a:t>) </a:t>
            </a:r>
            <a:r>
              <a:rPr lang="en-US"/>
              <a:t>time </a:t>
            </a:r>
          </a:p>
        </p:txBody>
      </p:sp>
      <p:sp>
        <p:nvSpPr>
          <p:cNvPr id="30727" name="Date Placeholder 6"/>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Stacks</a:t>
            </a:r>
          </a:p>
        </p:txBody>
      </p:sp>
      <p:sp>
        <p:nvSpPr>
          <p:cNvPr id="3076"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FCE4AC86-1C4A-3046-9F85-93081752F536}" type="slidenum">
              <a:rPr lang="en-US" sz="1400"/>
              <a:pPr eaLnBrk="1" hangingPunct="1"/>
              <a:t>25</a:t>
            </a:fld>
            <a:endParaRPr lang="en-US" sz="1400"/>
          </a:p>
        </p:txBody>
      </p:sp>
      <p:sp>
        <p:nvSpPr>
          <p:cNvPr id="3077" name="Rectangle 2"/>
          <p:cNvSpPr>
            <a:spLocks noGrp="1" noChangeArrowheads="1"/>
          </p:cNvSpPr>
          <p:nvPr>
            <p:ph type="title"/>
          </p:nvPr>
        </p:nvSpPr>
        <p:spPr/>
        <p:txBody>
          <a:bodyPr/>
          <a:lstStyle/>
          <a:p>
            <a:pPr eaLnBrk="1" hangingPunct="1"/>
            <a:r>
              <a:rPr lang="en-US">
                <a:latin typeface="Tahoma" charset="0"/>
              </a:rPr>
              <a:t>Computing Spans with a Stack</a:t>
            </a:r>
          </a:p>
        </p:txBody>
      </p:sp>
      <p:sp>
        <p:nvSpPr>
          <p:cNvPr id="3078" name="Rectangle 3" descr="Rectangle: Click to edit Master text styles&#10;Second level&#10;Third level&#10;Fourth level&#10;Fifth level"/>
          <p:cNvSpPr>
            <a:spLocks noGrp="1" noChangeArrowheads="1"/>
          </p:cNvSpPr>
          <p:nvPr>
            <p:ph type="body" idx="1"/>
          </p:nvPr>
        </p:nvSpPr>
        <p:spPr>
          <a:xfrm>
            <a:off x="2209800" y="1676400"/>
            <a:ext cx="4038600" cy="4572000"/>
          </a:xfrm>
        </p:spPr>
        <p:txBody>
          <a:bodyPr/>
          <a:lstStyle/>
          <a:p>
            <a:pPr eaLnBrk="1" hangingPunct="1">
              <a:buFont typeface="Wingdings" charset="0"/>
              <a:buChar char="q"/>
            </a:pPr>
            <a:r>
              <a:rPr lang="en-US" sz="2400">
                <a:latin typeface="Tahoma" charset="0"/>
              </a:rPr>
              <a:t>We keep in a stack the indices of the elements visible when </a:t>
            </a:r>
            <a:r>
              <a:rPr lang="ja-JP" altLang="en-US" sz="2400">
                <a:latin typeface="Tahoma" charset="0"/>
              </a:rPr>
              <a:t>“</a:t>
            </a:r>
            <a:r>
              <a:rPr lang="en-US" sz="2400">
                <a:latin typeface="Tahoma" charset="0"/>
              </a:rPr>
              <a:t>looking back</a:t>
            </a:r>
            <a:r>
              <a:rPr lang="ja-JP" altLang="en-US" sz="2400">
                <a:latin typeface="Tahoma" charset="0"/>
              </a:rPr>
              <a:t>”</a:t>
            </a:r>
            <a:endParaRPr lang="en-US" sz="2400">
              <a:latin typeface="Tahoma" charset="0"/>
            </a:endParaRPr>
          </a:p>
          <a:p>
            <a:pPr eaLnBrk="1" hangingPunct="1">
              <a:buFont typeface="Wingdings" charset="0"/>
              <a:buChar char="q"/>
            </a:pPr>
            <a:r>
              <a:rPr lang="en-US" sz="2400">
                <a:latin typeface="Tahoma" charset="0"/>
              </a:rPr>
              <a:t>We scan the array from left to right</a:t>
            </a:r>
          </a:p>
          <a:p>
            <a:pPr lvl="1" eaLnBrk="1" hangingPunct="1"/>
            <a:r>
              <a:rPr lang="en-US" sz="2000">
                <a:latin typeface="Tahoma" charset="0"/>
              </a:rPr>
              <a:t>Let </a:t>
            </a:r>
            <a:r>
              <a:rPr lang="en-US" sz="2000" b="1" i="1">
                <a:latin typeface="Times New Roman" charset="0"/>
              </a:rPr>
              <a:t>i </a:t>
            </a:r>
            <a:r>
              <a:rPr lang="en-US" sz="2000">
                <a:latin typeface="Tahoma" charset="0"/>
              </a:rPr>
              <a:t>be the current index</a:t>
            </a:r>
            <a:endParaRPr lang="en-US" sz="2000" b="1" i="1">
              <a:latin typeface="Times New Roman" charset="0"/>
            </a:endParaRPr>
          </a:p>
          <a:p>
            <a:pPr lvl="1" eaLnBrk="1" hangingPunct="1"/>
            <a:r>
              <a:rPr lang="en-US" sz="2000">
                <a:latin typeface="Tahoma" charset="0"/>
              </a:rPr>
              <a:t>We pop indices from the stack until we find index </a:t>
            </a:r>
            <a:r>
              <a:rPr lang="en-US" sz="2000" b="1" i="1">
                <a:latin typeface="Times New Roman" charset="0"/>
                <a:sym typeface="Symbol" charset="0"/>
              </a:rPr>
              <a:t>j</a:t>
            </a:r>
            <a:r>
              <a:rPr lang="en-US" sz="2000">
                <a:latin typeface="Tahoma" charset="0"/>
              </a:rPr>
              <a:t> such that </a:t>
            </a:r>
            <a:r>
              <a:rPr lang="en-US" sz="2000" b="1" i="1">
                <a:latin typeface="Times New Roman" charset="0"/>
                <a:sym typeface="Symbol" charset="0"/>
              </a:rPr>
              <a:t>X</a:t>
            </a:r>
            <a:r>
              <a:rPr lang="en-US" sz="2000">
                <a:latin typeface="Times New Roman" charset="0"/>
                <a:sym typeface="Symbol" charset="0"/>
              </a:rPr>
              <a:t>[</a:t>
            </a:r>
            <a:r>
              <a:rPr lang="en-US" sz="2000" b="1" i="1">
                <a:latin typeface="Times New Roman" charset="0"/>
                <a:sym typeface="Symbol" charset="0"/>
              </a:rPr>
              <a:t>i</a:t>
            </a:r>
            <a:r>
              <a:rPr lang="en-US" sz="2000">
                <a:latin typeface="Times New Roman" charset="0"/>
                <a:sym typeface="Symbol" charset="0"/>
              </a:rPr>
              <a:t>]</a:t>
            </a:r>
            <a:r>
              <a:rPr lang="en-US" sz="2000">
                <a:latin typeface="Tahoma" charset="0"/>
              </a:rPr>
              <a:t> </a:t>
            </a:r>
            <a:r>
              <a:rPr lang="en-US" sz="2000">
                <a:latin typeface="Symbol" charset="0"/>
                <a:sym typeface="Symbol" charset="0"/>
              </a:rPr>
              <a:t></a:t>
            </a:r>
            <a:r>
              <a:rPr lang="en-US" sz="2000" b="1" i="1">
                <a:latin typeface="Times New Roman" charset="0"/>
                <a:sym typeface="Symbol" charset="0"/>
              </a:rPr>
              <a:t> X</a:t>
            </a:r>
            <a:r>
              <a:rPr lang="en-US" sz="2000">
                <a:latin typeface="Times New Roman" charset="0"/>
                <a:sym typeface="Symbol" charset="0"/>
              </a:rPr>
              <a:t>[</a:t>
            </a:r>
            <a:r>
              <a:rPr lang="en-US" sz="2000" b="1" i="1">
                <a:latin typeface="Times New Roman" charset="0"/>
                <a:sym typeface="Symbol" charset="0"/>
              </a:rPr>
              <a:t>j</a:t>
            </a:r>
            <a:r>
              <a:rPr lang="en-US" sz="2000">
                <a:latin typeface="Times New Roman" charset="0"/>
                <a:sym typeface="Symbol" charset="0"/>
              </a:rPr>
              <a:t>]</a:t>
            </a:r>
          </a:p>
          <a:p>
            <a:pPr lvl="1" eaLnBrk="1" hangingPunct="1"/>
            <a:r>
              <a:rPr lang="en-US" sz="2000">
                <a:latin typeface="Tahoma" charset="0"/>
              </a:rPr>
              <a:t>We set </a:t>
            </a:r>
            <a:r>
              <a:rPr lang="en-US" sz="2000" b="1" i="1">
                <a:solidFill>
                  <a:schemeClr val="accent2"/>
                </a:solidFill>
                <a:latin typeface="Times New Roman" charset="0"/>
                <a:sym typeface="Symbol" charset="0"/>
              </a:rPr>
              <a:t>S</a:t>
            </a:r>
            <a:r>
              <a:rPr lang="en-US" sz="2000">
                <a:solidFill>
                  <a:schemeClr val="accent2"/>
                </a:solidFill>
                <a:latin typeface="Times New Roman" charset="0"/>
                <a:sym typeface="Symbol" charset="0"/>
              </a:rPr>
              <a:t>[</a:t>
            </a:r>
            <a:r>
              <a:rPr lang="en-US" sz="2000" b="1" i="1">
                <a:solidFill>
                  <a:schemeClr val="accent2"/>
                </a:solidFill>
                <a:latin typeface="Times New Roman" charset="0"/>
                <a:sym typeface="Symbol" charset="0"/>
              </a:rPr>
              <a:t>i</a:t>
            </a:r>
            <a:r>
              <a:rPr lang="en-US" sz="2000">
                <a:solidFill>
                  <a:schemeClr val="accent2"/>
                </a:solidFill>
                <a:latin typeface="Times New Roman" charset="0"/>
                <a:sym typeface="Symbol" charset="0"/>
              </a:rPr>
              <a:t>]</a:t>
            </a:r>
            <a:r>
              <a:rPr lang="en-US" sz="2000">
                <a:solidFill>
                  <a:schemeClr val="tx2"/>
                </a:solidFill>
                <a:latin typeface="Times New Roman" charset="0"/>
                <a:sym typeface="Symbol" charset="0"/>
              </a:rPr>
              <a:t> </a:t>
            </a:r>
            <a:r>
              <a:rPr lang="en-US" sz="2000">
                <a:solidFill>
                  <a:srgbClr val="000000"/>
                </a:solidFill>
                <a:latin typeface="Times New Roman" charset="0"/>
                <a:sym typeface="Symbol" charset="0"/>
              </a:rPr>
              <a:t></a:t>
            </a:r>
            <a:r>
              <a:rPr lang="en-US" sz="2000">
                <a:solidFill>
                  <a:schemeClr val="accent2"/>
                </a:solidFill>
                <a:latin typeface="Times New Roman" charset="0"/>
                <a:sym typeface="Symbol" charset="0"/>
              </a:rPr>
              <a:t> </a:t>
            </a:r>
            <a:r>
              <a:rPr lang="en-US" sz="2000" b="1" i="1">
                <a:solidFill>
                  <a:schemeClr val="accent2"/>
                </a:solidFill>
                <a:latin typeface="Times New Roman" charset="0"/>
                <a:sym typeface="Symbol" charset="0"/>
              </a:rPr>
              <a:t>i </a:t>
            </a:r>
            <a:r>
              <a:rPr lang="en-US" sz="2000">
                <a:solidFill>
                  <a:schemeClr val="accent2"/>
                </a:solidFill>
                <a:latin typeface="Symbol" charset="0"/>
                <a:sym typeface="Symbol" charset="0"/>
              </a:rPr>
              <a:t>-</a:t>
            </a:r>
            <a:r>
              <a:rPr lang="en-US" sz="2000" b="1" i="1">
                <a:solidFill>
                  <a:schemeClr val="accent2"/>
                </a:solidFill>
                <a:latin typeface="Times New Roman" charset="0"/>
                <a:sym typeface="Symbol" charset="0"/>
              </a:rPr>
              <a:t> j</a:t>
            </a:r>
            <a:endParaRPr lang="en-US" sz="2000">
              <a:latin typeface="Tahoma" charset="0"/>
            </a:endParaRPr>
          </a:p>
          <a:p>
            <a:pPr lvl="1" eaLnBrk="1" hangingPunct="1"/>
            <a:r>
              <a:rPr lang="en-US" sz="2000">
                <a:latin typeface="Tahoma" charset="0"/>
              </a:rPr>
              <a:t>We push </a:t>
            </a:r>
            <a:r>
              <a:rPr lang="en-US" sz="2000" b="1" i="1">
                <a:latin typeface="Times New Roman" charset="0"/>
              </a:rPr>
              <a:t>x</a:t>
            </a:r>
            <a:r>
              <a:rPr lang="en-US" sz="2000">
                <a:latin typeface="Tahoma" charset="0"/>
              </a:rPr>
              <a:t> onto the stack</a:t>
            </a:r>
          </a:p>
        </p:txBody>
      </p:sp>
      <p:graphicFrame>
        <p:nvGraphicFramePr>
          <p:cNvPr id="3074" name="Object 4"/>
          <p:cNvGraphicFramePr>
            <a:graphicFrameLocks noChangeAspect="1"/>
          </p:cNvGraphicFramePr>
          <p:nvPr/>
        </p:nvGraphicFramePr>
        <p:xfrm>
          <a:off x="6477000" y="1676400"/>
          <a:ext cx="3695700" cy="4064000"/>
        </p:xfrm>
        <a:graphic>
          <a:graphicData uri="http://schemas.openxmlformats.org/presentationml/2006/ole">
            <mc:AlternateContent xmlns:mc="http://schemas.openxmlformats.org/markup-compatibility/2006">
              <mc:Choice xmlns:v="urn:schemas-microsoft-com:vml" Requires="v">
                <p:oleObj name="Chart" r:id="rId2" imgW="3696081" imgH="4067658" progId="MSGraph.Chart.8">
                  <p:embed followColorScheme="full"/>
                </p:oleObj>
              </mc:Choice>
              <mc:Fallback>
                <p:oleObj name="Chart" r:id="rId2" imgW="3696081" imgH="4067658" progId="MSGraph.Chart.8">
                  <p:embed followColorScheme="full"/>
                  <p:pic>
                    <p:nvPicPr>
                      <p:cNvPr id="307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676400"/>
                        <a:ext cx="3695700" cy="40640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3079" name="Date Placeholder 6"/>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Stacks</a:t>
            </a:r>
          </a:p>
        </p:txBody>
      </p:sp>
      <p:sp>
        <p:nvSpPr>
          <p:cNvPr id="31747"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D64C9A41-3020-1244-B6EE-A6DA31CAB4B4}" type="slidenum">
              <a:rPr lang="en-US" sz="1400"/>
              <a:pPr eaLnBrk="1" hangingPunct="1"/>
              <a:t>26</a:t>
            </a:fld>
            <a:endParaRPr lang="en-US" sz="1400"/>
          </a:p>
        </p:txBody>
      </p:sp>
      <p:sp>
        <p:nvSpPr>
          <p:cNvPr id="31748" name="Rectangle 2"/>
          <p:cNvSpPr>
            <a:spLocks noGrp="1" noChangeArrowheads="1"/>
          </p:cNvSpPr>
          <p:nvPr>
            <p:ph type="title"/>
          </p:nvPr>
        </p:nvSpPr>
        <p:spPr/>
        <p:txBody>
          <a:bodyPr/>
          <a:lstStyle/>
          <a:p>
            <a:pPr eaLnBrk="1" hangingPunct="1"/>
            <a:r>
              <a:rPr lang="en-US" dirty="0">
                <a:latin typeface="Tahoma" charset="0"/>
              </a:rPr>
              <a:t>Linear Time Algorithm</a:t>
            </a:r>
          </a:p>
        </p:txBody>
      </p:sp>
      <p:sp>
        <p:nvSpPr>
          <p:cNvPr id="31749" name="Rectangle 5" descr="Rectangle: Click to edit Master text styles&#10;Second level&#10;Third level&#10;Fourth level&#10;Fifth level"/>
          <p:cNvSpPr>
            <a:spLocks noChangeArrowheads="1"/>
          </p:cNvSpPr>
          <p:nvPr/>
        </p:nvSpPr>
        <p:spPr bwMode="auto">
          <a:xfrm>
            <a:off x="5638800" y="1676400"/>
            <a:ext cx="4572000" cy="44958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marL="342900" indent="-342900" defTabSz="228600"/>
            <a:r>
              <a:rPr lang="en-US" sz="2200" b="1">
                <a:solidFill>
                  <a:srgbClr val="000000"/>
                </a:solidFill>
                <a:latin typeface="Times New Roman" charset="0"/>
              </a:rPr>
              <a:t>Algorithm</a:t>
            </a:r>
            <a:r>
              <a:rPr lang="en-US" sz="2200">
                <a:latin typeface="Times New Roman" charset="0"/>
              </a:rPr>
              <a:t> </a:t>
            </a:r>
            <a:r>
              <a:rPr lang="en-US" sz="2200" b="1" i="1">
                <a:solidFill>
                  <a:schemeClr val="tx2"/>
                </a:solidFill>
                <a:latin typeface="Times New Roman" charset="0"/>
              </a:rPr>
              <a:t>spans2</a:t>
            </a:r>
            <a:r>
              <a:rPr lang="en-US" sz="2200">
                <a:solidFill>
                  <a:schemeClr val="tx2"/>
                </a:solidFill>
                <a:latin typeface="Times New Roman" charset="0"/>
              </a:rPr>
              <a:t>(</a:t>
            </a:r>
            <a:r>
              <a:rPr lang="en-US" sz="2200" b="1" i="1">
                <a:solidFill>
                  <a:schemeClr val="tx2"/>
                </a:solidFill>
                <a:latin typeface="Times New Roman" charset="0"/>
              </a:rPr>
              <a:t>X, n</a:t>
            </a:r>
            <a:r>
              <a:rPr lang="en-US" sz="2200">
                <a:solidFill>
                  <a:schemeClr val="tx2"/>
                </a:solidFill>
                <a:latin typeface="Times New Roman" charset="0"/>
              </a:rPr>
              <a:t>)</a:t>
            </a:r>
            <a:r>
              <a:rPr lang="en-US" sz="2200">
                <a:solidFill>
                  <a:schemeClr val="accent2"/>
                </a:solidFill>
                <a:latin typeface="Times New Roman" charset="0"/>
              </a:rPr>
              <a:t>					</a:t>
            </a:r>
            <a:r>
              <a:rPr lang="en-US" sz="2200">
                <a:sym typeface="Symbol" charset="0"/>
              </a:rPr>
              <a:t>#</a:t>
            </a:r>
            <a:endParaRPr lang="en-US" sz="2200">
              <a:solidFill>
                <a:schemeClr val="accent2"/>
              </a:solidFill>
              <a:latin typeface="Times New Roman" charset="0"/>
              <a:sym typeface="Symbol" charset="0"/>
            </a:endParaRPr>
          </a:p>
          <a:p>
            <a:pPr marL="342900" indent="-342900" defTabSz="228600"/>
            <a:r>
              <a:rPr lang="en-US" sz="2200">
                <a:solidFill>
                  <a:schemeClr val="accent2"/>
                </a:solidFill>
                <a:latin typeface="Times New Roman" charset="0"/>
                <a:sym typeface="Symbol" charset="0"/>
              </a:rPr>
              <a:t>	</a:t>
            </a:r>
            <a:r>
              <a:rPr lang="en-US" sz="2200" b="1" i="1">
                <a:solidFill>
                  <a:schemeClr val="accent2"/>
                </a:solidFill>
                <a:latin typeface="Times New Roman" charset="0"/>
              </a:rPr>
              <a:t>S</a:t>
            </a:r>
            <a:r>
              <a:rPr lang="en-US" sz="2200">
                <a:solidFill>
                  <a:schemeClr val="tx2"/>
                </a:solidFill>
                <a:latin typeface="Times New Roman" charset="0"/>
              </a:rPr>
              <a:t> </a:t>
            </a:r>
            <a:r>
              <a:rPr lang="en-US" sz="2200">
                <a:solidFill>
                  <a:srgbClr val="000000"/>
                </a:solidFill>
                <a:latin typeface="Times New Roman" charset="0"/>
                <a:sym typeface="Symbol" charset="0"/>
              </a:rPr>
              <a:t> </a:t>
            </a:r>
            <a:r>
              <a:rPr lang="en-US" sz="2200">
                <a:solidFill>
                  <a:schemeClr val="accent2"/>
                </a:solidFill>
                <a:latin typeface="Times New Roman" charset="0"/>
              </a:rPr>
              <a:t>new array of </a:t>
            </a:r>
            <a:r>
              <a:rPr lang="en-US" sz="2200" b="1" i="1">
                <a:solidFill>
                  <a:schemeClr val="accent2"/>
                </a:solidFill>
                <a:latin typeface="Times New Roman" charset="0"/>
              </a:rPr>
              <a:t>n</a:t>
            </a:r>
            <a:r>
              <a:rPr lang="en-US" sz="2200">
                <a:solidFill>
                  <a:schemeClr val="accent2"/>
                </a:solidFill>
                <a:latin typeface="Times New Roman" charset="0"/>
              </a:rPr>
              <a:t> integers	  	</a:t>
            </a:r>
            <a:r>
              <a:rPr lang="en-US" sz="2200" b="1" i="1">
                <a:latin typeface="Times New Roman" charset="0"/>
                <a:sym typeface="Symbol" charset="0"/>
              </a:rPr>
              <a:t>n</a:t>
            </a:r>
          </a:p>
          <a:p>
            <a:pPr marL="342900" indent="-342900" defTabSz="228600"/>
            <a:r>
              <a:rPr lang="en-US" sz="2200" b="1" i="1">
                <a:latin typeface="Times New Roman" charset="0"/>
                <a:sym typeface="Symbol" charset="0"/>
              </a:rPr>
              <a:t>	</a:t>
            </a:r>
            <a:r>
              <a:rPr lang="en-US" sz="2200" b="1" i="1">
                <a:solidFill>
                  <a:schemeClr val="accent2"/>
                </a:solidFill>
                <a:latin typeface="Times New Roman" charset="0"/>
              </a:rPr>
              <a:t>A</a:t>
            </a:r>
            <a:r>
              <a:rPr lang="en-US" sz="2200">
                <a:solidFill>
                  <a:schemeClr val="tx2"/>
                </a:solidFill>
                <a:latin typeface="Times New Roman" charset="0"/>
              </a:rPr>
              <a:t> </a:t>
            </a:r>
            <a:r>
              <a:rPr lang="en-US" sz="2200">
                <a:solidFill>
                  <a:srgbClr val="000000"/>
                </a:solidFill>
                <a:latin typeface="Times New Roman" charset="0"/>
                <a:sym typeface="Symbol" charset="0"/>
              </a:rPr>
              <a:t> </a:t>
            </a:r>
            <a:r>
              <a:rPr lang="en-US" sz="2200">
                <a:solidFill>
                  <a:schemeClr val="accent2"/>
                </a:solidFill>
                <a:latin typeface="Times New Roman" charset="0"/>
              </a:rPr>
              <a:t>new empty stack				 	</a:t>
            </a:r>
            <a:r>
              <a:rPr lang="en-US" sz="2200">
                <a:latin typeface="Times New Roman" charset="0"/>
                <a:sym typeface="Symbol" charset="0"/>
              </a:rPr>
              <a:t>1</a:t>
            </a:r>
            <a:endParaRPr lang="en-US" sz="2200" b="1" i="1">
              <a:solidFill>
                <a:schemeClr val="accent2"/>
              </a:solidFill>
              <a:latin typeface="Times New Roman" charset="0"/>
            </a:endParaRPr>
          </a:p>
          <a:p>
            <a:pPr marL="342900" indent="-342900" defTabSz="228600"/>
            <a:r>
              <a:rPr lang="en-US" sz="2200">
                <a:latin typeface="Times New Roman" charset="0"/>
              </a:rPr>
              <a:t>		</a:t>
            </a:r>
            <a:r>
              <a:rPr lang="en-US" sz="2200" b="1">
                <a:solidFill>
                  <a:srgbClr val="000000"/>
                </a:solidFill>
                <a:latin typeface="Times New Roman" charset="0"/>
              </a:rPr>
              <a:t>for</a:t>
            </a:r>
            <a:r>
              <a:rPr lang="en-US" sz="2200">
                <a:latin typeface="Times New Roman" charset="0"/>
              </a:rPr>
              <a:t> </a:t>
            </a:r>
            <a:r>
              <a:rPr lang="en-US" sz="2200" b="1" i="1">
                <a:solidFill>
                  <a:schemeClr val="accent2"/>
                </a:solidFill>
                <a:latin typeface="Times New Roman" charset="0"/>
              </a:rPr>
              <a:t>i</a:t>
            </a:r>
            <a:r>
              <a:rPr lang="en-US" sz="2200">
                <a:solidFill>
                  <a:schemeClr val="tx2"/>
                </a:solidFill>
                <a:latin typeface="Times New Roman" charset="0"/>
              </a:rPr>
              <a:t> </a:t>
            </a:r>
            <a:r>
              <a:rPr lang="en-US" sz="2200">
                <a:solidFill>
                  <a:srgbClr val="000000"/>
                </a:solidFill>
                <a:latin typeface="Times New Roman" charset="0"/>
                <a:sym typeface="Symbol" charset="0"/>
              </a:rPr>
              <a:t></a:t>
            </a:r>
            <a:r>
              <a:rPr lang="en-US" sz="2200">
                <a:solidFill>
                  <a:schemeClr val="tx2"/>
                </a:solidFill>
                <a:latin typeface="Times New Roman" charset="0"/>
                <a:sym typeface="Symbol" charset="0"/>
              </a:rPr>
              <a:t> </a:t>
            </a:r>
            <a:r>
              <a:rPr lang="en-US" sz="2200">
                <a:solidFill>
                  <a:schemeClr val="accent2"/>
                </a:solidFill>
                <a:latin typeface="Times New Roman" charset="0"/>
                <a:sym typeface="Symbol" charset="0"/>
              </a:rPr>
              <a:t>0</a:t>
            </a:r>
            <a:r>
              <a:rPr lang="en-US" sz="2200">
                <a:latin typeface="Times New Roman" charset="0"/>
                <a:sym typeface="Symbol" charset="0"/>
              </a:rPr>
              <a:t> </a:t>
            </a:r>
            <a:r>
              <a:rPr lang="en-US" sz="2200" b="1">
                <a:solidFill>
                  <a:srgbClr val="000000"/>
                </a:solidFill>
                <a:latin typeface="Times New Roman" charset="0"/>
                <a:sym typeface="Symbol" charset="0"/>
              </a:rPr>
              <a:t>to</a:t>
            </a:r>
            <a:r>
              <a:rPr lang="en-US" sz="2200">
                <a:latin typeface="Times New Roman" charset="0"/>
                <a:sym typeface="Symbol" charset="0"/>
              </a:rPr>
              <a:t> </a:t>
            </a:r>
            <a:r>
              <a:rPr lang="en-US" sz="2200" b="1" i="1">
                <a:solidFill>
                  <a:schemeClr val="accent2"/>
                </a:solidFill>
                <a:latin typeface="Times New Roman" charset="0"/>
                <a:sym typeface="Symbol" charset="0"/>
              </a:rPr>
              <a:t>n</a:t>
            </a:r>
            <a:r>
              <a:rPr lang="en-US" sz="2200">
                <a:solidFill>
                  <a:schemeClr val="accent2"/>
                </a:solidFill>
                <a:latin typeface="Times New Roman" charset="0"/>
                <a:sym typeface="Symbol" charset="0"/>
              </a:rPr>
              <a:t> </a:t>
            </a:r>
            <a:r>
              <a:rPr lang="en-US" sz="2200">
                <a:solidFill>
                  <a:schemeClr val="accent2"/>
                </a:solidFill>
                <a:latin typeface="Symbol" charset="0"/>
                <a:sym typeface="Symbol" charset="0"/>
              </a:rPr>
              <a:t></a:t>
            </a:r>
            <a:r>
              <a:rPr lang="en-US" sz="2200">
                <a:solidFill>
                  <a:schemeClr val="accent2"/>
                </a:solidFill>
                <a:latin typeface="Times New Roman" charset="0"/>
                <a:sym typeface="Symbol" charset="0"/>
              </a:rPr>
              <a:t> 1</a:t>
            </a:r>
            <a:r>
              <a:rPr lang="en-US" sz="2200">
                <a:latin typeface="Times New Roman" charset="0"/>
                <a:sym typeface="Symbol" charset="0"/>
              </a:rPr>
              <a:t> </a:t>
            </a:r>
            <a:r>
              <a:rPr lang="en-US" sz="2200" b="1">
                <a:solidFill>
                  <a:srgbClr val="000000"/>
                </a:solidFill>
                <a:latin typeface="Times New Roman" charset="0"/>
                <a:sym typeface="Symbol" charset="0"/>
              </a:rPr>
              <a:t>do					</a:t>
            </a:r>
            <a:r>
              <a:rPr lang="en-US" sz="2200" b="1" i="1">
                <a:latin typeface="Times New Roman" charset="0"/>
                <a:sym typeface="Symbol" charset="0"/>
              </a:rPr>
              <a:t>n</a:t>
            </a:r>
          </a:p>
          <a:p>
            <a:pPr marL="342900" indent="-342900" defTabSz="228600"/>
            <a:r>
              <a:rPr lang="en-US" sz="2200" b="1">
                <a:solidFill>
                  <a:srgbClr val="000000"/>
                </a:solidFill>
                <a:latin typeface="Times New Roman" charset="0"/>
              </a:rPr>
              <a:t>			while</a:t>
            </a:r>
            <a:r>
              <a:rPr lang="en-US" sz="2200">
                <a:latin typeface="Times New Roman" charset="0"/>
              </a:rPr>
              <a:t> </a:t>
            </a:r>
            <a:r>
              <a:rPr lang="en-US" sz="2200">
                <a:solidFill>
                  <a:schemeClr val="accent2"/>
                </a:solidFill>
                <a:latin typeface="Times New Roman" charset="0"/>
                <a:sym typeface="Symbol" charset="0"/>
              </a:rPr>
              <a:t>(</a:t>
            </a:r>
            <a:r>
              <a:rPr lang="en-US" sz="2200" b="1">
                <a:solidFill>
                  <a:srgbClr val="000000"/>
                </a:solidFill>
                <a:latin typeface="Times New Roman" charset="0"/>
                <a:sym typeface="Symbol" charset="0"/>
              </a:rPr>
              <a:t></a:t>
            </a:r>
            <a:r>
              <a:rPr lang="en-US" sz="2200" b="1" i="1">
                <a:solidFill>
                  <a:schemeClr val="accent2"/>
                </a:solidFill>
                <a:latin typeface="Times New Roman" charset="0"/>
              </a:rPr>
              <a:t>A</a:t>
            </a:r>
            <a:r>
              <a:rPr lang="en-US" sz="2200">
                <a:latin typeface="Times New Roman" charset="0"/>
              </a:rPr>
              <a:t>.</a:t>
            </a:r>
            <a:r>
              <a:rPr lang="en-US" sz="2200" b="1" i="1">
                <a:solidFill>
                  <a:schemeClr val="accent2"/>
                </a:solidFill>
                <a:latin typeface="Times New Roman" charset="0"/>
              </a:rPr>
              <a:t>isEmpty</a:t>
            </a:r>
            <a:r>
              <a:rPr lang="en-US" sz="2200">
                <a:solidFill>
                  <a:schemeClr val="accent2"/>
                </a:solidFill>
                <a:latin typeface="Times New Roman" charset="0"/>
              </a:rPr>
              <a:t>() </a:t>
            </a:r>
            <a:r>
              <a:rPr lang="en-US" sz="2200" b="1">
                <a:solidFill>
                  <a:srgbClr val="000000"/>
                </a:solidFill>
                <a:latin typeface="Times New Roman" charset="0"/>
                <a:sym typeface="Symbol" charset="0"/>
              </a:rPr>
              <a:t> </a:t>
            </a:r>
          </a:p>
          <a:p>
            <a:pPr marL="342900" indent="-342900" defTabSz="228600"/>
            <a:r>
              <a:rPr lang="en-US" sz="2200" b="1">
                <a:solidFill>
                  <a:srgbClr val="000000"/>
                </a:solidFill>
                <a:latin typeface="Times New Roman" charset="0"/>
                <a:sym typeface="Symbol" charset="0"/>
              </a:rPr>
              <a:t>						</a:t>
            </a:r>
            <a:r>
              <a:rPr lang="en-US" sz="2200" b="1" i="1">
                <a:solidFill>
                  <a:schemeClr val="accent2"/>
                </a:solidFill>
                <a:latin typeface="Times New Roman" charset="0"/>
                <a:sym typeface="Symbol" charset="0"/>
              </a:rPr>
              <a:t>X</a:t>
            </a:r>
            <a:r>
              <a:rPr lang="en-US" sz="2200">
                <a:solidFill>
                  <a:schemeClr val="accent2"/>
                </a:solidFill>
                <a:latin typeface="Times New Roman" charset="0"/>
                <a:sym typeface="Symbol" charset="0"/>
              </a:rPr>
              <a:t>[</a:t>
            </a:r>
            <a:r>
              <a:rPr lang="en-US" sz="2200" b="1" i="1">
                <a:solidFill>
                  <a:schemeClr val="accent2"/>
                </a:solidFill>
                <a:latin typeface="Times New Roman" charset="0"/>
                <a:sym typeface="Symbol" charset="0"/>
              </a:rPr>
              <a:t>A.</a:t>
            </a:r>
            <a:r>
              <a:rPr lang="en-US" sz="2200" b="1" i="1">
                <a:solidFill>
                  <a:schemeClr val="accent2"/>
                </a:solidFill>
                <a:latin typeface="Times New Roman" charset="0"/>
              </a:rPr>
              <a:t>top</a:t>
            </a:r>
            <a:r>
              <a:rPr lang="en-US" sz="2200">
                <a:solidFill>
                  <a:schemeClr val="accent2"/>
                </a:solidFill>
                <a:latin typeface="Times New Roman" charset="0"/>
              </a:rPr>
              <a:t>()</a:t>
            </a:r>
            <a:r>
              <a:rPr lang="en-US" sz="2200">
                <a:solidFill>
                  <a:schemeClr val="accent2"/>
                </a:solidFill>
                <a:latin typeface="Times New Roman" charset="0"/>
                <a:sym typeface="Symbol" charset="0"/>
              </a:rPr>
              <a:t>]</a:t>
            </a:r>
            <a:r>
              <a:rPr lang="en-US" sz="2200" b="1">
                <a:solidFill>
                  <a:srgbClr val="000000"/>
                </a:solidFill>
                <a:latin typeface="Times New Roman" charset="0"/>
                <a:sym typeface="Symbol" charset="0"/>
              </a:rPr>
              <a:t> </a:t>
            </a:r>
            <a:r>
              <a:rPr lang="en-US" sz="2200">
                <a:solidFill>
                  <a:srgbClr val="000000"/>
                </a:solidFill>
                <a:latin typeface="Symbol" charset="0"/>
                <a:sym typeface="Symbol" charset="0"/>
              </a:rPr>
              <a:t></a:t>
            </a:r>
            <a:r>
              <a:rPr lang="en-US" sz="2200" b="1">
                <a:solidFill>
                  <a:srgbClr val="000000"/>
                </a:solidFill>
                <a:latin typeface="Times New Roman" charset="0"/>
                <a:sym typeface="Symbol" charset="0"/>
              </a:rPr>
              <a:t> </a:t>
            </a:r>
            <a:r>
              <a:rPr lang="en-US" sz="2200" b="1" i="1">
                <a:solidFill>
                  <a:schemeClr val="accent2"/>
                </a:solidFill>
                <a:latin typeface="Times New Roman" charset="0"/>
                <a:sym typeface="Symbol" charset="0"/>
              </a:rPr>
              <a:t>X</a:t>
            </a:r>
            <a:r>
              <a:rPr lang="en-US" sz="2200">
                <a:solidFill>
                  <a:schemeClr val="accent2"/>
                </a:solidFill>
                <a:latin typeface="Times New Roman" charset="0"/>
                <a:sym typeface="Symbol" charset="0"/>
              </a:rPr>
              <a:t>[</a:t>
            </a:r>
            <a:r>
              <a:rPr lang="en-US" sz="2200" b="1" i="1">
                <a:solidFill>
                  <a:schemeClr val="accent2"/>
                </a:solidFill>
                <a:latin typeface="Times New Roman" charset="0"/>
                <a:sym typeface="Symbol" charset="0"/>
              </a:rPr>
              <a:t>i</a:t>
            </a:r>
            <a:r>
              <a:rPr lang="en-US" sz="2200">
                <a:solidFill>
                  <a:schemeClr val="accent2"/>
                </a:solidFill>
                <a:latin typeface="Times New Roman" charset="0"/>
                <a:sym typeface="Symbol" charset="0"/>
              </a:rPr>
              <a:t>] </a:t>
            </a:r>
            <a:r>
              <a:rPr lang="en-US" sz="2200">
                <a:solidFill>
                  <a:schemeClr val="accent2"/>
                </a:solidFill>
                <a:latin typeface="Times New Roman" charset="0"/>
              </a:rPr>
              <a:t>)</a:t>
            </a:r>
            <a:r>
              <a:rPr lang="en-US" sz="2200">
                <a:latin typeface="Times New Roman" charset="0"/>
              </a:rPr>
              <a:t> </a:t>
            </a:r>
            <a:r>
              <a:rPr lang="en-US" sz="2200" b="1">
                <a:solidFill>
                  <a:srgbClr val="000000"/>
                </a:solidFill>
                <a:latin typeface="Times New Roman" charset="0"/>
                <a:sym typeface="Symbol" charset="0"/>
              </a:rPr>
              <a:t>do	</a:t>
            </a:r>
            <a:r>
              <a:rPr lang="en-US" sz="2200" b="1" i="1">
                <a:latin typeface="Times New Roman" charset="0"/>
                <a:sym typeface="Symbol" charset="0"/>
              </a:rPr>
              <a:t>n</a:t>
            </a:r>
          </a:p>
          <a:p>
            <a:pPr marL="342900" indent="-342900" defTabSz="228600"/>
            <a:r>
              <a:rPr lang="en-US" sz="2200" b="1" i="1">
                <a:latin typeface="Times New Roman" charset="0"/>
                <a:sym typeface="Symbol" charset="0"/>
              </a:rPr>
              <a:t>				</a:t>
            </a:r>
            <a:r>
              <a:rPr lang="en-US" sz="2200" b="1" i="1">
                <a:solidFill>
                  <a:schemeClr val="accent2"/>
                </a:solidFill>
                <a:latin typeface="Times New Roman" charset="0"/>
                <a:sym typeface="Symbol" charset="0"/>
              </a:rPr>
              <a:t>A.pop</a:t>
            </a:r>
            <a:r>
              <a:rPr lang="en-US" sz="2200">
                <a:solidFill>
                  <a:schemeClr val="accent2"/>
                </a:solidFill>
                <a:latin typeface="Times New Roman" charset="0"/>
                <a:sym typeface="Symbol" charset="0"/>
              </a:rPr>
              <a:t>()</a:t>
            </a:r>
            <a:r>
              <a:rPr lang="en-US" sz="2200" b="1">
                <a:solidFill>
                  <a:srgbClr val="000000"/>
                </a:solidFill>
                <a:latin typeface="Times New Roman" charset="0"/>
                <a:sym typeface="Symbol" charset="0"/>
              </a:rPr>
              <a:t>										</a:t>
            </a:r>
            <a:r>
              <a:rPr lang="en-US" sz="2200" b="1" i="1">
                <a:latin typeface="Times New Roman" charset="0"/>
                <a:sym typeface="Symbol" charset="0"/>
              </a:rPr>
              <a:t>n</a:t>
            </a:r>
            <a:endParaRPr lang="en-US" sz="2200">
              <a:solidFill>
                <a:schemeClr val="accent2"/>
              </a:solidFill>
              <a:latin typeface="Times New Roman" charset="0"/>
              <a:sym typeface="Symbol" charset="0"/>
            </a:endParaRPr>
          </a:p>
          <a:p>
            <a:pPr marL="342900" indent="-342900" defTabSz="228600"/>
            <a:r>
              <a:rPr lang="en-US" sz="2200">
                <a:latin typeface="Times New Roman" charset="0"/>
              </a:rPr>
              <a:t>			</a:t>
            </a:r>
            <a:r>
              <a:rPr lang="en-US" sz="2200" b="1">
                <a:solidFill>
                  <a:srgbClr val="000000"/>
                </a:solidFill>
                <a:latin typeface="Times New Roman" charset="0"/>
              </a:rPr>
              <a:t>if </a:t>
            </a:r>
            <a:r>
              <a:rPr lang="en-US" sz="2200" b="1" i="1">
                <a:solidFill>
                  <a:schemeClr val="accent2"/>
                </a:solidFill>
                <a:latin typeface="Times New Roman" charset="0"/>
              </a:rPr>
              <a:t>A</a:t>
            </a:r>
            <a:r>
              <a:rPr lang="en-US" sz="2200">
                <a:latin typeface="Times New Roman" charset="0"/>
              </a:rPr>
              <a:t>.</a:t>
            </a:r>
            <a:r>
              <a:rPr lang="en-US" sz="2200" b="1" i="1">
                <a:solidFill>
                  <a:schemeClr val="accent2"/>
                </a:solidFill>
                <a:latin typeface="Times New Roman" charset="0"/>
              </a:rPr>
              <a:t>isEmpty</a:t>
            </a:r>
            <a:r>
              <a:rPr lang="en-US" sz="2200">
                <a:solidFill>
                  <a:schemeClr val="accent2"/>
                </a:solidFill>
                <a:latin typeface="Times New Roman" charset="0"/>
              </a:rPr>
              <a:t>()</a:t>
            </a:r>
            <a:r>
              <a:rPr lang="en-US" sz="2200">
                <a:latin typeface="Times New Roman" charset="0"/>
              </a:rPr>
              <a:t> </a:t>
            </a:r>
            <a:r>
              <a:rPr lang="en-US" sz="2200" b="1">
                <a:solidFill>
                  <a:srgbClr val="000000"/>
                </a:solidFill>
                <a:latin typeface="Times New Roman" charset="0"/>
              </a:rPr>
              <a:t>then</a:t>
            </a:r>
            <a:r>
              <a:rPr lang="en-US" sz="2200">
                <a:latin typeface="Times New Roman" charset="0"/>
              </a:rPr>
              <a:t> </a:t>
            </a:r>
            <a:r>
              <a:rPr lang="en-US" sz="2200" b="1">
                <a:solidFill>
                  <a:srgbClr val="000000"/>
                </a:solidFill>
                <a:latin typeface="Times New Roman" charset="0"/>
                <a:sym typeface="Symbol" charset="0"/>
              </a:rPr>
              <a:t>			 		</a:t>
            </a:r>
            <a:r>
              <a:rPr lang="en-US" sz="2200" b="1" i="1">
                <a:latin typeface="Times New Roman" charset="0"/>
                <a:sym typeface="Symbol" charset="0"/>
              </a:rPr>
              <a:t>n</a:t>
            </a:r>
            <a:endParaRPr lang="en-US" sz="2200">
              <a:latin typeface="Times New Roman" charset="0"/>
              <a:sym typeface="Symbol" charset="0"/>
            </a:endParaRPr>
          </a:p>
          <a:p>
            <a:pPr marL="342900" indent="-342900" defTabSz="228600"/>
            <a:r>
              <a:rPr lang="en-US" sz="2200">
                <a:latin typeface="Times New Roman" charset="0"/>
                <a:sym typeface="Symbol" charset="0"/>
              </a:rPr>
              <a:t>				</a:t>
            </a:r>
            <a:r>
              <a:rPr lang="en-US" sz="2200" b="1" i="1">
                <a:solidFill>
                  <a:schemeClr val="accent2"/>
                </a:solidFill>
                <a:latin typeface="Times New Roman" charset="0"/>
                <a:sym typeface="Symbol" charset="0"/>
              </a:rPr>
              <a:t>S</a:t>
            </a:r>
            <a:r>
              <a:rPr lang="en-US" sz="2200">
                <a:solidFill>
                  <a:schemeClr val="accent2"/>
                </a:solidFill>
                <a:latin typeface="Times New Roman" charset="0"/>
                <a:sym typeface="Symbol" charset="0"/>
              </a:rPr>
              <a:t>[</a:t>
            </a:r>
            <a:r>
              <a:rPr lang="en-US" sz="2200" b="1" i="1">
                <a:solidFill>
                  <a:schemeClr val="accent2"/>
                </a:solidFill>
                <a:latin typeface="Times New Roman" charset="0"/>
                <a:sym typeface="Symbol" charset="0"/>
              </a:rPr>
              <a:t>i</a:t>
            </a:r>
            <a:r>
              <a:rPr lang="en-US" sz="2200">
                <a:solidFill>
                  <a:schemeClr val="accent2"/>
                </a:solidFill>
                <a:latin typeface="Times New Roman" charset="0"/>
                <a:sym typeface="Symbol" charset="0"/>
              </a:rPr>
              <a:t>]</a:t>
            </a:r>
            <a:r>
              <a:rPr lang="en-US" sz="2200">
                <a:solidFill>
                  <a:schemeClr val="tx2"/>
                </a:solidFill>
                <a:latin typeface="Times New Roman" charset="0"/>
                <a:sym typeface="Symbol" charset="0"/>
              </a:rPr>
              <a:t> </a:t>
            </a:r>
            <a:r>
              <a:rPr lang="en-US" sz="2200">
                <a:solidFill>
                  <a:srgbClr val="000000"/>
                </a:solidFill>
                <a:latin typeface="Times New Roman" charset="0"/>
                <a:sym typeface="Symbol" charset="0"/>
              </a:rPr>
              <a:t> </a:t>
            </a:r>
            <a:r>
              <a:rPr lang="en-US" sz="2200" b="1" i="1">
                <a:solidFill>
                  <a:schemeClr val="accent2"/>
                </a:solidFill>
                <a:latin typeface="Times New Roman" charset="0"/>
                <a:sym typeface="Symbol" charset="0"/>
              </a:rPr>
              <a:t>i </a:t>
            </a:r>
            <a:r>
              <a:rPr lang="en-US" sz="2200">
                <a:solidFill>
                  <a:schemeClr val="accent2"/>
                </a:solidFill>
                <a:latin typeface="Symbol" charset="0"/>
                <a:sym typeface="Symbol" charset="0"/>
              </a:rPr>
              <a:t>+</a:t>
            </a:r>
            <a:r>
              <a:rPr lang="en-US" sz="2200" b="1" i="1">
                <a:solidFill>
                  <a:schemeClr val="accent2"/>
                </a:solidFill>
                <a:latin typeface="Times New Roman" charset="0"/>
                <a:sym typeface="Symbol" charset="0"/>
              </a:rPr>
              <a:t> </a:t>
            </a:r>
            <a:r>
              <a:rPr lang="en-US" sz="2200">
                <a:solidFill>
                  <a:schemeClr val="accent2"/>
                </a:solidFill>
                <a:latin typeface="Times New Roman" charset="0"/>
                <a:sym typeface="Symbol" charset="0"/>
              </a:rPr>
              <a:t>1								</a:t>
            </a:r>
            <a:r>
              <a:rPr lang="en-US" sz="2200" b="1" i="1">
                <a:latin typeface="Times New Roman" charset="0"/>
                <a:sym typeface="Symbol" charset="0"/>
              </a:rPr>
              <a:t>n</a:t>
            </a:r>
            <a:endParaRPr lang="en-US" sz="2200"/>
          </a:p>
          <a:p>
            <a:pPr marL="342900" indent="-342900" defTabSz="228600"/>
            <a:r>
              <a:rPr lang="en-US" sz="2200">
                <a:solidFill>
                  <a:schemeClr val="accent2"/>
                </a:solidFill>
                <a:latin typeface="Times New Roman" charset="0"/>
              </a:rPr>
              <a:t>			</a:t>
            </a:r>
            <a:r>
              <a:rPr lang="en-US" sz="2200" b="1">
                <a:solidFill>
                  <a:srgbClr val="000000"/>
                </a:solidFill>
                <a:latin typeface="Times New Roman" charset="0"/>
              </a:rPr>
              <a:t>else</a:t>
            </a:r>
            <a:endParaRPr lang="en-US" sz="2200">
              <a:solidFill>
                <a:schemeClr val="accent2"/>
              </a:solidFill>
              <a:latin typeface="Times New Roman" charset="0"/>
            </a:endParaRPr>
          </a:p>
          <a:p>
            <a:pPr marL="342900" indent="-342900" defTabSz="228600"/>
            <a:r>
              <a:rPr lang="en-US" sz="2200" b="1" i="1">
                <a:latin typeface="Times New Roman" charset="0"/>
                <a:sym typeface="Symbol" charset="0"/>
              </a:rPr>
              <a:t>		 		</a:t>
            </a:r>
            <a:r>
              <a:rPr lang="en-US" sz="2200" b="1" i="1">
                <a:solidFill>
                  <a:schemeClr val="accent2"/>
                </a:solidFill>
                <a:latin typeface="Times New Roman" charset="0"/>
                <a:sym typeface="Symbol" charset="0"/>
              </a:rPr>
              <a:t>S</a:t>
            </a:r>
            <a:r>
              <a:rPr lang="en-US" sz="2200">
                <a:solidFill>
                  <a:schemeClr val="accent2"/>
                </a:solidFill>
                <a:latin typeface="Times New Roman" charset="0"/>
                <a:sym typeface="Symbol" charset="0"/>
              </a:rPr>
              <a:t>[</a:t>
            </a:r>
            <a:r>
              <a:rPr lang="en-US" sz="2200" b="1" i="1">
                <a:solidFill>
                  <a:schemeClr val="accent2"/>
                </a:solidFill>
                <a:latin typeface="Times New Roman" charset="0"/>
                <a:sym typeface="Symbol" charset="0"/>
              </a:rPr>
              <a:t>i</a:t>
            </a:r>
            <a:r>
              <a:rPr lang="en-US" sz="2200">
                <a:solidFill>
                  <a:schemeClr val="accent2"/>
                </a:solidFill>
                <a:latin typeface="Times New Roman" charset="0"/>
                <a:sym typeface="Symbol" charset="0"/>
              </a:rPr>
              <a:t>]</a:t>
            </a:r>
            <a:r>
              <a:rPr lang="en-US" sz="2200">
                <a:solidFill>
                  <a:schemeClr val="tx2"/>
                </a:solidFill>
                <a:latin typeface="Times New Roman" charset="0"/>
                <a:sym typeface="Symbol" charset="0"/>
              </a:rPr>
              <a:t> </a:t>
            </a:r>
            <a:r>
              <a:rPr lang="en-US" sz="2200">
                <a:solidFill>
                  <a:srgbClr val="000000"/>
                </a:solidFill>
                <a:latin typeface="Times New Roman" charset="0"/>
                <a:sym typeface="Symbol" charset="0"/>
              </a:rPr>
              <a:t></a:t>
            </a:r>
            <a:r>
              <a:rPr lang="en-US" sz="2200">
                <a:solidFill>
                  <a:schemeClr val="accent2"/>
                </a:solidFill>
                <a:latin typeface="Times New Roman" charset="0"/>
                <a:sym typeface="Symbol" charset="0"/>
              </a:rPr>
              <a:t> </a:t>
            </a:r>
            <a:r>
              <a:rPr lang="en-US" sz="2200" b="1" i="1">
                <a:solidFill>
                  <a:schemeClr val="accent2"/>
                </a:solidFill>
                <a:latin typeface="Times New Roman" charset="0"/>
                <a:sym typeface="Symbol" charset="0"/>
              </a:rPr>
              <a:t>i </a:t>
            </a:r>
            <a:r>
              <a:rPr lang="en-US" sz="2200">
                <a:solidFill>
                  <a:schemeClr val="accent2"/>
                </a:solidFill>
                <a:latin typeface="Symbol" charset="0"/>
                <a:sym typeface="Symbol" charset="0"/>
              </a:rPr>
              <a:t>-</a:t>
            </a:r>
            <a:r>
              <a:rPr lang="en-US" sz="2200" b="1" i="1">
                <a:solidFill>
                  <a:schemeClr val="accent2"/>
                </a:solidFill>
                <a:latin typeface="Times New Roman" charset="0"/>
                <a:sym typeface="Symbol" charset="0"/>
              </a:rPr>
              <a:t> A.</a:t>
            </a:r>
            <a:r>
              <a:rPr lang="en-US" sz="2200" b="1" i="1">
                <a:solidFill>
                  <a:schemeClr val="accent2"/>
                </a:solidFill>
                <a:latin typeface="Times New Roman" charset="0"/>
              </a:rPr>
              <a:t>top</a:t>
            </a:r>
            <a:r>
              <a:rPr lang="en-US" sz="2200">
                <a:solidFill>
                  <a:schemeClr val="accent2"/>
                </a:solidFill>
                <a:latin typeface="Times New Roman" charset="0"/>
              </a:rPr>
              <a:t>()</a:t>
            </a:r>
            <a:r>
              <a:rPr lang="en-US" sz="2200" b="1" i="1">
                <a:solidFill>
                  <a:schemeClr val="accent2"/>
                </a:solidFill>
                <a:latin typeface="Times New Roman" charset="0"/>
                <a:sym typeface="Symbol" charset="0"/>
              </a:rPr>
              <a:t>					</a:t>
            </a:r>
            <a:r>
              <a:rPr lang="en-US" sz="2200" b="1" i="1">
                <a:latin typeface="Times New Roman" charset="0"/>
                <a:sym typeface="Symbol" charset="0"/>
              </a:rPr>
              <a:t>n</a:t>
            </a:r>
            <a:endParaRPr lang="en-US" sz="2200" b="1" i="1">
              <a:solidFill>
                <a:schemeClr val="accent2"/>
              </a:solidFill>
              <a:latin typeface="Times New Roman" charset="0"/>
              <a:sym typeface="Symbol" charset="0"/>
            </a:endParaRPr>
          </a:p>
          <a:p>
            <a:pPr marL="342900" indent="-342900" defTabSz="228600"/>
            <a:r>
              <a:rPr lang="en-US" sz="2200" b="1" i="1">
                <a:solidFill>
                  <a:schemeClr val="accent2"/>
                </a:solidFill>
                <a:latin typeface="Times New Roman" charset="0"/>
                <a:sym typeface="Symbol" charset="0"/>
              </a:rPr>
              <a:t>			</a:t>
            </a:r>
            <a:r>
              <a:rPr lang="en-US" sz="2200" b="1" i="1">
                <a:solidFill>
                  <a:schemeClr val="accent2"/>
                </a:solidFill>
                <a:latin typeface="Times New Roman" charset="0"/>
              </a:rPr>
              <a:t>A</a:t>
            </a:r>
            <a:r>
              <a:rPr lang="en-US" sz="2200">
                <a:latin typeface="Times New Roman" charset="0"/>
              </a:rPr>
              <a:t>.</a:t>
            </a:r>
            <a:r>
              <a:rPr lang="en-US" sz="2200" b="1" i="1">
                <a:solidFill>
                  <a:schemeClr val="accent2"/>
                </a:solidFill>
                <a:latin typeface="Times New Roman" charset="0"/>
              </a:rPr>
              <a:t>push</a:t>
            </a:r>
            <a:r>
              <a:rPr lang="en-US" sz="2200">
                <a:solidFill>
                  <a:schemeClr val="accent2"/>
                </a:solidFill>
                <a:latin typeface="Times New Roman" charset="0"/>
              </a:rPr>
              <a:t>(</a:t>
            </a:r>
            <a:r>
              <a:rPr lang="en-US" sz="2200" b="1" i="1">
                <a:solidFill>
                  <a:schemeClr val="accent2"/>
                </a:solidFill>
                <a:latin typeface="Times New Roman" charset="0"/>
                <a:sym typeface="Symbol" charset="0"/>
              </a:rPr>
              <a:t>i</a:t>
            </a:r>
            <a:r>
              <a:rPr lang="en-US" sz="2200">
                <a:solidFill>
                  <a:schemeClr val="accent2"/>
                </a:solidFill>
                <a:latin typeface="Times New Roman" charset="0"/>
              </a:rPr>
              <a:t>)										</a:t>
            </a:r>
            <a:r>
              <a:rPr lang="en-US" sz="2200" b="1" i="1">
                <a:latin typeface="Times New Roman" charset="0"/>
                <a:sym typeface="Symbol" charset="0"/>
              </a:rPr>
              <a:t>n</a:t>
            </a:r>
            <a:endParaRPr lang="en-US" sz="2200">
              <a:solidFill>
                <a:schemeClr val="accent2"/>
              </a:solidFill>
              <a:latin typeface="Times New Roman" charset="0"/>
              <a:sym typeface="Symbol" charset="0"/>
            </a:endParaRPr>
          </a:p>
          <a:p>
            <a:pPr marL="342900" indent="-342900" defTabSz="228600"/>
            <a:r>
              <a:rPr lang="en-US" sz="2200" b="1">
                <a:solidFill>
                  <a:srgbClr val="000000"/>
                </a:solidFill>
                <a:latin typeface="Times New Roman" charset="0"/>
                <a:sym typeface="Symbol" charset="0"/>
              </a:rPr>
              <a:t>	return</a:t>
            </a:r>
            <a:r>
              <a:rPr lang="en-US" sz="2200">
                <a:latin typeface="Times New Roman" charset="0"/>
                <a:sym typeface="Symbol" charset="0"/>
              </a:rPr>
              <a:t> </a:t>
            </a:r>
            <a:r>
              <a:rPr lang="en-US" sz="2200" b="1" i="1">
                <a:solidFill>
                  <a:schemeClr val="accent2"/>
                </a:solidFill>
                <a:latin typeface="Times New Roman" charset="0"/>
                <a:sym typeface="Symbol" charset="0"/>
              </a:rPr>
              <a:t>S 			      							</a:t>
            </a:r>
            <a:r>
              <a:rPr lang="en-US" sz="2200">
                <a:latin typeface="Times New Roman" charset="0"/>
                <a:sym typeface="Symbol" charset="0"/>
              </a:rPr>
              <a:t>1</a:t>
            </a:r>
          </a:p>
        </p:txBody>
      </p:sp>
      <p:sp>
        <p:nvSpPr>
          <p:cNvPr id="31750" name="Rectangle 7" descr="Rectangle: Click to edit Master text styles&#10;Second level&#10;Third level&#10;Fourth level&#10;Fifth level"/>
          <p:cNvSpPr>
            <a:spLocks noChangeArrowheads="1"/>
          </p:cNvSpPr>
          <p:nvPr/>
        </p:nvSpPr>
        <p:spPr bwMode="auto">
          <a:xfrm>
            <a:off x="2209800" y="1676400"/>
            <a:ext cx="3124200" cy="464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90000"/>
              </a:lnSpc>
              <a:spcBef>
                <a:spcPct val="20000"/>
              </a:spcBef>
              <a:buClr>
                <a:schemeClr val="tx1"/>
              </a:buClr>
              <a:buSzPct val="80000"/>
              <a:buFont typeface="Wingdings" charset="2"/>
              <a:buChar char="q"/>
            </a:pPr>
            <a:r>
              <a:rPr lang="en-US" dirty="0"/>
              <a:t>Each index of the array</a:t>
            </a:r>
          </a:p>
          <a:p>
            <a:pPr marL="800100" lvl="1" indent="-342900">
              <a:lnSpc>
                <a:spcPct val="90000"/>
              </a:lnSpc>
              <a:spcBef>
                <a:spcPct val="20000"/>
              </a:spcBef>
              <a:buClr>
                <a:schemeClr val="tx1"/>
              </a:buClr>
              <a:buSzPct val="60000"/>
              <a:buFont typeface="Wingdings" charset="2"/>
              <a:buChar char="q"/>
            </a:pPr>
            <a:r>
              <a:rPr lang="en-US" sz="2000" dirty="0"/>
              <a:t>Is pushed into the stack exactly one </a:t>
            </a:r>
          </a:p>
          <a:p>
            <a:pPr marL="800100" lvl="1" indent="-342900">
              <a:lnSpc>
                <a:spcPct val="90000"/>
              </a:lnSpc>
              <a:spcBef>
                <a:spcPct val="20000"/>
              </a:spcBef>
              <a:buClr>
                <a:schemeClr val="tx1"/>
              </a:buClr>
              <a:buSzPct val="60000"/>
              <a:buFont typeface="Wingdings" charset="2"/>
              <a:buChar char="q"/>
            </a:pPr>
            <a:r>
              <a:rPr lang="en-US" sz="2000" dirty="0"/>
              <a:t>Is popped from the stack at most once</a:t>
            </a:r>
          </a:p>
          <a:p>
            <a:pPr marL="342900" indent="-342900">
              <a:lnSpc>
                <a:spcPct val="90000"/>
              </a:lnSpc>
              <a:spcBef>
                <a:spcPct val="20000"/>
              </a:spcBef>
              <a:buSzPct val="80000"/>
              <a:buFont typeface="Wingdings" charset="2"/>
              <a:buChar char="q"/>
            </a:pPr>
            <a:r>
              <a:rPr lang="en-US" dirty="0"/>
              <a:t>The statements in the while-loop are executed at most </a:t>
            </a:r>
            <a:r>
              <a:rPr lang="en-US" b="1" i="1" dirty="0">
                <a:latin typeface="Times New Roman" charset="0"/>
                <a:sym typeface="Symbol" charset="0"/>
              </a:rPr>
              <a:t>n</a:t>
            </a:r>
            <a:r>
              <a:rPr lang="en-US" dirty="0"/>
              <a:t> times </a:t>
            </a:r>
          </a:p>
          <a:p>
            <a:pPr marL="342900" indent="-342900">
              <a:lnSpc>
                <a:spcPct val="90000"/>
              </a:lnSpc>
              <a:spcBef>
                <a:spcPct val="20000"/>
              </a:spcBef>
              <a:buSzPct val="80000"/>
              <a:buFont typeface="Wingdings" charset="2"/>
              <a:buChar char="q"/>
            </a:pPr>
            <a:r>
              <a:rPr lang="en-US" dirty="0"/>
              <a:t>Algorithm </a:t>
            </a:r>
            <a:r>
              <a:rPr lang="en-US" b="1" i="1" dirty="0">
                <a:latin typeface="Times New Roman" charset="0"/>
                <a:sym typeface="Symbol" charset="0"/>
              </a:rPr>
              <a:t>spans2 </a:t>
            </a:r>
            <a:r>
              <a:rPr lang="en-US" dirty="0"/>
              <a:t>runs in </a:t>
            </a:r>
            <a:r>
              <a:rPr lang="en-US" b="1" i="1" dirty="0">
                <a:latin typeface="Times New Roman" charset="0"/>
                <a:sym typeface="Symbol" charset="0"/>
              </a:rPr>
              <a:t>O</a:t>
            </a:r>
            <a:r>
              <a:rPr lang="en-US" dirty="0">
                <a:latin typeface="Times New Roman" charset="0"/>
                <a:sym typeface="Symbol" charset="0"/>
              </a:rPr>
              <a:t>(</a:t>
            </a:r>
            <a:r>
              <a:rPr lang="en-US" b="1" i="1" dirty="0">
                <a:latin typeface="Times New Roman" charset="0"/>
                <a:sym typeface="Symbol" charset="0"/>
              </a:rPr>
              <a:t>n</a:t>
            </a:r>
            <a:r>
              <a:rPr lang="en-US" dirty="0">
                <a:latin typeface="Times New Roman" charset="0"/>
                <a:sym typeface="Symbol" charset="0"/>
              </a:rPr>
              <a:t>) </a:t>
            </a:r>
            <a:r>
              <a:rPr lang="en-US" dirty="0"/>
              <a:t>time </a:t>
            </a:r>
          </a:p>
        </p:txBody>
      </p:sp>
      <p:sp>
        <p:nvSpPr>
          <p:cNvPr id="31751" name="Date Placeholder 6"/>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FFC42-72AE-7247-93F6-496F2AAF9FC6}"/>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739E36BA-95CB-9445-89E6-8B2F9B2A2A1C}"/>
              </a:ext>
            </a:extLst>
          </p:cNvPr>
          <p:cNvSpPr>
            <a:spLocks noGrp="1"/>
          </p:cNvSpPr>
          <p:nvPr>
            <p:ph idx="1"/>
          </p:nvPr>
        </p:nvSpPr>
        <p:spPr/>
        <p:txBody>
          <a:bodyPr>
            <a:normAutofit/>
          </a:bodyPr>
          <a:lstStyle/>
          <a:p>
            <a:r>
              <a:rPr lang="en-US" sz="2400" dirty="0"/>
              <a:t>Implement a method that puts each digit of a randomly generated integer into a stack, such that the most significant digit is at the bottom of the stack while the least significant digit is added to the top. For example, if the value of the integer is 923451, the program should result in a stack illustrated as follows:</a:t>
            </a:r>
          </a:p>
          <a:p>
            <a:endParaRPr lang="en-US" sz="2400" dirty="0"/>
          </a:p>
        </p:txBody>
      </p:sp>
      <p:pic>
        <p:nvPicPr>
          <p:cNvPr id="20" name="Picture 19">
            <a:extLst>
              <a:ext uri="{FF2B5EF4-FFF2-40B4-BE49-F238E27FC236}">
                <a16:creationId xmlns:a16="http://schemas.microsoft.com/office/drawing/2014/main" id="{89160518-3335-B149-9736-34909B4479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0" y="3429000"/>
            <a:ext cx="3378200" cy="2336800"/>
          </a:xfrm>
          <a:prstGeom prst="rect">
            <a:avLst/>
          </a:prstGeom>
        </p:spPr>
      </p:pic>
    </p:spTree>
    <p:extLst>
      <p:ext uri="{BB962C8B-B14F-4D97-AF65-F5344CB8AC3E}">
        <p14:creationId xmlns:p14="http://schemas.microsoft.com/office/powerpoint/2010/main" val="3374642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8064</TotalTime>
  <Words>2060</Words>
  <Application>Microsoft Macintosh PowerPoint</Application>
  <PresentationFormat>Widescreen</PresentationFormat>
  <Paragraphs>327</Paragraphs>
  <Slides>27</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8" baseType="lpstr">
      <vt:lpstr>Arial</vt:lpstr>
      <vt:lpstr>Calibri</vt:lpstr>
      <vt:lpstr>Century Gothic</vt:lpstr>
      <vt:lpstr>Helvetica</vt:lpstr>
      <vt:lpstr>Monaco</vt:lpstr>
      <vt:lpstr>Symbol</vt:lpstr>
      <vt:lpstr>Tahoma</vt:lpstr>
      <vt:lpstr>Times New Roman</vt:lpstr>
      <vt:lpstr>Wingdings</vt:lpstr>
      <vt:lpstr>Office Theme</vt:lpstr>
      <vt:lpstr>Chart</vt:lpstr>
      <vt:lpstr>CS-205 Data Structure and Algorithms  7. Stacks</vt:lpstr>
      <vt:lpstr>Abstract data type (ADT)</vt:lpstr>
      <vt:lpstr>ADT</vt:lpstr>
      <vt:lpstr>Stack ADT</vt:lpstr>
      <vt:lpstr>Stacks</vt:lpstr>
      <vt:lpstr>Example</vt:lpstr>
      <vt:lpstr>Applications of Stacks</vt:lpstr>
      <vt:lpstr>Stack Interface in Java</vt:lpstr>
      <vt:lpstr>Applications of Stacks</vt:lpstr>
      <vt:lpstr>Performance and Limitations</vt:lpstr>
      <vt:lpstr>Exception</vt:lpstr>
      <vt:lpstr>Array-based stack</vt:lpstr>
      <vt:lpstr>Array-based stack</vt:lpstr>
      <vt:lpstr>Performance</vt:lpstr>
      <vt:lpstr>Array-based stack in Java</vt:lpstr>
      <vt:lpstr>How to implement Stack with LinkedList</vt:lpstr>
      <vt:lpstr>Example use in Java</vt:lpstr>
      <vt:lpstr>Exercise: parenthesis matching</vt:lpstr>
      <vt:lpstr>Exercise</vt:lpstr>
      <vt:lpstr>Evaluating Arithmetic  Expressions</vt:lpstr>
      <vt:lpstr>Algorithm for  Evaluating Expressions</vt:lpstr>
      <vt:lpstr>Algorithm on an  Example Expression</vt:lpstr>
      <vt:lpstr>Computing Spans (not in book)</vt:lpstr>
      <vt:lpstr>Quadratic Algorithm</vt:lpstr>
      <vt:lpstr>Computing Spans with a Stack</vt:lpstr>
      <vt:lpstr>Linear Time Algorithm</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Algorithms</dc:title>
  <dc:creator>Yao Xu</dc:creator>
  <cp:lastModifiedBy>Qu, Weihao</cp:lastModifiedBy>
  <cp:revision>132</cp:revision>
  <dcterms:created xsi:type="dcterms:W3CDTF">2006-08-16T00:00:00Z</dcterms:created>
  <dcterms:modified xsi:type="dcterms:W3CDTF">2025-01-18T19:27:19Z</dcterms:modified>
</cp:coreProperties>
</file>